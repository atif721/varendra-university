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12192000" cy="6858000"/>
  <p:embeddedFontLst>
    <p:embeddedFont>
      <p:font typeface="Carli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imPDMHOMH/ooA9dHCqM9oXDqqJ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arlito-bold.fntdata"/><Relationship Id="rId25" Type="http://schemas.openxmlformats.org/officeDocument/2006/relationships/font" Target="fonts/Carlito-regular.fntdata"/><Relationship Id="rId28" Type="http://schemas.openxmlformats.org/officeDocument/2006/relationships/font" Target="fonts/Carlito-boldItalic.fntdata"/><Relationship Id="rId27" Type="http://schemas.openxmlformats.org/officeDocument/2006/relationships/font" Target="fonts/Carl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 txBox="1"/>
          <p:nvPr>
            <p:ph type="title"/>
          </p:nvPr>
        </p:nvSpPr>
        <p:spPr>
          <a:xfrm>
            <a:off x="4925314" y="699008"/>
            <a:ext cx="2368550" cy="756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" type="body"/>
          </p:nvPr>
        </p:nvSpPr>
        <p:spPr>
          <a:xfrm>
            <a:off x="1207719" y="1416867"/>
            <a:ext cx="9805670" cy="4088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4"/>
          <p:cNvSpPr txBox="1"/>
          <p:nvPr>
            <p:ph type="title"/>
          </p:nvPr>
        </p:nvSpPr>
        <p:spPr>
          <a:xfrm>
            <a:off x="4925314" y="699008"/>
            <a:ext cx="2368550" cy="756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4925314" y="699008"/>
            <a:ext cx="2368550" cy="756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11" Type="http://schemas.openxmlformats.org/officeDocument/2006/relationships/slideLayout" Target="../slideLayouts/slideLayout5.xml"/><Relationship Id="rId10" Type="http://schemas.openxmlformats.org/officeDocument/2006/relationships/slideLayout" Target="../slideLayouts/slideLayout4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<Relationship Id="rId8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20"/>
          <p:cNvSpPr/>
          <p:nvPr/>
        </p:nvSpPr>
        <p:spPr>
          <a:xfrm>
            <a:off x="11218164" y="2930664"/>
            <a:ext cx="973834" cy="1022591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20"/>
          <p:cNvSpPr/>
          <p:nvPr/>
        </p:nvSpPr>
        <p:spPr>
          <a:xfrm>
            <a:off x="11276076" y="2962655"/>
            <a:ext cx="913130" cy="913130"/>
          </a:xfrm>
          <a:custGeom>
            <a:rect b="b" l="l" r="r" t="t"/>
            <a:pathLst>
              <a:path extrusionOk="0" h="913129" w="913129">
                <a:moveTo>
                  <a:pt x="912876" y="0"/>
                </a:moveTo>
                <a:lnTo>
                  <a:pt x="0" y="912749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p20"/>
          <p:cNvSpPr/>
          <p:nvPr/>
        </p:nvSpPr>
        <p:spPr>
          <a:xfrm>
            <a:off x="9148571" y="3157727"/>
            <a:ext cx="3043427" cy="309219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20"/>
          <p:cNvSpPr/>
          <p:nvPr/>
        </p:nvSpPr>
        <p:spPr>
          <a:xfrm>
            <a:off x="9206483" y="3189731"/>
            <a:ext cx="2981960" cy="2981960"/>
          </a:xfrm>
          <a:custGeom>
            <a:rect b="b" l="l" r="r" t="t"/>
            <a:pathLst>
              <a:path extrusionOk="0" h="2981960" w="2981959">
                <a:moveTo>
                  <a:pt x="2981833" y="0"/>
                </a:moveTo>
                <a:lnTo>
                  <a:pt x="0" y="2981858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0"/>
          <p:cNvSpPr/>
          <p:nvPr/>
        </p:nvSpPr>
        <p:spPr>
          <a:xfrm>
            <a:off x="10233659" y="3253740"/>
            <a:ext cx="1958339" cy="200710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0"/>
          <p:cNvSpPr/>
          <p:nvPr/>
        </p:nvSpPr>
        <p:spPr>
          <a:xfrm>
            <a:off x="10291571" y="3285743"/>
            <a:ext cx="1896745" cy="1896745"/>
          </a:xfrm>
          <a:custGeom>
            <a:rect b="b" l="l" r="r" t="t"/>
            <a:pathLst>
              <a:path extrusionOk="0" h="1896745" w="1896745">
                <a:moveTo>
                  <a:pt x="1896491" y="0"/>
                </a:moveTo>
                <a:lnTo>
                  <a:pt x="0" y="1896490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0"/>
          <p:cNvSpPr/>
          <p:nvPr/>
        </p:nvSpPr>
        <p:spPr>
          <a:xfrm>
            <a:off x="10375392" y="3093720"/>
            <a:ext cx="1816607" cy="187299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0"/>
          <p:cNvSpPr/>
          <p:nvPr/>
        </p:nvSpPr>
        <p:spPr>
          <a:xfrm>
            <a:off x="10443209" y="3132581"/>
            <a:ext cx="1746250" cy="1746250"/>
          </a:xfrm>
          <a:custGeom>
            <a:rect b="b" l="l" r="r" t="t"/>
            <a:pathLst>
              <a:path extrusionOk="0" h="1746250" w="1746250">
                <a:moveTo>
                  <a:pt x="1745742" y="0"/>
                </a:moveTo>
                <a:lnTo>
                  <a:pt x="0" y="1745741"/>
                </a:lnTo>
              </a:path>
            </a:pathLst>
          </a:cu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0"/>
          <p:cNvSpPr/>
          <p:nvPr/>
        </p:nvSpPr>
        <p:spPr>
          <a:xfrm>
            <a:off x="10852404" y="3645408"/>
            <a:ext cx="1339594" cy="139750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0"/>
          <p:cNvSpPr/>
          <p:nvPr/>
        </p:nvSpPr>
        <p:spPr>
          <a:xfrm>
            <a:off x="10920221" y="3684270"/>
            <a:ext cx="1270000" cy="1270000"/>
          </a:xfrm>
          <a:custGeom>
            <a:rect b="b" l="l" r="r" t="t"/>
            <a:pathLst>
              <a:path extrusionOk="0" h="1270000" w="1270000">
                <a:moveTo>
                  <a:pt x="1270000" y="0"/>
                </a:moveTo>
                <a:lnTo>
                  <a:pt x="0" y="1269999"/>
                </a:lnTo>
              </a:path>
            </a:pathLst>
          </a:cu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0"/>
          <p:cNvSpPr txBox="1"/>
          <p:nvPr>
            <p:ph type="title"/>
          </p:nvPr>
        </p:nvSpPr>
        <p:spPr>
          <a:xfrm>
            <a:off x="4925314" y="699008"/>
            <a:ext cx="2368550" cy="756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" name="Google Shape;18;p20"/>
          <p:cNvSpPr txBox="1"/>
          <p:nvPr>
            <p:ph idx="1" type="body"/>
          </p:nvPr>
        </p:nvSpPr>
        <p:spPr>
          <a:xfrm>
            <a:off x="1207719" y="1416867"/>
            <a:ext cx="9805670" cy="4088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20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20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b="0" u="non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7"/>
    <p:sldLayoutId id="2147483650" r:id="rId8"/>
    <p:sldLayoutId id="2147483651" r:id="rId9"/>
    <p:sldLayoutId id="2147483652" r:id="rId10"/>
    <p:sldLayoutId id="214748365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4.png"/><Relationship Id="rId8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5" Type="http://schemas.openxmlformats.org/officeDocument/2006/relationships/image" Target="../media/image29.png"/><Relationship Id="rId6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-46074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" name="Google Shape;55;p1"/>
          <p:cNvGrpSpPr/>
          <p:nvPr/>
        </p:nvGrpSpPr>
        <p:grpSpPr>
          <a:xfrm>
            <a:off x="6048755" y="0"/>
            <a:ext cx="6143245" cy="6252971"/>
            <a:chOff x="6048755" y="0"/>
            <a:chExt cx="6143245" cy="6252971"/>
          </a:xfrm>
        </p:grpSpPr>
        <p:sp>
          <p:nvSpPr>
            <p:cNvPr id="56" name="Google Shape;56;p1"/>
            <p:cNvSpPr/>
            <p:nvPr/>
          </p:nvSpPr>
          <p:spPr>
            <a:xfrm>
              <a:off x="8168639" y="0"/>
              <a:ext cx="3922776" cy="389991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8228076" y="9144"/>
              <a:ext cx="3810000" cy="3810000"/>
            </a:xfrm>
            <a:custGeom>
              <a:rect b="b" l="l" r="r" t="t"/>
              <a:pathLst>
                <a:path extrusionOk="0" h="3810000" w="3810000">
                  <a:moveTo>
                    <a:pt x="3810000" y="0"/>
                  </a:moveTo>
                  <a:lnTo>
                    <a:pt x="0" y="3810000"/>
                  </a:lnTo>
                </a:path>
              </a:pathLst>
            </a:cu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6048755" y="57911"/>
              <a:ext cx="6143243" cy="619506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6108191" y="91439"/>
              <a:ext cx="6080760" cy="6080760"/>
            </a:xfrm>
            <a:custGeom>
              <a:rect b="b" l="l" r="r" t="t"/>
              <a:pathLst>
                <a:path extrusionOk="0" h="6080760" w="6080759">
                  <a:moveTo>
                    <a:pt x="6080633" y="0"/>
                  </a:moveTo>
                  <a:lnTo>
                    <a:pt x="0" y="6080658"/>
                  </a:lnTo>
                </a:path>
              </a:pathLst>
            </a:custGeom>
            <a:noFill/>
            <a:ln cap="flat" cmpd="sng" w="126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7176516" y="195071"/>
              <a:ext cx="5015483" cy="5067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7235952" y="228600"/>
              <a:ext cx="4953000" cy="4953000"/>
            </a:xfrm>
            <a:custGeom>
              <a:rect b="b" l="l" r="r" t="t"/>
              <a:pathLst>
                <a:path extrusionOk="0" h="4953000" w="4953000">
                  <a:moveTo>
                    <a:pt x="4953000" y="0"/>
                  </a:moveTo>
                  <a:lnTo>
                    <a:pt x="0" y="4953000"/>
                  </a:lnTo>
                </a:path>
              </a:pathLst>
            </a:cu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7267955" y="0"/>
              <a:ext cx="4924043" cy="497586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7337297" y="32765"/>
              <a:ext cx="4853305" cy="4853305"/>
            </a:xfrm>
            <a:custGeom>
              <a:rect b="b" l="l" r="r" t="t"/>
              <a:pathLst>
                <a:path extrusionOk="0" h="4853305" w="4853305">
                  <a:moveTo>
                    <a:pt x="4853051" y="0"/>
                  </a:moveTo>
                  <a:lnTo>
                    <a:pt x="0" y="4853051"/>
                  </a:lnTo>
                </a:path>
              </a:pathLst>
            </a:custGeom>
            <a:noFill/>
            <a:ln cap="flat" cmpd="sng" w="317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7776972" y="571500"/>
              <a:ext cx="4415028" cy="4471416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7846313" y="610362"/>
              <a:ext cx="4343400" cy="4343400"/>
            </a:xfrm>
            <a:custGeom>
              <a:rect b="b" l="l" r="r" t="t"/>
              <a:pathLst>
                <a:path extrusionOk="0" h="4343400" w="4343400">
                  <a:moveTo>
                    <a:pt x="4343400" y="0"/>
                  </a:moveTo>
                  <a:lnTo>
                    <a:pt x="0" y="4343400"/>
                  </a:lnTo>
                </a:path>
              </a:pathLst>
            </a:custGeom>
            <a:noFill/>
            <a:ln cap="flat" cmpd="sng" w="317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" name="Google Shape;66;p1"/>
          <p:cNvSpPr txBox="1"/>
          <p:nvPr>
            <p:ph type="title"/>
          </p:nvPr>
        </p:nvSpPr>
        <p:spPr>
          <a:xfrm>
            <a:off x="4925314" y="699008"/>
            <a:ext cx="2618486" cy="75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CSE-421</a:t>
            </a:r>
            <a:endParaRPr/>
          </a:p>
        </p:txBody>
      </p:sp>
      <p:sp>
        <p:nvSpPr>
          <p:cNvPr id="67" name="Google Shape;67;p1"/>
          <p:cNvSpPr txBox="1"/>
          <p:nvPr>
            <p:ph idx="1" type="body"/>
          </p:nvPr>
        </p:nvSpPr>
        <p:spPr>
          <a:xfrm>
            <a:off x="1207719" y="1416867"/>
            <a:ext cx="9805670" cy="4230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917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Computer Graphics: 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085"/>
              </a:spcBef>
              <a:spcAft>
                <a:spcPts val="0"/>
              </a:spcAft>
              <a:buNone/>
            </a:pPr>
            <a:r>
              <a:rPr lang="en-GB"/>
              <a:t>2D Transformations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745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rgbClr val="303829"/>
                </a:solidFill>
                <a:latin typeface="Carlito"/>
                <a:ea typeface="Carlito"/>
                <a:cs typeface="Carlito"/>
                <a:sym typeface="Carlito"/>
              </a:rPr>
              <a:t>Lecture-01</a:t>
            </a:r>
            <a:endParaRPr sz="4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None/>
            </a:pPr>
            <a:r>
              <a:rPr b="1" lang="en-GB" sz="4000">
                <a:latin typeface="Carlito"/>
                <a:ea typeface="Carlito"/>
                <a:cs typeface="Carlito"/>
                <a:sym typeface="Carlito"/>
              </a:rPr>
              <a:t>Lecturer, Varendra University</a:t>
            </a:r>
            <a:endParaRPr sz="4000"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 txBox="1"/>
          <p:nvPr>
            <p:ph type="title"/>
          </p:nvPr>
        </p:nvSpPr>
        <p:spPr>
          <a:xfrm>
            <a:off x="659079" y="450850"/>
            <a:ext cx="374078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latin typeface="Carlito"/>
                <a:ea typeface="Carlito"/>
                <a:cs typeface="Carlito"/>
                <a:sym typeface="Carlito"/>
              </a:rPr>
              <a:t>2D Transformations</a:t>
            </a:r>
            <a:endParaRPr sz="3600"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73" name="Google Shape;73;p2"/>
          <p:cNvSpPr txBox="1"/>
          <p:nvPr/>
        </p:nvSpPr>
        <p:spPr>
          <a:xfrm>
            <a:off x="659079" y="1554606"/>
            <a:ext cx="10663555" cy="4440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“Transformations are the operations applied to geometrical description of</a:t>
            </a:r>
            <a:endParaRPr sz="2800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an object to change its position, orientation, or size are called geometric</a:t>
            </a:r>
            <a:endParaRPr sz="2800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transformations”.</a:t>
            </a:r>
            <a:endParaRPr sz="2800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165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Given a 2D object, transformation is to change the object’s</a:t>
            </a:r>
            <a:endParaRPr sz="2800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59079" lvl="0" marL="271780" marR="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rlito"/>
              <a:buChar char="–"/>
            </a:pPr>
            <a:r>
              <a:rPr i="1" lang="en-GB" sz="2800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Position (translation)</a:t>
            </a:r>
            <a:endParaRPr sz="2800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59079" lvl="0" marL="271780" marR="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rlito"/>
              <a:buChar char="–"/>
            </a:pPr>
            <a:r>
              <a:rPr i="1" lang="en-GB" sz="2800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Size (scaling)</a:t>
            </a:r>
            <a:endParaRPr sz="2800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59079" lvl="0" marL="271780" marR="0" rtl="0" algn="l">
              <a:lnSpc>
                <a:spcPct val="100000"/>
              </a:lnSpc>
              <a:spcBef>
                <a:spcPts val="168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rlito"/>
              <a:buChar char="–"/>
            </a:pPr>
            <a:r>
              <a:rPr i="1" lang="en-GB" sz="2800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Orientation (rotation)</a:t>
            </a:r>
            <a:endParaRPr sz="2800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59079" lvl="0" marL="271780" marR="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rlito"/>
              <a:buChar char="–"/>
            </a:pPr>
            <a:r>
              <a:rPr i="1" lang="en-GB" sz="2800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Shapes (shear)</a:t>
            </a:r>
            <a:endParaRPr sz="2800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 txBox="1"/>
          <p:nvPr>
            <p:ph type="title"/>
          </p:nvPr>
        </p:nvSpPr>
        <p:spPr>
          <a:xfrm>
            <a:off x="877316" y="640207"/>
            <a:ext cx="5752084" cy="690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latin typeface="Carlito"/>
                <a:ea typeface="Carlito"/>
                <a:cs typeface="Carlito"/>
                <a:sym typeface="Carlito"/>
              </a:rPr>
              <a:t>Point Representation</a:t>
            </a:r>
            <a:endParaRPr sz="4400"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479291" y="3001264"/>
            <a:ext cx="36830" cy="750570"/>
          </a:xfrm>
          <a:custGeom>
            <a:rect b="b" l="l" r="r" t="t"/>
            <a:pathLst>
              <a:path extrusionOk="0" h="750570" w="36829">
                <a:moveTo>
                  <a:pt x="36449" y="0"/>
                </a:moveTo>
                <a:lnTo>
                  <a:pt x="0" y="0"/>
                </a:lnTo>
                <a:lnTo>
                  <a:pt x="0" y="750188"/>
                </a:lnTo>
                <a:lnTo>
                  <a:pt x="36449" y="750188"/>
                </a:lnTo>
                <a:lnTo>
                  <a:pt x="3644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069335" y="3001264"/>
            <a:ext cx="36830" cy="750570"/>
          </a:xfrm>
          <a:custGeom>
            <a:rect b="b" l="l" r="r" t="t"/>
            <a:pathLst>
              <a:path extrusionOk="0" h="750570" w="36830">
                <a:moveTo>
                  <a:pt x="36449" y="0"/>
                </a:moveTo>
                <a:lnTo>
                  <a:pt x="0" y="0"/>
                </a:lnTo>
                <a:lnTo>
                  <a:pt x="0" y="750188"/>
                </a:lnTo>
                <a:lnTo>
                  <a:pt x="36449" y="750188"/>
                </a:lnTo>
                <a:lnTo>
                  <a:pt x="3644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877316" y="1783924"/>
            <a:ext cx="9887585" cy="2862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6050">
            <a:spAutoFit/>
          </a:bodyPr>
          <a:lstStyle/>
          <a:p>
            <a:pPr indent="-222884" lvl="0" marL="234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GB" sz="2800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We can use a column vector (a 2x1 matrix) to represent a 2D point.</a:t>
            </a:r>
            <a:endParaRPr sz="2800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0" lvl="0" marL="2286635" marR="0" rtl="0" algn="l">
              <a:lnSpc>
                <a:spcPct val="118611"/>
              </a:lnSpc>
              <a:spcBef>
                <a:spcPts val="2165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𝑥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3460" marR="0" rtl="0" algn="l">
              <a:lnSpc>
                <a:spcPct val="118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𝑦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69900" marR="0" rtl="0" algn="l">
              <a:lnSpc>
                <a:spcPct val="100000"/>
              </a:lnSpc>
              <a:spcBef>
                <a:spcPts val="3229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GB" sz="2800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Apply a sequence of matrix multiplications to the object vertices.</a:t>
            </a:r>
            <a:endParaRPr sz="2800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/>
          <p:nvPr/>
        </p:nvSpPr>
        <p:spPr>
          <a:xfrm>
            <a:off x="2057400" y="609600"/>
            <a:ext cx="7865364" cy="55138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/>
          <p:nvPr/>
        </p:nvSpPr>
        <p:spPr>
          <a:xfrm>
            <a:off x="830580" y="362711"/>
            <a:ext cx="8138159" cy="54193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 txBox="1"/>
          <p:nvPr>
            <p:ph type="title"/>
          </p:nvPr>
        </p:nvSpPr>
        <p:spPr>
          <a:xfrm>
            <a:off x="486867" y="486917"/>
            <a:ext cx="10925175" cy="75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6350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Translation is a process of changing the position of an object in a straight-  line path from one coordinate location to another.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6786371" y="1726692"/>
            <a:ext cx="413003" cy="58521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" name="Google Shape;98;p6"/>
          <p:cNvGrpSpPr/>
          <p:nvPr/>
        </p:nvGrpSpPr>
        <p:grpSpPr>
          <a:xfrm>
            <a:off x="408431" y="1097280"/>
            <a:ext cx="11296650" cy="5099303"/>
            <a:chOff x="408431" y="1097280"/>
            <a:chExt cx="11296650" cy="5099303"/>
          </a:xfrm>
        </p:grpSpPr>
        <p:sp>
          <p:nvSpPr>
            <p:cNvPr id="99" name="Google Shape;99;p6"/>
            <p:cNvSpPr/>
            <p:nvPr/>
          </p:nvSpPr>
          <p:spPr>
            <a:xfrm>
              <a:off x="8199120" y="1097280"/>
              <a:ext cx="2708148" cy="1944624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4782311" y="3745991"/>
              <a:ext cx="3416808" cy="245059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408431" y="3288791"/>
              <a:ext cx="11296650" cy="0"/>
            </a:xfrm>
            <a:custGeom>
              <a:rect b="b" l="l" r="r" t="t"/>
              <a:pathLst>
                <a:path extrusionOk="0" h="120000" w="11296650">
                  <a:moveTo>
                    <a:pt x="0" y="0"/>
                  </a:moveTo>
                  <a:lnTo>
                    <a:pt x="11296396" y="0"/>
                  </a:lnTo>
                </a:path>
              </a:pathLst>
            </a:custGeom>
            <a:noFill/>
            <a:ln cap="flat" cmpd="sng" w="114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6"/>
          <p:cNvSpPr txBox="1"/>
          <p:nvPr/>
        </p:nvSpPr>
        <p:spPr>
          <a:xfrm>
            <a:off x="78739" y="656590"/>
            <a:ext cx="7366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90909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486867" y="1488078"/>
            <a:ext cx="6219825" cy="141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650">
                <a:solidFill>
                  <a:srgbClr val="7E0000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Example:</a:t>
            </a:r>
            <a:endParaRPr sz="16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91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90909"/>
                </a:solidFill>
                <a:latin typeface="Trebuchet MS"/>
                <a:ea typeface="Trebuchet MS"/>
                <a:cs typeface="Trebuchet MS"/>
                <a:sym typeface="Trebuchet MS"/>
              </a:rPr>
              <a:t>The triangle </a:t>
            </a:r>
            <a:r>
              <a:rPr i="1" lang="en-GB" sz="1650">
                <a:solidFill>
                  <a:srgbClr val="090909"/>
                </a:solidFill>
                <a:latin typeface="Trebuchet MS"/>
                <a:ea typeface="Trebuchet MS"/>
                <a:cs typeface="Trebuchet MS"/>
                <a:sym typeface="Trebuchet MS"/>
              </a:rPr>
              <a:t>P </a:t>
            </a:r>
            <a:r>
              <a:rPr lang="en-GB" sz="1600">
                <a:solidFill>
                  <a:srgbClr val="090909"/>
                </a:solidFill>
                <a:latin typeface="Trebuchet MS"/>
                <a:ea typeface="Trebuchet MS"/>
                <a:cs typeface="Trebuchet MS"/>
                <a:sym typeface="Trebuchet MS"/>
              </a:rPr>
              <a:t>is mapped onto the triangle </a:t>
            </a:r>
            <a:r>
              <a:rPr i="1" lang="en-GB" sz="1650">
                <a:solidFill>
                  <a:srgbClr val="090909"/>
                </a:solidFill>
                <a:latin typeface="Trebuchet MS"/>
                <a:ea typeface="Trebuchet MS"/>
                <a:cs typeface="Trebuchet MS"/>
                <a:sym typeface="Trebuchet MS"/>
              </a:rPr>
              <a:t>Q </a:t>
            </a:r>
            <a:r>
              <a:rPr lang="en-GB" sz="1600">
                <a:solidFill>
                  <a:srgbClr val="090909"/>
                </a:solidFill>
                <a:latin typeface="Trebuchet MS"/>
                <a:ea typeface="Trebuchet MS"/>
                <a:cs typeface="Trebuchet MS"/>
                <a:sym typeface="Trebuchet MS"/>
              </a:rPr>
              <a:t>by the translation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43840" lvl="0" marL="255904" marR="0" rtl="0" algn="l">
              <a:lnSpc>
                <a:spcPct val="119696"/>
              </a:lnSpc>
              <a:spcBef>
                <a:spcPts val="1055"/>
              </a:spcBef>
              <a:spcAft>
                <a:spcPts val="0"/>
              </a:spcAft>
              <a:buClr>
                <a:srgbClr val="090909"/>
              </a:buClr>
              <a:buSzPts val="1600"/>
              <a:buFont typeface="Trebuchet MS"/>
              <a:buAutoNum type="alphaLcParenR"/>
            </a:pPr>
            <a:r>
              <a:rPr lang="en-GB" sz="1600">
                <a:solidFill>
                  <a:srgbClr val="090909"/>
                </a:solidFill>
                <a:latin typeface="Trebuchet MS"/>
                <a:ea typeface="Trebuchet MS"/>
                <a:cs typeface="Trebuchet MS"/>
                <a:sym typeface="Trebuchet MS"/>
              </a:rPr>
              <a:t>Find the coordinates of triangle </a:t>
            </a:r>
            <a:r>
              <a:rPr i="1" lang="en-GB" sz="1650">
                <a:solidFill>
                  <a:srgbClr val="090909"/>
                </a:solidFill>
                <a:latin typeface="Trebuchet MS"/>
                <a:ea typeface="Trebuchet MS"/>
                <a:cs typeface="Trebuchet MS"/>
                <a:sym typeface="Trebuchet MS"/>
              </a:rPr>
              <a:t>Q</a:t>
            </a:r>
            <a:r>
              <a:rPr lang="en-GB" sz="1600">
                <a:solidFill>
                  <a:srgbClr val="090909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60350" lvl="0" marL="272415" marR="0" rtl="0" algn="l">
              <a:lnSpc>
                <a:spcPct val="119696"/>
              </a:lnSpc>
              <a:spcBef>
                <a:spcPts val="0"/>
              </a:spcBef>
              <a:spcAft>
                <a:spcPts val="0"/>
              </a:spcAft>
              <a:buClr>
                <a:srgbClr val="090909"/>
              </a:buClr>
              <a:buSzPts val="1600"/>
              <a:buFont typeface="Trebuchet MS"/>
              <a:buAutoNum type="alphaLcParenR"/>
            </a:pPr>
            <a:r>
              <a:rPr lang="en-GB" sz="1600">
                <a:solidFill>
                  <a:srgbClr val="090909"/>
                </a:solidFill>
                <a:latin typeface="Trebuchet MS"/>
                <a:ea typeface="Trebuchet MS"/>
                <a:cs typeface="Trebuchet MS"/>
                <a:sym typeface="Trebuchet MS"/>
              </a:rPr>
              <a:t>On the diagram, draw and label triangle </a:t>
            </a:r>
            <a:r>
              <a:rPr i="1" lang="en-GB" sz="1650">
                <a:solidFill>
                  <a:srgbClr val="090909"/>
                </a:solidFill>
                <a:latin typeface="Trebuchet MS"/>
                <a:ea typeface="Trebuchet MS"/>
                <a:cs typeface="Trebuchet MS"/>
                <a:sym typeface="Trebuchet MS"/>
              </a:rPr>
              <a:t>Q</a:t>
            </a:r>
            <a:r>
              <a:rPr lang="en-GB" sz="1600">
                <a:solidFill>
                  <a:srgbClr val="090909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4" name="Google Shape;104;p6"/>
          <p:cNvSpPr txBox="1"/>
          <p:nvPr/>
        </p:nvSpPr>
        <p:spPr>
          <a:xfrm>
            <a:off x="486867" y="3506351"/>
            <a:ext cx="790575" cy="560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450">
                <a:solidFill>
                  <a:srgbClr val="7E0000"/>
                </a:solidFill>
                <a:latin typeface="Trebuchet MS"/>
                <a:ea typeface="Trebuchet MS"/>
                <a:cs typeface="Trebuchet MS"/>
                <a:sym typeface="Trebuchet MS"/>
              </a:rPr>
              <a:t>Solution:</a:t>
            </a:r>
            <a:endParaRPr sz="14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90909"/>
                </a:solidFill>
                <a:latin typeface="Carlito"/>
                <a:ea typeface="Carlito"/>
                <a:cs typeface="Carlito"/>
                <a:sym typeface="Carlito"/>
              </a:rPr>
              <a:t>a)</a:t>
            </a:r>
            <a:endParaRPr sz="2000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998219" y="3803903"/>
            <a:ext cx="2311908" cy="236372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 txBox="1"/>
          <p:nvPr/>
        </p:nvSpPr>
        <p:spPr>
          <a:xfrm>
            <a:off x="4212463" y="3659200"/>
            <a:ext cx="21526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90909"/>
                </a:solidFill>
                <a:latin typeface="Carlito"/>
                <a:ea typeface="Carlito"/>
                <a:cs typeface="Carlito"/>
                <a:sym typeface="Carlito"/>
              </a:rPr>
              <a:t>b)</a:t>
            </a:r>
            <a:endParaRPr sz="1800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/>
          <p:nvPr/>
        </p:nvSpPr>
        <p:spPr>
          <a:xfrm>
            <a:off x="990600" y="486154"/>
            <a:ext cx="10668000" cy="60670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5105400" y="5791200"/>
            <a:ext cx="381000" cy="45720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"/>
          <p:cNvSpPr/>
          <p:nvPr/>
        </p:nvSpPr>
        <p:spPr>
          <a:xfrm>
            <a:off x="381000" y="381000"/>
            <a:ext cx="11430000" cy="6172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"/>
          <p:cNvSpPr/>
          <p:nvPr/>
        </p:nvSpPr>
        <p:spPr>
          <a:xfrm>
            <a:off x="941832" y="416051"/>
            <a:ext cx="7554468" cy="582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"/>
          <p:cNvSpPr/>
          <p:nvPr/>
        </p:nvSpPr>
        <p:spPr>
          <a:xfrm>
            <a:off x="597408" y="637031"/>
            <a:ext cx="11052048" cy="558393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"/>
          <p:cNvSpPr/>
          <p:nvPr/>
        </p:nvSpPr>
        <p:spPr>
          <a:xfrm>
            <a:off x="819911" y="352043"/>
            <a:ext cx="7662672" cy="567232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"/>
          <p:cNvSpPr/>
          <p:nvPr/>
        </p:nvSpPr>
        <p:spPr>
          <a:xfrm>
            <a:off x="614172" y="580644"/>
            <a:ext cx="6638544" cy="569671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>
            <a:off x="589787" y="281940"/>
            <a:ext cx="9628631" cy="585215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"/>
          <p:cNvSpPr/>
          <p:nvPr/>
        </p:nvSpPr>
        <p:spPr>
          <a:xfrm>
            <a:off x="708659" y="204215"/>
            <a:ext cx="9139428" cy="605942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"/>
          <p:cNvSpPr/>
          <p:nvPr/>
        </p:nvSpPr>
        <p:spPr>
          <a:xfrm>
            <a:off x="1066800" y="484631"/>
            <a:ext cx="8817864" cy="529742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/>
          <p:nvPr/>
        </p:nvSpPr>
        <p:spPr>
          <a:xfrm>
            <a:off x="1100327" y="504444"/>
            <a:ext cx="8199120" cy="548487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/>
          <p:nvPr/>
        </p:nvSpPr>
        <p:spPr>
          <a:xfrm>
            <a:off x="999744" y="390143"/>
            <a:ext cx="8017764" cy="585216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/>
          <p:nvPr/>
        </p:nvSpPr>
        <p:spPr>
          <a:xfrm>
            <a:off x="1375410" y="621792"/>
            <a:ext cx="9745980" cy="591921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3352800" y="1828800"/>
            <a:ext cx="228600" cy="228600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2286000" y="2438400"/>
            <a:ext cx="152400" cy="76200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6172200" y="2438400"/>
            <a:ext cx="76200" cy="76200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7315200" y="1828800"/>
            <a:ext cx="304800" cy="228600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3137279" y="2895600"/>
            <a:ext cx="304800" cy="228600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2240507" y="3581400"/>
            <a:ext cx="152400" cy="76200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2286000" y="3886200"/>
            <a:ext cx="1003679" cy="457200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5943600" y="4114800"/>
            <a:ext cx="533400" cy="838200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4400550" y="4114800"/>
            <a:ext cx="304800" cy="228600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3314700" y="4718303"/>
            <a:ext cx="152400" cy="76200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/>
          <p:nvPr/>
        </p:nvSpPr>
        <p:spPr>
          <a:xfrm>
            <a:off x="760476" y="265175"/>
            <a:ext cx="8369808" cy="61234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2020-10-04T17:03:44Z</dcterms:created>
  <dc:creator>Salma Akter lima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2020-07-13T00:00:00Z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2020-10-04T00:00:00Z</vt:filetime>
  </property>
</Properties>
</file>