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3C3615-2E35-9F33-98A0-7B5348F912B2}" v="62" dt="2025-11-10T13:55:23.57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322D5-17CA-45A9-8B54-F315292F477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1CEA8-5510-46FB-B6D9-2F5CF8AD3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1CEA8-5510-46FB-B6D9-2F5CF8AD34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4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F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2309" y="317205"/>
            <a:ext cx="7739380" cy="1145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2377" y="2257044"/>
            <a:ext cx="7159244" cy="161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4400" y="1493519"/>
            <a:ext cx="7801356" cy="1668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32776" y="1493519"/>
            <a:ext cx="1194816" cy="16687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89226" y="2771394"/>
            <a:ext cx="4110990" cy="1833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21223" y="2771394"/>
            <a:ext cx="2011679" cy="18333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53911" y="2771394"/>
            <a:ext cx="1312164" cy="18333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1698" y="4182617"/>
            <a:ext cx="8151876" cy="15041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96606" y="4182617"/>
            <a:ext cx="1077468" cy="15041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86633" y="5338571"/>
            <a:ext cx="802385" cy="11186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90288" y="5597652"/>
            <a:ext cx="504443" cy="6918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81521" y="5597652"/>
            <a:ext cx="502157" cy="6918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41146" y="1348486"/>
            <a:ext cx="7290434" cy="3893374"/>
          </a:xfrm>
          <a:prstGeom prst="rect">
            <a:avLst/>
          </a:prstGeom>
        </p:spPr>
        <p:txBody>
          <a:bodyPr vert="horz" wrap="square" lIns="0" tIns="36322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000" spc="-5" dirty="0">
                <a:solidFill>
                  <a:srgbClr val="FFFFFF"/>
                </a:solidFill>
                <a:latin typeface="Arial"/>
                <a:cs typeface="Arial"/>
              </a:rPr>
              <a:t>Computer</a:t>
            </a:r>
            <a:r>
              <a:rPr sz="6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0" spc="-5" dirty="0">
                <a:solidFill>
                  <a:srgbClr val="FFFFFF"/>
                </a:solidFill>
                <a:latin typeface="Arial"/>
                <a:cs typeface="Arial"/>
              </a:rPr>
              <a:t>Graphics</a:t>
            </a:r>
            <a:endParaRPr sz="6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35"/>
              </a:spcBef>
            </a:pPr>
            <a:r>
              <a:rPr sz="6600" spc="-5" dirty="0">
                <a:solidFill>
                  <a:srgbClr val="FFB829"/>
                </a:solidFill>
                <a:latin typeface="Arial"/>
                <a:cs typeface="Arial"/>
              </a:rPr>
              <a:t>Lecture</a:t>
            </a:r>
            <a:r>
              <a:rPr sz="6600" spc="20" dirty="0">
                <a:solidFill>
                  <a:srgbClr val="FFB829"/>
                </a:solidFill>
                <a:latin typeface="Arial"/>
                <a:cs typeface="Arial"/>
              </a:rPr>
              <a:t> </a:t>
            </a:r>
            <a:r>
              <a:rPr lang="en-US" sz="6600" spc="-5" dirty="0">
                <a:solidFill>
                  <a:srgbClr val="FFB829"/>
                </a:solidFill>
                <a:latin typeface="Arial"/>
                <a:cs typeface="Arial"/>
              </a:rPr>
              <a:t>09</a:t>
            </a:r>
            <a:endParaRPr lang="en-GB" sz="6600" spc="-5" dirty="0">
              <a:solidFill>
                <a:srgbClr val="FFB829"/>
              </a:solidFill>
              <a:latin typeface="Arial"/>
              <a:cs typeface="Arial"/>
            </a:endParaRPr>
          </a:p>
          <a:p>
            <a:pPr algn="ctr">
              <a:spcBef>
                <a:spcPts val="2855"/>
              </a:spcBef>
            </a:pPr>
            <a:r>
              <a:rPr sz="5400" b="1" spc="-5" dirty="0">
                <a:solidFill>
                  <a:srgbClr val="C00000"/>
                </a:solidFill>
                <a:latin typeface="Arial"/>
                <a:cs typeface="Arial"/>
              </a:rPr>
              <a:t>2D </a:t>
            </a:r>
            <a:r>
              <a:rPr sz="5400" b="1" spc="-15" dirty="0">
                <a:solidFill>
                  <a:srgbClr val="C00000"/>
                </a:solidFill>
                <a:latin typeface="Arial"/>
                <a:cs typeface="Arial"/>
              </a:rPr>
              <a:t>Viewing </a:t>
            </a:r>
            <a:r>
              <a:rPr sz="5400" b="1" spc="-5" dirty="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sz="54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5400" b="1" dirty="0">
                <a:solidFill>
                  <a:srgbClr val="C00000"/>
                </a:solidFill>
                <a:latin typeface="Arial"/>
                <a:cs typeface="Arial"/>
              </a:rPr>
              <a:t>Clipping</a:t>
            </a:r>
            <a:endParaRPr sz="1600" u="heavy" spc="-5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5603" y="126238"/>
            <a:ext cx="18135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27264" y="5333491"/>
            <a:ext cx="7042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Arial"/>
                <a:cs typeface="Arial"/>
              </a:rPr>
              <a:t>Window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40932" y="5451855"/>
            <a:ext cx="1233170" cy="175260"/>
          </a:xfrm>
          <a:custGeom>
            <a:avLst/>
            <a:gdLst/>
            <a:ahLst/>
            <a:cxnLst/>
            <a:rect l="l" t="t" r="r" b="b"/>
            <a:pathLst>
              <a:path w="1233170" h="175260">
                <a:moveTo>
                  <a:pt x="71373" y="99568"/>
                </a:moveTo>
                <a:lnTo>
                  <a:pt x="0" y="145986"/>
                </a:lnTo>
                <a:lnTo>
                  <a:pt x="80010" y="175260"/>
                </a:lnTo>
                <a:lnTo>
                  <a:pt x="76574" y="145148"/>
                </a:lnTo>
                <a:lnTo>
                  <a:pt x="63753" y="145148"/>
                </a:lnTo>
                <a:lnTo>
                  <a:pt x="62357" y="132588"/>
                </a:lnTo>
                <a:lnTo>
                  <a:pt x="74978" y="131156"/>
                </a:lnTo>
                <a:lnTo>
                  <a:pt x="71373" y="99568"/>
                </a:lnTo>
                <a:close/>
              </a:path>
              <a:path w="1233170" h="175260">
                <a:moveTo>
                  <a:pt x="74978" y="131156"/>
                </a:moveTo>
                <a:lnTo>
                  <a:pt x="62357" y="132588"/>
                </a:lnTo>
                <a:lnTo>
                  <a:pt x="63753" y="145148"/>
                </a:lnTo>
                <a:lnTo>
                  <a:pt x="76410" y="143712"/>
                </a:lnTo>
                <a:lnTo>
                  <a:pt x="74978" y="131156"/>
                </a:lnTo>
                <a:close/>
              </a:path>
              <a:path w="1233170" h="175260">
                <a:moveTo>
                  <a:pt x="76410" y="143712"/>
                </a:moveTo>
                <a:lnTo>
                  <a:pt x="63753" y="145148"/>
                </a:lnTo>
                <a:lnTo>
                  <a:pt x="76574" y="145148"/>
                </a:lnTo>
                <a:lnTo>
                  <a:pt x="76410" y="143712"/>
                </a:lnTo>
                <a:close/>
              </a:path>
              <a:path w="1233170" h="175260">
                <a:moveTo>
                  <a:pt x="1231138" y="0"/>
                </a:moveTo>
                <a:lnTo>
                  <a:pt x="74978" y="131156"/>
                </a:lnTo>
                <a:lnTo>
                  <a:pt x="76410" y="143712"/>
                </a:lnTo>
                <a:lnTo>
                  <a:pt x="1232662" y="12573"/>
                </a:lnTo>
                <a:lnTo>
                  <a:pt x="12311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537" y="1276985"/>
            <a:ext cx="7560945" cy="1477645"/>
          </a:xfrm>
          <a:custGeom>
            <a:avLst/>
            <a:gdLst/>
            <a:ahLst/>
            <a:cxnLst/>
            <a:rect l="l" t="t" r="r" b="b"/>
            <a:pathLst>
              <a:path w="7560945" h="1477645">
                <a:moveTo>
                  <a:pt x="0" y="1477390"/>
                </a:moveTo>
                <a:lnTo>
                  <a:pt x="7560818" y="1477390"/>
                </a:lnTo>
                <a:lnTo>
                  <a:pt x="7560818" y="0"/>
                </a:lnTo>
                <a:lnTo>
                  <a:pt x="0" y="0"/>
                </a:lnTo>
                <a:lnTo>
                  <a:pt x="0" y="1477390"/>
                </a:lnTo>
                <a:close/>
              </a:path>
            </a:pathLst>
          </a:custGeom>
          <a:solidFill>
            <a:srgbClr val="8EF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6354" y="1308608"/>
            <a:ext cx="738378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b="1" spc="-5" dirty="0">
                <a:latin typeface="Tahoma"/>
                <a:cs typeface="Tahoma"/>
              </a:rPr>
              <a:t>Viewing Pipeline</a:t>
            </a:r>
            <a:r>
              <a:rPr sz="1800" spc="-5" dirty="0">
                <a:latin typeface="Tahoma"/>
                <a:cs typeface="Tahoma"/>
              </a:rPr>
              <a:t>: </a:t>
            </a:r>
            <a:r>
              <a:rPr sz="1800" dirty="0">
                <a:latin typeface="Tahoma"/>
                <a:cs typeface="Tahoma"/>
              </a:rPr>
              <a:t>describes a </a:t>
            </a:r>
            <a:r>
              <a:rPr sz="1800" spc="-5" dirty="0">
                <a:latin typeface="Tahoma"/>
                <a:cs typeface="Tahoma"/>
              </a:rPr>
              <a:t>series </a:t>
            </a:r>
            <a:r>
              <a:rPr sz="1800" dirty="0">
                <a:latin typeface="Tahoma"/>
                <a:cs typeface="Tahoma"/>
              </a:rPr>
              <a:t>of </a:t>
            </a:r>
            <a:r>
              <a:rPr sz="1800" spc="-10" dirty="0">
                <a:latin typeface="Tahoma"/>
                <a:cs typeface="Tahoma"/>
              </a:rPr>
              <a:t>transformation </a:t>
            </a:r>
            <a:r>
              <a:rPr sz="1800" spc="-5" dirty="0">
                <a:latin typeface="Tahoma"/>
                <a:cs typeface="Tahoma"/>
              </a:rPr>
              <a:t>to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display</a:t>
            </a:r>
            <a:endParaRPr sz="1800">
              <a:latin typeface="Tahoma"/>
              <a:cs typeface="Tahoma"/>
            </a:endParaRPr>
          </a:p>
          <a:p>
            <a:pPr marL="2413000">
              <a:lnSpc>
                <a:spcPct val="100000"/>
              </a:lnSpc>
            </a:pPr>
            <a:r>
              <a:rPr sz="1800" spc="-5" dirty="0">
                <a:latin typeface="Tahoma"/>
                <a:cs typeface="Tahoma"/>
              </a:rPr>
              <a:t>world </a:t>
            </a:r>
            <a:r>
              <a:rPr sz="1800" dirty="0">
                <a:latin typeface="Tahoma"/>
                <a:cs typeface="Tahoma"/>
              </a:rPr>
              <a:t>data on a</a:t>
            </a:r>
            <a:r>
              <a:rPr sz="1800" spc="-5" dirty="0">
                <a:latin typeface="Tahoma"/>
                <a:cs typeface="Tahoma"/>
              </a:rPr>
              <a:t> device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b="1" dirty="0">
                <a:latin typeface="Tahoma"/>
                <a:cs typeface="Tahoma"/>
              </a:rPr>
              <a:t>Viewing </a:t>
            </a:r>
            <a:r>
              <a:rPr sz="1800" b="1" spc="-5" dirty="0">
                <a:latin typeface="Tahoma"/>
                <a:cs typeface="Tahoma"/>
              </a:rPr>
              <a:t>Transformation</a:t>
            </a:r>
            <a:r>
              <a:rPr sz="1800" spc="-5" dirty="0">
                <a:latin typeface="Tahoma"/>
                <a:cs typeface="Tahoma"/>
              </a:rPr>
              <a:t>: </a:t>
            </a:r>
            <a:r>
              <a:rPr sz="1800" dirty="0">
                <a:latin typeface="Tahoma"/>
                <a:cs typeface="Tahoma"/>
              </a:rPr>
              <a:t>how it </a:t>
            </a:r>
            <a:r>
              <a:rPr sz="1800" spc="-10" dirty="0">
                <a:latin typeface="Tahoma"/>
                <a:cs typeface="Tahoma"/>
              </a:rPr>
              <a:t>transforms </a:t>
            </a:r>
            <a:r>
              <a:rPr sz="1800" spc="-5" dirty="0">
                <a:latin typeface="Tahoma"/>
                <a:cs typeface="Tahoma"/>
              </a:rPr>
              <a:t>world </a:t>
            </a:r>
            <a:r>
              <a:rPr sz="1800" dirty="0">
                <a:latin typeface="Tahoma"/>
                <a:cs typeface="Tahoma"/>
              </a:rPr>
              <a:t>data </a:t>
            </a:r>
            <a:r>
              <a:rPr sz="1800" spc="-5" dirty="0">
                <a:latin typeface="Tahoma"/>
                <a:cs typeface="Tahoma"/>
              </a:rPr>
              <a:t>for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device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  <a:tab pos="1352550" algn="l"/>
              </a:tabLst>
            </a:pPr>
            <a:r>
              <a:rPr sz="1800" b="1" dirty="0">
                <a:latin typeface="Tahoma"/>
                <a:cs typeface="Tahoma"/>
              </a:rPr>
              <a:t>Viewing	</a:t>
            </a:r>
            <a:r>
              <a:rPr sz="1800" b="1" spc="-5" dirty="0">
                <a:latin typeface="Tahoma"/>
                <a:cs typeface="Tahoma"/>
              </a:rPr>
              <a:t>Coordinate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Mapping</a:t>
            </a:r>
            <a:r>
              <a:rPr sz="1800" dirty="0">
                <a:latin typeface="Tahoma"/>
                <a:cs typeface="Tahoma"/>
              </a:rPr>
              <a:t>: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b="1" spc="-5" dirty="0">
                <a:latin typeface="Tahoma"/>
                <a:cs typeface="Tahoma"/>
              </a:rPr>
              <a:t>Clipping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Algorithms</a:t>
            </a:r>
            <a:r>
              <a:rPr sz="1800" dirty="0">
                <a:latin typeface="Tahoma"/>
                <a:cs typeface="Tahoma"/>
              </a:rPr>
              <a:t>: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889875" y="182498"/>
            <a:ext cx="648080" cy="648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89875" y="182498"/>
            <a:ext cx="648335" cy="648335"/>
          </a:xfrm>
          <a:custGeom>
            <a:avLst/>
            <a:gdLst/>
            <a:ahLst/>
            <a:cxnLst/>
            <a:rect l="l" t="t" r="r" b="b"/>
            <a:pathLst>
              <a:path w="648334" h="648335">
                <a:moveTo>
                  <a:pt x="0" y="323976"/>
                </a:moveTo>
                <a:lnTo>
                  <a:pt x="3512" y="276098"/>
                </a:lnTo>
                <a:lnTo>
                  <a:pt x="13715" y="230402"/>
                </a:lnTo>
                <a:lnTo>
                  <a:pt x="30108" y="187389"/>
                </a:lnTo>
                <a:lnTo>
                  <a:pt x="52190" y="147561"/>
                </a:lnTo>
                <a:lnTo>
                  <a:pt x="79460" y="111418"/>
                </a:lnTo>
                <a:lnTo>
                  <a:pt x="111418" y="79460"/>
                </a:lnTo>
                <a:lnTo>
                  <a:pt x="147561" y="52190"/>
                </a:lnTo>
                <a:lnTo>
                  <a:pt x="187389" y="30108"/>
                </a:lnTo>
                <a:lnTo>
                  <a:pt x="230402" y="13715"/>
                </a:lnTo>
                <a:lnTo>
                  <a:pt x="276098" y="3512"/>
                </a:lnTo>
                <a:lnTo>
                  <a:pt x="323976" y="0"/>
                </a:lnTo>
                <a:lnTo>
                  <a:pt x="371887" y="3512"/>
                </a:lnTo>
                <a:lnTo>
                  <a:pt x="417608" y="13715"/>
                </a:lnTo>
                <a:lnTo>
                  <a:pt x="460642" y="30108"/>
                </a:lnTo>
                <a:lnTo>
                  <a:pt x="500486" y="52190"/>
                </a:lnTo>
                <a:lnTo>
                  <a:pt x="536642" y="79460"/>
                </a:lnTo>
                <a:lnTo>
                  <a:pt x="568608" y="111418"/>
                </a:lnTo>
                <a:lnTo>
                  <a:pt x="595884" y="147561"/>
                </a:lnTo>
                <a:lnTo>
                  <a:pt x="617969" y="187389"/>
                </a:lnTo>
                <a:lnTo>
                  <a:pt x="634364" y="230402"/>
                </a:lnTo>
                <a:lnTo>
                  <a:pt x="644568" y="276098"/>
                </a:lnTo>
                <a:lnTo>
                  <a:pt x="648080" y="323976"/>
                </a:lnTo>
                <a:lnTo>
                  <a:pt x="644568" y="371887"/>
                </a:lnTo>
                <a:lnTo>
                  <a:pt x="634364" y="417608"/>
                </a:lnTo>
                <a:lnTo>
                  <a:pt x="617969" y="460642"/>
                </a:lnTo>
                <a:lnTo>
                  <a:pt x="595884" y="500486"/>
                </a:lnTo>
                <a:lnTo>
                  <a:pt x="568608" y="536642"/>
                </a:lnTo>
                <a:lnTo>
                  <a:pt x="536642" y="568608"/>
                </a:lnTo>
                <a:lnTo>
                  <a:pt x="500486" y="595884"/>
                </a:lnTo>
                <a:lnTo>
                  <a:pt x="460642" y="617969"/>
                </a:lnTo>
                <a:lnTo>
                  <a:pt x="417608" y="634364"/>
                </a:lnTo>
                <a:lnTo>
                  <a:pt x="371887" y="644568"/>
                </a:lnTo>
                <a:lnTo>
                  <a:pt x="323976" y="648080"/>
                </a:lnTo>
                <a:lnTo>
                  <a:pt x="276098" y="644568"/>
                </a:lnTo>
                <a:lnTo>
                  <a:pt x="230402" y="634364"/>
                </a:lnTo>
                <a:lnTo>
                  <a:pt x="187389" y="617969"/>
                </a:lnTo>
                <a:lnTo>
                  <a:pt x="147561" y="595884"/>
                </a:lnTo>
                <a:lnTo>
                  <a:pt x="111418" y="568608"/>
                </a:lnTo>
                <a:lnTo>
                  <a:pt x="79460" y="536642"/>
                </a:lnTo>
                <a:lnTo>
                  <a:pt x="52190" y="500486"/>
                </a:lnTo>
                <a:lnTo>
                  <a:pt x="30108" y="460642"/>
                </a:lnTo>
                <a:lnTo>
                  <a:pt x="13715" y="417608"/>
                </a:lnTo>
                <a:lnTo>
                  <a:pt x="3512" y="371887"/>
                </a:lnTo>
                <a:lnTo>
                  <a:pt x="0" y="323976"/>
                </a:lnTo>
                <a:close/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62605" y="79501"/>
            <a:ext cx="341502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Viewing</a:t>
            </a:r>
            <a:r>
              <a:rPr sz="3200" spc="-4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Pipeline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9514" y="1196809"/>
            <a:ext cx="5184775" cy="923925"/>
          </a:xfrm>
          <a:custGeom>
            <a:avLst/>
            <a:gdLst/>
            <a:ahLst/>
            <a:cxnLst/>
            <a:rect l="l" t="t" r="r" b="b"/>
            <a:pathLst>
              <a:path w="5184775" h="923925">
                <a:moveTo>
                  <a:pt x="0" y="923328"/>
                </a:moveTo>
                <a:lnTo>
                  <a:pt x="5184521" y="923328"/>
                </a:lnTo>
                <a:lnTo>
                  <a:pt x="5184521" y="0"/>
                </a:lnTo>
                <a:lnTo>
                  <a:pt x="0" y="0"/>
                </a:lnTo>
                <a:lnTo>
                  <a:pt x="0" y="923328"/>
                </a:lnTo>
                <a:close/>
              </a:path>
            </a:pathLst>
          </a:custGeom>
          <a:solidFill>
            <a:srgbClr val="FFF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68161" y="908685"/>
            <a:ext cx="216026" cy="1545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40398" y="415162"/>
            <a:ext cx="216026" cy="154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96832" y="126619"/>
            <a:ext cx="216026" cy="154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35418" y="203834"/>
            <a:ext cx="216026" cy="1544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76513" y="993902"/>
            <a:ext cx="216026" cy="154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86752" y="1788731"/>
            <a:ext cx="1649730" cy="0"/>
          </a:xfrm>
          <a:custGeom>
            <a:avLst/>
            <a:gdLst/>
            <a:ahLst/>
            <a:cxnLst/>
            <a:rect l="l" t="t" r="r" b="b"/>
            <a:pathLst>
              <a:path w="1649729">
                <a:moveTo>
                  <a:pt x="0" y="0"/>
                </a:moveTo>
                <a:lnTo>
                  <a:pt x="1649539" y="0"/>
                </a:lnTo>
              </a:path>
            </a:pathLst>
          </a:custGeom>
          <a:ln w="40893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62382" y="1788731"/>
            <a:ext cx="708660" cy="0"/>
          </a:xfrm>
          <a:custGeom>
            <a:avLst/>
            <a:gdLst/>
            <a:ahLst/>
            <a:cxnLst/>
            <a:rect l="l" t="t" r="r" b="b"/>
            <a:pathLst>
              <a:path w="708659">
                <a:moveTo>
                  <a:pt x="0" y="0"/>
                </a:moveTo>
                <a:lnTo>
                  <a:pt x="708342" y="0"/>
                </a:lnTo>
              </a:path>
            </a:pathLst>
          </a:custGeom>
          <a:ln w="40893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58025" y="1403985"/>
            <a:ext cx="241426" cy="4268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4809" y="648588"/>
            <a:ext cx="2573655" cy="829310"/>
          </a:xfrm>
          <a:custGeom>
            <a:avLst/>
            <a:gdLst/>
            <a:ahLst/>
            <a:cxnLst/>
            <a:rect l="l" t="t" r="r" b="b"/>
            <a:pathLst>
              <a:path w="2573654" h="829310">
                <a:moveTo>
                  <a:pt x="0" y="829310"/>
                </a:moveTo>
                <a:lnTo>
                  <a:pt x="19026" y="773754"/>
                </a:lnTo>
                <a:lnTo>
                  <a:pt x="38238" y="718623"/>
                </a:lnTo>
                <a:lnTo>
                  <a:pt x="57822" y="664341"/>
                </a:lnTo>
                <a:lnTo>
                  <a:pt x="77963" y="611332"/>
                </a:lnTo>
                <a:lnTo>
                  <a:pt x="98848" y="560020"/>
                </a:lnTo>
                <a:lnTo>
                  <a:pt x="120661" y="510829"/>
                </a:lnTo>
                <a:lnTo>
                  <a:pt x="143589" y="464185"/>
                </a:lnTo>
                <a:lnTo>
                  <a:pt x="167817" y="420510"/>
                </a:lnTo>
                <a:lnTo>
                  <a:pt x="193532" y="380230"/>
                </a:lnTo>
                <a:lnTo>
                  <a:pt x="220918" y="343770"/>
                </a:lnTo>
                <a:lnTo>
                  <a:pt x="250163" y="311552"/>
                </a:lnTo>
                <a:lnTo>
                  <a:pt x="281451" y="284002"/>
                </a:lnTo>
                <a:lnTo>
                  <a:pt x="314968" y="261544"/>
                </a:lnTo>
                <a:lnTo>
                  <a:pt x="350900" y="244601"/>
                </a:lnTo>
                <a:lnTo>
                  <a:pt x="421249" y="235641"/>
                </a:lnTo>
                <a:lnTo>
                  <a:pt x="459912" y="241365"/>
                </a:lnTo>
                <a:lnTo>
                  <a:pt x="500538" y="252521"/>
                </a:lnTo>
                <a:lnTo>
                  <a:pt x="542855" y="268082"/>
                </a:lnTo>
                <a:lnTo>
                  <a:pt x="586591" y="287020"/>
                </a:lnTo>
                <a:lnTo>
                  <a:pt x="631472" y="308306"/>
                </a:lnTo>
                <a:lnTo>
                  <a:pt x="677227" y="330914"/>
                </a:lnTo>
                <a:lnTo>
                  <a:pt x="723583" y="353815"/>
                </a:lnTo>
                <a:lnTo>
                  <a:pt x="770268" y="375981"/>
                </a:lnTo>
                <a:lnTo>
                  <a:pt x="817010" y="396384"/>
                </a:lnTo>
                <a:lnTo>
                  <a:pt x="863536" y="413998"/>
                </a:lnTo>
                <a:lnTo>
                  <a:pt x="909574" y="427793"/>
                </a:lnTo>
                <a:lnTo>
                  <a:pt x="954851" y="436742"/>
                </a:lnTo>
                <a:lnTo>
                  <a:pt x="999095" y="439817"/>
                </a:lnTo>
                <a:lnTo>
                  <a:pt x="1042035" y="435990"/>
                </a:lnTo>
                <a:lnTo>
                  <a:pt x="1079136" y="426089"/>
                </a:lnTo>
                <a:lnTo>
                  <a:pt x="1115510" y="410477"/>
                </a:lnTo>
                <a:lnTo>
                  <a:pt x="1151282" y="389910"/>
                </a:lnTo>
                <a:lnTo>
                  <a:pt x="1186578" y="365142"/>
                </a:lnTo>
                <a:lnTo>
                  <a:pt x="1221524" y="336928"/>
                </a:lnTo>
                <a:lnTo>
                  <a:pt x="1256246" y="306022"/>
                </a:lnTo>
                <a:lnTo>
                  <a:pt x="1290870" y="273181"/>
                </a:lnTo>
                <a:lnTo>
                  <a:pt x="1325522" y="239158"/>
                </a:lnTo>
                <a:lnTo>
                  <a:pt x="1360328" y="204708"/>
                </a:lnTo>
                <a:lnTo>
                  <a:pt x="1395414" y="170586"/>
                </a:lnTo>
                <a:lnTo>
                  <a:pt x="1430906" y="137547"/>
                </a:lnTo>
                <a:lnTo>
                  <a:pt x="1466929" y="106346"/>
                </a:lnTo>
                <a:lnTo>
                  <a:pt x="1503611" y="77737"/>
                </a:lnTo>
                <a:lnTo>
                  <a:pt x="1541076" y="52475"/>
                </a:lnTo>
                <a:lnTo>
                  <a:pt x="1579450" y="31316"/>
                </a:lnTo>
                <a:lnTo>
                  <a:pt x="1618860" y="15014"/>
                </a:lnTo>
                <a:lnTo>
                  <a:pt x="1659432" y="4323"/>
                </a:lnTo>
                <a:lnTo>
                  <a:pt x="1701291" y="0"/>
                </a:lnTo>
                <a:lnTo>
                  <a:pt x="1741180" y="1727"/>
                </a:lnTo>
                <a:lnTo>
                  <a:pt x="1784017" y="8198"/>
                </a:lnTo>
                <a:lnTo>
                  <a:pt x="1829377" y="18946"/>
                </a:lnTo>
                <a:lnTo>
                  <a:pt x="1876833" y="33504"/>
                </a:lnTo>
                <a:lnTo>
                  <a:pt x="1925958" y="51407"/>
                </a:lnTo>
                <a:lnTo>
                  <a:pt x="1976327" y="72187"/>
                </a:lnTo>
                <a:lnTo>
                  <a:pt x="2027512" y="95378"/>
                </a:lnTo>
                <a:lnTo>
                  <a:pt x="2079087" y="120513"/>
                </a:lnTo>
                <a:lnTo>
                  <a:pt x="2130625" y="147127"/>
                </a:lnTo>
                <a:lnTo>
                  <a:pt x="2181701" y="174752"/>
                </a:lnTo>
                <a:lnTo>
                  <a:pt x="2231886" y="202921"/>
                </a:lnTo>
                <a:lnTo>
                  <a:pt x="2280756" y="231169"/>
                </a:lnTo>
                <a:lnTo>
                  <a:pt x="2327883" y="259029"/>
                </a:lnTo>
                <a:lnTo>
                  <a:pt x="2372840" y="286033"/>
                </a:lnTo>
                <a:lnTo>
                  <a:pt x="2415202" y="311717"/>
                </a:lnTo>
                <a:lnTo>
                  <a:pt x="2454542" y="335613"/>
                </a:lnTo>
                <a:lnTo>
                  <a:pt x="2490432" y="357254"/>
                </a:lnTo>
                <a:lnTo>
                  <a:pt x="2522448" y="376175"/>
                </a:lnTo>
                <a:lnTo>
                  <a:pt x="2550161" y="391907"/>
                </a:lnTo>
                <a:lnTo>
                  <a:pt x="2573146" y="403987"/>
                </a:lnTo>
              </a:path>
            </a:pathLst>
          </a:custGeom>
          <a:ln w="1904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40576" y="781672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9514" y="2492857"/>
            <a:ext cx="4478020" cy="646430"/>
          </a:xfrm>
          <a:prstGeom prst="rect">
            <a:avLst/>
          </a:prstGeom>
          <a:solidFill>
            <a:srgbClr val="FFF5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1800" spc="-5" dirty="0">
                <a:latin typeface="Tahoma"/>
                <a:cs typeface="Tahoma"/>
              </a:rPr>
              <a:t>The window can </a:t>
            </a:r>
            <a:r>
              <a:rPr sz="1800" dirty="0">
                <a:latin typeface="Tahoma"/>
                <a:cs typeface="Tahoma"/>
              </a:rPr>
              <a:t>be </a:t>
            </a:r>
            <a:r>
              <a:rPr sz="1800" spc="-10" dirty="0">
                <a:latin typeface="Tahoma"/>
                <a:cs typeface="Tahoma"/>
              </a:rPr>
              <a:t>represented </a:t>
            </a:r>
            <a:r>
              <a:rPr sz="1800" spc="-5" dirty="0">
                <a:latin typeface="Tahoma"/>
                <a:cs typeface="Tahoma"/>
              </a:rPr>
              <a:t>by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world</a:t>
            </a:r>
            <a:endParaRPr sz="18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sz="1800" spc="-5" dirty="0">
                <a:latin typeface="Tahoma"/>
                <a:cs typeface="Tahoma"/>
              </a:rPr>
              <a:t>coordinate system.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91402" y="3855211"/>
            <a:ext cx="550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spc="-5" dirty="0">
                <a:solidFill>
                  <a:srgbClr val="001F5F"/>
                </a:solidFill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29576" y="3877055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Tahoma"/>
                <a:cs typeface="Tahoma"/>
              </a:rPr>
              <a:t>x</a:t>
            </a:r>
            <a:r>
              <a:rPr sz="1200" spc="-5" dirty="0">
                <a:latin typeface="Tahoma"/>
                <a:cs typeface="Tahoma"/>
              </a:rPr>
              <a:t>wmax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92090" y="3714750"/>
            <a:ext cx="3384550" cy="0"/>
          </a:xfrm>
          <a:custGeom>
            <a:avLst/>
            <a:gdLst/>
            <a:ahLst/>
            <a:cxnLst/>
            <a:rect l="l" t="t" r="r" b="b"/>
            <a:pathLst>
              <a:path w="3384550">
                <a:moveTo>
                  <a:pt x="0" y="0"/>
                </a:moveTo>
                <a:lnTo>
                  <a:pt x="338442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900673" y="2030857"/>
            <a:ext cx="1905" cy="1920875"/>
          </a:xfrm>
          <a:custGeom>
            <a:avLst/>
            <a:gdLst/>
            <a:ahLst/>
            <a:cxnLst/>
            <a:rect l="l" t="t" r="r" b="b"/>
            <a:pathLst>
              <a:path w="1904" h="1920875">
                <a:moveTo>
                  <a:pt x="1524" y="0"/>
                </a:moveTo>
                <a:lnTo>
                  <a:pt x="0" y="19208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40020" y="2609088"/>
            <a:ext cx="5867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wmax</a:t>
            </a:r>
            <a:endParaRPr sz="1200">
              <a:latin typeface="Tahoma"/>
              <a:cs typeface="Tahoma"/>
            </a:endParaRPr>
          </a:p>
          <a:p>
            <a:pPr marL="69215">
              <a:lnSpc>
                <a:spcPct val="100000"/>
              </a:lnSpc>
              <a:spcBef>
                <a:spcPts val="2160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36817" y="2705595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49643" y="2679445"/>
            <a:ext cx="702310" cy="338455"/>
          </a:xfrm>
          <a:custGeom>
            <a:avLst/>
            <a:gdLst/>
            <a:ahLst/>
            <a:cxnLst/>
            <a:rect l="l" t="t" r="r" b="b"/>
            <a:pathLst>
              <a:path w="702309" h="338455">
                <a:moveTo>
                  <a:pt x="0" y="276351"/>
                </a:moveTo>
                <a:lnTo>
                  <a:pt x="47836" y="292796"/>
                </a:lnTo>
                <a:lnTo>
                  <a:pt x="95539" y="308181"/>
                </a:lnTo>
                <a:lnTo>
                  <a:pt x="142986" y="321446"/>
                </a:lnTo>
                <a:lnTo>
                  <a:pt x="190055" y="331533"/>
                </a:lnTo>
                <a:lnTo>
                  <a:pt x="236624" y="337381"/>
                </a:lnTo>
                <a:lnTo>
                  <a:pt x="282571" y="337931"/>
                </a:lnTo>
                <a:lnTo>
                  <a:pt x="327773" y="332122"/>
                </a:lnTo>
                <a:lnTo>
                  <a:pt x="372109" y="318896"/>
                </a:lnTo>
                <a:lnTo>
                  <a:pt x="410718" y="300342"/>
                </a:lnTo>
                <a:lnTo>
                  <a:pt x="448626" y="275827"/>
                </a:lnTo>
                <a:lnTo>
                  <a:pt x="485920" y="246097"/>
                </a:lnTo>
                <a:lnTo>
                  <a:pt x="522691" y="211899"/>
                </a:lnTo>
                <a:lnTo>
                  <a:pt x="559028" y="173978"/>
                </a:lnTo>
                <a:lnTo>
                  <a:pt x="595018" y="133081"/>
                </a:lnTo>
                <a:lnTo>
                  <a:pt x="630751" y="89955"/>
                </a:lnTo>
                <a:lnTo>
                  <a:pt x="666316" y="45346"/>
                </a:lnTo>
                <a:lnTo>
                  <a:pt x="701801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04632" y="3264661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36817" y="3264661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00673" y="3254375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888609" y="2705989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729980" y="3561842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r>
              <a:rPr sz="1800" spc="-7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6814" y="1228344"/>
            <a:ext cx="5690235" cy="1167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646430">
              <a:lnSpc>
                <a:spcPct val="100000"/>
              </a:lnSpc>
              <a:spcBef>
                <a:spcPts val="100"/>
              </a:spcBef>
              <a:tabLst>
                <a:tab pos="1915160" algn="l"/>
              </a:tabLst>
            </a:pPr>
            <a:r>
              <a:rPr sz="1800" spc="-5" dirty="0">
                <a:latin typeface="Tahoma"/>
                <a:cs typeface="Tahoma"/>
              </a:rPr>
              <a:t>Suppose you are watching </a:t>
            </a:r>
            <a:r>
              <a:rPr sz="1800" dirty="0">
                <a:latin typeface="Tahoma"/>
                <a:cs typeface="Tahoma"/>
              </a:rPr>
              <a:t>a hill </a:t>
            </a:r>
            <a:r>
              <a:rPr sz="1800" spc="-10" dirty="0">
                <a:latin typeface="Tahoma"/>
                <a:cs typeface="Tahoma"/>
              </a:rPr>
              <a:t>from </a:t>
            </a:r>
            <a:r>
              <a:rPr sz="1800" spc="-5" dirty="0">
                <a:latin typeface="Tahoma"/>
                <a:cs typeface="Tahoma"/>
              </a:rPr>
              <a:t>your roof  </a:t>
            </a:r>
            <a:r>
              <a:rPr sz="1800" dirty="0">
                <a:latin typeface="Tahoma"/>
                <a:cs typeface="Tahoma"/>
              </a:rPr>
              <a:t>Only </a:t>
            </a:r>
            <a:r>
              <a:rPr sz="1800" spc="-5" dirty="0">
                <a:latin typeface="Tahoma"/>
                <a:cs typeface="Tahoma"/>
              </a:rPr>
              <a:t>rectangular	</a:t>
            </a:r>
            <a:r>
              <a:rPr sz="1800" dirty="0">
                <a:latin typeface="Tahoma"/>
                <a:cs typeface="Tahoma"/>
              </a:rPr>
              <a:t>block </a:t>
            </a:r>
            <a:r>
              <a:rPr sz="1800" spc="-5" dirty="0">
                <a:latin typeface="Tahoma"/>
                <a:cs typeface="Tahoma"/>
              </a:rPr>
              <a:t>view </a:t>
            </a:r>
            <a:r>
              <a:rPr sz="1800" dirty="0">
                <a:latin typeface="Tahoma"/>
                <a:cs typeface="Tahoma"/>
              </a:rPr>
              <a:t>of </a:t>
            </a:r>
            <a:r>
              <a:rPr sz="1800" spc="-5" dirty="0">
                <a:latin typeface="Tahoma"/>
                <a:cs typeface="Tahoma"/>
              </a:rPr>
              <a:t>scene can </a:t>
            </a:r>
            <a:r>
              <a:rPr sz="1800" dirty="0">
                <a:latin typeface="Tahoma"/>
                <a:cs typeface="Tahoma"/>
              </a:rPr>
              <a:t>be  </a:t>
            </a:r>
            <a:r>
              <a:rPr sz="1800" spc="-5" dirty="0">
                <a:latin typeface="Tahoma"/>
                <a:cs typeface="Tahoma"/>
              </a:rPr>
              <a:t>seen through </a:t>
            </a:r>
            <a:r>
              <a:rPr sz="1800" spc="-10" dirty="0">
                <a:latin typeface="Tahoma"/>
                <a:cs typeface="Tahoma"/>
              </a:rPr>
              <a:t>eyes. </a:t>
            </a:r>
            <a:r>
              <a:rPr sz="1800" dirty="0">
                <a:latin typeface="Tahoma"/>
                <a:cs typeface="Tahoma"/>
              </a:rPr>
              <a:t>This block is </a:t>
            </a:r>
            <a:r>
              <a:rPr sz="1800" spc="-5" dirty="0">
                <a:latin typeface="Tahoma"/>
                <a:cs typeface="Tahoma"/>
              </a:rPr>
              <a:t>called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ahoma"/>
                <a:cs typeface="Tahoma"/>
              </a:rPr>
              <a:t>window</a:t>
            </a:r>
            <a:r>
              <a:rPr sz="1800" dirty="0">
                <a:latin typeface="Tahoma"/>
                <a:cs typeface="Tahoma"/>
              </a:rPr>
              <a:t>.</a:t>
            </a:r>
          </a:p>
          <a:p>
            <a:pPr marR="43180" algn="r">
              <a:lnSpc>
                <a:spcPct val="100000"/>
              </a:lnSpc>
              <a:spcBef>
                <a:spcPts val="345"/>
              </a:spcBef>
            </a:pPr>
            <a:r>
              <a:rPr sz="1800" spc="-5" dirty="0">
                <a:latin typeface="Tahoma"/>
                <a:cs typeface="Tahoma"/>
              </a:rPr>
              <a:t>Y</a:t>
            </a:r>
            <a:r>
              <a:rPr sz="1800" baseline="-20833" dirty="0">
                <a:latin typeface="Tahoma"/>
                <a:cs typeface="Tahoma"/>
              </a:rPr>
              <a:t>w</a:t>
            </a:r>
          </a:p>
        </p:txBody>
      </p:sp>
      <p:sp>
        <p:nvSpPr>
          <p:cNvPr id="31" name="object 31"/>
          <p:cNvSpPr/>
          <p:nvPr/>
        </p:nvSpPr>
        <p:spPr>
          <a:xfrm>
            <a:off x="5073903" y="1321180"/>
            <a:ext cx="1463040" cy="535940"/>
          </a:xfrm>
          <a:custGeom>
            <a:avLst/>
            <a:gdLst/>
            <a:ahLst/>
            <a:cxnLst/>
            <a:rect l="l" t="t" r="r" b="b"/>
            <a:pathLst>
              <a:path w="1463040" h="535939">
                <a:moveTo>
                  <a:pt x="1426862" y="25492"/>
                </a:moveTo>
                <a:lnTo>
                  <a:pt x="0" y="523875"/>
                </a:lnTo>
                <a:lnTo>
                  <a:pt x="4191" y="535813"/>
                </a:lnTo>
                <a:lnTo>
                  <a:pt x="1430847" y="37502"/>
                </a:lnTo>
                <a:lnTo>
                  <a:pt x="1439060" y="27871"/>
                </a:lnTo>
                <a:lnTo>
                  <a:pt x="1426862" y="25492"/>
                </a:lnTo>
                <a:close/>
              </a:path>
              <a:path w="1463040" h="535939">
                <a:moveTo>
                  <a:pt x="1453772" y="17780"/>
                </a:moveTo>
                <a:lnTo>
                  <a:pt x="1448943" y="17780"/>
                </a:lnTo>
                <a:lnTo>
                  <a:pt x="1453134" y="29718"/>
                </a:lnTo>
                <a:lnTo>
                  <a:pt x="1430847" y="37502"/>
                </a:lnTo>
                <a:lnTo>
                  <a:pt x="1386586" y="89408"/>
                </a:lnTo>
                <a:lnTo>
                  <a:pt x="1386967" y="93345"/>
                </a:lnTo>
                <a:lnTo>
                  <a:pt x="1392301" y="97917"/>
                </a:lnTo>
                <a:lnTo>
                  <a:pt x="1396238" y="97663"/>
                </a:lnTo>
                <a:lnTo>
                  <a:pt x="1462913" y="19558"/>
                </a:lnTo>
                <a:lnTo>
                  <a:pt x="1453772" y="17780"/>
                </a:lnTo>
                <a:close/>
              </a:path>
              <a:path w="1463040" h="535939">
                <a:moveTo>
                  <a:pt x="1439060" y="27871"/>
                </a:moveTo>
                <a:lnTo>
                  <a:pt x="1430847" y="37502"/>
                </a:lnTo>
                <a:lnTo>
                  <a:pt x="1452406" y="29972"/>
                </a:lnTo>
                <a:lnTo>
                  <a:pt x="1449831" y="29972"/>
                </a:lnTo>
                <a:lnTo>
                  <a:pt x="1439060" y="27871"/>
                </a:lnTo>
                <a:close/>
              </a:path>
              <a:path w="1463040" h="535939">
                <a:moveTo>
                  <a:pt x="1446149" y="19558"/>
                </a:moveTo>
                <a:lnTo>
                  <a:pt x="1439060" y="27871"/>
                </a:lnTo>
                <a:lnTo>
                  <a:pt x="1449831" y="29972"/>
                </a:lnTo>
                <a:lnTo>
                  <a:pt x="1446149" y="19558"/>
                </a:lnTo>
                <a:close/>
              </a:path>
              <a:path w="1463040" h="535939">
                <a:moveTo>
                  <a:pt x="1449567" y="19558"/>
                </a:moveTo>
                <a:lnTo>
                  <a:pt x="1446149" y="19558"/>
                </a:lnTo>
                <a:lnTo>
                  <a:pt x="1449831" y="29972"/>
                </a:lnTo>
                <a:lnTo>
                  <a:pt x="1452406" y="29972"/>
                </a:lnTo>
                <a:lnTo>
                  <a:pt x="1453134" y="29718"/>
                </a:lnTo>
                <a:lnTo>
                  <a:pt x="1449567" y="19558"/>
                </a:lnTo>
                <a:close/>
              </a:path>
              <a:path w="1463040" h="535939">
                <a:moveTo>
                  <a:pt x="1448943" y="17780"/>
                </a:moveTo>
                <a:lnTo>
                  <a:pt x="1426862" y="25492"/>
                </a:lnTo>
                <a:lnTo>
                  <a:pt x="1439060" y="27871"/>
                </a:lnTo>
                <a:lnTo>
                  <a:pt x="1446149" y="19558"/>
                </a:lnTo>
                <a:lnTo>
                  <a:pt x="1449567" y="19558"/>
                </a:lnTo>
                <a:lnTo>
                  <a:pt x="1448943" y="17780"/>
                </a:lnTo>
                <a:close/>
              </a:path>
              <a:path w="1463040" h="535939">
                <a:moveTo>
                  <a:pt x="1362202" y="0"/>
                </a:moveTo>
                <a:lnTo>
                  <a:pt x="1358900" y="2286"/>
                </a:lnTo>
                <a:lnTo>
                  <a:pt x="1358138" y="5715"/>
                </a:lnTo>
                <a:lnTo>
                  <a:pt x="1357503" y="9144"/>
                </a:lnTo>
                <a:lnTo>
                  <a:pt x="1359789" y="12446"/>
                </a:lnTo>
                <a:lnTo>
                  <a:pt x="1426862" y="25492"/>
                </a:lnTo>
                <a:lnTo>
                  <a:pt x="1448943" y="17780"/>
                </a:lnTo>
                <a:lnTo>
                  <a:pt x="1453772" y="17780"/>
                </a:lnTo>
                <a:lnTo>
                  <a:pt x="136220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31317" y="3554450"/>
            <a:ext cx="4036060" cy="646430"/>
          </a:xfrm>
          <a:prstGeom prst="rect">
            <a:avLst/>
          </a:prstGeom>
          <a:solidFill>
            <a:srgbClr val="FFF5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90805" marR="196215">
              <a:lnSpc>
                <a:spcPct val="100000"/>
              </a:lnSpc>
              <a:spcBef>
                <a:spcPts val="350"/>
              </a:spcBef>
            </a:pPr>
            <a:r>
              <a:rPr sz="1800" spc="-5" dirty="0">
                <a:latin typeface="Tahoma"/>
                <a:cs typeface="Tahoma"/>
              </a:rPr>
              <a:t>Now we </a:t>
            </a:r>
            <a:r>
              <a:rPr sz="1800" dirty="0">
                <a:latin typeface="Tahoma"/>
                <a:cs typeface="Tahoma"/>
              </a:rPr>
              <a:t>need </a:t>
            </a:r>
            <a:r>
              <a:rPr sz="1800" spc="-5" dirty="0">
                <a:latin typeface="Tahoma"/>
                <a:cs typeface="Tahoma"/>
              </a:rPr>
              <a:t>to present this window  </a:t>
            </a:r>
            <a:r>
              <a:rPr sz="1800" dirty="0">
                <a:latin typeface="Tahoma"/>
                <a:cs typeface="Tahoma"/>
              </a:rPr>
              <a:t>on a </a:t>
            </a:r>
            <a:r>
              <a:rPr sz="1800" spc="-5" dirty="0">
                <a:latin typeface="Tahoma"/>
                <a:cs typeface="Tahoma"/>
              </a:rPr>
              <a:t>device called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ahoma"/>
                <a:cs typeface="Tahoma"/>
              </a:rPr>
              <a:t>viewport</a:t>
            </a:r>
            <a:r>
              <a:rPr sz="180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9591" y="4551045"/>
            <a:ext cx="1152525" cy="432434"/>
          </a:xfrm>
          <a:prstGeom prst="rect">
            <a:avLst/>
          </a:prstGeom>
          <a:solidFill>
            <a:srgbClr val="00E3A8"/>
          </a:solidFill>
          <a:ln w="25400">
            <a:solidFill>
              <a:srgbClr val="00A779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610"/>
              </a:spcBef>
            </a:pP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67991" y="4551045"/>
            <a:ext cx="1152525" cy="432434"/>
          </a:xfrm>
          <a:prstGeom prst="rect">
            <a:avLst/>
          </a:prstGeom>
          <a:solidFill>
            <a:srgbClr val="FFE167"/>
          </a:solidFill>
          <a:ln w="25400">
            <a:solidFill>
              <a:srgbClr val="00A779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106680" marR="99060" indent="229235">
              <a:lnSpc>
                <a:spcPct val="100000"/>
              </a:lnSpc>
              <a:spcBef>
                <a:spcPts val="375"/>
              </a:spcBef>
            </a:pP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Viewing  Transformation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18077" y="4536947"/>
            <a:ext cx="1152525" cy="432434"/>
          </a:xfrm>
          <a:prstGeom prst="rect">
            <a:avLst/>
          </a:prstGeom>
          <a:solidFill>
            <a:srgbClr val="00E3A8"/>
          </a:solidFill>
          <a:ln w="25400">
            <a:solidFill>
              <a:srgbClr val="00A779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610"/>
              </a:spcBef>
            </a:pP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Viewport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051685" y="4711827"/>
            <a:ext cx="416559" cy="111125"/>
          </a:xfrm>
          <a:custGeom>
            <a:avLst/>
            <a:gdLst/>
            <a:ahLst/>
            <a:cxnLst/>
            <a:rect l="l" t="t" r="r" b="b"/>
            <a:pathLst>
              <a:path w="416560" h="111125">
                <a:moveTo>
                  <a:pt x="378641" y="55308"/>
                </a:moveTo>
                <a:lnTo>
                  <a:pt x="316483" y="91567"/>
                </a:lnTo>
                <a:lnTo>
                  <a:pt x="311912" y="94106"/>
                </a:lnTo>
                <a:lnTo>
                  <a:pt x="310388" y="99949"/>
                </a:lnTo>
                <a:lnTo>
                  <a:pt x="315721" y="109093"/>
                </a:lnTo>
                <a:lnTo>
                  <a:pt x="321563" y="110617"/>
                </a:lnTo>
                <a:lnTo>
                  <a:pt x="326008" y="107950"/>
                </a:lnTo>
                <a:lnTo>
                  <a:pt x="399987" y="64770"/>
                </a:lnTo>
                <a:lnTo>
                  <a:pt x="397509" y="64770"/>
                </a:lnTo>
                <a:lnTo>
                  <a:pt x="397509" y="63500"/>
                </a:lnTo>
                <a:lnTo>
                  <a:pt x="392683" y="63500"/>
                </a:lnTo>
                <a:lnTo>
                  <a:pt x="378641" y="55308"/>
                </a:lnTo>
                <a:close/>
              </a:path>
              <a:path w="416560" h="111125">
                <a:moveTo>
                  <a:pt x="362204" y="45720"/>
                </a:moveTo>
                <a:lnTo>
                  <a:pt x="0" y="45720"/>
                </a:lnTo>
                <a:lnTo>
                  <a:pt x="0" y="64770"/>
                </a:lnTo>
                <a:lnTo>
                  <a:pt x="362421" y="64770"/>
                </a:lnTo>
                <a:lnTo>
                  <a:pt x="378641" y="55308"/>
                </a:lnTo>
                <a:lnTo>
                  <a:pt x="362204" y="45720"/>
                </a:lnTo>
                <a:close/>
              </a:path>
              <a:path w="416560" h="111125">
                <a:moveTo>
                  <a:pt x="399947" y="45720"/>
                </a:moveTo>
                <a:lnTo>
                  <a:pt x="397509" y="45720"/>
                </a:lnTo>
                <a:lnTo>
                  <a:pt x="397509" y="64770"/>
                </a:lnTo>
                <a:lnTo>
                  <a:pt x="399987" y="64770"/>
                </a:lnTo>
                <a:lnTo>
                  <a:pt x="416306" y="55245"/>
                </a:lnTo>
                <a:lnTo>
                  <a:pt x="399947" y="45720"/>
                </a:lnTo>
                <a:close/>
              </a:path>
              <a:path w="416560" h="111125">
                <a:moveTo>
                  <a:pt x="392683" y="47117"/>
                </a:moveTo>
                <a:lnTo>
                  <a:pt x="378641" y="55308"/>
                </a:lnTo>
                <a:lnTo>
                  <a:pt x="392683" y="63500"/>
                </a:lnTo>
                <a:lnTo>
                  <a:pt x="392683" y="47117"/>
                </a:lnTo>
                <a:close/>
              </a:path>
              <a:path w="416560" h="111125">
                <a:moveTo>
                  <a:pt x="397509" y="47117"/>
                </a:moveTo>
                <a:lnTo>
                  <a:pt x="392683" y="47117"/>
                </a:lnTo>
                <a:lnTo>
                  <a:pt x="392683" y="63500"/>
                </a:lnTo>
                <a:lnTo>
                  <a:pt x="397509" y="63500"/>
                </a:lnTo>
                <a:lnTo>
                  <a:pt x="397509" y="47117"/>
                </a:lnTo>
                <a:close/>
              </a:path>
              <a:path w="416560" h="111125">
                <a:moveTo>
                  <a:pt x="321563" y="0"/>
                </a:moveTo>
                <a:lnTo>
                  <a:pt x="315721" y="1524"/>
                </a:lnTo>
                <a:lnTo>
                  <a:pt x="313054" y="6096"/>
                </a:lnTo>
                <a:lnTo>
                  <a:pt x="310388" y="10541"/>
                </a:lnTo>
                <a:lnTo>
                  <a:pt x="311912" y="16383"/>
                </a:lnTo>
                <a:lnTo>
                  <a:pt x="378641" y="55308"/>
                </a:lnTo>
                <a:lnTo>
                  <a:pt x="392683" y="47117"/>
                </a:lnTo>
                <a:lnTo>
                  <a:pt x="397509" y="47117"/>
                </a:lnTo>
                <a:lnTo>
                  <a:pt x="397509" y="45720"/>
                </a:lnTo>
                <a:lnTo>
                  <a:pt x="399947" y="45720"/>
                </a:lnTo>
                <a:lnTo>
                  <a:pt x="326008" y="2667"/>
                </a:lnTo>
                <a:lnTo>
                  <a:pt x="321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619627" y="4702175"/>
            <a:ext cx="299085" cy="111125"/>
          </a:xfrm>
          <a:custGeom>
            <a:avLst/>
            <a:gdLst/>
            <a:ahLst/>
            <a:cxnLst/>
            <a:rect l="l" t="t" r="r" b="b"/>
            <a:pathLst>
              <a:path w="299085" h="111125">
                <a:moveTo>
                  <a:pt x="282030" y="42163"/>
                </a:moveTo>
                <a:lnTo>
                  <a:pt x="279273" y="42163"/>
                </a:lnTo>
                <a:lnTo>
                  <a:pt x="280162" y="61213"/>
                </a:lnTo>
                <a:lnTo>
                  <a:pt x="244893" y="62882"/>
                </a:lnTo>
                <a:lnTo>
                  <a:pt x="196087" y="94614"/>
                </a:lnTo>
                <a:lnTo>
                  <a:pt x="194818" y="100456"/>
                </a:lnTo>
                <a:lnTo>
                  <a:pt x="197612" y="104901"/>
                </a:lnTo>
                <a:lnTo>
                  <a:pt x="200533" y="109347"/>
                </a:lnTo>
                <a:lnTo>
                  <a:pt x="206375" y="110617"/>
                </a:lnTo>
                <a:lnTo>
                  <a:pt x="298576" y="50800"/>
                </a:lnTo>
                <a:lnTo>
                  <a:pt x="282030" y="42163"/>
                </a:lnTo>
                <a:close/>
              </a:path>
              <a:path w="299085" h="111125">
                <a:moveTo>
                  <a:pt x="244089" y="43827"/>
                </a:moveTo>
                <a:lnTo>
                  <a:pt x="0" y="55372"/>
                </a:lnTo>
                <a:lnTo>
                  <a:pt x="1015" y="74422"/>
                </a:lnTo>
                <a:lnTo>
                  <a:pt x="244893" y="62882"/>
                </a:lnTo>
                <a:lnTo>
                  <a:pt x="260801" y="52550"/>
                </a:lnTo>
                <a:lnTo>
                  <a:pt x="244089" y="43827"/>
                </a:lnTo>
                <a:close/>
              </a:path>
              <a:path w="299085" h="111125">
                <a:moveTo>
                  <a:pt x="260801" y="52550"/>
                </a:moveTo>
                <a:lnTo>
                  <a:pt x="244893" y="62882"/>
                </a:lnTo>
                <a:lnTo>
                  <a:pt x="280162" y="61213"/>
                </a:lnTo>
                <a:lnTo>
                  <a:pt x="280108" y="60070"/>
                </a:lnTo>
                <a:lnTo>
                  <a:pt x="275209" y="60070"/>
                </a:lnTo>
                <a:lnTo>
                  <a:pt x="260801" y="52550"/>
                </a:lnTo>
                <a:close/>
              </a:path>
              <a:path w="299085" h="111125">
                <a:moveTo>
                  <a:pt x="274447" y="43687"/>
                </a:moveTo>
                <a:lnTo>
                  <a:pt x="260801" y="52550"/>
                </a:lnTo>
                <a:lnTo>
                  <a:pt x="275209" y="60070"/>
                </a:lnTo>
                <a:lnTo>
                  <a:pt x="274447" y="43687"/>
                </a:lnTo>
                <a:close/>
              </a:path>
              <a:path w="299085" h="111125">
                <a:moveTo>
                  <a:pt x="279344" y="43687"/>
                </a:moveTo>
                <a:lnTo>
                  <a:pt x="274447" y="43687"/>
                </a:lnTo>
                <a:lnTo>
                  <a:pt x="275209" y="60070"/>
                </a:lnTo>
                <a:lnTo>
                  <a:pt x="280108" y="60070"/>
                </a:lnTo>
                <a:lnTo>
                  <a:pt x="279344" y="43687"/>
                </a:lnTo>
                <a:close/>
              </a:path>
              <a:path w="299085" h="111125">
                <a:moveTo>
                  <a:pt x="279273" y="42163"/>
                </a:moveTo>
                <a:lnTo>
                  <a:pt x="244089" y="43827"/>
                </a:lnTo>
                <a:lnTo>
                  <a:pt x="260801" y="52550"/>
                </a:lnTo>
                <a:lnTo>
                  <a:pt x="274447" y="43687"/>
                </a:lnTo>
                <a:lnTo>
                  <a:pt x="279344" y="43687"/>
                </a:lnTo>
                <a:lnTo>
                  <a:pt x="279273" y="42163"/>
                </a:lnTo>
                <a:close/>
              </a:path>
              <a:path w="299085" h="111125">
                <a:moveTo>
                  <a:pt x="201168" y="0"/>
                </a:moveTo>
                <a:lnTo>
                  <a:pt x="195452" y="1777"/>
                </a:lnTo>
                <a:lnTo>
                  <a:pt x="190626" y="11175"/>
                </a:lnTo>
                <a:lnTo>
                  <a:pt x="192405" y="16891"/>
                </a:lnTo>
                <a:lnTo>
                  <a:pt x="244089" y="43827"/>
                </a:lnTo>
                <a:lnTo>
                  <a:pt x="279273" y="42163"/>
                </a:lnTo>
                <a:lnTo>
                  <a:pt x="282030" y="42163"/>
                </a:lnTo>
                <a:lnTo>
                  <a:pt x="201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420865" y="6229858"/>
            <a:ext cx="514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dirty="0">
                <a:solidFill>
                  <a:srgbClr val="001F5F"/>
                </a:solidFill>
                <a:latin typeface="Tahoma"/>
                <a:cs typeface="Tahoma"/>
              </a:rPr>
              <a:t>vmin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59040" y="6251447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Tahoma"/>
                <a:cs typeface="Tahoma"/>
              </a:rPr>
              <a:t>x</a:t>
            </a:r>
            <a:r>
              <a:rPr sz="1200" dirty="0">
                <a:latin typeface="Tahoma"/>
                <a:cs typeface="Tahoma"/>
              </a:rPr>
              <a:t>vmax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321680" y="6089078"/>
            <a:ext cx="3384550" cy="0"/>
          </a:xfrm>
          <a:custGeom>
            <a:avLst/>
            <a:gdLst/>
            <a:ahLst/>
            <a:cxnLst/>
            <a:rect l="l" t="t" r="r" b="b"/>
            <a:pathLst>
              <a:path w="3384550">
                <a:moveTo>
                  <a:pt x="0" y="0"/>
                </a:moveTo>
                <a:lnTo>
                  <a:pt x="338429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31789" y="4405121"/>
            <a:ext cx="2540" cy="1943100"/>
          </a:xfrm>
          <a:custGeom>
            <a:avLst/>
            <a:gdLst/>
            <a:ahLst/>
            <a:cxnLst/>
            <a:rect l="l" t="t" r="r" b="b"/>
            <a:pathLst>
              <a:path w="2539" h="1943100">
                <a:moveTo>
                  <a:pt x="0" y="0"/>
                </a:moveTo>
                <a:lnTo>
                  <a:pt x="2539" y="194260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566281" y="5079911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579234" y="5053710"/>
            <a:ext cx="701675" cy="338455"/>
          </a:xfrm>
          <a:custGeom>
            <a:avLst/>
            <a:gdLst/>
            <a:ahLst/>
            <a:cxnLst/>
            <a:rect l="l" t="t" r="r" b="b"/>
            <a:pathLst>
              <a:path w="701675" h="338454">
                <a:moveTo>
                  <a:pt x="0" y="276478"/>
                </a:moveTo>
                <a:lnTo>
                  <a:pt x="47800" y="292923"/>
                </a:lnTo>
                <a:lnTo>
                  <a:pt x="95486" y="308308"/>
                </a:lnTo>
                <a:lnTo>
                  <a:pt x="142930" y="321573"/>
                </a:lnTo>
                <a:lnTo>
                  <a:pt x="190007" y="331660"/>
                </a:lnTo>
                <a:lnTo>
                  <a:pt x="236590" y="337508"/>
                </a:lnTo>
                <a:lnTo>
                  <a:pt x="282553" y="338058"/>
                </a:lnTo>
                <a:lnTo>
                  <a:pt x="327768" y="332249"/>
                </a:lnTo>
                <a:lnTo>
                  <a:pt x="372110" y="319023"/>
                </a:lnTo>
                <a:lnTo>
                  <a:pt x="410718" y="300436"/>
                </a:lnTo>
                <a:lnTo>
                  <a:pt x="448624" y="275902"/>
                </a:lnTo>
                <a:lnTo>
                  <a:pt x="485916" y="246163"/>
                </a:lnTo>
                <a:lnTo>
                  <a:pt x="522680" y="211962"/>
                </a:lnTo>
                <a:lnTo>
                  <a:pt x="559006" y="174041"/>
                </a:lnTo>
                <a:lnTo>
                  <a:pt x="594980" y="133143"/>
                </a:lnTo>
                <a:lnTo>
                  <a:pt x="630691" y="90008"/>
                </a:lnTo>
                <a:lnTo>
                  <a:pt x="666227" y="45379"/>
                </a:lnTo>
                <a:lnTo>
                  <a:pt x="701675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634223" y="5638977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10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66281" y="5638977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10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75654" y="5628754"/>
            <a:ext cx="722630" cy="635"/>
          </a:xfrm>
          <a:custGeom>
            <a:avLst/>
            <a:gdLst/>
            <a:ahLst/>
            <a:cxnLst/>
            <a:rect l="l" t="t" r="r" b="b"/>
            <a:pathLst>
              <a:path w="722629" h="635">
                <a:moveTo>
                  <a:pt x="722249" y="0"/>
                </a:moveTo>
                <a:lnTo>
                  <a:pt x="0" y="12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918072" y="5080380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76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759443" y="5936488"/>
            <a:ext cx="285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r>
              <a:rPr sz="1800" spc="-7" baseline="-20833" dirty="0">
                <a:latin typeface="Tahoma"/>
                <a:cs typeface="Tahoma"/>
              </a:rPr>
              <a:t>v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69484" y="4469892"/>
            <a:ext cx="556260" cy="136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ahoma"/>
                <a:cs typeface="Tahoma"/>
              </a:rPr>
              <a:t>Y</a:t>
            </a:r>
            <a:r>
              <a:rPr sz="1800" spc="-67" baseline="-20833" dirty="0">
                <a:latin typeface="Tahoma"/>
                <a:cs typeface="Tahoma"/>
              </a:rPr>
              <a:t>v</a:t>
            </a:r>
            <a:endParaRPr sz="1800" baseline="-20833">
              <a:latin typeface="Tahoma"/>
              <a:cs typeface="Tahoma"/>
            </a:endParaRPr>
          </a:p>
          <a:p>
            <a:pPr marL="69215" marR="36830" indent="-31750">
              <a:lnSpc>
                <a:spcPts val="4320"/>
              </a:lnSpc>
              <a:spcBef>
                <a:spcPts val="225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dirty="0">
                <a:latin typeface="Tahoma"/>
                <a:cs typeface="Tahoma"/>
              </a:rPr>
              <a:t>vmax  </a:t>
            </a: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dirty="0">
                <a:latin typeface="Tahoma"/>
                <a:cs typeface="Tahoma"/>
              </a:rPr>
              <a:t>vmin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006842" y="2880359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39011" y="5112258"/>
            <a:ext cx="3645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Window </a:t>
            </a:r>
            <a:r>
              <a:rPr sz="1800" spc="-5" dirty="0">
                <a:latin typeface="Tahoma"/>
                <a:cs typeface="Tahoma"/>
              </a:rPr>
              <a:t>to Viewport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Transformation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022718" y="3020567"/>
            <a:ext cx="133350" cy="1313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208009" y="3327400"/>
            <a:ext cx="2959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Tahoma"/>
                <a:cs typeface="Tahoma"/>
              </a:rPr>
              <a:t>w</a:t>
            </a:r>
            <a:r>
              <a:rPr sz="800" spc="114" dirty="0">
                <a:latin typeface="Tahoma"/>
                <a:cs typeface="Tahoma"/>
              </a:rPr>
              <a:t> </a:t>
            </a:r>
            <a:r>
              <a:rPr sz="800" spc="-5" dirty="0">
                <a:latin typeface="Tahoma"/>
                <a:cs typeface="Tahoma"/>
              </a:rPr>
              <a:t>w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73897" y="3239008"/>
            <a:ext cx="488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(x ,y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174483" y="3110610"/>
            <a:ext cx="821690" cy="240665"/>
          </a:xfrm>
          <a:custGeom>
            <a:avLst/>
            <a:gdLst/>
            <a:ahLst/>
            <a:cxnLst/>
            <a:rect l="l" t="t" r="r" b="b"/>
            <a:pathLst>
              <a:path w="821690" h="240664">
                <a:moveTo>
                  <a:pt x="36418" y="31223"/>
                </a:moveTo>
                <a:lnTo>
                  <a:pt x="24358" y="34713"/>
                </a:lnTo>
                <a:lnTo>
                  <a:pt x="33418" y="43554"/>
                </a:lnTo>
                <a:lnTo>
                  <a:pt x="818515" y="240537"/>
                </a:lnTo>
                <a:lnTo>
                  <a:pt x="821563" y="228218"/>
                </a:lnTo>
                <a:lnTo>
                  <a:pt x="36418" y="31223"/>
                </a:lnTo>
                <a:close/>
              </a:path>
              <a:path w="821690" h="240664">
                <a:moveTo>
                  <a:pt x="98551" y="0"/>
                </a:moveTo>
                <a:lnTo>
                  <a:pt x="0" y="28575"/>
                </a:lnTo>
                <a:lnTo>
                  <a:pt x="70866" y="97916"/>
                </a:lnTo>
                <a:lnTo>
                  <a:pt x="73406" y="100329"/>
                </a:lnTo>
                <a:lnTo>
                  <a:pt x="77470" y="100329"/>
                </a:lnTo>
                <a:lnTo>
                  <a:pt x="82296" y="95250"/>
                </a:lnTo>
                <a:lnTo>
                  <a:pt x="82296" y="91186"/>
                </a:lnTo>
                <a:lnTo>
                  <a:pt x="79756" y="88773"/>
                </a:lnTo>
                <a:lnTo>
                  <a:pt x="33418" y="43554"/>
                </a:lnTo>
                <a:lnTo>
                  <a:pt x="10668" y="37846"/>
                </a:lnTo>
                <a:lnTo>
                  <a:pt x="13716" y="25526"/>
                </a:lnTo>
                <a:lnTo>
                  <a:pt x="56105" y="25526"/>
                </a:lnTo>
                <a:lnTo>
                  <a:pt x="102108" y="12191"/>
                </a:lnTo>
                <a:lnTo>
                  <a:pt x="104013" y="8762"/>
                </a:lnTo>
                <a:lnTo>
                  <a:pt x="102997" y="5334"/>
                </a:lnTo>
                <a:lnTo>
                  <a:pt x="102108" y="1904"/>
                </a:lnTo>
                <a:lnTo>
                  <a:pt x="98551" y="0"/>
                </a:lnTo>
                <a:close/>
              </a:path>
              <a:path w="821690" h="240664">
                <a:moveTo>
                  <a:pt x="13716" y="25526"/>
                </a:moveTo>
                <a:lnTo>
                  <a:pt x="10668" y="37846"/>
                </a:lnTo>
                <a:lnTo>
                  <a:pt x="33418" y="43554"/>
                </a:lnTo>
                <a:lnTo>
                  <a:pt x="27438" y="37718"/>
                </a:lnTo>
                <a:lnTo>
                  <a:pt x="13970" y="37718"/>
                </a:lnTo>
                <a:lnTo>
                  <a:pt x="16637" y="27177"/>
                </a:lnTo>
                <a:lnTo>
                  <a:pt x="20296" y="27177"/>
                </a:lnTo>
                <a:lnTo>
                  <a:pt x="13716" y="25526"/>
                </a:lnTo>
                <a:close/>
              </a:path>
              <a:path w="821690" h="240664">
                <a:moveTo>
                  <a:pt x="16637" y="27177"/>
                </a:moveTo>
                <a:lnTo>
                  <a:pt x="13970" y="37718"/>
                </a:lnTo>
                <a:lnTo>
                  <a:pt x="24358" y="34713"/>
                </a:lnTo>
                <a:lnTo>
                  <a:pt x="16637" y="27177"/>
                </a:lnTo>
                <a:close/>
              </a:path>
              <a:path w="821690" h="240664">
                <a:moveTo>
                  <a:pt x="24358" y="34713"/>
                </a:moveTo>
                <a:lnTo>
                  <a:pt x="13970" y="37718"/>
                </a:lnTo>
                <a:lnTo>
                  <a:pt x="27438" y="37718"/>
                </a:lnTo>
                <a:lnTo>
                  <a:pt x="24358" y="34713"/>
                </a:lnTo>
                <a:close/>
              </a:path>
              <a:path w="821690" h="240664">
                <a:moveTo>
                  <a:pt x="20296" y="27177"/>
                </a:moveTo>
                <a:lnTo>
                  <a:pt x="16637" y="27177"/>
                </a:lnTo>
                <a:lnTo>
                  <a:pt x="24358" y="34713"/>
                </a:lnTo>
                <a:lnTo>
                  <a:pt x="36418" y="31223"/>
                </a:lnTo>
                <a:lnTo>
                  <a:pt x="20296" y="27177"/>
                </a:lnTo>
                <a:close/>
              </a:path>
              <a:path w="821690" h="240664">
                <a:moveTo>
                  <a:pt x="56105" y="25526"/>
                </a:moveTo>
                <a:lnTo>
                  <a:pt x="13716" y="25526"/>
                </a:lnTo>
                <a:lnTo>
                  <a:pt x="36418" y="31223"/>
                </a:lnTo>
                <a:lnTo>
                  <a:pt x="56105" y="25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174865" y="5363971"/>
            <a:ext cx="133350" cy="1313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7986521" y="5054346"/>
            <a:ext cx="965200" cy="7366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sz="1800" dirty="0">
                <a:latin typeface="Tahoma"/>
                <a:cs typeface="Tahoma"/>
              </a:rPr>
              <a:t>Viewport</a:t>
            </a:r>
            <a:endParaRPr sz="1800">
              <a:latin typeface="Tahoma"/>
              <a:cs typeface="Tahoma"/>
            </a:endParaRPr>
          </a:p>
          <a:p>
            <a:pPr marR="45085" algn="ctr">
              <a:lnSpc>
                <a:spcPct val="100000"/>
              </a:lnSpc>
              <a:spcBef>
                <a:spcPts val="800"/>
              </a:spcBef>
            </a:pPr>
            <a:r>
              <a:rPr sz="1200" spc="-15" dirty="0">
                <a:latin typeface="Tahoma"/>
                <a:cs typeface="Tahoma"/>
              </a:rPr>
              <a:t>(x</a:t>
            </a:r>
            <a:r>
              <a:rPr sz="1200" spc="-22" baseline="-20833" dirty="0">
                <a:latin typeface="Tahoma"/>
                <a:cs typeface="Tahoma"/>
              </a:rPr>
              <a:t>v</a:t>
            </a:r>
            <a:r>
              <a:rPr sz="1200" spc="-15" dirty="0">
                <a:latin typeface="Tahoma"/>
                <a:cs typeface="Tahoma"/>
              </a:rPr>
              <a:t>,y</a:t>
            </a:r>
            <a:r>
              <a:rPr sz="1200" spc="-22" baseline="-20833" dirty="0">
                <a:latin typeface="Tahoma"/>
                <a:cs typeface="Tahoma"/>
              </a:rPr>
              <a:t>v</a:t>
            </a:r>
            <a:r>
              <a:rPr sz="1200" spc="-1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326630" y="5454015"/>
            <a:ext cx="821690" cy="240665"/>
          </a:xfrm>
          <a:custGeom>
            <a:avLst/>
            <a:gdLst/>
            <a:ahLst/>
            <a:cxnLst/>
            <a:rect l="l" t="t" r="r" b="b"/>
            <a:pathLst>
              <a:path w="821690" h="240664">
                <a:moveTo>
                  <a:pt x="36420" y="31222"/>
                </a:moveTo>
                <a:lnTo>
                  <a:pt x="24358" y="34713"/>
                </a:lnTo>
                <a:lnTo>
                  <a:pt x="33416" y="43552"/>
                </a:lnTo>
                <a:lnTo>
                  <a:pt x="818515" y="240499"/>
                </a:lnTo>
                <a:lnTo>
                  <a:pt x="821563" y="228180"/>
                </a:lnTo>
                <a:lnTo>
                  <a:pt x="36420" y="31222"/>
                </a:lnTo>
                <a:close/>
              </a:path>
              <a:path w="821690" h="240664">
                <a:moveTo>
                  <a:pt x="98551" y="0"/>
                </a:moveTo>
                <a:lnTo>
                  <a:pt x="0" y="28575"/>
                </a:lnTo>
                <a:lnTo>
                  <a:pt x="70866" y="97917"/>
                </a:lnTo>
                <a:lnTo>
                  <a:pt x="73405" y="100330"/>
                </a:lnTo>
                <a:lnTo>
                  <a:pt x="77470" y="100330"/>
                </a:lnTo>
                <a:lnTo>
                  <a:pt x="82296" y="95250"/>
                </a:lnTo>
                <a:lnTo>
                  <a:pt x="82296" y="91186"/>
                </a:lnTo>
                <a:lnTo>
                  <a:pt x="79755" y="88773"/>
                </a:lnTo>
                <a:lnTo>
                  <a:pt x="33416" y="43552"/>
                </a:lnTo>
                <a:lnTo>
                  <a:pt x="10668" y="37846"/>
                </a:lnTo>
                <a:lnTo>
                  <a:pt x="13716" y="25527"/>
                </a:lnTo>
                <a:lnTo>
                  <a:pt x="56105" y="25527"/>
                </a:lnTo>
                <a:lnTo>
                  <a:pt x="102108" y="12192"/>
                </a:lnTo>
                <a:lnTo>
                  <a:pt x="104013" y="8763"/>
                </a:lnTo>
                <a:lnTo>
                  <a:pt x="102997" y="5334"/>
                </a:lnTo>
                <a:lnTo>
                  <a:pt x="102108" y="1905"/>
                </a:lnTo>
                <a:lnTo>
                  <a:pt x="98551" y="0"/>
                </a:lnTo>
                <a:close/>
              </a:path>
              <a:path w="821690" h="240664">
                <a:moveTo>
                  <a:pt x="13716" y="25527"/>
                </a:moveTo>
                <a:lnTo>
                  <a:pt x="10668" y="37846"/>
                </a:lnTo>
                <a:lnTo>
                  <a:pt x="33416" y="43552"/>
                </a:lnTo>
                <a:lnTo>
                  <a:pt x="27438" y="37719"/>
                </a:lnTo>
                <a:lnTo>
                  <a:pt x="13970" y="37719"/>
                </a:lnTo>
                <a:lnTo>
                  <a:pt x="16637" y="27178"/>
                </a:lnTo>
                <a:lnTo>
                  <a:pt x="20297" y="27178"/>
                </a:lnTo>
                <a:lnTo>
                  <a:pt x="13716" y="25527"/>
                </a:lnTo>
                <a:close/>
              </a:path>
              <a:path w="821690" h="240664">
                <a:moveTo>
                  <a:pt x="16637" y="27178"/>
                </a:moveTo>
                <a:lnTo>
                  <a:pt x="13970" y="37719"/>
                </a:lnTo>
                <a:lnTo>
                  <a:pt x="24358" y="34713"/>
                </a:lnTo>
                <a:lnTo>
                  <a:pt x="16637" y="27178"/>
                </a:lnTo>
                <a:close/>
              </a:path>
              <a:path w="821690" h="240664">
                <a:moveTo>
                  <a:pt x="24358" y="34713"/>
                </a:moveTo>
                <a:lnTo>
                  <a:pt x="13970" y="37719"/>
                </a:lnTo>
                <a:lnTo>
                  <a:pt x="27438" y="37719"/>
                </a:lnTo>
                <a:lnTo>
                  <a:pt x="24358" y="34713"/>
                </a:lnTo>
                <a:close/>
              </a:path>
              <a:path w="821690" h="240664">
                <a:moveTo>
                  <a:pt x="20297" y="27178"/>
                </a:moveTo>
                <a:lnTo>
                  <a:pt x="16637" y="27178"/>
                </a:lnTo>
                <a:lnTo>
                  <a:pt x="24358" y="34713"/>
                </a:lnTo>
                <a:lnTo>
                  <a:pt x="36420" y="31222"/>
                </a:lnTo>
                <a:lnTo>
                  <a:pt x="20297" y="27178"/>
                </a:lnTo>
                <a:close/>
              </a:path>
              <a:path w="821690" h="240664">
                <a:moveTo>
                  <a:pt x="56105" y="25527"/>
                </a:moveTo>
                <a:lnTo>
                  <a:pt x="13716" y="25527"/>
                </a:lnTo>
                <a:lnTo>
                  <a:pt x="36420" y="31222"/>
                </a:lnTo>
                <a:lnTo>
                  <a:pt x="56105" y="25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899591" y="5628766"/>
            <a:ext cx="3836670" cy="646430"/>
          </a:xfrm>
          <a:prstGeom prst="rect">
            <a:avLst/>
          </a:prstGeom>
          <a:solidFill>
            <a:srgbClr val="FFF5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91440" marR="121920">
              <a:lnSpc>
                <a:spcPct val="100000"/>
              </a:lnSpc>
              <a:spcBef>
                <a:spcPts val="350"/>
              </a:spcBef>
            </a:pPr>
            <a:r>
              <a:rPr sz="1800" spc="-5" dirty="0">
                <a:latin typeface="Tahoma"/>
                <a:cs typeface="Tahoma"/>
              </a:rPr>
              <a:t>Now how </a:t>
            </a:r>
            <a:r>
              <a:rPr sz="1800" dirty="0">
                <a:latin typeface="Tahoma"/>
                <a:cs typeface="Tahoma"/>
              </a:rPr>
              <a:t>a point in </a:t>
            </a:r>
            <a:r>
              <a:rPr sz="1800" spc="-5" dirty="0">
                <a:latin typeface="Tahoma"/>
                <a:cs typeface="Tahoma"/>
              </a:rPr>
              <a:t>window </a:t>
            </a:r>
            <a:r>
              <a:rPr sz="1800" dirty="0">
                <a:latin typeface="Tahoma"/>
                <a:cs typeface="Tahoma"/>
              </a:rPr>
              <a:t>is </a:t>
            </a:r>
            <a:r>
              <a:rPr sz="1800" spc="-5" dirty="0">
                <a:latin typeface="Tahoma"/>
                <a:cs typeface="Tahoma"/>
              </a:rPr>
              <a:t>to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  </a:t>
            </a:r>
            <a:r>
              <a:rPr sz="1800" spc="-10" dirty="0">
                <a:latin typeface="Tahoma"/>
                <a:cs typeface="Tahoma"/>
              </a:rPr>
              <a:t>represented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viewport?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" y="206248"/>
            <a:ext cx="49320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Viewing</a:t>
            </a:r>
            <a:r>
              <a:rPr sz="3200" spc="-15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Transformation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391402" y="2012950"/>
            <a:ext cx="55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spc="-5" dirty="0">
                <a:solidFill>
                  <a:srgbClr val="001F5F"/>
                </a:solidFill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9576" y="2034540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Tahoma"/>
                <a:cs typeface="Tahoma"/>
              </a:rPr>
              <a:t>x</a:t>
            </a:r>
            <a:r>
              <a:rPr sz="1200" spc="-5" dirty="0">
                <a:latin typeface="Tahoma"/>
                <a:cs typeface="Tahoma"/>
              </a:rPr>
              <a:t>wmax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92090" y="1872614"/>
            <a:ext cx="3384550" cy="0"/>
          </a:xfrm>
          <a:custGeom>
            <a:avLst/>
            <a:gdLst/>
            <a:ahLst/>
            <a:cxnLst/>
            <a:rect l="l" t="t" r="r" b="b"/>
            <a:pathLst>
              <a:path w="3384550">
                <a:moveTo>
                  <a:pt x="0" y="0"/>
                </a:moveTo>
                <a:lnTo>
                  <a:pt x="338442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00673" y="188595"/>
            <a:ext cx="1905" cy="1921510"/>
          </a:xfrm>
          <a:custGeom>
            <a:avLst/>
            <a:gdLst/>
            <a:ahLst/>
            <a:cxnLst/>
            <a:rect l="l" t="t" r="r" b="b"/>
            <a:pathLst>
              <a:path w="1904" h="1921510">
                <a:moveTo>
                  <a:pt x="1524" y="0"/>
                </a:moveTo>
                <a:lnTo>
                  <a:pt x="0" y="192100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6817" y="863333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49643" y="837183"/>
            <a:ext cx="702310" cy="338455"/>
          </a:xfrm>
          <a:custGeom>
            <a:avLst/>
            <a:gdLst/>
            <a:ahLst/>
            <a:cxnLst/>
            <a:rect l="l" t="t" r="r" b="b"/>
            <a:pathLst>
              <a:path w="702309" h="338455">
                <a:moveTo>
                  <a:pt x="0" y="276478"/>
                </a:moveTo>
                <a:lnTo>
                  <a:pt x="47836" y="292923"/>
                </a:lnTo>
                <a:lnTo>
                  <a:pt x="95539" y="308308"/>
                </a:lnTo>
                <a:lnTo>
                  <a:pt x="142986" y="321573"/>
                </a:lnTo>
                <a:lnTo>
                  <a:pt x="190055" y="331660"/>
                </a:lnTo>
                <a:lnTo>
                  <a:pt x="236624" y="337508"/>
                </a:lnTo>
                <a:lnTo>
                  <a:pt x="282571" y="338058"/>
                </a:lnTo>
                <a:lnTo>
                  <a:pt x="327773" y="332249"/>
                </a:lnTo>
                <a:lnTo>
                  <a:pt x="372109" y="319024"/>
                </a:lnTo>
                <a:lnTo>
                  <a:pt x="410718" y="300436"/>
                </a:lnTo>
                <a:lnTo>
                  <a:pt x="448626" y="275902"/>
                </a:lnTo>
                <a:lnTo>
                  <a:pt x="485920" y="246163"/>
                </a:lnTo>
                <a:lnTo>
                  <a:pt x="522691" y="211962"/>
                </a:lnTo>
                <a:lnTo>
                  <a:pt x="559028" y="174041"/>
                </a:lnTo>
                <a:lnTo>
                  <a:pt x="595018" y="133143"/>
                </a:lnTo>
                <a:lnTo>
                  <a:pt x="630751" y="90008"/>
                </a:lnTo>
                <a:lnTo>
                  <a:pt x="666316" y="45379"/>
                </a:lnTo>
                <a:lnTo>
                  <a:pt x="701801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04632" y="1422400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214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36817" y="1422400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214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00673" y="1412239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88609" y="863853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55380" y="1719579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7968" y="1852167"/>
            <a:ext cx="139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40020" y="252984"/>
            <a:ext cx="603885" cy="136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Y</a:t>
            </a:r>
            <a:r>
              <a:rPr sz="1800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  <a:p>
            <a:pPr marL="69215" marR="47625" indent="-31750">
              <a:lnSpc>
                <a:spcPts val="4320"/>
              </a:lnSpc>
              <a:spcBef>
                <a:spcPts val="225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wmax  </a:t>
            </a: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20865" y="4387595"/>
            <a:ext cx="514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dirty="0">
                <a:solidFill>
                  <a:srgbClr val="001F5F"/>
                </a:solidFill>
                <a:latin typeface="Tahoma"/>
                <a:cs typeface="Tahoma"/>
              </a:rPr>
              <a:t>vmin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59040" y="4409185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Tahoma"/>
                <a:cs typeface="Tahoma"/>
              </a:rPr>
              <a:t>x</a:t>
            </a:r>
            <a:r>
              <a:rPr sz="1200" dirty="0">
                <a:latin typeface="Tahoma"/>
                <a:cs typeface="Tahoma"/>
              </a:rPr>
              <a:t>vmax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21680" y="4246879"/>
            <a:ext cx="3384550" cy="0"/>
          </a:xfrm>
          <a:custGeom>
            <a:avLst/>
            <a:gdLst/>
            <a:ahLst/>
            <a:cxnLst/>
            <a:rect l="l" t="t" r="r" b="b"/>
            <a:pathLst>
              <a:path w="3384550">
                <a:moveTo>
                  <a:pt x="0" y="0"/>
                </a:moveTo>
                <a:lnTo>
                  <a:pt x="338429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31789" y="2562986"/>
            <a:ext cx="2540" cy="1943100"/>
          </a:xfrm>
          <a:custGeom>
            <a:avLst/>
            <a:gdLst/>
            <a:ahLst/>
            <a:cxnLst/>
            <a:rect l="l" t="t" r="r" b="b"/>
            <a:pathLst>
              <a:path w="2539" h="1943100">
                <a:moveTo>
                  <a:pt x="0" y="0"/>
                </a:moveTo>
                <a:lnTo>
                  <a:pt x="2539" y="194259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66281" y="3237725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79234" y="3211576"/>
            <a:ext cx="701675" cy="338455"/>
          </a:xfrm>
          <a:custGeom>
            <a:avLst/>
            <a:gdLst/>
            <a:ahLst/>
            <a:cxnLst/>
            <a:rect l="l" t="t" r="r" b="b"/>
            <a:pathLst>
              <a:path w="701675" h="338454">
                <a:moveTo>
                  <a:pt x="0" y="276478"/>
                </a:moveTo>
                <a:lnTo>
                  <a:pt x="47800" y="292923"/>
                </a:lnTo>
                <a:lnTo>
                  <a:pt x="95486" y="308308"/>
                </a:lnTo>
                <a:lnTo>
                  <a:pt x="142930" y="321573"/>
                </a:lnTo>
                <a:lnTo>
                  <a:pt x="190007" y="331660"/>
                </a:lnTo>
                <a:lnTo>
                  <a:pt x="236590" y="337508"/>
                </a:lnTo>
                <a:lnTo>
                  <a:pt x="282553" y="338058"/>
                </a:lnTo>
                <a:lnTo>
                  <a:pt x="327768" y="332249"/>
                </a:lnTo>
                <a:lnTo>
                  <a:pt x="372110" y="319024"/>
                </a:lnTo>
                <a:lnTo>
                  <a:pt x="410718" y="300436"/>
                </a:lnTo>
                <a:lnTo>
                  <a:pt x="448624" y="275902"/>
                </a:lnTo>
                <a:lnTo>
                  <a:pt x="485916" y="246163"/>
                </a:lnTo>
                <a:lnTo>
                  <a:pt x="522680" y="211962"/>
                </a:lnTo>
                <a:lnTo>
                  <a:pt x="559006" y="174041"/>
                </a:lnTo>
                <a:lnTo>
                  <a:pt x="594980" y="133143"/>
                </a:lnTo>
                <a:lnTo>
                  <a:pt x="630691" y="90008"/>
                </a:lnTo>
                <a:lnTo>
                  <a:pt x="666227" y="45379"/>
                </a:lnTo>
                <a:lnTo>
                  <a:pt x="701675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34223" y="3796791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7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66281" y="3796791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7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75654" y="3786632"/>
            <a:ext cx="722630" cy="0"/>
          </a:xfrm>
          <a:custGeom>
            <a:avLst/>
            <a:gdLst/>
            <a:ahLst/>
            <a:cxnLst/>
            <a:rect l="l" t="t" r="r" b="b"/>
            <a:pathLst>
              <a:path w="722629">
                <a:moveTo>
                  <a:pt x="72224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18072" y="3238119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76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759443" y="4094226"/>
            <a:ext cx="285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r>
              <a:rPr sz="1800" spc="-7" baseline="-20833" dirty="0">
                <a:latin typeface="Tahoma"/>
                <a:cs typeface="Tahoma"/>
              </a:rPr>
              <a:t>v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69484" y="2627629"/>
            <a:ext cx="556260" cy="136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ahoma"/>
                <a:cs typeface="Tahoma"/>
              </a:rPr>
              <a:t>Y</a:t>
            </a:r>
            <a:r>
              <a:rPr sz="1800" spc="-67" baseline="-20833" dirty="0">
                <a:latin typeface="Tahoma"/>
                <a:cs typeface="Tahoma"/>
              </a:rPr>
              <a:t>v</a:t>
            </a:r>
            <a:endParaRPr sz="1800" baseline="-20833">
              <a:latin typeface="Tahoma"/>
              <a:cs typeface="Tahoma"/>
            </a:endParaRPr>
          </a:p>
          <a:p>
            <a:pPr marL="69215" marR="36830" indent="-31750">
              <a:lnSpc>
                <a:spcPts val="4320"/>
              </a:lnSpc>
              <a:spcBef>
                <a:spcPts val="225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dirty="0">
                <a:latin typeface="Tahoma"/>
                <a:cs typeface="Tahoma"/>
              </a:rPr>
              <a:t>vmax  </a:t>
            </a: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dirty="0">
                <a:latin typeface="Tahoma"/>
                <a:cs typeface="Tahoma"/>
              </a:rPr>
              <a:t>vmin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06842" y="1038097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11921" y="3364484"/>
            <a:ext cx="914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Viewport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22718" y="1178433"/>
            <a:ext cx="133350" cy="131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208009" y="1485138"/>
            <a:ext cx="2959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Tahoma"/>
                <a:cs typeface="Tahoma"/>
              </a:rPr>
              <a:t>w</a:t>
            </a:r>
            <a:r>
              <a:rPr sz="800" spc="114" dirty="0">
                <a:latin typeface="Tahoma"/>
                <a:cs typeface="Tahoma"/>
              </a:rPr>
              <a:t> </a:t>
            </a:r>
            <a:r>
              <a:rPr sz="800" spc="-5" dirty="0">
                <a:latin typeface="Tahoma"/>
                <a:cs typeface="Tahoma"/>
              </a:rPr>
              <a:t>w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73897" y="1396746"/>
            <a:ext cx="488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(x ,y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74483" y="1268475"/>
            <a:ext cx="821690" cy="240665"/>
          </a:xfrm>
          <a:custGeom>
            <a:avLst/>
            <a:gdLst/>
            <a:ahLst/>
            <a:cxnLst/>
            <a:rect l="l" t="t" r="r" b="b"/>
            <a:pathLst>
              <a:path w="821690" h="240665">
                <a:moveTo>
                  <a:pt x="36425" y="31221"/>
                </a:moveTo>
                <a:lnTo>
                  <a:pt x="24446" y="34687"/>
                </a:lnTo>
                <a:lnTo>
                  <a:pt x="33541" y="43581"/>
                </a:lnTo>
                <a:lnTo>
                  <a:pt x="818515" y="240411"/>
                </a:lnTo>
                <a:lnTo>
                  <a:pt x="821563" y="228091"/>
                </a:lnTo>
                <a:lnTo>
                  <a:pt x="36425" y="31221"/>
                </a:lnTo>
                <a:close/>
              </a:path>
              <a:path w="821690" h="240665">
                <a:moveTo>
                  <a:pt x="98551" y="0"/>
                </a:moveTo>
                <a:lnTo>
                  <a:pt x="0" y="28575"/>
                </a:lnTo>
                <a:lnTo>
                  <a:pt x="70866" y="97789"/>
                </a:lnTo>
                <a:lnTo>
                  <a:pt x="73406" y="100329"/>
                </a:lnTo>
                <a:lnTo>
                  <a:pt x="77470" y="100202"/>
                </a:lnTo>
                <a:lnTo>
                  <a:pt x="79883" y="97789"/>
                </a:lnTo>
                <a:lnTo>
                  <a:pt x="82296" y="95250"/>
                </a:lnTo>
                <a:lnTo>
                  <a:pt x="82296" y="91186"/>
                </a:lnTo>
                <a:lnTo>
                  <a:pt x="79756" y="88773"/>
                </a:lnTo>
                <a:lnTo>
                  <a:pt x="33541" y="43581"/>
                </a:lnTo>
                <a:lnTo>
                  <a:pt x="10668" y="37846"/>
                </a:lnTo>
                <a:lnTo>
                  <a:pt x="13716" y="25526"/>
                </a:lnTo>
                <a:lnTo>
                  <a:pt x="56105" y="25526"/>
                </a:lnTo>
                <a:lnTo>
                  <a:pt x="102108" y="12191"/>
                </a:lnTo>
                <a:lnTo>
                  <a:pt x="104013" y="8636"/>
                </a:lnTo>
                <a:lnTo>
                  <a:pt x="102997" y="5334"/>
                </a:lnTo>
                <a:lnTo>
                  <a:pt x="102108" y="1904"/>
                </a:lnTo>
                <a:lnTo>
                  <a:pt x="98551" y="0"/>
                </a:lnTo>
                <a:close/>
              </a:path>
              <a:path w="821690" h="240665">
                <a:moveTo>
                  <a:pt x="13716" y="25526"/>
                </a:moveTo>
                <a:lnTo>
                  <a:pt x="10668" y="37846"/>
                </a:lnTo>
                <a:lnTo>
                  <a:pt x="33541" y="43581"/>
                </a:lnTo>
                <a:lnTo>
                  <a:pt x="27546" y="37719"/>
                </a:lnTo>
                <a:lnTo>
                  <a:pt x="13970" y="37719"/>
                </a:lnTo>
                <a:lnTo>
                  <a:pt x="16637" y="27050"/>
                </a:lnTo>
                <a:lnTo>
                  <a:pt x="19793" y="27050"/>
                </a:lnTo>
                <a:lnTo>
                  <a:pt x="13716" y="25526"/>
                </a:lnTo>
                <a:close/>
              </a:path>
              <a:path w="821690" h="240665">
                <a:moveTo>
                  <a:pt x="16637" y="27050"/>
                </a:moveTo>
                <a:lnTo>
                  <a:pt x="13970" y="37719"/>
                </a:lnTo>
                <a:lnTo>
                  <a:pt x="24446" y="34687"/>
                </a:lnTo>
                <a:lnTo>
                  <a:pt x="16637" y="27050"/>
                </a:lnTo>
                <a:close/>
              </a:path>
              <a:path w="821690" h="240665">
                <a:moveTo>
                  <a:pt x="24446" y="34687"/>
                </a:moveTo>
                <a:lnTo>
                  <a:pt x="13970" y="37719"/>
                </a:lnTo>
                <a:lnTo>
                  <a:pt x="27546" y="37719"/>
                </a:lnTo>
                <a:lnTo>
                  <a:pt x="24446" y="34687"/>
                </a:lnTo>
                <a:close/>
              </a:path>
              <a:path w="821690" h="240665">
                <a:moveTo>
                  <a:pt x="19793" y="27050"/>
                </a:moveTo>
                <a:lnTo>
                  <a:pt x="16637" y="27050"/>
                </a:lnTo>
                <a:lnTo>
                  <a:pt x="24446" y="34687"/>
                </a:lnTo>
                <a:lnTo>
                  <a:pt x="36425" y="31221"/>
                </a:lnTo>
                <a:lnTo>
                  <a:pt x="19793" y="27050"/>
                </a:lnTo>
                <a:close/>
              </a:path>
              <a:path w="821690" h="240665">
                <a:moveTo>
                  <a:pt x="56105" y="25526"/>
                </a:moveTo>
                <a:lnTo>
                  <a:pt x="13716" y="25526"/>
                </a:lnTo>
                <a:lnTo>
                  <a:pt x="36425" y="31221"/>
                </a:lnTo>
                <a:lnTo>
                  <a:pt x="56105" y="25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174865" y="3521836"/>
            <a:ext cx="133350" cy="1313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360156" y="3828796"/>
            <a:ext cx="2406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Tahoma"/>
                <a:cs typeface="Tahoma"/>
              </a:rPr>
              <a:t>v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spc="-5" dirty="0">
                <a:latin typeface="Tahoma"/>
                <a:cs typeface="Tahoma"/>
              </a:rPr>
              <a:t>v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26043" y="3740404"/>
            <a:ext cx="433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(x ,y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326630" y="3611879"/>
            <a:ext cx="821690" cy="240665"/>
          </a:xfrm>
          <a:custGeom>
            <a:avLst/>
            <a:gdLst/>
            <a:ahLst/>
            <a:cxnLst/>
            <a:rect l="l" t="t" r="r" b="b"/>
            <a:pathLst>
              <a:path w="821690" h="240664">
                <a:moveTo>
                  <a:pt x="36425" y="31221"/>
                </a:moveTo>
                <a:lnTo>
                  <a:pt x="24446" y="34687"/>
                </a:lnTo>
                <a:lnTo>
                  <a:pt x="33541" y="43581"/>
                </a:lnTo>
                <a:lnTo>
                  <a:pt x="818515" y="240411"/>
                </a:lnTo>
                <a:lnTo>
                  <a:pt x="821563" y="228092"/>
                </a:lnTo>
                <a:lnTo>
                  <a:pt x="36425" y="31221"/>
                </a:lnTo>
                <a:close/>
              </a:path>
              <a:path w="821690" h="240664">
                <a:moveTo>
                  <a:pt x="98551" y="0"/>
                </a:moveTo>
                <a:lnTo>
                  <a:pt x="0" y="28575"/>
                </a:lnTo>
                <a:lnTo>
                  <a:pt x="70866" y="97790"/>
                </a:lnTo>
                <a:lnTo>
                  <a:pt x="73405" y="100330"/>
                </a:lnTo>
                <a:lnTo>
                  <a:pt x="77470" y="100203"/>
                </a:lnTo>
                <a:lnTo>
                  <a:pt x="79883" y="97790"/>
                </a:lnTo>
                <a:lnTo>
                  <a:pt x="82296" y="95250"/>
                </a:lnTo>
                <a:lnTo>
                  <a:pt x="82296" y="91186"/>
                </a:lnTo>
                <a:lnTo>
                  <a:pt x="79755" y="88773"/>
                </a:lnTo>
                <a:lnTo>
                  <a:pt x="33541" y="43581"/>
                </a:lnTo>
                <a:lnTo>
                  <a:pt x="10668" y="37846"/>
                </a:lnTo>
                <a:lnTo>
                  <a:pt x="13716" y="25527"/>
                </a:lnTo>
                <a:lnTo>
                  <a:pt x="56105" y="25527"/>
                </a:lnTo>
                <a:lnTo>
                  <a:pt x="102108" y="12192"/>
                </a:lnTo>
                <a:lnTo>
                  <a:pt x="104013" y="8636"/>
                </a:lnTo>
                <a:lnTo>
                  <a:pt x="102997" y="5334"/>
                </a:lnTo>
                <a:lnTo>
                  <a:pt x="102108" y="1905"/>
                </a:lnTo>
                <a:lnTo>
                  <a:pt x="98551" y="0"/>
                </a:lnTo>
                <a:close/>
              </a:path>
              <a:path w="821690" h="240664">
                <a:moveTo>
                  <a:pt x="13716" y="25527"/>
                </a:moveTo>
                <a:lnTo>
                  <a:pt x="10668" y="37846"/>
                </a:lnTo>
                <a:lnTo>
                  <a:pt x="33541" y="43581"/>
                </a:lnTo>
                <a:lnTo>
                  <a:pt x="27546" y="37719"/>
                </a:lnTo>
                <a:lnTo>
                  <a:pt x="13970" y="37719"/>
                </a:lnTo>
                <a:lnTo>
                  <a:pt x="16637" y="27051"/>
                </a:lnTo>
                <a:lnTo>
                  <a:pt x="19793" y="27051"/>
                </a:lnTo>
                <a:lnTo>
                  <a:pt x="13716" y="25527"/>
                </a:lnTo>
                <a:close/>
              </a:path>
              <a:path w="821690" h="240664">
                <a:moveTo>
                  <a:pt x="16637" y="27051"/>
                </a:moveTo>
                <a:lnTo>
                  <a:pt x="13970" y="37719"/>
                </a:lnTo>
                <a:lnTo>
                  <a:pt x="24446" y="34687"/>
                </a:lnTo>
                <a:lnTo>
                  <a:pt x="16637" y="27051"/>
                </a:lnTo>
                <a:close/>
              </a:path>
              <a:path w="821690" h="240664">
                <a:moveTo>
                  <a:pt x="24446" y="34687"/>
                </a:moveTo>
                <a:lnTo>
                  <a:pt x="13970" y="37719"/>
                </a:lnTo>
                <a:lnTo>
                  <a:pt x="27546" y="37719"/>
                </a:lnTo>
                <a:lnTo>
                  <a:pt x="24446" y="34687"/>
                </a:lnTo>
                <a:close/>
              </a:path>
              <a:path w="821690" h="240664">
                <a:moveTo>
                  <a:pt x="19793" y="27051"/>
                </a:moveTo>
                <a:lnTo>
                  <a:pt x="16637" y="27051"/>
                </a:lnTo>
                <a:lnTo>
                  <a:pt x="24446" y="34687"/>
                </a:lnTo>
                <a:lnTo>
                  <a:pt x="36425" y="31221"/>
                </a:lnTo>
                <a:lnTo>
                  <a:pt x="19793" y="27051"/>
                </a:lnTo>
                <a:close/>
              </a:path>
              <a:path w="821690" h="240664">
                <a:moveTo>
                  <a:pt x="56105" y="25527"/>
                </a:moveTo>
                <a:lnTo>
                  <a:pt x="13716" y="25527"/>
                </a:lnTo>
                <a:lnTo>
                  <a:pt x="36425" y="31221"/>
                </a:lnTo>
                <a:lnTo>
                  <a:pt x="56105" y="25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51523" y="973035"/>
            <a:ext cx="4240530" cy="923925"/>
          </a:xfrm>
          <a:prstGeom prst="rect">
            <a:avLst/>
          </a:prstGeom>
          <a:solidFill>
            <a:srgbClr val="FFF5CC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sz="1800" b="1" spc="-5" dirty="0">
                <a:latin typeface="Tahoma"/>
                <a:cs typeface="Tahoma"/>
              </a:rPr>
              <a:t>Process of </a:t>
            </a:r>
            <a:r>
              <a:rPr sz="1800" b="1" dirty="0">
                <a:latin typeface="Tahoma"/>
                <a:cs typeface="Tahoma"/>
              </a:rPr>
              <a:t>viewing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transformation</a:t>
            </a:r>
            <a:r>
              <a:rPr sz="1800" spc="-5" dirty="0">
                <a:latin typeface="Tahoma"/>
                <a:cs typeface="Tahoma"/>
              </a:rPr>
              <a:t>:</a:t>
            </a:r>
            <a:endParaRPr sz="1800">
              <a:latin typeface="Tahoma"/>
              <a:cs typeface="Tahoma"/>
            </a:endParaRPr>
          </a:p>
          <a:p>
            <a:pPr marL="433705" indent="-343535">
              <a:lnSpc>
                <a:spcPct val="100000"/>
              </a:lnSpc>
              <a:buAutoNum type="arabicPeriod"/>
              <a:tabLst>
                <a:tab pos="433705" algn="l"/>
                <a:tab pos="434340" algn="l"/>
              </a:tabLst>
            </a:pPr>
            <a:r>
              <a:rPr sz="1800" spc="-5" dirty="0">
                <a:latin typeface="Tahoma"/>
                <a:cs typeface="Tahoma"/>
              </a:rPr>
              <a:t>Normalization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Transformation</a:t>
            </a:r>
            <a:endParaRPr sz="1800">
              <a:latin typeface="Tahoma"/>
              <a:cs typeface="Tahoma"/>
            </a:endParaRPr>
          </a:p>
          <a:p>
            <a:pPr marL="433705" indent="-343535">
              <a:lnSpc>
                <a:spcPct val="100000"/>
              </a:lnSpc>
              <a:buAutoNum type="arabicPeriod"/>
              <a:tabLst>
                <a:tab pos="433705" algn="l"/>
                <a:tab pos="434340" algn="l"/>
              </a:tabLst>
            </a:pPr>
            <a:r>
              <a:rPr sz="1800" spc="-20" dirty="0">
                <a:latin typeface="Tahoma"/>
                <a:cs typeface="Tahoma"/>
              </a:rPr>
              <a:t>Work </a:t>
            </a:r>
            <a:r>
              <a:rPr sz="1800" spc="-5" dirty="0">
                <a:latin typeface="Tahoma"/>
                <a:cs typeface="Tahoma"/>
              </a:rPr>
              <a:t>Station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Transformation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51523" y="2119312"/>
            <a:ext cx="4869815" cy="3970654"/>
          </a:xfrm>
          <a:custGeom>
            <a:avLst/>
            <a:gdLst/>
            <a:ahLst/>
            <a:cxnLst/>
            <a:rect l="l" t="t" r="r" b="b"/>
            <a:pathLst>
              <a:path w="4869815" h="3970654">
                <a:moveTo>
                  <a:pt x="0" y="3970274"/>
                </a:moveTo>
                <a:lnTo>
                  <a:pt x="4869561" y="3970274"/>
                </a:lnTo>
                <a:lnTo>
                  <a:pt x="4869561" y="0"/>
                </a:lnTo>
                <a:lnTo>
                  <a:pt x="0" y="0"/>
                </a:lnTo>
                <a:lnTo>
                  <a:pt x="0" y="3970274"/>
                </a:lnTo>
                <a:close/>
              </a:path>
            </a:pathLst>
          </a:custGeom>
          <a:solidFill>
            <a:srgbClr val="FFF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30200" y="2150871"/>
            <a:ext cx="4661535" cy="359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Normalization</a:t>
            </a:r>
            <a:r>
              <a:rPr sz="1800" b="1" spc="-35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Transformation</a:t>
            </a:r>
            <a:r>
              <a:rPr sz="1800" spc="-5" dirty="0">
                <a:latin typeface="Tahoma"/>
                <a:cs typeface="Tahoma"/>
              </a:rPr>
              <a:t>:</a:t>
            </a:r>
            <a:endParaRPr sz="1800">
              <a:latin typeface="Tahoma"/>
              <a:cs typeface="Tahoma"/>
            </a:endParaRPr>
          </a:p>
          <a:p>
            <a:pPr marL="12700" marR="247015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As image defined as </a:t>
            </a:r>
            <a:r>
              <a:rPr sz="1800" spc="-5" dirty="0">
                <a:latin typeface="Tahoma"/>
                <a:cs typeface="Tahoma"/>
              </a:rPr>
              <a:t>set </a:t>
            </a:r>
            <a:r>
              <a:rPr sz="1800" dirty="0">
                <a:latin typeface="Tahoma"/>
                <a:cs typeface="Tahoma"/>
              </a:rPr>
              <a:t>of </a:t>
            </a:r>
            <a:r>
              <a:rPr sz="1800" spc="-5" dirty="0">
                <a:latin typeface="Tahoma"/>
                <a:cs typeface="Tahoma"/>
              </a:rPr>
              <a:t>pixels, </a:t>
            </a:r>
            <a:r>
              <a:rPr sz="1800" dirty="0">
                <a:latin typeface="Tahoma"/>
                <a:cs typeface="Tahoma"/>
              </a:rPr>
              <a:t>it  </a:t>
            </a:r>
            <a:r>
              <a:rPr sz="1800" spc="-5" dirty="0">
                <a:latin typeface="Tahoma"/>
                <a:cs typeface="Tahoma"/>
              </a:rPr>
              <a:t>displays </a:t>
            </a:r>
            <a:r>
              <a:rPr sz="1800" dirty="0">
                <a:latin typeface="Tahoma"/>
                <a:cs typeface="Tahoma"/>
              </a:rPr>
              <a:t>in </a:t>
            </a:r>
            <a:r>
              <a:rPr sz="1800" spc="-10" dirty="0">
                <a:latin typeface="Tahoma"/>
                <a:cs typeface="Tahoma"/>
              </a:rPr>
              <a:t>different size </a:t>
            </a:r>
            <a:r>
              <a:rPr sz="1800" dirty="0">
                <a:latin typeface="Tahoma"/>
                <a:cs typeface="Tahoma"/>
              </a:rPr>
              <a:t>in </a:t>
            </a:r>
            <a:r>
              <a:rPr sz="1800" spc="-10" dirty="0">
                <a:latin typeface="Tahoma"/>
                <a:cs typeface="Tahoma"/>
              </a:rPr>
              <a:t>different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devices</a:t>
            </a:r>
            <a:endParaRPr sz="1800">
              <a:latin typeface="Tahoma"/>
              <a:cs typeface="Tahoma"/>
            </a:endParaRPr>
          </a:p>
          <a:p>
            <a:pPr marL="12700" marR="5080" indent="71120">
              <a:lnSpc>
                <a:spcPct val="100000"/>
              </a:lnSpc>
            </a:pPr>
            <a:r>
              <a:rPr sz="1800" spc="-5" dirty="0">
                <a:latin typeface="Tahoma"/>
                <a:cs typeface="Tahoma"/>
              </a:rPr>
              <a:t>Suppose an </a:t>
            </a:r>
            <a:r>
              <a:rPr sz="1800" dirty="0">
                <a:latin typeface="Tahoma"/>
                <a:cs typeface="Tahoma"/>
              </a:rPr>
              <a:t>image defined in low </a:t>
            </a:r>
            <a:r>
              <a:rPr sz="1800" spc="-10" dirty="0">
                <a:latin typeface="Tahoma"/>
                <a:cs typeface="Tahoma"/>
              </a:rPr>
              <a:t>resolution  </a:t>
            </a:r>
            <a:r>
              <a:rPr sz="1800" spc="-5" dirty="0">
                <a:latin typeface="Tahoma"/>
                <a:cs typeface="Tahoma"/>
              </a:rPr>
              <a:t>device shrinks </a:t>
            </a:r>
            <a:r>
              <a:rPr sz="1800" dirty="0">
                <a:latin typeface="Tahoma"/>
                <a:cs typeface="Tahoma"/>
              </a:rPr>
              <a:t>in </a:t>
            </a:r>
            <a:r>
              <a:rPr sz="1800" spc="-10" dirty="0">
                <a:latin typeface="Tahoma"/>
                <a:cs typeface="Tahoma"/>
              </a:rPr>
              <a:t>size </a:t>
            </a:r>
            <a:r>
              <a:rPr sz="1800" dirty="0">
                <a:latin typeface="Tahoma"/>
                <a:cs typeface="Tahoma"/>
              </a:rPr>
              <a:t>in high </a:t>
            </a:r>
            <a:r>
              <a:rPr sz="1800" spc="-10" dirty="0">
                <a:latin typeface="Tahoma"/>
                <a:cs typeface="Tahoma"/>
              </a:rPr>
              <a:t>resolution </a:t>
            </a:r>
            <a:r>
              <a:rPr sz="1800" dirty="0">
                <a:latin typeface="Tahoma"/>
                <a:cs typeface="Tahoma"/>
              </a:rPr>
              <a:t>device  </a:t>
            </a:r>
            <a:r>
              <a:rPr sz="1800" spc="-5" dirty="0">
                <a:latin typeface="Tahoma"/>
                <a:cs typeface="Tahoma"/>
              </a:rPr>
              <a:t>because </a:t>
            </a:r>
            <a:r>
              <a:rPr sz="1800" dirty="0">
                <a:latin typeface="Tahoma"/>
                <a:cs typeface="Tahoma"/>
              </a:rPr>
              <a:t>a number of </a:t>
            </a:r>
            <a:r>
              <a:rPr sz="1800" spc="-5" dirty="0">
                <a:latin typeface="Tahoma"/>
                <a:cs typeface="Tahoma"/>
              </a:rPr>
              <a:t>pixels </a:t>
            </a:r>
            <a:r>
              <a:rPr sz="1800" dirty="0">
                <a:latin typeface="Tahoma"/>
                <a:cs typeface="Tahoma"/>
              </a:rPr>
              <a:t>in high </a:t>
            </a:r>
            <a:r>
              <a:rPr sz="1800" spc="-10" dirty="0">
                <a:latin typeface="Tahoma"/>
                <a:cs typeface="Tahoma"/>
              </a:rPr>
              <a:t>resolution  </a:t>
            </a:r>
            <a:r>
              <a:rPr sz="1800" dirty="0">
                <a:latin typeface="Tahoma"/>
                <a:cs typeface="Tahoma"/>
              </a:rPr>
              <a:t>device </a:t>
            </a:r>
            <a:r>
              <a:rPr sz="1800" spc="-10" dirty="0">
                <a:latin typeface="Tahoma"/>
                <a:cs typeface="Tahoma"/>
              </a:rPr>
              <a:t>takes </a:t>
            </a:r>
            <a:r>
              <a:rPr sz="1800" dirty="0">
                <a:latin typeface="Tahoma"/>
                <a:cs typeface="Tahoma"/>
              </a:rPr>
              <a:t>less </a:t>
            </a:r>
            <a:r>
              <a:rPr sz="1800" spc="-5" dirty="0">
                <a:latin typeface="Tahoma"/>
                <a:cs typeface="Tahoma"/>
              </a:rPr>
              <a:t>space than </a:t>
            </a:r>
            <a:r>
              <a:rPr sz="1800" dirty="0">
                <a:latin typeface="Tahoma"/>
                <a:cs typeface="Tahoma"/>
              </a:rPr>
              <a:t>in low </a:t>
            </a:r>
            <a:r>
              <a:rPr sz="1800" spc="-10" dirty="0">
                <a:latin typeface="Tahoma"/>
                <a:cs typeface="Tahoma"/>
              </a:rPr>
              <a:t>resolution  </a:t>
            </a:r>
            <a:r>
              <a:rPr sz="1800" spc="-5" dirty="0">
                <a:latin typeface="Tahoma"/>
                <a:cs typeface="Tahoma"/>
              </a:rPr>
              <a:t>device.</a:t>
            </a:r>
            <a:endParaRPr sz="1800">
              <a:latin typeface="Tahoma"/>
              <a:cs typeface="Tahoma"/>
            </a:endParaRPr>
          </a:p>
          <a:p>
            <a:pPr marL="12700" marR="105410">
              <a:lnSpc>
                <a:spcPct val="100000"/>
              </a:lnSpc>
            </a:pPr>
            <a:r>
              <a:rPr sz="1800" spc="-95" dirty="0">
                <a:latin typeface="Tahoma"/>
                <a:cs typeface="Tahoma"/>
              </a:rPr>
              <a:t>To </a:t>
            </a:r>
            <a:r>
              <a:rPr sz="1800" spc="-10" dirty="0">
                <a:latin typeface="Tahoma"/>
                <a:cs typeface="Tahoma"/>
              </a:rPr>
              <a:t>make </a:t>
            </a:r>
            <a:r>
              <a:rPr sz="1800" dirty="0">
                <a:latin typeface="Tahoma"/>
                <a:cs typeface="Tahoma"/>
              </a:rPr>
              <a:t>it device independent we need  </a:t>
            </a:r>
            <a:r>
              <a:rPr sz="1800" spc="-10" dirty="0">
                <a:latin typeface="Tahoma"/>
                <a:cs typeface="Tahoma"/>
              </a:rPr>
              <a:t>Normalize </a:t>
            </a:r>
            <a:r>
              <a:rPr sz="1800" spc="-5" dirty="0">
                <a:latin typeface="Tahoma"/>
                <a:cs typeface="Tahoma"/>
              </a:rPr>
              <a:t>transformation. It </a:t>
            </a:r>
            <a:r>
              <a:rPr sz="1800" spc="-10" dirty="0">
                <a:latin typeface="Tahoma"/>
                <a:cs typeface="Tahoma"/>
              </a:rPr>
              <a:t>transfer </a:t>
            </a:r>
            <a:r>
              <a:rPr sz="1800" spc="-5" dirty="0">
                <a:latin typeface="Tahoma"/>
                <a:cs typeface="Tahoma"/>
              </a:rPr>
              <a:t>window  Coordinate to normalize </a:t>
            </a:r>
            <a:r>
              <a:rPr sz="1800" dirty="0">
                <a:latin typeface="Tahoma"/>
                <a:cs typeface="Tahoma"/>
              </a:rPr>
              <a:t>device </a:t>
            </a:r>
            <a:r>
              <a:rPr sz="1800" spc="-5" dirty="0">
                <a:latin typeface="Tahoma"/>
                <a:cs typeface="Tahoma"/>
              </a:rPr>
              <a:t>coordinate  </a:t>
            </a:r>
            <a:r>
              <a:rPr sz="1800" spc="-10" dirty="0">
                <a:latin typeface="Tahoma"/>
                <a:cs typeface="Tahoma"/>
              </a:rPr>
              <a:t>makes </a:t>
            </a:r>
            <a:r>
              <a:rPr sz="1800" dirty="0">
                <a:latin typeface="Tahoma"/>
                <a:cs typeface="Tahoma"/>
              </a:rPr>
              <a:t>it device independent. </a:t>
            </a:r>
            <a:r>
              <a:rPr sz="1800" spc="-5" dirty="0">
                <a:latin typeface="Tahoma"/>
                <a:cs typeface="Tahoma"/>
              </a:rPr>
              <a:t>It consider </a:t>
            </a:r>
            <a:r>
              <a:rPr sz="1800" dirty="0">
                <a:latin typeface="Tahoma"/>
                <a:cs typeface="Tahoma"/>
              </a:rPr>
              <a:t>1  </a:t>
            </a:r>
            <a:r>
              <a:rPr sz="1800" spc="-5" dirty="0">
                <a:latin typeface="Tahoma"/>
                <a:cs typeface="Tahoma"/>
              </a:rPr>
              <a:t>unit </a:t>
            </a:r>
            <a:r>
              <a:rPr sz="1800" dirty="0">
                <a:latin typeface="Tahoma"/>
                <a:cs typeface="Tahoma"/>
              </a:rPr>
              <a:t>in both x </a:t>
            </a:r>
            <a:r>
              <a:rPr sz="1800" spc="-5" dirty="0">
                <a:latin typeface="Tahoma"/>
                <a:cs typeface="Tahoma"/>
              </a:rPr>
              <a:t>and </a:t>
            </a:r>
            <a:r>
              <a:rPr sz="1800" dirty="0">
                <a:latin typeface="Tahoma"/>
                <a:cs typeface="Tahoma"/>
              </a:rPr>
              <a:t>y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axis.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566281" y="5263260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579234" y="5237098"/>
            <a:ext cx="701675" cy="338455"/>
          </a:xfrm>
          <a:custGeom>
            <a:avLst/>
            <a:gdLst/>
            <a:ahLst/>
            <a:cxnLst/>
            <a:rect l="l" t="t" r="r" b="b"/>
            <a:pathLst>
              <a:path w="701675" h="338454">
                <a:moveTo>
                  <a:pt x="0" y="276478"/>
                </a:moveTo>
                <a:lnTo>
                  <a:pt x="47800" y="292921"/>
                </a:lnTo>
                <a:lnTo>
                  <a:pt x="95486" y="308301"/>
                </a:lnTo>
                <a:lnTo>
                  <a:pt x="142930" y="321560"/>
                </a:lnTo>
                <a:lnTo>
                  <a:pt x="190007" y="331641"/>
                </a:lnTo>
                <a:lnTo>
                  <a:pt x="236590" y="337486"/>
                </a:lnTo>
                <a:lnTo>
                  <a:pt x="282553" y="338036"/>
                </a:lnTo>
                <a:lnTo>
                  <a:pt x="327768" y="332235"/>
                </a:lnTo>
                <a:lnTo>
                  <a:pt x="372110" y="319023"/>
                </a:lnTo>
                <a:lnTo>
                  <a:pt x="410718" y="300436"/>
                </a:lnTo>
                <a:lnTo>
                  <a:pt x="448624" y="275902"/>
                </a:lnTo>
                <a:lnTo>
                  <a:pt x="485916" y="246163"/>
                </a:lnTo>
                <a:lnTo>
                  <a:pt x="522680" y="211962"/>
                </a:lnTo>
                <a:lnTo>
                  <a:pt x="559006" y="174041"/>
                </a:lnTo>
                <a:lnTo>
                  <a:pt x="594980" y="133143"/>
                </a:lnTo>
                <a:lnTo>
                  <a:pt x="630691" y="90008"/>
                </a:lnTo>
                <a:lnTo>
                  <a:pt x="666227" y="45379"/>
                </a:lnTo>
                <a:lnTo>
                  <a:pt x="701675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836918" y="6121653"/>
            <a:ext cx="692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Device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356477" y="5120132"/>
            <a:ext cx="1468755" cy="852805"/>
          </a:xfrm>
          <a:custGeom>
            <a:avLst/>
            <a:gdLst/>
            <a:ahLst/>
            <a:cxnLst/>
            <a:rect l="l" t="t" r="r" b="b"/>
            <a:pathLst>
              <a:path w="1468754" h="852804">
                <a:moveTo>
                  <a:pt x="0" y="142113"/>
                </a:moveTo>
                <a:lnTo>
                  <a:pt x="7245" y="97194"/>
                </a:lnTo>
                <a:lnTo>
                  <a:pt x="27419" y="58183"/>
                </a:lnTo>
                <a:lnTo>
                  <a:pt x="58183" y="27419"/>
                </a:lnTo>
                <a:lnTo>
                  <a:pt x="97194" y="7245"/>
                </a:lnTo>
                <a:lnTo>
                  <a:pt x="142112" y="0"/>
                </a:lnTo>
                <a:lnTo>
                  <a:pt x="1326388" y="0"/>
                </a:lnTo>
                <a:lnTo>
                  <a:pt x="1371306" y="7245"/>
                </a:lnTo>
                <a:lnTo>
                  <a:pt x="1410317" y="27419"/>
                </a:lnTo>
                <a:lnTo>
                  <a:pt x="1441081" y="58183"/>
                </a:lnTo>
                <a:lnTo>
                  <a:pt x="1461255" y="97194"/>
                </a:lnTo>
                <a:lnTo>
                  <a:pt x="1468501" y="142113"/>
                </a:lnTo>
                <a:lnTo>
                  <a:pt x="1468501" y="710412"/>
                </a:lnTo>
                <a:lnTo>
                  <a:pt x="1461255" y="755323"/>
                </a:lnTo>
                <a:lnTo>
                  <a:pt x="1441081" y="794327"/>
                </a:lnTo>
                <a:lnTo>
                  <a:pt x="1410317" y="825085"/>
                </a:lnTo>
                <a:lnTo>
                  <a:pt x="1371306" y="845256"/>
                </a:lnTo>
                <a:lnTo>
                  <a:pt x="1326388" y="852500"/>
                </a:lnTo>
                <a:lnTo>
                  <a:pt x="142112" y="852500"/>
                </a:lnTo>
                <a:lnTo>
                  <a:pt x="97194" y="845256"/>
                </a:lnTo>
                <a:lnTo>
                  <a:pt x="58183" y="825085"/>
                </a:lnTo>
                <a:lnTo>
                  <a:pt x="27419" y="794327"/>
                </a:lnTo>
                <a:lnTo>
                  <a:pt x="7245" y="755323"/>
                </a:lnTo>
                <a:lnTo>
                  <a:pt x="0" y="710412"/>
                </a:lnTo>
                <a:lnTo>
                  <a:pt x="0" y="142113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615808" y="5473191"/>
            <a:ext cx="347345" cy="103505"/>
          </a:xfrm>
          <a:custGeom>
            <a:avLst/>
            <a:gdLst/>
            <a:ahLst/>
            <a:cxnLst/>
            <a:rect l="l" t="t" r="r" b="b"/>
            <a:pathLst>
              <a:path w="347345" h="103504">
                <a:moveTo>
                  <a:pt x="91948" y="0"/>
                </a:moveTo>
                <a:lnTo>
                  <a:pt x="88900" y="1651"/>
                </a:lnTo>
                <a:lnTo>
                  <a:pt x="0" y="45466"/>
                </a:lnTo>
                <a:lnTo>
                  <a:pt x="81915" y="101219"/>
                </a:lnTo>
                <a:lnTo>
                  <a:pt x="84836" y="103251"/>
                </a:lnTo>
                <a:lnTo>
                  <a:pt x="88773" y="102489"/>
                </a:lnTo>
                <a:lnTo>
                  <a:pt x="90677" y="99568"/>
                </a:lnTo>
                <a:lnTo>
                  <a:pt x="92710" y="96647"/>
                </a:lnTo>
                <a:lnTo>
                  <a:pt x="91948" y="92710"/>
                </a:lnTo>
                <a:lnTo>
                  <a:pt x="89026" y="90678"/>
                </a:lnTo>
                <a:lnTo>
                  <a:pt x="35543" y="54339"/>
                </a:lnTo>
                <a:lnTo>
                  <a:pt x="12065" y="52705"/>
                </a:lnTo>
                <a:lnTo>
                  <a:pt x="12954" y="40005"/>
                </a:lnTo>
                <a:lnTo>
                  <a:pt x="39771" y="40005"/>
                </a:lnTo>
                <a:lnTo>
                  <a:pt x="94488" y="12954"/>
                </a:lnTo>
                <a:lnTo>
                  <a:pt x="97663" y="11430"/>
                </a:lnTo>
                <a:lnTo>
                  <a:pt x="98933" y="7620"/>
                </a:lnTo>
                <a:lnTo>
                  <a:pt x="97409" y="4445"/>
                </a:lnTo>
                <a:lnTo>
                  <a:pt x="95758" y="1397"/>
                </a:lnTo>
                <a:lnTo>
                  <a:pt x="91948" y="0"/>
                </a:lnTo>
                <a:close/>
              </a:path>
              <a:path w="347345" h="103504">
                <a:moveTo>
                  <a:pt x="36461" y="41641"/>
                </a:moveTo>
                <a:lnTo>
                  <a:pt x="25112" y="47251"/>
                </a:lnTo>
                <a:lnTo>
                  <a:pt x="35543" y="54339"/>
                </a:lnTo>
                <a:lnTo>
                  <a:pt x="345948" y="75946"/>
                </a:lnTo>
                <a:lnTo>
                  <a:pt x="346837" y="63246"/>
                </a:lnTo>
                <a:lnTo>
                  <a:pt x="36461" y="41641"/>
                </a:lnTo>
                <a:close/>
              </a:path>
              <a:path w="347345" h="103504">
                <a:moveTo>
                  <a:pt x="12954" y="40005"/>
                </a:moveTo>
                <a:lnTo>
                  <a:pt x="12065" y="52705"/>
                </a:lnTo>
                <a:lnTo>
                  <a:pt x="35543" y="54339"/>
                </a:lnTo>
                <a:lnTo>
                  <a:pt x="32203" y="52070"/>
                </a:lnTo>
                <a:lnTo>
                  <a:pt x="15367" y="52070"/>
                </a:lnTo>
                <a:lnTo>
                  <a:pt x="16129" y="41148"/>
                </a:lnTo>
                <a:lnTo>
                  <a:pt x="29374" y="41148"/>
                </a:lnTo>
                <a:lnTo>
                  <a:pt x="12954" y="40005"/>
                </a:lnTo>
                <a:close/>
              </a:path>
              <a:path w="347345" h="103504">
                <a:moveTo>
                  <a:pt x="16129" y="41148"/>
                </a:moveTo>
                <a:lnTo>
                  <a:pt x="15367" y="52070"/>
                </a:lnTo>
                <a:lnTo>
                  <a:pt x="25112" y="47251"/>
                </a:lnTo>
                <a:lnTo>
                  <a:pt x="16129" y="41148"/>
                </a:lnTo>
                <a:close/>
              </a:path>
              <a:path w="347345" h="103504">
                <a:moveTo>
                  <a:pt x="25112" y="47251"/>
                </a:moveTo>
                <a:lnTo>
                  <a:pt x="15367" y="52070"/>
                </a:lnTo>
                <a:lnTo>
                  <a:pt x="32203" y="52070"/>
                </a:lnTo>
                <a:lnTo>
                  <a:pt x="25112" y="47251"/>
                </a:lnTo>
                <a:close/>
              </a:path>
              <a:path w="347345" h="103504">
                <a:moveTo>
                  <a:pt x="29374" y="41148"/>
                </a:moveTo>
                <a:lnTo>
                  <a:pt x="16129" y="41148"/>
                </a:lnTo>
                <a:lnTo>
                  <a:pt x="25112" y="47251"/>
                </a:lnTo>
                <a:lnTo>
                  <a:pt x="36461" y="41641"/>
                </a:lnTo>
                <a:lnTo>
                  <a:pt x="29374" y="41148"/>
                </a:lnTo>
                <a:close/>
              </a:path>
              <a:path w="347345" h="103504">
                <a:moveTo>
                  <a:pt x="39771" y="40005"/>
                </a:moveTo>
                <a:lnTo>
                  <a:pt x="12954" y="40005"/>
                </a:lnTo>
                <a:lnTo>
                  <a:pt x="36461" y="41641"/>
                </a:lnTo>
                <a:lnTo>
                  <a:pt x="39771" y="40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187947" y="5131308"/>
            <a:ext cx="355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(0,1)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48523" y="5019040"/>
            <a:ext cx="355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(1,1)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758430" y="5230114"/>
            <a:ext cx="1197610" cy="74930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1360"/>
              </a:spcBef>
            </a:pPr>
            <a:r>
              <a:rPr sz="1800" dirty="0">
                <a:latin typeface="Tahoma"/>
                <a:cs typeface="Tahoma"/>
              </a:rPr>
              <a:t>Viewport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00" dirty="0">
                <a:latin typeface="Tahoma"/>
                <a:cs typeface="Tahoma"/>
              </a:rPr>
              <a:t>(1,0)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53226" y="5844794"/>
            <a:ext cx="355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(0,0)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08686" y="6243828"/>
            <a:ext cx="1115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2729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ahoma"/>
                <a:cs typeface="Tahoma"/>
              </a:rPr>
              <a:t>World  </a:t>
            </a:r>
            <a:r>
              <a:rPr sz="1800" dirty="0">
                <a:latin typeface="Tahoma"/>
                <a:cs typeface="Tahoma"/>
              </a:rPr>
              <a:t>Coo</a:t>
            </a:r>
            <a:r>
              <a:rPr sz="1800" spc="-15" dirty="0">
                <a:latin typeface="Tahoma"/>
                <a:cs typeface="Tahoma"/>
              </a:rPr>
              <a:t>r</a:t>
            </a:r>
            <a:r>
              <a:rPr sz="1800" dirty="0">
                <a:latin typeface="Tahoma"/>
                <a:cs typeface="Tahoma"/>
              </a:rPr>
              <a:t>dinate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680464" y="6476619"/>
            <a:ext cx="1523365" cy="103505"/>
          </a:xfrm>
          <a:custGeom>
            <a:avLst/>
            <a:gdLst/>
            <a:ahLst/>
            <a:cxnLst/>
            <a:rect l="l" t="t" r="r" b="b"/>
            <a:pathLst>
              <a:path w="1523364" h="103504">
                <a:moveTo>
                  <a:pt x="1498209" y="51701"/>
                </a:moveTo>
                <a:lnTo>
                  <a:pt x="1428369" y="92430"/>
                </a:lnTo>
                <a:lnTo>
                  <a:pt x="1427353" y="96329"/>
                </a:lnTo>
                <a:lnTo>
                  <a:pt x="1430909" y="102387"/>
                </a:lnTo>
                <a:lnTo>
                  <a:pt x="1434719" y="103403"/>
                </a:lnTo>
                <a:lnTo>
                  <a:pt x="1512477" y="58051"/>
                </a:lnTo>
                <a:lnTo>
                  <a:pt x="1510792" y="58051"/>
                </a:lnTo>
                <a:lnTo>
                  <a:pt x="1510792" y="57188"/>
                </a:lnTo>
                <a:lnTo>
                  <a:pt x="1507617" y="57188"/>
                </a:lnTo>
                <a:lnTo>
                  <a:pt x="1498209" y="51701"/>
                </a:lnTo>
                <a:close/>
              </a:path>
              <a:path w="1523364" h="103504">
                <a:moveTo>
                  <a:pt x="1487320" y="45351"/>
                </a:moveTo>
                <a:lnTo>
                  <a:pt x="0" y="45351"/>
                </a:lnTo>
                <a:lnTo>
                  <a:pt x="0" y="58051"/>
                </a:lnTo>
                <a:lnTo>
                  <a:pt x="1487320" y="58051"/>
                </a:lnTo>
                <a:lnTo>
                  <a:pt x="1498209" y="51701"/>
                </a:lnTo>
                <a:lnTo>
                  <a:pt x="1487320" y="45351"/>
                </a:lnTo>
                <a:close/>
              </a:path>
              <a:path w="1523364" h="103504">
                <a:moveTo>
                  <a:pt x="1512480" y="45351"/>
                </a:moveTo>
                <a:lnTo>
                  <a:pt x="1510792" y="45351"/>
                </a:lnTo>
                <a:lnTo>
                  <a:pt x="1510792" y="58051"/>
                </a:lnTo>
                <a:lnTo>
                  <a:pt x="1512477" y="58051"/>
                </a:lnTo>
                <a:lnTo>
                  <a:pt x="1523365" y="51701"/>
                </a:lnTo>
                <a:lnTo>
                  <a:pt x="1512480" y="45351"/>
                </a:lnTo>
                <a:close/>
              </a:path>
              <a:path w="1523364" h="103504">
                <a:moveTo>
                  <a:pt x="1507617" y="46215"/>
                </a:moveTo>
                <a:lnTo>
                  <a:pt x="1498209" y="51701"/>
                </a:lnTo>
                <a:lnTo>
                  <a:pt x="1507617" y="57188"/>
                </a:lnTo>
                <a:lnTo>
                  <a:pt x="1507617" y="46215"/>
                </a:lnTo>
                <a:close/>
              </a:path>
              <a:path w="1523364" h="103504">
                <a:moveTo>
                  <a:pt x="1510792" y="46215"/>
                </a:moveTo>
                <a:lnTo>
                  <a:pt x="1507617" y="46215"/>
                </a:lnTo>
                <a:lnTo>
                  <a:pt x="1507617" y="57188"/>
                </a:lnTo>
                <a:lnTo>
                  <a:pt x="1510792" y="57188"/>
                </a:lnTo>
                <a:lnTo>
                  <a:pt x="1510792" y="46215"/>
                </a:lnTo>
                <a:close/>
              </a:path>
              <a:path w="1523364" h="103504">
                <a:moveTo>
                  <a:pt x="1434719" y="0"/>
                </a:moveTo>
                <a:lnTo>
                  <a:pt x="1430909" y="1028"/>
                </a:lnTo>
                <a:lnTo>
                  <a:pt x="1427353" y="7086"/>
                </a:lnTo>
                <a:lnTo>
                  <a:pt x="1428369" y="10972"/>
                </a:lnTo>
                <a:lnTo>
                  <a:pt x="1498209" y="51701"/>
                </a:lnTo>
                <a:lnTo>
                  <a:pt x="1507617" y="46215"/>
                </a:lnTo>
                <a:lnTo>
                  <a:pt x="1510792" y="46215"/>
                </a:lnTo>
                <a:lnTo>
                  <a:pt x="1510792" y="45351"/>
                </a:lnTo>
                <a:lnTo>
                  <a:pt x="1512480" y="45351"/>
                </a:lnTo>
                <a:lnTo>
                  <a:pt x="1434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433064" y="6243828"/>
            <a:ext cx="1115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Normalize  </a:t>
            </a:r>
            <a:r>
              <a:rPr sz="1800" dirty="0">
                <a:latin typeface="Tahoma"/>
                <a:cs typeface="Tahoma"/>
              </a:rPr>
              <a:t>Coo</a:t>
            </a:r>
            <a:r>
              <a:rPr sz="1800" spc="-15" dirty="0">
                <a:latin typeface="Tahoma"/>
                <a:cs typeface="Tahoma"/>
              </a:rPr>
              <a:t>r</a:t>
            </a:r>
            <a:r>
              <a:rPr sz="1800" dirty="0">
                <a:latin typeface="Tahoma"/>
                <a:cs typeface="Tahoma"/>
              </a:rPr>
              <a:t>dinate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40916" y="6183376"/>
            <a:ext cx="1401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Normalization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597272" y="6259233"/>
            <a:ext cx="78105" cy="467359"/>
          </a:xfrm>
          <a:custGeom>
            <a:avLst/>
            <a:gdLst/>
            <a:ahLst/>
            <a:cxnLst/>
            <a:rect l="l" t="t" r="r" b="b"/>
            <a:pathLst>
              <a:path w="78104" h="467359">
                <a:moveTo>
                  <a:pt x="77850" y="467105"/>
                </a:moveTo>
                <a:lnTo>
                  <a:pt x="47577" y="460987"/>
                </a:lnTo>
                <a:lnTo>
                  <a:pt x="22828" y="444301"/>
                </a:lnTo>
                <a:lnTo>
                  <a:pt x="6127" y="419555"/>
                </a:lnTo>
                <a:lnTo>
                  <a:pt x="0" y="389254"/>
                </a:lnTo>
                <a:lnTo>
                  <a:pt x="0" y="77850"/>
                </a:lnTo>
                <a:lnTo>
                  <a:pt x="6127" y="47545"/>
                </a:lnTo>
                <a:lnTo>
                  <a:pt x="22828" y="22799"/>
                </a:lnTo>
                <a:lnTo>
                  <a:pt x="47577" y="6117"/>
                </a:lnTo>
                <a:lnTo>
                  <a:pt x="7785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095494" y="6259233"/>
            <a:ext cx="78105" cy="467359"/>
          </a:xfrm>
          <a:custGeom>
            <a:avLst/>
            <a:gdLst/>
            <a:ahLst/>
            <a:cxnLst/>
            <a:rect l="l" t="t" r="r" b="b"/>
            <a:pathLst>
              <a:path w="78104" h="467359">
                <a:moveTo>
                  <a:pt x="0" y="0"/>
                </a:moveTo>
                <a:lnTo>
                  <a:pt x="30327" y="6117"/>
                </a:lnTo>
                <a:lnTo>
                  <a:pt x="55070" y="22799"/>
                </a:lnTo>
                <a:lnTo>
                  <a:pt x="71741" y="47545"/>
                </a:lnTo>
                <a:lnTo>
                  <a:pt x="77850" y="77850"/>
                </a:lnTo>
                <a:lnTo>
                  <a:pt x="77850" y="389254"/>
                </a:lnTo>
                <a:lnTo>
                  <a:pt x="71741" y="419555"/>
                </a:lnTo>
                <a:lnTo>
                  <a:pt x="55070" y="444301"/>
                </a:lnTo>
                <a:lnTo>
                  <a:pt x="30327" y="460987"/>
                </a:lnTo>
                <a:lnTo>
                  <a:pt x="0" y="46710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706111" y="6341871"/>
            <a:ext cx="358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0</a:t>
            </a:r>
            <a:r>
              <a:rPr sz="1800" spc="-5" dirty="0">
                <a:latin typeface="Tahoma"/>
                <a:cs typeface="Tahoma"/>
              </a:rPr>
              <a:t>-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" y="206248"/>
            <a:ext cx="49320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Viewing</a:t>
            </a:r>
            <a:r>
              <a:rPr sz="3200" spc="-15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Transformation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391402" y="2012950"/>
            <a:ext cx="55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spc="-5" dirty="0">
                <a:solidFill>
                  <a:srgbClr val="001F5F"/>
                </a:solidFill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9576" y="2034540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Tahoma"/>
                <a:cs typeface="Tahoma"/>
              </a:rPr>
              <a:t>x</a:t>
            </a:r>
            <a:r>
              <a:rPr sz="1200" spc="-5" dirty="0">
                <a:latin typeface="Tahoma"/>
                <a:cs typeface="Tahoma"/>
              </a:rPr>
              <a:t>wmax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92090" y="1872614"/>
            <a:ext cx="3384550" cy="0"/>
          </a:xfrm>
          <a:custGeom>
            <a:avLst/>
            <a:gdLst/>
            <a:ahLst/>
            <a:cxnLst/>
            <a:rect l="l" t="t" r="r" b="b"/>
            <a:pathLst>
              <a:path w="3384550">
                <a:moveTo>
                  <a:pt x="0" y="0"/>
                </a:moveTo>
                <a:lnTo>
                  <a:pt x="338442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00673" y="188595"/>
            <a:ext cx="1905" cy="1921510"/>
          </a:xfrm>
          <a:custGeom>
            <a:avLst/>
            <a:gdLst/>
            <a:ahLst/>
            <a:cxnLst/>
            <a:rect l="l" t="t" r="r" b="b"/>
            <a:pathLst>
              <a:path w="1904" h="1921510">
                <a:moveTo>
                  <a:pt x="1524" y="0"/>
                </a:moveTo>
                <a:lnTo>
                  <a:pt x="0" y="192100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96661" y="1259078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0200" y="1391665"/>
            <a:ext cx="386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36817" y="863333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49643" y="837183"/>
            <a:ext cx="702310" cy="338455"/>
          </a:xfrm>
          <a:custGeom>
            <a:avLst/>
            <a:gdLst/>
            <a:ahLst/>
            <a:cxnLst/>
            <a:rect l="l" t="t" r="r" b="b"/>
            <a:pathLst>
              <a:path w="702309" h="338455">
                <a:moveTo>
                  <a:pt x="0" y="276478"/>
                </a:moveTo>
                <a:lnTo>
                  <a:pt x="47836" y="292923"/>
                </a:lnTo>
                <a:lnTo>
                  <a:pt x="95539" y="308308"/>
                </a:lnTo>
                <a:lnTo>
                  <a:pt x="142986" y="321573"/>
                </a:lnTo>
                <a:lnTo>
                  <a:pt x="190055" y="331660"/>
                </a:lnTo>
                <a:lnTo>
                  <a:pt x="236624" y="337508"/>
                </a:lnTo>
                <a:lnTo>
                  <a:pt x="282571" y="338058"/>
                </a:lnTo>
                <a:lnTo>
                  <a:pt x="327773" y="332249"/>
                </a:lnTo>
                <a:lnTo>
                  <a:pt x="372109" y="319024"/>
                </a:lnTo>
                <a:lnTo>
                  <a:pt x="410718" y="300436"/>
                </a:lnTo>
                <a:lnTo>
                  <a:pt x="448626" y="275902"/>
                </a:lnTo>
                <a:lnTo>
                  <a:pt x="485920" y="246163"/>
                </a:lnTo>
                <a:lnTo>
                  <a:pt x="522691" y="211962"/>
                </a:lnTo>
                <a:lnTo>
                  <a:pt x="559028" y="174041"/>
                </a:lnTo>
                <a:lnTo>
                  <a:pt x="595018" y="133143"/>
                </a:lnTo>
                <a:lnTo>
                  <a:pt x="630751" y="90008"/>
                </a:lnTo>
                <a:lnTo>
                  <a:pt x="666316" y="45379"/>
                </a:lnTo>
                <a:lnTo>
                  <a:pt x="701801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04632" y="1422400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214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36817" y="1422400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214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00673" y="1412239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88609" y="863853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729980" y="1719579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r>
              <a:rPr sz="1800" spc="-7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40020" y="252984"/>
            <a:ext cx="603885" cy="81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Y</a:t>
            </a:r>
            <a:r>
              <a:rPr sz="1800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880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22718" y="1178433"/>
            <a:ext cx="133350" cy="131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981442" y="911605"/>
            <a:ext cx="882650" cy="6934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  <a:p>
            <a:pPr marL="104775">
              <a:lnSpc>
                <a:spcPct val="100000"/>
              </a:lnSpc>
              <a:spcBef>
                <a:spcPts val="665"/>
              </a:spcBef>
            </a:pPr>
            <a:r>
              <a:rPr sz="1200" spc="-5" dirty="0">
                <a:latin typeface="Tahoma"/>
                <a:cs typeface="Tahoma"/>
              </a:rPr>
              <a:t>(x</a:t>
            </a:r>
            <a:r>
              <a:rPr sz="1200" spc="-7" baseline="-20833" dirty="0">
                <a:latin typeface="Tahoma"/>
                <a:cs typeface="Tahoma"/>
              </a:rPr>
              <a:t>w</a:t>
            </a:r>
            <a:r>
              <a:rPr sz="1200" spc="-5" dirty="0">
                <a:latin typeface="Tahoma"/>
                <a:cs typeface="Tahoma"/>
              </a:rPr>
              <a:t>,y</a:t>
            </a:r>
            <a:r>
              <a:rPr sz="1200" spc="-7" baseline="-20833" dirty="0">
                <a:latin typeface="Tahoma"/>
                <a:cs typeface="Tahoma"/>
              </a:rPr>
              <a:t>w</a:t>
            </a:r>
            <a:r>
              <a:rPr sz="1200" spc="-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74483" y="1268475"/>
            <a:ext cx="821690" cy="240665"/>
          </a:xfrm>
          <a:custGeom>
            <a:avLst/>
            <a:gdLst/>
            <a:ahLst/>
            <a:cxnLst/>
            <a:rect l="l" t="t" r="r" b="b"/>
            <a:pathLst>
              <a:path w="821690" h="240665">
                <a:moveTo>
                  <a:pt x="36425" y="31221"/>
                </a:moveTo>
                <a:lnTo>
                  <a:pt x="24446" y="34687"/>
                </a:lnTo>
                <a:lnTo>
                  <a:pt x="33541" y="43581"/>
                </a:lnTo>
                <a:lnTo>
                  <a:pt x="818515" y="240411"/>
                </a:lnTo>
                <a:lnTo>
                  <a:pt x="821563" y="228091"/>
                </a:lnTo>
                <a:lnTo>
                  <a:pt x="36425" y="31221"/>
                </a:lnTo>
                <a:close/>
              </a:path>
              <a:path w="821690" h="240665">
                <a:moveTo>
                  <a:pt x="98551" y="0"/>
                </a:moveTo>
                <a:lnTo>
                  <a:pt x="0" y="28575"/>
                </a:lnTo>
                <a:lnTo>
                  <a:pt x="70866" y="97789"/>
                </a:lnTo>
                <a:lnTo>
                  <a:pt x="73406" y="100329"/>
                </a:lnTo>
                <a:lnTo>
                  <a:pt x="77470" y="100202"/>
                </a:lnTo>
                <a:lnTo>
                  <a:pt x="79883" y="97789"/>
                </a:lnTo>
                <a:lnTo>
                  <a:pt x="82296" y="95250"/>
                </a:lnTo>
                <a:lnTo>
                  <a:pt x="82296" y="91186"/>
                </a:lnTo>
                <a:lnTo>
                  <a:pt x="79756" y="88773"/>
                </a:lnTo>
                <a:lnTo>
                  <a:pt x="33541" y="43581"/>
                </a:lnTo>
                <a:lnTo>
                  <a:pt x="10668" y="37846"/>
                </a:lnTo>
                <a:lnTo>
                  <a:pt x="13716" y="25526"/>
                </a:lnTo>
                <a:lnTo>
                  <a:pt x="56105" y="25526"/>
                </a:lnTo>
                <a:lnTo>
                  <a:pt x="102108" y="12191"/>
                </a:lnTo>
                <a:lnTo>
                  <a:pt x="104013" y="8636"/>
                </a:lnTo>
                <a:lnTo>
                  <a:pt x="102997" y="5334"/>
                </a:lnTo>
                <a:lnTo>
                  <a:pt x="102108" y="1904"/>
                </a:lnTo>
                <a:lnTo>
                  <a:pt x="98551" y="0"/>
                </a:lnTo>
                <a:close/>
              </a:path>
              <a:path w="821690" h="240665">
                <a:moveTo>
                  <a:pt x="13716" y="25526"/>
                </a:moveTo>
                <a:lnTo>
                  <a:pt x="10668" y="37846"/>
                </a:lnTo>
                <a:lnTo>
                  <a:pt x="33541" y="43581"/>
                </a:lnTo>
                <a:lnTo>
                  <a:pt x="27546" y="37719"/>
                </a:lnTo>
                <a:lnTo>
                  <a:pt x="13970" y="37719"/>
                </a:lnTo>
                <a:lnTo>
                  <a:pt x="16637" y="27050"/>
                </a:lnTo>
                <a:lnTo>
                  <a:pt x="19793" y="27050"/>
                </a:lnTo>
                <a:lnTo>
                  <a:pt x="13716" y="25526"/>
                </a:lnTo>
                <a:close/>
              </a:path>
              <a:path w="821690" h="240665">
                <a:moveTo>
                  <a:pt x="16637" y="27050"/>
                </a:moveTo>
                <a:lnTo>
                  <a:pt x="13970" y="37719"/>
                </a:lnTo>
                <a:lnTo>
                  <a:pt x="24446" y="34687"/>
                </a:lnTo>
                <a:lnTo>
                  <a:pt x="16637" y="27050"/>
                </a:lnTo>
                <a:close/>
              </a:path>
              <a:path w="821690" h="240665">
                <a:moveTo>
                  <a:pt x="24446" y="34687"/>
                </a:moveTo>
                <a:lnTo>
                  <a:pt x="13970" y="37719"/>
                </a:lnTo>
                <a:lnTo>
                  <a:pt x="27546" y="37719"/>
                </a:lnTo>
                <a:lnTo>
                  <a:pt x="24446" y="34687"/>
                </a:lnTo>
                <a:close/>
              </a:path>
              <a:path w="821690" h="240665">
                <a:moveTo>
                  <a:pt x="19793" y="27050"/>
                </a:moveTo>
                <a:lnTo>
                  <a:pt x="16637" y="27050"/>
                </a:lnTo>
                <a:lnTo>
                  <a:pt x="24446" y="34687"/>
                </a:lnTo>
                <a:lnTo>
                  <a:pt x="36425" y="31221"/>
                </a:lnTo>
                <a:lnTo>
                  <a:pt x="19793" y="27050"/>
                </a:lnTo>
                <a:close/>
              </a:path>
              <a:path w="821690" h="240665">
                <a:moveTo>
                  <a:pt x="56105" y="25526"/>
                </a:moveTo>
                <a:lnTo>
                  <a:pt x="13716" y="25526"/>
                </a:lnTo>
                <a:lnTo>
                  <a:pt x="36425" y="31221"/>
                </a:lnTo>
                <a:lnTo>
                  <a:pt x="56105" y="25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1523" y="863727"/>
            <a:ext cx="4344035" cy="2031364"/>
          </a:xfrm>
          <a:prstGeom prst="rect">
            <a:avLst/>
          </a:prstGeom>
          <a:solidFill>
            <a:srgbClr val="FFF5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90805" marR="710565">
              <a:lnSpc>
                <a:spcPct val="100000"/>
              </a:lnSpc>
              <a:spcBef>
                <a:spcPts val="350"/>
              </a:spcBef>
            </a:pPr>
            <a:r>
              <a:rPr sz="1800" b="1" spc="-5" dirty="0">
                <a:latin typeface="Tahoma"/>
                <a:cs typeface="Tahoma"/>
              </a:rPr>
              <a:t>Normalization Transformation</a:t>
            </a:r>
            <a:r>
              <a:rPr sz="1800" spc="-5" dirty="0">
                <a:latin typeface="Tahoma"/>
                <a:cs typeface="Tahoma"/>
              </a:rPr>
              <a:t>:  x=x</a:t>
            </a:r>
            <a:r>
              <a:rPr sz="1800" spc="-7" baseline="-20833" dirty="0">
                <a:latin typeface="Tahoma"/>
                <a:cs typeface="Tahoma"/>
              </a:rPr>
              <a:t>n </a:t>
            </a:r>
            <a:r>
              <a:rPr sz="1800" dirty="0">
                <a:latin typeface="Tahoma"/>
                <a:cs typeface="Tahoma"/>
              </a:rPr>
              <a:t>.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x</a:t>
            </a:r>
            <a:r>
              <a:rPr sz="1800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800" spc="-5" dirty="0">
                <a:latin typeface="Tahoma"/>
                <a:cs typeface="Tahoma"/>
              </a:rPr>
              <a:t>y=y</a:t>
            </a:r>
            <a:r>
              <a:rPr sz="1800" spc="-7" baseline="-20833" dirty="0">
                <a:latin typeface="Tahoma"/>
                <a:cs typeface="Tahoma"/>
              </a:rPr>
              <a:t>n  </a:t>
            </a:r>
            <a:r>
              <a:rPr sz="1800" dirty="0">
                <a:latin typeface="Tahoma"/>
                <a:cs typeface="Tahoma"/>
              </a:rPr>
              <a:t>.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Y</a:t>
            </a:r>
            <a:r>
              <a:rPr sz="1800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Here</a:t>
            </a:r>
            <a:endParaRPr sz="1800">
              <a:latin typeface="Tahoma"/>
              <a:cs typeface="Tahoma"/>
            </a:endParaRPr>
          </a:p>
          <a:p>
            <a:pPr marL="90805" marR="1148080">
              <a:lnSpc>
                <a:spcPct val="100000"/>
              </a:lnSpc>
            </a:pPr>
            <a:r>
              <a:rPr sz="1800" spc="-5" dirty="0">
                <a:latin typeface="Tahoma"/>
                <a:cs typeface="Tahoma"/>
              </a:rPr>
              <a:t>(x,y)=Actual </a:t>
            </a:r>
            <a:r>
              <a:rPr sz="1800" dirty="0">
                <a:latin typeface="Tahoma"/>
                <a:cs typeface="Tahoma"/>
              </a:rPr>
              <a:t>device </a:t>
            </a:r>
            <a:r>
              <a:rPr sz="1800" spc="-5" dirty="0">
                <a:latin typeface="Tahoma"/>
                <a:cs typeface="Tahoma"/>
              </a:rPr>
              <a:t>coordinate  </a:t>
            </a:r>
            <a:r>
              <a:rPr sz="1800" dirty="0">
                <a:latin typeface="Tahoma"/>
                <a:cs typeface="Tahoma"/>
              </a:rPr>
              <a:t>(x</a:t>
            </a:r>
            <a:r>
              <a:rPr sz="1800" baseline="-20833" dirty="0">
                <a:latin typeface="Tahoma"/>
                <a:cs typeface="Tahoma"/>
              </a:rPr>
              <a:t>w </a:t>
            </a:r>
            <a:r>
              <a:rPr sz="1800" dirty="0">
                <a:latin typeface="Tahoma"/>
                <a:cs typeface="Tahoma"/>
              </a:rPr>
              <a:t>, </a:t>
            </a:r>
            <a:r>
              <a:rPr sz="1800" spc="-5" dirty="0">
                <a:latin typeface="Tahoma"/>
                <a:cs typeface="Tahoma"/>
              </a:rPr>
              <a:t>Y</a:t>
            </a:r>
            <a:r>
              <a:rPr sz="1800" spc="-7" baseline="-20833" dirty="0">
                <a:latin typeface="Tahoma"/>
                <a:cs typeface="Tahoma"/>
              </a:rPr>
              <a:t>w</a:t>
            </a:r>
            <a:r>
              <a:rPr sz="1800" spc="-5" dirty="0">
                <a:latin typeface="Tahoma"/>
                <a:cs typeface="Tahoma"/>
              </a:rPr>
              <a:t>)= </a:t>
            </a:r>
            <a:r>
              <a:rPr sz="1800" dirty="0">
                <a:latin typeface="Tahoma"/>
                <a:cs typeface="Tahoma"/>
              </a:rPr>
              <a:t>Window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coordinate</a:t>
            </a:r>
            <a:endParaRPr sz="180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(x</a:t>
            </a:r>
            <a:r>
              <a:rPr sz="1800" baseline="-20833" dirty="0">
                <a:latin typeface="Tahoma"/>
                <a:cs typeface="Tahoma"/>
              </a:rPr>
              <a:t>n </a:t>
            </a:r>
            <a:r>
              <a:rPr sz="1800" dirty="0">
                <a:latin typeface="Tahoma"/>
                <a:cs typeface="Tahoma"/>
              </a:rPr>
              <a:t>, </a:t>
            </a:r>
            <a:r>
              <a:rPr sz="1800" spc="-25" dirty="0">
                <a:latin typeface="Tahoma"/>
                <a:cs typeface="Tahoma"/>
              </a:rPr>
              <a:t>Y</a:t>
            </a:r>
            <a:r>
              <a:rPr sz="1800" spc="-37" baseline="-20833" dirty="0">
                <a:latin typeface="Tahoma"/>
                <a:cs typeface="Tahoma"/>
              </a:rPr>
              <a:t>n</a:t>
            </a:r>
            <a:r>
              <a:rPr sz="1800" spc="-25" dirty="0">
                <a:latin typeface="Tahoma"/>
                <a:cs typeface="Tahoma"/>
              </a:rPr>
              <a:t>)= </a:t>
            </a:r>
            <a:r>
              <a:rPr sz="1800" spc="-5" dirty="0">
                <a:latin typeface="Tahoma"/>
                <a:cs typeface="Tahoma"/>
              </a:rPr>
              <a:t>Normalize coordinate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(scaling)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1132" y="4195889"/>
            <a:ext cx="1227455" cy="584835"/>
          </a:xfrm>
          <a:prstGeom prst="rect">
            <a:avLst/>
          </a:prstGeom>
          <a:solidFill>
            <a:srgbClr val="FFCF00"/>
          </a:solidFill>
          <a:ln w="9525">
            <a:solidFill>
              <a:srgbClr val="7E7E7E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7155" marR="151765" indent="225425">
              <a:lnSpc>
                <a:spcPct val="100000"/>
              </a:lnSpc>
              <a:spcBef>
                <a:spcPts val="350"/>
              </a:spcBef>
            </a:pPr>
            <a:r>
              <a:rPr sz="1600" spc="-15" dirty="0">
                <a:latin typeface="Tahoma"/>
                <a:cs typeface="Tahoma"/>
              </a:rPr>
              <a:t>World  </a:t>
            </a:r>
            <a:r>
              <a:rPr sz="1600" dirty="0">
                <a:latin typeface="Tahoma"/>
                <a:cs typeface="Tahoma"/>
              </a:rPr>
              <a:t>Coo</a:t>
            </a:r>
            <a:r>
              <a:rPr sz="1600" spc="-10" dirty="0">
                <a:latin typeface="Tahoma"/>
                <a:cs typeface="Tahoma"/>
              </a:rPr>
              <a:t>r</a:t>
            </a:r>
            <a:r>
              <a:rPr sz="1600" dirty="0">
                <a:latin typeface="Tahoma"/>
                <a:cs typeface="Tahoma"/>
              </a:rPr>
              <a:t>dinate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98294" y="4415028"/>
            <a:ext cx="1184275" cy="103505"/>
          </a:xfrm>
          <a:custGeom>
            <a:avLst/>
            <a:gdLst/>
            <a:ahLst/>
            <a:cxnLst/>
            <a:rect l="l" t="t" r="r" b="b"/>
            <a:pathLst>
              <a:path w="1184275" h="103504">
                <a:moveTo>
                  <a:pt x="1158548" y="51752"/>
                </a:moveTo>
                <a:lnTo>
                  <a:pt x="1088771" y="92456"/>
                </a:lnTo>
                <a:lnTo>
                  <a:pt x="1087755" y="96393"/>
                </a:lnTo>
                <a:lnTo>
                  <a:pt x="1089533" y="99441"/>
                </a:lnTo>
                <a:lnTo>
                  <a:pt x="1091184" y="102362"/>
                </a:lnTo>
                <a:lnTo>
                  <a:pt x="1095121" y="103378"/>
                </a:lnTo>
                <a:lnTo>
                  <a:pt x="1098169" y="101727"/>
                </a:lnTo>
                <a:lnTo>
                  <a:pt x="1172904" y="58039"/>
                </a:lnTo>
                <a:lnTo>
                  <a:pt x="1171194" y="58039"/>
                </a:lnTo>
                <a:lnTo>
                  <a:pt x="1171194" y="57277"/>
                </a:lnTo>
                <a:lnTo>
                  <a:pt x="1168019" y="57277"/>
                </a:lnTo>
                <a:lnTo>
                  <a:pt x="1158548" y="51752"/>
                </a:lnTo>
                <a:close/>
              </a:path>
              <a:path w="1184275" h="103504">
                <a:moveTo>
                  <a:pt x="1147553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147771" y="58039"/>
                </a:lnTo>
                <a:lnTo>
                  <a:pt x="1158548" y="51752"/>
                </a:lnTo>
                <a:lnTo>
                  <a:pt x="1147553" y="45339"/>
                </a:lnTo>
                <a:close/>
              </a:path>
              <a:path w="1184275" h="103504">
                <a:moveTo>
                  <a:pt x="1172876" y="45339"/>
                </a:moveTo>
                <a:lnTo>
                  <a:pt x="1171194" y="45339"/>
                </a:lnTo>
                <a:lnTo>
                  <a:pt x="1171194" y="58039"/>
                </a:lnTo>
                <a:lnTo>
                  <a:pt x="1172904" y="58039"/>
                </a:lnTo>
                <a:lnTo>
                  <a:pt x="1183767" y="51689"/>
                </a:lnTo>
                <a:lnTo>
                  <a:pt x="1172876" y="45339"/>
                </a:lnTo>
                <a:close/>
              </a:path>
              <a:path w="1184275" h="103504">
                <a:moveTo>
                  <a:pt x="1168019" y="46228"/>
                </a:moveTo>
                <a:lnTo>
                  <a:pt x="1158548" y="51752"/>
                </a:lnTo>
                <a:lnTo>
                  <a:pt x="1168019" y="57277"/>
                </a:lnTo>
                <a:lnTo>
                  <a:pt x="1168019" y="46228"/>
                </a:lnTo>
                <a:close/>
              </a:path>
              <a:path w="1184275" h="103504">
                <a:moveTo>
                  <a:pt x="1171194" y="46228"/>
                </a:moveTo>
                <a:lnTo>
                  <a:pt x="1168019" y="46228"/>
                </a:lnTo>
                <a:lnTo>
                  <a:pt x="1168019" y="57277"/>
                </a:lnTo>
                <a:lnTo>
                  <a:pt x="1171194" y="57277"/>
                </a:lnTo>
                <a:lnTo>
                  <a:pt x="1171194" y="46228"/>
                </a:lnTo>
                <a:close/>
              </a:path>
              <a:path w="1184275" h="103504">
                <a:moveTo>
                  <a:pt x="1095121" y="0"/>
                </a:moveTo>
                <a:lnTo>
                  <a:pt x="1091184" y="1016"/>
                </a:lnTo>
                <a:lnTo>
                  <a:pt x="1089533" y="4064"/>
                </a:lnTo>
                <a:lnTo>
                  <a:pt x="1087755" y="7112"/>
                </a:lnTo>
                <a:lnTo>
                  <a:pt x="1088771" y="11049"/>
                </a:lnTo>
                <a:lnTo>
                  <a:pt x="1158548" y="51752"/>
                </a:lnTo>
                <a:lnTo>
                  <a:pt x="1168019" y="46228"/>
                </a:lnTo>
                <a:lnTo>
                  <a:pt x="1171194" y="46228"/>
                </a:lnTo>
                <a:lnTo>
                  <a:pt x="1171194" y="45339"/>
                </a:lnTo>
                <a:lnTo>
                  <a:pt x="1172876" y="45339"/>
                </a:lnTo>
                <a:lnTo>
                  <a:pt x="10951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07029" y="4160710"/>
            <a:ext cx="1163320" cy="584835"/>
          </a:xfrm>
          <a:prstGeom prst="rect">
            <a:avLst/>
          </a:prstGeom>
          <a:solidFill>
            <a:srgbClr val="FFCF00"/>
          </a:solidFill>
          <a:ln w="9525">
            <a:solidFill>
              <a:srgbClr val="7E7E7E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350"/>
              </a:spcBef>
            </a:pPr>
            <a:r>
              <a:rPr sz="1600" spc="-5" dirty="0">
                <a:latin typeface="Tahoma"/>
                <a:cs typeface="Tahoma"/>
              </a:rPr>
              <a:t>Normalize</a:t>
            </a:r>
            <a:endParaRPr sz="1600">
              <a:latin typeface="Tahoma"/>
              <a:cs typeface="Tahoma"/>
            </a:endParaRPr>
          </a:p>
          <a:p>
            <a:pPr marL="9588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ahoma"/>
                <a:cs typeface="Tahoma"/>
              </a:rPr>
              <a:t>Coordinate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06803" y="4191508"/>
            <a:ext cx="12496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C00000"/>
                </a:solidFill>
                <a:latin typeface="Tahoma"/>
                <a:cs typeface="Tahoma"/>
              </a:rPr>
              <a:t>Normalization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0380" y="3068916"/>
            <a:ext cx="6283960" cy="923925"/>
          </a:xfrm>
          <a:prstGeom prst="rect">
            <a:avLst/>
          </a:prstGeom>
          <a:solidFill>
            <a:srgbClr val="FFF5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1800" b="1" dirty="0">
                <a:latin typeface="Tahoma"/>
                <a:cs typeface="Tahoma"/>
              </a:rPr>
              <a:t>Work </a:t>
            </a:r>
            <a:r>
              <a:rPr sz="1800" b="1" spc="-5" dirty="0">
                <a:latin typeface="Tahoma"/>
                <a:cs typeface="Tahoma"/>
              </a:rPr>
              <a:t>Station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Transformation</a:t>
            </a:r>
            <a:r>
              <a:rPr sz="1800" spc="-5" dirty="0">
                <a:latin typeface="Tahoma"/>
                <a:cs typeface="Tahoma"/>
              </a:rPr>
              <a:t>:</a:t>
            </a:r>
            <a:endParaRPr sz="1800">
              <a:latin typeface="Tahoma"/>
              <a:cs typeface="Tahoma"/>
            </a:endParaRPr>
          </a:p>
          <a:p>
            <a:pPr marL="91440" marR="335280">
              <a:lnSpc>
                <a:spcPct val="100000"/>
              </a:lnSpc>
            </a:pPr>
            <a:r>
              <a:rPr sz="1800" spc="-5" dirty="0">
                <a:latin typeface="Tahoma"/>
                <a:cs typeface="Tahoma"/>
              </a:rPr>
              <a:t>Here world coordinate </a:t>
            </a:r>
            <a:r>
              <a:rPr sz="1800" spc="-10" dirty="0">
                <a:latin typeface="Tahoma"/>
                <a:cs typeface="Tahoma"/>
              </a:rPr>
              <a:t>transforms </a:t>
            </a:r>
            <a:r>
              <a:rPr sz="1800" spc="-5" dirty="0">
                <a:latin typeface="Tahoma"/>
                <a:cs typeface="Tahoma"/>
              </a:rPr>
              <a:t>to Normalize coordinate  </a:t>
            </a:r>
            <a:r>
              <a:rPr sz="1800" dirty="0">
                <a:latin typeface="Tahoma"/>
                <a:cs typeface="Tahoma"/>
              </a:rPr>
              <a:t>and </a:t>
            </a:r>
            <a:r>
              <a:rPr sz="1800" spc="-5" dirty="0">
                <a:latin typeface="Tahoma"/>
                <a:cs typeface="Tahoma"/>
              </a:rPr>
              <a:t>then apply work station to </a:t>
            </a:r>
            <a:r>
              <a:rPr sz="1800" dirty="0">
                <a:latin typeface="Tahoma"/>
                <a:cs typeface="Tahoma"/>
              </a:rPr>
              <a:t>get device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coordinate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24959" y="4405757"/>
            <a:ext cx="1122045" cy="103505"/>
          </a:xfrm>
          <a:custGeom>
            <a:avLst/>
            <a:gdLst/>
            <a:ahLst/>
            <a:cxnLst/>
            <a:rect l="l" t="t" r="r" b="b"/>
            <a:pathLst>
              <a:path w="1122045" h="103504">
                <a:moveTo>
                  <a:pt x="1096826" y="51752"/>
                </a:moveTo>
                <a:lnTo>
                  <a:pt x="1027049" y="92456"/>
                </a:lnTo>
                <a:lnTo>
                  <a:pt x="1026032" y="96393"/>
                </a:lnTo>
                <a:lnTo>
                  <a:pt x="1029588" y="102489"/>
                </a:lnTo>
                <a:lnTo>
                  <a:pt x="1033399" y="103505"/>
                </a:lnTo>
                <a:lnTo>
                  <a:pt x="1111154" y="58166"/>
                </a:lnTo>
                <a:lnTo>
                  <a:pt x="1109472" y="58166"/>
                </a:lnTo>
                <a:lnTo>
                  <a:pt x="1109472" y="57277"/>
                </a:lnTo>
                <a:lnTo>
                  <a:pt x="1106297" y="57277"/>
                </a:lnTo>
                <a:lnTo>
                  <a:pt x="1096826" y="51752"/>
                </a:lnTo>
                <a:close/>
              </a:path>
              <a:path w="1122045" h="103504">
                <a:moveTo>
                  <a:pt x="1086049" y="45466"/>
                </a:moveTo>
                <a:lnTo>
                  <a:pt x="0" y="45466"/>
                </a:lnTo>
                <a:lnTo>
                  <a:pt x="0" y="58166"/>
                </a:lnTo>
                <a:lnTo>
                  <a:pt x="1085831" y="58166"/>
                </a:lnTo>
                <a:lnTo>
                  <a:pt x="1096826" y="51752"/>
                </a:lnTo>
                <a:lnTo>
                  <a:pt x="1086049" y="45466"/>
                </a:lnTo>
                <a:close/>
              </a:path>
              <a:path w="1122045" h="103504">
                <a:moveTo>
                  <a:pt x="1111182" y="45466"/>
                </a:moveTo>
                <a:lnTo>
                  <a:pt x="1109472" y="45466"/>
                </a:lnTo>
                <a:lnTo>
                  <a:pt x="1109472" y="58166"/>
                </a:lnTo>
                <a:lnTo>
                  <a:pt x="1111154" y="58166"/>
                </a:lnTo>
                <a:lnTo>
                  <a:pt x="1122044" y="51816"/>
                </a:lnTo>
                <a:lnTo>
                  <a:pt x="1111182" y="45466"/>
                </a:lnTo>
                <a:close/>
              </a:path>
              <a:path w="1122045" h="103504">
                <a:moveTo>
                  <a:pt x="1106297" y="46228"/>
                </a:moveTo>
                <a:lnTo>
                  <a:pt x="1096826" y="51752"/>
                </a:lnTo>
                <a:lnTo>
                  <a:pt x="1106297" y="57277"/>
                </a:lnTo>
                <a:lnTo>
                  <a:pt x="1106297" y="46228"/>
                </a:lnTo>
                <a:close/>
              </a:path>
              <a:path w="1122045" h="103504">
                <a:moveTo>
                  <a:pt x="1109472" y="46228"/>
                </a:moveTo>
                <a:lnTo>
                  <a:pt x="1106297" y="46228"/>
                </a:lnTo>
                <a:lnTo>
                  <a:pt x="1106297" y="57277"/>
                </a:lnTo>
                <a:lnTo>
                  <a:pt x="1109472" y="57277"/>
                </a:lnTo>
                <a:lnTo>
                  <a:pt x="1109472" y="46228"/>
                </a:lnTo>
                <a:close/>
              </a:path>
              <a:path w="1122045" h="103504">
                <a:moveTo>
                  <a:pt x="1033399" y="0"/>
                </a:moveTo>
                <a:lnTo>
                  <a:pt x="1029588" y="1016"/>
                </a:lnTo>
                <a:lnTo>
                  <a:pt x="1026032" y="7112"/>
                </a:lnTo>
                <a:lnTo>
                  <a:pt x="1027049" y="11049"/>
                </a:lnTo>
                <a:lnTo>
                  <a:pt x="1096826" y="51752"/>
                </a:lnTo>
                <a:lnTo>
                  <a:pt x="1106297" y="46228"/>
                </a:lnTo>
                <a:lnTo>
                  <a:pt x="1109472" y="46228"/>
                </a:lnTo>
                <a:lnTo>
                  <a:pt x="1109472" y="45466"/>
                </a:lnTo>
                <a:lnTo>
                  <a:pt x="1111182" y="45466"/>
                </a:lnTo>
                <a:lnTo>
                  <a:pt x="10333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41873" y="4128198"/>
            <a:ext cx="1163320" cy="584835"/>
          </a:xfrm>
          <a:prstGeom prst="rect">
            <a:avLst/>
          </a:prstGeom>
          <a:solidFill>
            <a:srgbClr val="FFCF00"/>
          </a:solidFill>
          <a:ln w="9525">
            <a:solidFill>
              <a:srgbClr val="7E7E7E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6520" marR="88265" indent="157480">
              <a:lnSpc>
                <a:spcPct val="100000"/>
              </a:lnSpc>
              <a:spcBef>
                <a:spcPts val="350"/>
              </a:spcBef>
            </a:pPr>
            <a:r>
              <a:rPr sz="1600" spc="-5" dirty="0">
                <a:latin typeface="Tahoma"/>
                <a:cs typeface="Tahoma"/>
              </a:rPr>
              <a:t>Device  </a:t>
            </a:r>
            <a:r>
              <a:rPr sz="1600" dirty="0">
                <a:latin typeface="Tahoma"/>
                <a:cs typeface="Tahoma"/>
              </a:rPr>
              <a:t>Coo</a:t>
            </a:r>
            <a:r>
              <a:rPr sz="1600" spc="-10" dirty="0">
                <a:latin typeface="Tahoma"/>
                <a:cs typeface="Tahoma"/>
              </a:rPr>
              <a:t>r</a:t>
            </a:r>
            <a:r>
              <a:rPr sz="1600" dirty="0">
                <a:latin typeface="Tahoma"/>
                <a:cs typeface="Tahoma"/>
              </a:rPr>
              <a:t>dinate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097782" y="4150867"/>
            <a:ext cx="11766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" dirty="0">
                <a:solidFill>
                  <a:srgbClr val="C00000"/>
                </a:solidFill>
                <a:latin typeface="Tahoma"/>
                <a:cs typeface="Tahoma"/>
              </a:rPr>
              <a:t>Work</a:t>
            </a:r>
            <a:r>
              <a:rPr sz="16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Tahoma"/>
                <a:cs typeface="Tahoma"/>
              </a:rPr>
              <a:t>Station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79514" y="4869116"/>
            <a:ext cx="3744595" cy="1939289"/>
          </a:xfrm>
          <a:custGeom>
            <a:avLst/>
            <a:gdLst/>
            <a:ahLst/>
            <a:cxnLst/>
            <a:rect l="l" t="t" r="r" b="b"/>
            <a:pathLst>
              <a:path w="3744595" h="1939290">
                <a:moveTo>
                  <a:pt x="0" y="1939036"/>
                </a:moveTo>
                <a:lnTo>
                  <a:pt x="3744467" y="1939036"/>
                </a:lnTo>
                <a:lnTo>
                  <a:pt x="3744467" y="0"/>
                </a:lnTo>
                <a:lnTo>
                  <a:pt x="0" y="0"/>
                </a:lnTo>
                <a:lnTo>
                  <a:pt x="0" y="1939036"/>
                </a:lnTo>
                <a:close/>
              </a:path>
            </a:pathLst>
          </a:custGeom>
          <a:solidFill>
            <a:srgbClr val="FFF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32918" y="4901183"/>
            <a:ext cx="3298825" cy="185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937385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Tahoma"/>
                <a:cs typeface="Tahoma"/>
              </a:rPr>
              <a:t>We </a:t>
            </a:r>
            <a:r>
              <a:rPr sz="1800" spc="-5" dirty="0">
                <a:latin typeface="Tahoma"/>
                <a:cs typeface="Tahoma"/>
              </a:rPr>
              <a:t>can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write  </a:t>
            </a:r>
            <a:r>
              <a:rPr sz="1800" dirty="0">
                <a:latin typeface="Tahoma"/>
                <a:cs typeface="Tahoma"/>
              </a:rPr>
              <a:t>V=N.W  </a:t>
            </a:r>
            <a:r>
              <a:rPr sz="1800" spc="-25" dirty="0">
                <a:latin typeface="Tahoma"/>
                <a:cs typeface="Tahoma"/>
              </a:rPr>
              <a:t>W=TST</a:t>
            </a:r>
            <a:r>
              <a:rPr sz="1800" spc="-37" baseline="25462" dirty="0">
                <a:latin typeface="Tahoma"/>
                <a:cs typeface="Tahoma"/>
              </a:rPr>
              <a:t>-1</a:t>
            </a:r>
            <a:endParaRPr sz="1800" baseline="25462" dirty="0">
              <a:latin typeface="Tahoma"/>
              <a:cs typeface="Tahoma"/>
            </a:endParaRPr>
          </a:p>
          <a:p>
            <a:pPr marL="38100">
              <a:lnSpc>
                <a:spcPts val="2145"/>
              </a:lnSpc>
            </a:pPr>
            <a:r>
              <a:rPr sz="1800" spc="-10" dirty="0">
                <a:latin typeface="Tahoma"/>
                <a:cs typeface="Tahoma"/>
              </a:rPr>
              <a:t>Here,</a:t>
            </a:r>
            <a:endParaRPr sz="1800" dirty="0">
              <a:latin typeface="Tahoma"/>
              <a:cs typeface="Tahoma"/>
            </a:endParaRPr>
          </a:p>
          <a:p>
            <a:pPr marL="38100" marR="30480">
              <a:lnSpc>
                <a:spcPts val="1920"/>
              </a:lnSpc>
              <a:spcBef>
                <a:spcPts val="50"/>
              </a:spcBef>
            </a:pPr>
            <a:r>
              <a:rPr sz="1600" dirty="0">
                <a:latin typeface="Tahoma"/>
                <a:cs typeface="Tahoma"/>
              </a:rPr>
              <a:t>T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ahoma"/>
                <a:cs typeface="Tahoma"/>
              </a:rPr>
              <a:t>means </a:t>
            </a:r>
            <a:r>
              <a:rPr sz="1600" spc="-5" dirty="0">
                <a:latin typeface="Tahoma"/>
                <a:cs typeface="Tahoma"/>
              </a:rPr>
              <a:t>translate </a:t>
            </a:r>
            <a:r>
              <a:rPr sz="1600" dirty="0">
                <a:latin typeface="Tahoma"/>
                <a:cs typeface="Tahoma"/>
              </a:rPr>
              <a:t>image </a:t>
            </a:r>
            <a:r>
              <a:rPr sz="1600" spc="-5" dirty="0">
                <a:latin typeface="Tahoma"/>
                <a:cs typeface="Tahoma"/>
              </a:rPr>
              <a:t>to </a:t>
            </a:r>
            <a:r>
              <a:rPr sz="1600" dirty="0">
                <a:latin typeface="Tahoma"/>
                <a:cs typeface="Tahoma"/>
              </a:rPr>
              <a:t>origin  S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ahoma"/>
                <a:cs typeface="Tahoma"/>
              </a:rPr>
              <a:t>scaling according to</a:t>
            </a:r>
            <a:r>
              <a:rPr sz="1600" spc="4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device</a:t>
            </a:r>
            <a:endParaRPr sz="1600" dirty="0">
              <a:latin typeface="Tahoma"/>
              <a:cs typeface="Tahoma"/>
            </a:endParaRPr>
          </a:p>
          <a:p>
            <a:pPr marL="38100">
              <a:lnSpc>
                <a:spcPts val="1855"/>
              </a:lnSpc>
            </a:pPr>
            <a:r>
              <a:rPr sz="1600" spc="-30" dirty="0">
                <a:latin typeface="Tahoma"/>
                <a:cs typeface="Tahoma"/>
              </a:rPr>
              <a:t>T</a:t>
            </a:r>
            <a:r>
              <a:rPr sz="1575" spc="-44" baseline="26455" dirty="0">
                <a:latin typeface="Tahoma"/>
                <a:cs typeface="Tahoma"/>
              </a:rPr>
              <a:t>-1</a:t>
            </a:r>
            <a:r>
              <a:rPr sz="1600" spc="-30" dirty="0">
                <a:latin typeface="Wingdings"/>
                <a:cs typeface="Wingdings"/>
              </a:rPr>
              <a:t>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ahoma"/>
                <a:cs typeface="Tahoma"/>
              </a:rPr>
              <a:t>inverse </a:t>
            </a:r>
            <a:r>
              <a:rPr sz="1600" spc="-5" dirty="0">
                <a:latin typeface="Tahoma"/>
                <a:cs typeface="Tahoma"/>
              </a:rPr>
              <a:t>translate</a:t>
            </a:r>
            <a:r>
              <a:rPr sz="1600" spc="-28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image</a:t>
            </a:r>
          </a:p>
        </p:txBody>
      </p:sp>
      <p:sp>
        <p:nvSpPr>
          <p:cNvPr id="32" name="object 32"/>
          <p:cNvSpPr/>
          <p:nvPr/>
        </p:nvSpPr>
        <p:spPr>
          <a:xfrm>
            <a:off x="4382008" y="5836056"/>
            <a:ext cx="531495" cy="304800"/>
          </a:xfrm>
          <a:custGeom>
            <a:avLst/>
            <a:gdLst/>
            <a:ahLst/>
            <a:cxnLst/>
            <a:rect l="l" t="t" r="r" b="b"/>
            <a:pathLst>
              <a:path w="531495" h="304800">
                <a:moveTo>
                  <a:pt x="0" y="304418"/>
                </a:moveTo>
                <a:lnTo>
                  <a:pt x="530974" y="304418"/>
                </a:lnTo>
                <a:lnTo>
                  <a:pt x="530974" y="0"/>
                </a:lnTo>
                <a:lnTo>
                  <a:pt x="0" y="0"/>
                </a:lnTo>
                <a:lnTo>
                  <a:pt x="0" y="304418"/>
                </a:lnTo>
                <a:close/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94961" y="5809906"/>
            <a:ext cx="349250" cy="184150"/>
          </a:xfrm>
          <a:custGeom>
            <a:avLst/>
            <a:gdLst/>
            <a:ahLst/>
            <a:cxnLst/>
            <a:rect l="l" t="t" r="r" b="b"/>
            <a:pathLst>
              <a:path w="349250" h="184150">
                <a:moveTo>
                  <a:pt x="0" y="150533"/>
                </a:moveTo>
                <a:lnTo>
                  <a:pt x="47468" y="167859"/>
                </a:lnTo>
                <a:lnTo>
                  <a:pt x="94472" y="180570"/>
                </a:lnTo>
                <a:lnTo>
                  <a:pt x="140499" y="184053"/>
                </a:lnTo>
                <a:lnTo>
                  <a:pt x="185038" y="173697"/>
                </a:lnTo>
                <a:lnTo>
                  <a:pt x="219292" y="153130"/>
                </a:lnTo>
                <a:lnTo>
                  <a:pt x="252564" y="123115"/>
                </a:lnTo>
                <a:lnTo>
                  <a:pt x="285092" y="86015"/>
                </a:lnTo>
                <a:lnTo>
                  <a:pt x="317114" y="44189"/>
                </a:lnTo>
                <a:lnTo>
                  <a:pt x="348868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65091" y="5187950"/>
            <a:ext cx="0" cy="1296670"/>
          </a:xfrm>
          <a:custGeom>
            <a:avLst/>
            <a:gdLst/>
            <a:ahLst/>
            <a:cxnLst/>
            <a:rect l="l" t="t" r="r" b="b"/>
            <a:pathLst>
              <a:path h="1296670">
                <a:moveTo>
                  <a:pt x="0" y="0"/>
                </a:moveTo>
                <a:lnTo>
                  <a:pt x="0" y="12961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079747" y="6381331"/>
            <a:ext cx="1116330" cy="0"/>
          </a:xfrm>
          <a:custGeom>
            <a:avLst/>
            <a:gdLst/>
            <a:ahLst/>
            <a:cxnLst/>
            <a:rect l="l" t="t" r="r" b="b"/>
            <a:pathLst>
              <a:path w="1116329">
                <a:moveTo>
                  <a:pt x="0" y="0"/>
                </a:moveTo>
                <a:lnTo>
                  <a:pt x="111620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266691" y="6501638"/>
            <a:ext cx="7429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ahoma"/>
                <a:cs typeface="Tahoma"/>
              </a:rPr>
              <a:t>Window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440426" y="6076912"/>
            <a:ext cx="531495" cy="304800"/>
          </a:xfrm>
          <a:custGeom>
            <a:avLst/>
            <a:gdLst/>
            <a:ahLst/>
            <a:cxnLst/>
            <a:rect l="l" t="t" r="r" b="b"/>
            <a:pathLst>
              <a:path w="531495" h="304800">
                <a:moveTo>
                  <a:pt x="0" y="304418"/>
                </a:moveTo>
                <a:lnTo>
                  <a:pt x="530974" y="304418"/>
                </a:lnTo>
                <a:lnTo>
                  <a:pt x="530974" y="0"/>
                </a:lnTo>
                <a:lnTo>
                  <a:pt x="0" y="0"/>
                </a:lnTo>
                <a:lnTo>
                  <a:pt x="0" y="304418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53379" y="6050762"/>
            <a:ext cx="349250" cy="184150"/>
          </a:xfrm>
          <a:custGeom>
            <a:avLst/>
            <a:gdLst/>
            <a:ahLst/>
            <a:cxnLst/>
            <a:rect l="l" t="t" r="r" b="b"/>
            <a:pathLst>
              <a:path w="349250" h="184150">
                <a:moveTo>
                  <a:pt x="0" y="150533"/>
                </a:moveTo>
                <a:lnTo>
                  <a:pt x="47468" y="167854"/>
                </a:lnTo>
                <a:lnTo>
                  <a:pt x="94472" y="180563"/>
                </a:lnTo>
                <a:lnTo>
                  <a:pt x="140499" y="184046"/>
                </a:lnTo>
                <a:lnTo>
                  <a:pt x="185039" y="173685"/>
                </a:lnTo>
                <a:lnTo>
                  <a:pt x="219341" y="153122"/>
                </a:lnTo>
                <a:lnTo>
                  <a:pt x="252619" y="123109"/>
                </a:lnTo>
                <a:lnTo>
                  <a:pt x="285129" y="86008"/>
                </a:lnTo>
                <a:lnTo>
                  <a:pt x="317127" y="44184"/>
                </a:lnTo>
                <a:lnTo>
                  <a:pt x="348869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06516" y="5187950"/>
            <a:ext cx="0" cy="1296670"/>
          </a:xfrm>
          <a:custGeom>
            <a:avLst/>
            <a:gdLst/>
            <a:ahLst/>
            <a:cxnLst/>
            <a:rect l="l" t="t" r="r" b="b"/>
            <a:pathLst>
              <a:path h="1296670">
                <a:moveTo>
                  <a:pt x="0" y="0"/>
                </a:moveTo>
                <a:lnTo>
                  <a:pt x="0" y="12961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321172" y="6381331"/>
            <a:ext cx="1116330" cy="0"/>
          </a:xfrm>
          <a:custGeom>
            <a:avLst/>
            <a:gdLst/>
            <a:ahLst/>
            <a:cxnLst/>
            <a:rect l="l" t="t" r="r" b="b"/>
            <a:pathLst>
              <a:path w="1116329">
                <a:moveTo>
                  <a:pt x="0" y="0"/>
                </a:moveTo>
                <a:lnTo>
                  <a:pt x="111620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807455" y="6501638"/>
            <a:ext cx="1447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664706" y="6166624"/>
            <a:ext cx="369570" cy="215265"/>
          </a:xfrm>
          <a:custGeom>
            <a:avLst/>
            <a:gdLst/>
            <a:ahLst/>
            <a:cxnLst/>
            <a:rect l="l" t="t" r="r" b="b"/>
            <a:pathLst>
              <a:path w="369570" h="215264">
                <a:moveTo>
                  <a:pt x="0" y="214706"/>
                </a:moveTo>
                <a:lnTo>
                  <a:pt x="368947" y="214706"/>
                </a:lnTo>
                <a:lnTo>
                  <a:pt x="368947" y="0"/>
                </a:lnTo>
                <a:lnTo>
                  <a:pt x="0" y="0"/>
                </a:lnTo>
                <a:lnTo>
                  <a:pt x="0" y="21470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77659" y="6140475"/>
            <a:ext cx="242570" cy="130175"/>
          </a:xfrm>
          <a:custGeom>
            <a:avLst/>
            <a:gdLst/>
            <a:ahLst/>
            <a:cxnLst/>
            <a:rect l="l" t="t" r="r" b="b"/>
            <a:pathLst>
              <a:path w="242570" h="130175">
                <a:moveTo>
                  <a:pt x="0" y="106171"/>
                </a:moveTo>
                <a:lnTo>
                  <a:pt x="32994" y="118391"/>
                </a:lnTo>
                <a:lnTo>
                  <a:pt x="65643" y="127354"/>
                </a:lnTo>
                <a:lnTo>
                  <a:pt x="97601" y="129808"/>
                </a:lnTo>
                <a:lnTo>
                  <a:pt x="128524" y="122504"/>
                </a:lnTo>
                <a:lnTo>
                  <a:pt x="158182" y="103270"/>
                </a:lnTo>
                <a:lnTo>
                  <a:pt x="186817" y="74272"/>
                </a:lnTo>
                <a:lnTo>
                  <a:pt x="214784" y="38765"/>
                </a:lnTo>
                <a:lnTo>
                  <a:pt x="242443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63308" y="5187950"/>
            <a:ext cx="0" cy="1296670"/>
          </a:xfrm>
          <a:custGeom>
            <a:avLst/>
            <a:gdLst/>
            <a:ahLst/>
            <a:cxnLst/>
            <a:rect l="l" t="t" r="r" b="b"/>
            <a:pathLst>
              <a:path h="1296670">
                <a:moveTo>
                  <a:pt x="0" y="0"/>
                </a:moveTo>
                <a:lnTo>
                  <a:pt x="0" y="12961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77965" y="6381331"/>
            <a:ext cx="1116330" cy="0"/>
          </a:xfrm>
          <a:custGeom>
            <a:avLst/>
            <a:gdLst/>
            <a:ahLst/>
            <a:cxnLst/>
            <a:rect l="l" t="t" r="r" b="b"/>
            <a:pathLst>
              <a:path w="1116329">
                <a:moveTo>
                  <a:pt x="0" y="0"/>
                </a:moveTo>
                <a:lnTo>
                  <a:pt x="111620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066788" y="6501638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861681" y="5187950"/>
            <a:ext cx="0" cy="1296670"/>
          </a:xfrm>
          <a:custGeom>
            <a:avLst/>
            <a:gdLst/>
            <a:ahLst/>
            <a:cxnLst/>
            <a:rect l="l" t="t" r="r" b="b"/>
            <a:pathLst>
              <a:path h="1296670">
                <a:moveTo>
                  <a:pt x="0" y="0"/>
                </a:moveTo>
                <a:lnTo>
                  <a:pt x="0" y="12961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76336" y="6381331"/>
            <a:ext cx="1116330" cy="0"/>
          </a:xfrm>
          <a:custGeom>
            <a:avLst/>
            <a:gdLst/>
            <a:ahLst/>
            <a:cxnLst/>
            <a:rect l="l" t="t" r="r" b="b"/>
            <a:pathLst>
              <a:path w="1116329">
                <a:moveTo>
                  <a:pt x="0" y="0"/>
                </a:moveTo>
                <a:lnTo>
                  <a:pt x="111620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8182609" y="6440678"/>
            <a:ext cx="3041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2" baseline="-17361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1050" spc="-35" dirty="0">
                <a:solidFill>
                  <a:srgbClr val="C00000"/>
                </a:solidFill>
                <a:latin typeface="Tahoma"/>
                <a:cs typeface="Tahoma"/>
              </a:rPr>
              <a:t>-1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104631" y="5835815"/>
            <a:ext cx="369570" cy="215265"/>
          </a:xfrm>
          <a:custGeom>
            <a:avLst/>
            <a:gdLst/>
            <a:ahLst/>
            <a:cxnLst/>
            <a:rect l="l" t="t" r="r" b="b"/>
            <a:pathLst>
              <a:path w="369570" h="215264">
                <a:moveTo>
                  <a:pt x="0" y="214706"/>
                </a:moveTo>
                <a:lnTo>
                  <a:pt x="368947" y="214706"/>
                </a:lnTo>
                <a:lnTo>
                  <a:pt x="368947" y="0"/>
                </a:lnTo>
                <a:lnTo>
                  <a:pt x="0" y="0"/>
                </a:lnTo>
                <a:lnTo>
                  <a:pt x="0" y="21470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117585" y="5809678"/>
            <a:ext cx="242570" cy="130175"/>
          </a:xfrm>
          <a:custGeom>
            <a:avLst/>
            <a:gdLst/>
            <a:ahLst/>
            <a:cxnLst/>
            <a:rect l="l" t="t" r="r" b="b"/>
            <a:pathLst>
              <a:path w="242570" h="130175">
                <a:moveTo>
                  <a:pt x="0" y="106172"/>
                </a:moveTo>
                <a:lnTo>
                  <a:pt x="32994" y="118385"/>
                </a:lnTo>
                <a:lnTo>
                  <a:pt x="65643" y="127349"/>
                </a:lnTo>
                <a:lnTo>
                  <a:pt x="97601" y="129807"/>
                </a:lnTo>
                <a:lnTo>
                  <a:pt x="128524" y="122504"/>
                </a:lnTo>
                <a:lnTo>
                  <a:pt x="158182" y="103262"/>
                </a:lnTo>
                <a:lnTo>
                  <a:pt x="186817" y="74263"/>
                </a:lnTo>
                <a:lnTo>
                  <a:pt x="214784" y="38758"/>
                </a:lnTo>
                <a:lnTo>
                  <a:pt x="242443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308" y="188554"/>
            <a:ext cx="4470063" cy="31572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23919" y="3284996"/>
            <a:ext cx="4634872" cy="33034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27065" y="220218"/>
            <a:ext cx="317627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000000"/>
                </a:solidFill>
              </a:rPr>
              <a:t>Transfor</a:t>
            </a:r>
            <a:r>
              <a:rPr sz="3200" spc="-20" dirty="0">
                <a:solidFill>
                  <a:srgbClr val="000000"/>
                </a:solidFill>
              </a:rPr>
              <a:t>m</a:t>
            </a:r>
            <a:r>
              <a:rPr sz="3200" spc="-5" dirty="0">
                <a:solidFill>
                  <a:srgbClr val="000000"/>
                </a:solidFill>
              </a:rPr>
              <a:t>ation  </a:t>
            </a:r>
            <a:r>
              <a:rPr sz="3200" spc="-10" dirty="0">
                <a:solidFill>
                  <a:srgbClr val="000000"/>
                </a:solidFill>
              </a:rPr>
              <a:t>Process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" y="206248"/>
            <a:ext cx="49320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Viewing</a:t>
            </a:r>
            <a:r>
              <a:rPr sz="3200" spc="-15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Transformation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62128" y="977011"/>
            <a:ext cx="3744595" cy="1939289"/>
          </a:xfrm>
          <a:prstGeom prst="rect">
            <a:avLst/>
          </a:prstGeom>
          <a:solidFill>
            <a:srgbClr val="FFF5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90805" marR="2329815">
              <a:lnSpc>
                <a:spcPct val="100000"/>
              </a:lnSpc>
              <a:spcBef>
                <a:spcPts val="350"/>
              </a:spcBef>
            </a:pPr>
            <a:r>
              <a:rPr sz="1800" spc="-35" dirty="0">
                <a:latin typeface="Tahoma"/>
                <a:cs typeface="Tahoma"/>
              </a:rPr>
              <a:t>We </a:t>
            </a:r>
            <a:r>
              <a:rPr sz="1800" spc="-5" dirty="0">
                <a:latin typeface="Tahoma"/>
                <a:cs typeface="Tahoma"/>
              </a:rPr>
              <a:t>can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write  </a:t>
            </a:r>
            <a:r>
              <a:rPr sz="1800" dirty="0">
                <a:latin typeface="Tahoma"/>
                <a:cs typeface="Tahoma"/>
              </a:rPr>
              <a:t>V=N.W  </a:t>
            </a:r>
            <a:r>
              <a:rPr sz="1800" spc="-25" dirty="0">
                <a:latin typeface="Tahoma"/>
                <a:cs typeface="Tahoma"/>
              </a:rPr>
              <a:t>W=TST</a:t>
            </a:r>
            <a:r>
              <a:rPr sz="1800" spc="-37" baseline="25462" dirty="0">
                <a:latin typeface="Tahoma"/>
                <a:cs typeface="Tahoma"/>
              </a:rPr>
              <a:t>-1</a:t>
            </a:r>
            <a:endParaRPr sz="1800" baseline="25462">
              <a:latin typeface="Tahoma"/>
              <a:cs typeface="Tahoma"/>
            </a:endParaRPr>
          </a:p>
          <a:p>
            <a:pPr marL="90805">
              <a:lnSpc>
                <a:spcPts val="2145"/>
              </a:lnSpc>
            </a:pPr>
            <a:r>
              <a:rPr sz="1800" spc="-10" dirty="0">
                <a:latin typeface="Tahoma"/>
                <a:cs typeface="Tahoma"/>
              </a:rPr>
              <a:t>Here,</a:t>
            </a:r>
            <a:endParaRPr sz="1800">
              <a:latin typeface="Tahoma"/>
              <a:cs typeface="Tahoma"/>
            </a:endParaRPr>
          </a:p>
          <a:p>
            <a:pPr marL="90805">
              <a:lnSpc>
                <a:spcPts val="1905"/>
              </a:lnSpc>
            </a:pPr>
            <a:r>
              <a:rPr sz="1600" dirty="0">
                <a:latin typeface="Tahoma"/>
                <a:cs typeface="Tahoma"/>
              </a:rPr>
              <a:t>T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ahoma"/>
                <a:cs typeface="Tahoma"/>
              </a:rPr>
              <a:t>means </a:t>
            </a:r>
            <a:r>
              <a:rPr sz="1600" spc="-5" dirty="0">
                <a:latin typeface="Tahoma"/>
                <a:cs typeface="Tahoma"/>
              </a:rPr>
              <a:t>translate </a:t>
            </a:r>
            <a:r>
              <a:rPr sz="1600" dirty="0">
                <a:latin typeface="Tahoma"/>
                <a:cs typeface="Tahoma"/>
              </a:rPr>
              <a:t>image </a:t>
            </a:r>
            <a:r>
              <a:rPr sz="1600" spc="-5" dirty="0">
                <a:latin typeface="Tahoma"/>
                <a:cs typeface="Tahoma"/>
              </a:rPr>
              <a:t>to</a:t>
            </a:r>
            <a:r>
              <a:rPr sz="1600" spc="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origin</a:t>
            </a:r>
            <a:endParaRPr sz="160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600" dirty="0">
                <a:latin typeface="Tahoma"/>
                <a:cs typeface="Tahoma"/>
              </a:rPr>
              <a:t>S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ahoma"/>
                <a:cs typeface="Tahoma"/>
              </a:rPr>
              <a:t>scaling according to</a:t>
            </a:r>
            <a:r>
              <a:rPr sz="1600" spc="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device</a:t>
            </a:r>
            <a:endParaRPr sz="160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600" spc="-30" dirty="0">
                <a:latin typeface="Tahoma"/>
                <a:cs typeface="Tahoma"/>
              </a:rPr>
              <a:t>T</a:t>
            </a:r>
            <a:r>
              <a:rPr sz="1575" spc="-44" baseline="26455" dirty="0">
                <a:latin typeface="Tahoma"/>
                <a:cs typeface="Tahoma"/>
              </a:rPr>
              <a:t>-1</a:t>
            </a:r>
            <a:r>
              <a:rPr sz="1600" spc="-30" dirty="0">
                <a:latin typeface="Wingdings"/>
                <a:cs typeface="Wingdings"/>
              </a:rPr>
              <a:t>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ahoma"/>
                <a:cs typeface="Tahoma"/>
              </a:rPr>
              <a:t>inverse </a:t>
            </a:r>
            <a:r>
              <a:rPr sz="1600" spc="-5" dirty="0">
                <a:latin typeface="Tahoma"/>
                <a:cs typeface="Tahoma"/>
              </a:rPr>
              <a:t>translate</a:t>
            </a:r>
            <a:r>
              <a:rPr sz="1600" spc="-28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image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988" y="3853053"/>
            <a:ext cx="531495" cy="304800"/>
          </a:xfrm>
          <a:custGeom>
            <a:avLst/>
            <a:gdLst/>
            <a:ahLst/>
            <a:cxnLst/>
            <a:rect l="l" t="t" r="r" b="b"/>
            <a:pathLst>
              <a:path w="531494" h="304800">
                <a:moveTo>
                  <a:pt x="0" y="304419"/>
                </a:moveTo>
                <a:lnTo>
                  <a:pt x="530974" y="304419"/>
                </a:lnTo>
                <a:lnTo>
                  <a:pt x="530974" y="0"/>
                </a:lnTo>
                <a:lnTo>
                  <a:pt x="0" y="0"/>
                </a:lnTo>
                <a:lnTo>
                  <a:pt x="0" y="304419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5866" y="3826890"/>
            <a:ext cx="349250" cy="184150"/>
          </a:xfrm>
          <a:custGeom>
            <a:avLst/>
            <a:gdLst/>
            <a:ahLst/>
            <a:cxnLst/>
            <a:rect l="l" t="t" r="r" b="b"/>
            <a:pathLst>
              <a:path w="349250" h="184150">
                <a:moveTo>
                  <a:pt x="0" y="150621"/>
                </a:moveTo>
                <a:lnTo>
                  <a:pt x="47495" y="167949"/>
                </a:lnTo>
                <a:lnTo>
                  <a:pt x="94495" y="180657"/>
                </a:lnTo>
                <a:lnTo>
                  <a:pt x="140508" y="184126"/>
                </a:lnTo>
                <a:lnTo>
                  <a:pt x="185039" y="173735"/>
                </a:lnTo>
                <a:lnTo>
                  <a:pt x="219337" y="153204"/>
                </a:lnTo>
                <a:lnTo>
                  <a:pt x="252620" y="123206"/>
                </a:lnTo>
                <a:lnTo>
                  <a:pt x="285142" y="86099"/>
                </a:lnTo>
                <a:lnTo>
                  <a:pt x="317156" y="44244"/>
                </a:lnTo>
                <a:lnTo>
                  <a:pt x="348919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029" y="3333496"/>
            <a:ext cx="0" cy="927100"/>
          </a:xfrm>
          <a:custGeom>
            <a:avLst/>
            <a:gdLst/>
            <a:ahLst/>
            <a:cxnLst/>
            <a:rect l="l" t="t" r="r" b="b"/>
            <a:pathLst>
              <a:path h="927100">
                <a:moveTo>
                  <a:pt x="0" y="0"/>
                </a:moveTo>
                <a:lnTo>
                  <a:pt x="0" y="92684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3710" y="4157471"/>
            <a:ext cx="1116330" cy="0"/>
          </a:xfrm>
          <a:custGeom>
            <a:avLst/>
            <a:gdLst/>
            <a:ahLst/>
            <a:cxnLst/>
            <a:rect l="l" t="t" r="r" b="b"/>
            <a:pathLst>
              <a:path w="1116330">
                <a:moveTo>
                  <a:pt x="0" y="0"/>
                </a:moveTo>
                <a:lnTo>
                  <a:pt x="11161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9676" y="4277614"/>
            <a:ext cx="1447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4993" y="4895392"/>
            <a:ext cx="369570" cy="215265"/>
          </a:xfrm>
          <a:custGeom>
            <a:avLst/>
            <a:gdLst/>
            <a:ahLst/>
            <a:cxnLst/>
            <a:rect l="l" t="t" r="r" b="b"/>
            <a:pathLst>
              <a:path w="369570" h="215264">
                <a:moveTo>
                  <a:pt x="0" y="214706"/>
                </a:moveTo>
                <a:lnTo>
                  <a:pt x="368947" y="214706"/>
                </a:lnTo>
                <a:lnTo>
                  <a:pt x="368947" y="0"/>
                </a:lnTo>
                <a:lnTo>
                  <a:pt x="0" y="0"/>
                </a:lnTo>
                <a:lnTo>
                  <a:pt x="0" y="21470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7870" y="4869307"/>
            <a:ext cx="242570" cy="130175"/>
          </a:xfrm>
          <a:custGeom>
            <a:avLst/>
            <a:gdLst/>
            <a:ahLst/>
            <a:cxnLst/>
            <a:rect l="l" t="t" r="r" b="b"/>
            <a:pathLst>
              <a:path w="242570" h="130175">
                <a:moveTo>
                  <a:pt x="0" y="106172"/>
                </a:moveTo>
                <a:lnTo>
                  <a:pt x="33003" y="118391"/>
                </a:lnTo>
                <a:lnTo>
                  <a:pt x="65663" y="127349"/>
                </a:lnTo>
                <a:lnTo>
                  <a:pt x="97635" y="129782"/>
                </a:lnTo>
                <a:lnTo>
                  <a:pt x="128574" y="122428"/>
                </a:lnTo>
                <a:lnTo>
                  <a:pt x="158250" y="103209"/>
                </a:lnTo>
                <a:lnTo>
                  <a:pt x="186891" y="74215"/>
                </a:lnTo>
                <a:lnTo>
                  <a:pt x="214844" y="38721"/>
                </a:lnTo>
                <a:lnTo>
                  <a:pt x="242455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3596" y="4462017"/>
            <a:ext cx="0" cy="751205"/>
          </a:xfrm>
          <a:custGeom>
            <a:avLst/>
            <a:gdLst/>
            <a:ahLst/>
            <a:cxnLst/>
            <a:rect l="l" t="t" r="r" b="b"/>
            <a:pathLst>
              <a:path h="751204">
                <a:moveTo>
                  <a:pt x="0" y="0"/>
                </a:moveTo>
                <a:lnTo>
                  <a:pt x="0" y="75082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8277" y="5110098"/>
            <a:ext cx="1116330" cy="0"/>
          </a:xfrm>
          <a:custGeom>
            <a:avLst/>
            <a:gdLst/>
            <a:ahLst/>
            <a:cxnLst/>
            <a:rect l="l" t="t" r="r" b="b"/>
            <a:pathLst>
              <a:path w="1116330">
                <a:moveTo>
                  <a:pt x="0" y="0"/>
                </a:moveTo>
                <a:lnTo>
                  <a:pt x="11161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6655" y="5230114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6814" y="5689523"/>
            <a:ext cx="8255" cy="785495"/>
          </a:xfrm>
          <a:custGeom>
            <a:avLst/>
            <a:gdLst/>
            <a:ahLst/>
            <a:cxnLst/>
            <a:rect l="l" t="t" r="r" b="b"/>
            <a:pathLst>
              <a:path w="8254" h="785495">
                <a:moveTo>
                  <a:pt x="8178" y="0"/>
                </a:moveTo>
                <a:lnTo>
                  <a:pt x="0" y="78526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1495" y="6371996"/>
            <a:ext cx="1116330" cy="0"/>
          </a:xfrm>
          <a:custGeom>
            <a:avLst/>
            <a:gdLst/>
            <a:ahLst/>
            <a:cxnLst/>
            <a:rect l="l" t="t" r="r" b="b"/>
            <a:pathLst>
              <a:path w="1116330">
                <a:moveTo>
                  <a:pt x="0" y="0"/>
                </a:moveTo>
                <a:lnTo>
                  <a:pt x="111619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85519" y="6454647"/>
            <a:ext cx="3041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2" baseline="-17361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1050" spc="-35" dirty="0">
                <a:solidFill>
                  <a:srgbClr val="C00000"/>
                </a:solidFill>
                <a:latin typeface="Tahoma"/>
                <a:cs typeface="Tahoma"/>
              </a:rPr>
              <a:t>-1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9854" y="5826480"/>
            <a:ext cx="369570" cy="215265"/>
          </a:xfrm>
          <a:custGeom>
            <a:avLst/>
            <a:gdLst/>
            <a:ahLst/>
            <a:cxnLst/>
            <a:rect l="l" t="t" r="r" b="b"/>
            <a:pathLst>
              <a:path w="369569" h="215264">
                <a:moveTo>
                  <a:pt x="0" y="214706"/>
                </a:moveTo>
                <a:lnTo>
                  <a:pt x="368947" y="214706"/>
                </a:lnTo>
                <a:lnTo>
                  <a:pt x="368947" y="0"/>
                </a:lnTo>
                <a:lnTo>
                  <a:pt x="0" y="0"/>
                </a:lnTo>
                <a:lnTo>
                  <a:pt x="0" y="21470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2719" y="5800344"/>
            <a:ext cx="242570" cy="130175"/>
          </a:xfrm>
          <a:custGeom>
            <a:avLst/>
            <a:gdLst/>
            <a:ahLst/>
            <a:cxnLst/>
            <a:rect l="l" t="t" r="r" b="b"/>
            <a:pathLst>
              <a:path w="242570" h="130175">
                <a:moveTo>
                  <a:pt x="0" y="106171"/>
                </a:moveTo>
                <a:lnTo>
                  <a:pt x="33003" y="118385"/>
                </a:lnTo>
                <a:lnTo>
                  <a:pt x="65663" y="127349"/>
                </a:lnTo>
                <a:lnTo>
                  <a:pt x="97635" y="129807"/>
                </a:lnTo>
                <a:lnTo>
                  <a:pt x="128574" y="122504"/>
                </a:lnTo>
                <a:lnTo>
                  <a:pt x="158252" y="103268"/>
                </a:lnTo>
                <a:lnTo>
                  <a:pt x="186896" y="74268"/>
                </a:lnTo>
                <a:lnTo>
                  <a:pt x="214849" y="38759"/>
                </a:lnTo>
                <a:lnTo>
                  <a:pt x="242455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96822" y="3226104"/>
            <a:ext cx="2997835" cy="1117600"/>
          </a:xfrm>
          <a:custGeom>
            <a:avLst/>
            <a:gdLst/>
            <a:ahLst/>
            <a:cxnLst/>
            <a:rect l="l" t="t" r="r" b="b"/>
            <a:pathLst>
              <a:path w="2997835" h="1117600">
                <a:moveTo>
                  <a:pt x="0" y="1117422"/>
                </a:moveTo>
                <a:lnTo>
                  <a:pt x="2997580" y="1117422"/>
                </a:lnTo>
                <a:lnTo>
                  <a:pt x="2997580" y="0"/>
                </a:lnTo>
                <a:lnTo>
                  <a:pt x="0" y="0"/>
                </a:lnTo>
                <a:lnTo>
                  <a:pt x="0" y="1117422"/>
                </a:lnTo>
                <a:close/>
              </a:path>
            </a:pathLst>
          </a:custGeom>
          <a:solidFill>
            <a:srgbClr val="55FF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76216" y="411860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706" y="10160"/>
                </a:lnTo>
                <a:lnTo>
                  <a:pt x="60706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5429" y="3462020"/>
            <a:ext cx="0" cy="656590"/>
          </a:xfrm>
          <a:custGeom>
            <a:avLst/>
            <a:gdLst/>
            <a:ahLst/>
            <a:cxnLst/>
            <a:rect l="l" t="t" r="r" b="b"/>
            <a:pathLst>
              <a:path h="656589">
                <a:moveTo>
                  <a:pt x="0" y="0"/>
                </a:moveTo>
                <a:lnTo>
                  <a:pt x="0" y="656590"/>
                </a:lnTo>
              </a:path>
            </a:pathLst>
          </a:custGeom>
          <a:ln w="229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76216" y="345185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59"/>
                </a:moveTo>
                <a:lnTo>
                  <a:pt x="60706" y="10159"/>
                </a:lnTo>
                <a:lnTo>
                  <a:pt x="60706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94483" y="411860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60"/>
                </a:moveTo>
                <a:lnTo>
                  <a:pt x="60706" y="10160"/>
                </a:lnTo>
                <a:lnTo>
                  <a:pt x="60706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05977" y="3462020"/>
            <a:ext cx="0" cy="656590"/>
          </a:xfrm>
          <a:custGeom>
            <a:avLst/>
            <a:gdLst/>
            <a:ahLst/>
            <a:cxnLst/>
            <a:rect l="l" t="t" r="r" b="b"/>
            <a:pathLst>
              <a:path h="656589">
                <a:moveTo>
                  <a:pt x="0" y="0"/>
                </a:moveTo>
                <a:lnTo>
                  <a:pt x="0" y="656590"/>
                </a:lnTo>
              </a:path>
            </a:pathLst>
          </a:custGeom>
          <a:ln w="229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94483" y="3451859"/>
            <a:ext cx="60960" cy="10160"/>
          </a:xfrm>
          <a:custGeom>
            <a:avLst/>
            <a:gdLst/>
            <a:ahLst/>
            <a:cxnLst/>
            <a:rect l="l" t="t" r="r" b="b"/>
            <a:pathLst>
              <a:path w="60960" h="10160">
                <a:moveTo>
                  <a:pt x="0" y="10159"/>
                </a:moveTo>
                <a:lnTo>
                  <a:pt x="60706" y="10159"/>
                </a:lnTo>
                <a:lnTo>
                  <a:pt x="60706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603247" y="3334003"/>
            <a:ext cx="134556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5915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R="335915" algn="r">
              <a:lnSpc>
                <a:spcPct val="100000"/>
              </a:lnSpc>
              <a:spcBef>
                <a:spcPts val="45"/>
              </a:spcBef>
              <a:tabLst>
                <a:tab pos="848360" algn="l"/>
              </a:tabLst>
            </a:pPr>
            <a:r>
              <a:rPr sz="1800" dirty="0">
                <a:latin typeface="Cambria Math"/>
                <a:cs typeface="Cambria Math"/>
              </a:rPr>
              <a:t>𝑇</a:t>
            </a:r>
            <a:r>
              <a:rPr sz="1800" spc="1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	</a:t>
            </a:r>
            <a:r>
              <a:rPr sz="2700" baseline="3086" dirty="0">
                <a:latin typeface="Cambria Math"/>
                <a:cs typeface="Cambria Math"/>
              </a:rPr>
              <a:t>0</a:t>
            </a:r>
            <a:endParaRPr sz="2700" baseline="3086">
              <a:latin typeface="Cambria Math"/>
              <a:cs typeface="Cambria Math"/>
            </a:endParaRPr>
          </a:p>
          <a:p>
            <a:pPr marL="556260">
              <a:lnSpc>
                <a:spcPct val="100000"/>
              </a:lnSpc>
              <a:spcBef>
                <a:spcPts val="220"/>
              </a:spcBef>
            </a:pPr>
            <a:r>
              <a:rPr sz="2700" spc="89" baseline="10802" dirty="0">
                <a:latin typeface="Cambria Math"/>
                <a:cs typeface="Cambria Math"/>
              </a:rPr>
              <a:t>−𝑥</a:t>
            </a:r>
            <a:r>
              <a:rPr sz="1300" spc="60" dirty="0">
                <a:latin typeface="Cambria Math"/>
                <a:cs typeface="Cambria Math"/>
              </a:rPr>
              <a:t>𝑤𝑚𝑖𝑛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25977" y="3334003"/>
            <a:ext cx="81597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ts val="2135"/>
              </a:lnSpc>
            </a:pP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R="5080" algn="ctr">
              <a:lnSpc>
                <a:spcPct val="100000"/>
              </a:lnSpc>
              <a:spcBef>
                <a:spcPts val="315"/>
              </a:spcBef>
            </a:pPr>
            <a:r>
              <a:rPr sz="2700" spc="82" baseline="10802" dirty="0">
                <a:latin typeface="Cambria Math"/>
                <a:cs typeface="Cambria Math"/>
              </a:rPr>
              <a:t>−𝑦</a:t>
            </a:r>
            <a:r>
              <a:rPr sz="1300" spc="55" dirty="0">
                <a:latin typeface="Cambria Math"/>
                <a:cs typeface="Cambria Math"/>
              </a:rPr>
              <a:t>𝑤𝑚𝑖𝑛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44264" y="3334003"/>
            <a:ext cx="139700" cy="835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135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ts val="2110"/>
              </a:lnSpc>
            </a:pPr>
            <a:r>
              <a:rPr sz="180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ts val="2135"/>
              </a:lnSpc>
            </a:pPr>
            <a:r>
              <a:rPr sz="180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496822" y="4414913"/>
            <a:ext cx="1897380" cy="1115695"/>
          </a:xfrm>
          <a:custGeom>
            <a:avLst/>
            <a:gdLst/>
            <a:ahLst/>
            <a:cxnLst/>
            <a:rect l="l" t="t" r="r" b="b"/>
            <a:pathLst>
              <a:path w="1897379" h="1115695">
                <a:moveTo>
                  <a:pt x="0" y="1115301"/>
                </a:moveTo>
                <a:lnTo>
                  <a:pt x="1897126" y="1115301"/>
                </a:lnTo>
                <a:lnTo>
                  <a:pt x="1897126" y="0"/>
                </a:lnTo>
                <a:lnTo>
                  <a:pt x="0" y="0"/>
                </a:lnTo>
                <a:lnTo>
                  <a:pt x="0" y="1115301"/>
                </a:lnTo>
                <a:close/>
              </a:path>
            </a:pathLst>
          </a:custGeom>
          <a:solidFill>
            <a:srgbClr val="55FF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80460" y="5306059"/>
            <a:ext cx="60960" cy="11430"/>
          </a:xfrm>
          <a:custGeom>
            <a:avLst/>
            <a:gdLst/>
            <a:ahLst/>
            <a:cxnLst/>
            <a:rect l="l" t="t" r="r" b="b"/>
            <a:pathLst>
              <a:path w="60960" h="11429">
                <a:moveTo>
                  <a:pt x="0" y="11429"/>
                </a:moveTo>
                <a:lnTo>
                  <a:pt x="60706" y="11429"/>
                </a:lnTo>
                <a:lnTo>
                  <a:pt x="60706" y="0"/>
                </a:lnTo>
                <a:lnTo>
                  <a:pt x="0" y="0"/>
                </a:lnTo>
                <a:lnTo>
                  <a:pt x="0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229673" y="4650740"/>
            <a:ext cx="0" cy="655320"/>
          </a:xfrm>
          <a:custGeom>
            <a:avLst/>
            <a:gdLst/>
            <a:ahLst/>
            <a:cxnLst/>
            <a:rect l="l" t="t" r="r" b="b"/>
            <a:pathLst>
              <a:path h="655320">
                <a:moveTo>
                  <a:pt x="0" y="0"/>
                </a:moveTo>
                <a:lnTo>
                  <a:pt x="0" y="655320"/>
                </a:lnTo>
              </a:path>
            </a:pathLst>
          </a:custGeom>
          <a:ln w="229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180460" y="4639309"/>
            <a:ext cx="60960" cy="11430"/>
          </a:xfrm>
          <a:custGeom>
            <a:avLst/>
            <a:gdLst/>
            <a:ahLst/>
            <a:cxnLst/>
            <a:rect l="l" t="t" r="r" b="b"/>
            <a:pathLst>
              <a:path w="60960" h="11429">
                <a:moveTo>
                  <a:pt x="0" y="11430"/>
                </a:moveTo>
                <a:lnTo>
                  <a:pt x="60706" y="11430"/>
                </a:lnTo>
                <a:lnTo>
                  <a:pt x="60706" y="0"/>
                </a:lnTo>
                <a:lnTo>
                  <a:pt x="0" y="0"/>
                </a:lnTo>
                <a:lnTo>
                  <a:pt x="0" y="11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071623" y="5306059"/>
            <a:ext cx="60960" cy="11430"/>
          </a:xfrm>
          <a:custGeom>
            <a:avLst/>
            <a:gdLst/>
            <a:ahLst/>
            <a:cxnLst/>
            <a:rect l="l" t="t" r="r" b="b"/>
            <a:pathLst>
              <a:path w="60960" h="11429">
                <a:moveTo>
                  <a:pt x="0" y="11429"/>
                </a:moveTo>
                <a:lnTo>
                  <a:pt x="60706" y="11429"/>
                </a:lnTo>
                <a:lnTo>
                  <a:pt x="60706" y="0"/>
                </a:lnTo>
                <a:lnTo>
                  <a:pt x="0" y="0"/>
                </a:lnTo>
                <a:lnTo>
                  <a:pt x="0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83117" y="4650740"/>
            <a:ext cx="0" cy="655320"/>
          </a:xfrm>
          <a:custGeom>
            <a:avLst/>
            <a:gdLst/>
            <a:ahLst/>
            <a:cxnLst/>
            <a:rect l="l" t="t" r="r" b="b"/>
            <a:pathLst>
              <a:path h="655320">
                <a:moveTo>
                  <a:pt x="0" y="0"/>
                </a:moveTo>
                <a:lnTo>
                  <a:pt x="0" y="655320"/>
                </a:lnTo>
              </a:path>
            </a:pathLst>
          </a:custGeom>
          <a:ln w="229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071623" y="4639309"/>
            <a:ext cx="60960" cy="11430"/>
          </a:xfrm>
          <a:custGeom>
            <a:avLst/>
            <a:gdLst/>
            <a:ahLst/>
            <a:cxnLst/>
            <a:rect l="l" t="t" r="r" b="b"/>
            <a:pathLst>
              <a:path w="60960" h="11429">
                <a:moveTo>
                  <a:pt x="0" y="11430"/>
                </a:moveTo>
                <a:lnTo>
                  <a:pt x="60706" y="11430"/>
                </a:lnTo>
                <a:lnTo>
                  <a:pt x="60706" y="0"/>
                </a:lnTo>
                <a:lnTo>
                  <a:pt x="0" y="0"/>
                </a:lnTo>
                <a:lnTo>
                  <a:pt x="0" y="11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471422" y="4522978"/>
            <a:ext cx="1948180" cy="88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36220" algn="r">
              <a:lnSpc>
                <a:spcPct val="100000"/>
              </a:lnSpc>
              <a:spcBef>
                <a:spcPts val="100"/>
              </a:spcBef>
              <a:tabLst>
                <a:tab pos="503555" algn="l"/>
                <a:tab pos="910590" algn="l"/>
              </a:tabLst>
            </a:pPr>
            <a:r>
              <a:rPr sz="1800" spc="-80" dirty="0">
                <a:latin typeface="Cambria Math"/>
                <a:cs typeface="Cambria Math"/>
              </a:rPr>
              <a:t>𝑆</a:t>
            </a:r>
            <a:r>
              <a:rPr sz="1950" spc="232" baseline="-14957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0	0</a:t>
            </a:r>
            <a:endParaRPr sz="1800">
              <a:latin typeface="Cambria Math"/>
              <a:cs typeface="Cambria Math"/>
            </a:endParaRPr>
          </a:p>
          <a:p>
            <a:pPr marR="236220" algn="r">
              <a:lnSpc>
                <a:spcPct val="100000"/>
              </a:lnSpc>
              <a:spcBef>
                <a:spcPts val="40"/>
              </a:spcBef>
              <a:tabLst>
                <a:tab pos="561975" algn="l"/>
                <a:tab pos="965835" algn="l"/>
                <a:tab pos="1424940" algn="l"/>
              </a:tabLst>
            </a:pPr>
            <a:r>
              <a:rPr sz="1800" dirty="0">
                <a:latin typeface="Cambria Math"/>
                <a:cs typeface="Cambria Math"/>
              </a:rPr>
              <a:t>𝑆</a:t>
            </a:r>
            <a:r>
              <a:rPr sz="1800" spc="1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	</a:t>
            </a:r>
            <a:r>
              <a:rPr sz="2700" baseline="1543" dirty="0">
                <a:latin typeface="Cambria Math"/>
                <a:cs typeface="Cambria Math"/>
              </a:rPr>
              <a:t>0	</a:t>
            </a:r>
            <a:r>
              <a:rPr sz="2700" spc="-120" baseline="1543" dirty="0">
                <a:latin typeface="Cambria Math"/>
                <a:cs typeface="Cambria Math"/>
              </a:rPr>
              <a:t>𝑆</a:t>
            </a:r>
            <a:r>
              <a:rPr sz="1950" spc="277" baseline="-14957" dirty="0">
                <a:latin typeface="Cambria Math"/>
                <a:cs typeface="Cambria Math"/>
              </a:rPr>
              <a:t>𝑦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2700" baseline="1543" dirty="0">
                <a:latin typeface="Cambria Math"/>
                <a:cs typeface="Cambria Math"/>
              </a:rPr>
              <a:t>0</a:t>
            </a:r>
            <a:endParaRPr sz="2700" baseline="1543">
              <a:latin typeface="Cambria Math"/>
              <a:cs typeface="Cambria Math"/>
            </a:endParaRPr>
          </a:p>
          <a:p>
            <a:pPr marR="236220" algn="r">
              <a:lnSpc>
                <a:spcPct val="100000"/>
              </a:lnSpc>
              <a:spcBef>
                <a:spcPts val="215"/>
              </a:spcBef>
              <a:tabLst>
                <a:tab pos="455295" algn="l"/>
                <a:tab pos="862330" algn="l"/>
              </a:tabLst>
            </a:pPr>
            <a:r>
              <a:rPr sz="1800" dirty="0">
                <a:latin typeface="Cambria Math"/>
                <a:cs typeface="Cambria Math"/>
              </a:rPr>
              <a:t>0	0	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475739" y="5597766"/>
            <a:ext cx="2801620" cy="1117600"/>
          </a:xfrm>
          <a:custGeom>
            <a:avLst/>
            <a:gdLst/>
            <a:ahLst/>
            <a:cxnLst/>
            <a:rect l="l" t="t" r="r" b="b"/>
            <a:pathLst>
              <a:path w="2801620" h="1117600">
                <a:moveTo>
                  <a:pt x="0" y="1117422"/>
                </a:moveTo>
                <a:lnTo>
                  <a:pt x="2801239" y="1117422"/>
                </a:lnTo>
                <a:lnTo>
                  <a:pt x="2801239" y="0"/>
                </a:lnTo>
                <a:lnTo>
                  <a:pt x="0" y="0"/>
                </a:lnTo>
                <a:lnTo>
                  <a:pt x="0" y="1117422"/>
                </a:lnTo>
                <a:close/>
              </a:path>
            </a:pathLst>
          </a:custGeom>
          <a:solidFill>
            <a:srgbClr val="55FF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059428" y="6489700"/>
            <a:ext cx="60960" cy="11430"/>
          </a:xfrm>
          <a:custGeom>
            <a:avLst/>
            <a:gdLst/>
            <a:ahLst/>
            <a:cxnLst/>
            <a:rect l="l" t="t" r="r" b="b"/>
            <a:pathLst>
              <a:path w="60960" h="11429">
                <a:moveTo>
                  <a:pt x="0" y="11429"/>
                </a:moveTo>
                <a:lnTo>
                  <a:pt x="60706" y="11429"/>
                </a:lnTo>
                <a:lnTo>
                  <a:pt x="60706" y="0"/>
                </a:lnTo>
                <a:lnTo>
                  <a:pt x="0" y="0"/>
                </a:lnTo>
                <a:lnTo>
                  <a:pt x="0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108640" y="5834379"/>
            <a:ext cx="0" cy="655320"/>
          </a:xfrm>
          <a:custGeom>
            <a:avLst/>
            <a:gdLst/>
            <a:ahLst/>
            <a:cxnLst/>
            <a:rect l="l" t="t" r="r" b="b"/>
            <a:pathLst>
              <a:path h="655320">
                <a:moveTo>
                  <a:pt x="0" y="0"/>
                </a:moveTo>
                <a:lnTo>
                  <a:pt x="0" y="655320"/>
                </a:lnTo>
              </a:path>
            </a:pathLst>
          </a:custGeom>
          <a:ln w="229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059428" y="5822950"/>
            <a:ext cx="60960" cy="11430"/>
          </a:xfrm>
          <a:custGeom>
            <a:avLst/>
            <a:gdLst/>
            <a:ahLst/>
            <a:cxnLst/>
            <a:rect l="l" t="t" r="r" b="b"/>
            <a:pathLst>
              <a:path w="60960" h="11429">
                <a:moveTo>
                  <a:pt x="0" y="11429"/>
                </a:moveTo>
                <a:lnTo>
                  <a:pt x="60706" y="11429"/>
                </a:lnTo>
                <a:lnTo>
                  <a:pt x="60706" y="0"/>
                </a:lnTo>
                <a:lnTo>
                  <a:pt x="0" y="0"/>
                </a:lnTo>
                <a:lnTo>
                  <a:pt x="0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06573" y="6489700"/>
            <a:ext cx="60960" cy="11430"/>
          </a:xfrm>
          <a:custGeom>
            <a:avLst/>
            <a:gdLst/>
            <a:ahLst/>
            <a:cxnLst/>
            <a:rect l="l" t="t" r="r" b="b"/>
            <a:pathLst>
              <a:path w="60960" h="11429">
                <a:moveTo>
                  <a:pt x="0" y="11429"/>
                </a:moveTo>
                <a:lnTo>
                  <a:pt x="60832" y="11429"/>
                </a:lnTo>
                <a:lnTo>
                  <a:pt x="60832" y="0"/>
                </a:lnTo>
                <a:lnTo>
                  <a:pt x="0" y="0"/>
                </a:lnTo>
                <a:lnTo>
                  <a:pt x="0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18130" y="5834379"/>
            <a:ext cx="0" cy="655320"/>
          </a:xfrm>
          <a:custGeom>
            <a:avLst/>
            <a:gdLst/>
            <a:ahLst/>
            <a:cxnLst/>
            <a:rect l="l" t="t" r="r" b="b"/>
            <a:pathLst>
              <a:path h="655320">
                <a:moveTo>
                  <a:pt x="0" y="0"/>
                </a:moveTo>
                <a:lnTo>
                  <a:pt x="0" y="655320"/>
                </a:lnTo>
              </a:path>
            </a:pathLst>
          </a:custGeom>
          <a:ln w="231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306573" y="5822950"/>
            <a:ext cx="60960" cy="11430"/>
          </a:xfrm>
          <a:custGeom>
            <a:avLst/>
            <a:gdLst/>
            <a:ahLst/>
            <a:cxnLst/>
            <a:rect l="l" t="t" r="r" b="b"/>
            <a:pathLst>
              <a:path w="60960" h="11429">
                <a:moveTo>
                  <a:pt x="0" y="11429"/>
                </a:moveTo>
                <a:lnTo>
                  <a:pt x="60832" y="11429"/>
                </a:lnTo>
                <a:lnTo>
                  <a:pt x="60832" y="0"/>
                </a:lnTo>
                <a:lnTo>
                  <a:pt x="0" y="0"/>
                </a:lnTo>
                <a:lnTo>
                  <a:pt x="0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581403" y="5706109"/>
            <a:ext cx="1366520" cy="882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987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1</a:t>
            </a:r>
          </a:p>
          <a:p>
            <a:pPr marR="229870" algn="r">
              <a:lnSpc>
                <a:spcPct val="100000"/>
              </a:lnSpc>
              <a:spcBef>
                <a:spcPts val="45"/>
              </a:spcBef>
              <a:tabLst>
                <a:tab pos="975994" algn="l"/>
              </a:tabLst>
            </a:pPr>
            <a:r>
              <a:rPr sz="1800" spc="100" dirty="0">
                <a:latin typeface="Cambria Math"/>
                <a:cs typeface="Cambria Math"/>
              </a:rPr>
              <a:t>𝑇</a:t>
            </a:r>
            <a:r>
              <a:rPr sz="1950" spc="-44" baseline="27777" dirty="0">
                <a:latin typeface="Cambria Math"/>
                <a:cs typeface="Cambria Math"/>
              </a:rPr>
              <a:t>−</a:t>
            </a:r>
            <a:r>
              <a:rPr sz="1950" spc="60" baseline="27777" dirty="0">
                <a:latin typeface="Cambria Math"/>
                <a:cs typeface="Cambria Math"/>
              </a:rPr>
              <a:t>1</a:t>
            </a:r>
            <a:r>
              <a:rPr sz="1950" baseline="27777" dirty="0">
                <a:latin typeface="Cambria Math"/>
                <a:cs typeface="Cambria Math"/>
              </a:rPr>
              <a:t> </a:t>
            </a:r>
            <a:r>
              <a:rPr sz="1950" spc="-7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	</a:t>
            </a:r>
            <a:r>
              <a:rPr sz="2700" baseline="3086" dirty="0">
                <a:latin typeface="Cambria Math"/>
                <a:cs typeface="Cambria Math"/>
              </a:rPr>
              <a:t>0</a:t>
            </a:r>
          </a:p>
          <a:p>
            <a:pPr marL="790575">
              <a:lnSpc>
                <a:spcPct val="100000"/>
              </a:lnSpc>
              <a:spcBef>
                <a:spcPts val="215"/>
              </a:spcBef>
            </a:pPr>
            <a:r>
              <a:rPr sz="2700" spc="89" baseline="10802" dirty="0">
                <a:latin typeface="Cambria Math"/>
                <a:cs typeface="Cambria Math"/>
              </a:rPr>
              <a:t>𝑥</a:t>
            </a:r>
            <a:r>
              <a:rPr sz="1300" spc="60" dirty="0">
                <a:latin typeface="Cambria Math"/>
                <a:cs typeface="Cambria Math"/>
              </a:rPr>
              <a:t>𝑣𝑚𝑖𝑛</a:t>
            </a:r>
            <a:endParaRPr sz="1300" dirty="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11245" y="5706109"/>
            <a:ext cx="981075" cy="882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ts val="2135"/>
              </a:lnSpc>
              <a:spcBef>
                <a:spcPts val="100"/>
              </a:spcBef>
              <a:tabLst>
                <a:tab pos="566420" algn="l"/>
              </a:tabLst>
            </a:pPr>
            <a:r>
              <a:rPr sz="1800" dirty="0">
                <a:latin typeface="Cambria Math"/>
                <a:cs typeface="Cambria Math"/>
              </a:rPr>
              <a:t>0	0</a:t>
            </a:r>
          </a:p>
          <a:p>
            <a:pPr marR="30480" algn="r">
              <a:lnSpc>
                <a:spcPts val="2135"/>
              </a:lnSpc>
              <a:tabLst>
                <a:tab pos="566420" algn="l"/>
              </a:tabLst>
            </a:pPr>
            <a:r>
              <a:rPr sz="1800" dirty="0">
                <a:latin typeface="Cambria Math"/>
                <a:cs typeface="Cambria Math"/>
              </a:rPr>
              <a:t>1	0</a:t>
            </a:r>
          </a:p>
          <a:p>
            <a:pPr marR="30480" algn="r">
              <a:lnSpc>
                <a:spcPct val="100000"/>
              </a:lnSpc>
              <a:spcBef>
                <a:spcPts val="310"/>
              </a:spcBef>
              <a:tabLst>
                <a:tab pos="777875" algn="l"/>
              </a:tabLst>
            </a:pPr>
            <a:r>
              <a:rPr sz="2700" spc="-82" baseline="10802" dirty="0">
                <a:latin typeface="Cambria Math"/>
                <a:cs typeface="Cambria Math"/>
              </a:rPr>
              <a:t>𝑦</a:t>
            </a:r>
            <a:r>
              <a:rPr sz="1300" spc="140" dirty="0">
                <a:latin typeface="Cambria Math"/>
                <a:cs typeface="Cambria Math"/>
              </a:rPr>
              <a:t>𝑣𝑚𝑖</a:t>
            </a:r>
            <a:r>
              <a:rPr sz="1300" spc="145" dirty="0">
                <a:latin typeface="Cambria Math"/>
                <a:cs typeface="Cambria Math"/>
              </a:rPr>
              <a:t>𝑛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2700" baseline="10802" dirty="0">
                <a:latin typeface="Cambria Math"/>
                <a:cs typeface="Cambria Math"/>
              </a:rPr>
              <a:t>1</a:t>
            </a:r>
          </a:p>
        </p:txBody>
      </p:sp>
      <p:sp>
        <p:nvSpPr>
          <p:cNvPr id="47" name="object 47"/>
          <p:cNvSpPr/>
          <p:nvPr/>
        </p:nvSpPr>
        <p:spPr>
          <a:xfrm>
            <a:off x="4537075" y="5578131"/>
            <a:ext cx="4572000" cy="1008380"/>
          </a:xfrm>
          <a:custGeom>
            <a:avLst/>
            <a:gdLst/>
            <a:ahLst/>
            <a:cxnLst/>
            <a:rect l="l" t="t" r="r" b="b"/>
            <a:pathLst>
              <a:path w="4572000" h="1008379">
                <a:moveTo>
                  <a:pt x="0" y="1008037"/>
                </a:moveTo>
                <a:lnTo>
                  <a:pt x="4572000" y="1008037"/>
                </a:lnTo>
                <a:lnTo>
                  <a:pt x="4572000" y="0"/>
                </a:lnTo>
                <a:lnTo>
                  <a:pt x="0" y="0"/>
                </a:lnTo>
                <a:lnTo>
                  <a:pt x="0" y="1008037"/>
                </a:lnTo>
                <a:close/>
              </a:path>
            </a:pathLst>
          </a:custGeom>
          <a:solidFill>
            <a:srgbClr val="55FF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780534" y="5938520"/>
            <a:ext cx="7499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spc="15" dirty="0">
                <a:latin typeface="Cambria Math"/>
                <a:cs typeface="Cambria Math"/>
              </a:rPr>
              <a:t>𝑇𝑆𝑇</a:t>
            </a:r>
            <a:r>
              <a:rPr sz="1500" spc="22" baseline="27777" dirty="0">
                <a:latin typeface="Cambria Math"/>
                <a:cs typeface="Cambria Math"/>
              </a:rPr>
              <a:t>−1</a:t>
            </a:r>
            <a:r>
              <a:rPr sz="1500" spc="262" baseline="27777" dirty="0">
                <a:latin typeface="Cambria Math"/>
                <a:cs typeface="Cambria Math"/>
              </a:rPr>
              <a:t> </a:t>
            </a:r>
            <a:r>
              <a:rPr sz="1400" spc="-5" dirty="0">
                <a:latin typeface="Cambria Math"/>
                <a:cs typeface="Cambria Math"/>
              </a:rPr>
              <a:t>=</a:t>
            </a:r>
            <a:endParaRPr sz="1400" dirty="0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757793" y="6393179"/>
            <a:ext cx="48895" cy="10160"/>
          </a:xfrm>
          <a:custGeom>
            <a:avLst/>
            <a:gdLst/>
            <a:ahLst/>
            <a:cxnLst/>
            <a:rect l="l" t="t" r="r" b="b"/>
            <a:pathLst>
              <a:path w="48895" h="10160">
                <a:moveTo>
                  <a:pt x="0" y="10160"/>
                </a:moveTo>
                <a:lnTo>
                  <a:pt x="48895" y="10160"/>
                </a:lnTo>
                <a:lnTo>
                  <a:pt x="4889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797670" y="5760720"/>
            <a:ext cx="0" cy="632460"/>
          </a:xfrm>
          <a:custGeom>
            <a:avLst/>
            <a:gdLst/>
            <a:ahLst/>
            <a:cxnLst/>
            <a:rect l="l" t="t" r="r" b="b"/>
            <a:pathLst>
              <a:path h="632460">
                <a:moveTo>
                  <a:pt x="0" y="0"/>
                </a:moveTo>
                <a:lnTo>
                  <a:pt x="0" y="632459"/>
                </a:lnTo>
              </a:path>
            </a:pathLst>
          </a:custGeom>
          <a:ln w="1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757793" y="5751829"/>
            <a:ext cx="48895" cy="8890"/>
          </a:xfrm>
          <a:custGeom>
            <a:avLst/>
            <a:gdLst/>
            <a:ahLst/>
            <a:cxnLst/>
            <a:rect l="l" t="t" r="r" b="b"/>
            <a:pathLst>
              <a:path w="48895" h="8889">
                <a:moveTo>
                  <a:pt x="0" y="8890"/>
                </a:moveTo>
                <a:lnTo>
                  <a:pt x="48895" y="8890"/>
                </a:lnTo>
                <a:lnTo>
                  <a:pt x="48895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561838" y="6393179"/>
            <a:ext cx="48895" cy="10160"/>
          </a:xfrm>
          <a:custGeom>
            <a:avLst/>
            <a:gdLst/>
            <a:ahLst/>
            <a:cxnLst/>
            <a:rect l="l" t="t" r="r" b="b"/>
            <a:pathLst>
              <a:path w="48895" h="10160">
                <a:moveTo>
                  <a:pt x="0" y="10160"/>
                </a:moveTo>
                <a:lnTo>
                  <a:pt x="48895" y="10160"/>
                </a:lnTo>
                <a:lnTo>
                  <a:pt x="48895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70854" y="5760720"/>
            <a:ext cx="0" cy="632460"/>
          </a:xfrm>
          <a:custGeom>
            <a:avLst/>
            <a:gdLst/>
            <a:ahLst/>
            <a:cxnLst/>
            <a:rect l="l" t="t" r="r" b="b"/>
            <a:pathLst>
              <a:path h="632460">
                <a:moveTo>
                  <a:pt x="0" y="0"/>
                </a:moveTo>
                <a:lnTo>
                  <a:pt x="0" y="632459"/>
                </a:lnTo>
              </a:path>
            </a:pathLst>
          </a:custGeom>
          <a:ln w="1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561838" y="5751829"/>
            <a:ext cx="48895" cy="8890"/>
          </a:xfrm>
          <a:custGeom>
            <a:avLst/>
            <a:gdLst/>
            <a:ahLst/>
            <a:cxnLst/>
            <a:rect l="l" t="t" r="r" b="b"/>
            <a:pathLst>
              <a:path w="48895" h="8889">
                <a:moveTo>
                  <a:pt x="0" y="8890"/>
                </a:moveTo>
                <a:lnTo>
                  <a:pt x="48895" y="8890"/>
                </a:lnTo>
                <a:lnTo>
                  <a:pt x="48895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576823" y="5690870"/>
            <a:ext cx="1405255" cy="727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0395" marR="613410" algn="ctr">
              <a:lnSpc>
                <a:spcPct val="100000"/>
              </a:lnSpc>
              <a:spcBef>
                <a:spcPts val="95"/>
              </a:spcBef>
            </a:pPr>
            <a:r>
              <a:rPr sz="1400" spc="-70" dirty="0">
                <a:latin typeface="Cambria Math"/>
                <a:cs typeface="Cambria Math"/>
              </a:rPr>
              <a:t>𝑆</a:t>
            </a:r>
            <a:r>
              <a:rPr sz="1500" spc="120" baseline="-16666" dirty="0">
                <a:latin typeface="Cambria Math"/>
                <a:cs typeface="Cambria Math"/>
              </a:rPr>
              <a:t>𝑥  </a:t>
            </a:r>
            <a:r>
              <a:rPr sz="1400" spc="-5" dirty="0">
                <a:latin typeface="Cambria Math"/>
                <a:cs typeface="Cambria Math"/>
              </a:rPr>
              <a:t>0</a:t>
            </a:r>
            <a:endParaRPr sz="1400" dirty="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2100" spc="67" baseline="11904" dirty="0">
                <a:latin typeface="Cambria Math"/>
                <a:cs typeface="Cambria Math"/>
              </a:rPr>
              <a:t>𝑥</a:t>
            </a:r>
            <a:r>
              <a:rPr sz="1000" spc="45" dirty="0">
                <a:latin typeface="Cambria Math"/>
                <a:cs typeface="Cambria Math"/>
              </a:rPr>
              <a:t>𝑣𝑚𝑖𝑛 </a:t>
            </a:r>
            <a:r>
              <a:rPr sz="2100" spc="-7" baseline="11904" dirty="0">
                <a:latin typeface="Cambria Math"/>
                <a:cs typeface="Cambria Math"/>
              </a:rPr>
              <a:t>− </a:t>
            </a:r>
            <a:r>
              <a:rPr sz="2100" spc="89" baseline="11904" dirty="0">
                <a:latin typeface="Cambria Math"/>
                <a:cs typeface="Cambria Math"/>
              </a:rPr>
              <a:t>𝑥</a:t>
            </a:r>
            <a:r>
              <a:rPr sz="1000" spc="60" dirty="0">
                <a:latin typeface="Cambria Math"/>
                <a:cs typeface="Cambria Math"/>
              </a:rPr>
              <a:t>𝑤𝑚𝑖𝑛</a:t>
            </a:r>
            <a:r>
              <a:rPr sz="2100" spc="89" baseline="11904" dirty="0">
                <a:latin typeface="Cambria Math"/>
                <a:cs typeface="Cambria Math"/>
              </a:rPr>
              <a:t>.</a:t>
            </a:r>
            <a:r>
              <a:rPr sz="2100" spc="-359" baseline="11904" dirty="0">
                <a:latin typeface="Cambria Math"/>
                <a:cs typeface="Cambria Math"/>
              </a:rPr>
              <a:t> </a:t>
            </a:r>
            <a:r>
              <a:rPr sz="2100" baseline="11904" dirty="0">
                <a:latin typeface="Cambria Math"/>
                <a:cs typeface="Cambria Math"/>
              </a:rPr>
              <a:t>𝑆</a:t>
            </a:r>
            <a:r>
              <a:rPr sz="1000" dirty="0">
                <a:latin typeface="Cambria Math"/>
                <a:cs typeface="Cambria Math"/>
              </a:rPr>
              <a:t>𝑥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7093204" y="5690870"/>
            <a:ext cx="1412875" cy="727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10" dirty="0">
                <a:latin typeface="Cambria Math"/>
                <a:cs typeface="Cambria Math"/>
              </a:rPr>
              <a:t>𝑆</a:t>
            </a:r>
            <a:r>
              <a:rPr sz="1500" spc="15" baseline="-16666" dirty="0">
                <a:latin typeface="Cambria Math"/>
                <a:cs typeface="Cambria Math"/>
              </a:rPr>
              <a:t>𝑦</a:t>
            </a:r>
            <a:endParaRPr sz="1500" baseline="-16666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100" spc="60" baseline="11904" dirty="0">
                <a:latin typeface="Cambria Math"/>
                <a:cs typeface="Cambria Math"/>
              </a:rPr>
              <a:t>𝑦</a:t>
            </a:r>
            <a:r>
              <a:rPr sz="1000" spc="40" dirty="0">
                <a:latin typeface="Cambria Math"/>
                <a:cs typeface="Cambria Math"/>
              </a:rPr>
              <a:t>𝑣𝑚𝑖𝑛 </a:t>
            </a:r>
            <a:r>
              <a:rPr sz="2100" spc="-7" baseline="11904" dirty="0">
                <a:latin typeface="Cambria Math"/>
                <a:cs typeface="Cambria Math"/>
              </a:rPr>
              <a:t>− </a:t>
            </a:r>
            <a:r>
              <a:rPr sz="2100" spc="82" baseline="11904" dirty="0">
                <a:latin typeface="Cambria Math"/>
                <a:cs typeface="Cambria Math"/>
              </a:rPr>
              <a:t>𝑦</a:t>
            </a:r>
            <a:r>
              <a:rPr sz="1000" spc="55" dirty="0">
                <a:latin typeface="Cambria Math"/>
                <a:cs typeface="Cambria Math"/>
              </a:rPr>
              <a:t>𝑤𝑚𝑖𝑛</a:t>
            </a:r>
            <a:r>
              <a:rPr sz="2100" spc="82" baseline="11904" dirty="0">
                <a:latin typeface="Cambria Math"/>
                <a:cs typeface="Cambria Math"/>
              </a:rPr>
              <a:t>.</a:t>
            </a:r>
            <a:r>
              <a:rPr sz="2100" spc="-345" baseline="11904" dirty="0">
                <a:latin typeface="Cambria Math"/>
                <a:cs typeface="Cambria Math"/>
              </a:rPr>
              <a:t> </a:t>
            </a:r>
            <a:r>
              <a:rPr sz="2100" spc="15" baseline="11904" dirty="0">
                <a:latin typeface="Cambria Math"/>
                <a:cs typeface="Cambria Math"/>
              </a:rPr>
              <a:t>𝑆</a:t>
            </a:r>
            <a:r>
              <a:rPr sz="1000" spc="10" dirty="0">
                <a:latin typeface="Cambria Math"/>
                <a:cs typeface="Cambria Math"/>
              </a:rPr>
              <a:t>𝑦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643619" y="5690870"/>
            <a:ext cx="123825" cy="690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spc="-5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956939" y="977091"/>
            <a:ext cx="5162025" cy="1562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408165" y="3020479"/>
            <a:ext cx="793750" cy="551180"/>
          </a:xfrm>
          <a:custGeom>
            <a:avLst/>
            <a:gdLst/>
            <a:ahLst/>
            <a:cxnLst/>
            <a:rect l="l" t="t" r="r" b="b"/>
            <a:pathLst>
              <a:path w="793750" h="551179">
                <a:moveTo>
                  <a:pt x="0" y="550760"/>
                </a:moveTo>
                <a:lnTo>
                  <a:pt x="793597" y="550760"/>
                </a:lnTo>
                <a:lnTo>
                  <a:pt x="793597" y="0"/>
                </a:lnTo>
                <a:lnTo>
                  <a:pt x="0" y="0"/>
                </a:lnTo>
                <a:lnTo>
                  <a:pt x="0" y="550760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420992" y="3020441"/>
            <a:ext cx="587375" cy="405130"/>
          </a:xfrm>
          <a:custGeom>
            <a:avLst/>
            <a:gdLst/>
            <a:ahLst/>
            <a:cxnLst/>
            <a:rect l="l" t="t" r="r" b="b"/>
            <a:pathLst>
              <a:path w="587375" h="405129">
                <a:moveTo>
                  <a:pt x="0" y="330454"/>
                </a:moveTo>
                <a:lnTo>
                  <a:pt x="45748" y="352835"/>
                </a:lnTo>
                <a:lnTo>
                  <a:pt x="91338" y="373326"/>
                </a:lnTo>
                <a:lnTo>
                  <a:pt x="136613" y="390036"/>
                </a:lnTo>
                <a:lnTo>
                  <a:pt x="181415" y="401074"/>
                </a:lnTo>
                <a:lnTo>
                  <a:pt x="225586" y="404550"/>
                </a:lnTo>
                <a:lnTo>
                  <a:pt x="268968" y="398574"/>
                </a:lnTo>
                <a:lnTo>
                  <a:pt x="311404" y="381254"/>
                </a:lnTo>
                <a:lnTo>
                  <a:pt x="369157" y="336092"/>
                </a:lnTo>
                <a:lnTo>
                  <a:pt x="397365" y="305415"/>
                </a:lnTo>
                <a:lnTo>
                  <a:pt x="425198" y="270205"/>
                </a:lnTo>
                <a:lnTo>
                  <a:pt x="452707" y="231108"/>
                </a:lnTo>
                <a:lnTo>
                  <a:pt x="479946" y="188772"/>
                </a:lnTo>
                <a:lnTo>
                  <a:pt x="506967" y="143846"/>
                </a:lnTo>
                <a:lnTo>
                  <a:pt x="533822" y="96977"/>
                </a:lnTo>
                <a:lnTo>
                  <a:pt x="560565" y="48812"/>
                </a:lnTo>
                <a:lnTo>
                  <a:pt x="587248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977382" y="2708910"/>
            <a:ext cx="0" cy="1278255"/>
          </a:xfrm>
          <a:custGeom>
            <a:avLst/>
            <a:gdLst/>
            <a:ahLst/>
            <a:cxnLst/>
            <a:rect l="l" t="t" r="r" b="b"/>
            <a:pathLst>
              <a:path h="1278254">
                <a:moveTo>
                  <a:pt x="0" y="0"/>
                </a:moveTo>
                <a:lnTo>
                  <a:pt x="0" y="127812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892038" y="3884295"/>
            <a:ext cx="1920875" cy="0"/>
          </a:xfrm>
          <a:custGeom>
            <a:avLst/>
            <a:gdLst/>
            <a:ahLst/>
            <a:cxnLst/>
            <a:rect l="l" t="t" r="r" b="b"/>
            <a:pathLst>
              <a:path w="1920875">
                <a:moveTo>
                  <a:pt x="0" y="0"/>
                </a:moveTo>
                <a:lnTo>
                  <a:pt x="192036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520180" y="4015740"/>
            <a:ext cx="7442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ahoma"/>
                <a:cs typeface="Tahoma"/>
              </a:rPr>
              <a:t>Window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907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1053" y="206248"/>
            <a:ext cx="60782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Window to Viewport </a:t>
            </a:r>
            <a:r>
              <a:rPr sz="3200" spc="-10" dirty="0">
                <a:solidFill>
                  <a:srgbClr val="000000"/>
                </a:solidFill>
              </a:rPr>
              <a:t>Mapping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218946" y="3433317"/>
            <a:ext cx="55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spc="-5" dirty="0">
                <a:solidFill>
                  <a:srgbClr val="001F5F"/>
                </a:solidFill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7120" y="3454907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Tahoma"/>
                <a:cs typeface="Tahoma"/>
              </a:rPr>
              <a:t>x</a:t>
            </a:r>
            <a:r>
              <a:rPr sz="1200" spc="-5" dirty="0">
                <a:latin typeface="Tahoma"/>
                <a:cs typeface="Tahoma"/>
              </a:rPr>
              <a:t>wmax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070" y="3292602"/>
            <a:ext cx="3384550" cy="0"/>
          </a:xfrm>
          <a:custGeom>
            <a:avLst/>
            <a:gdLst/>
            <a:ahLst/>
            <a:cxnLst/>
            <a:rect l="l" t="t" r="r" b="b"/>
            <a:pathLst>
              <a:path w="3384550">
                <a:moveTo>
                  <a:pt x="0" y="0"/>
                </a:moveTo>
                <a:lnTo>
                  <a:pt x="338436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8611" y="1608708"/>
            <a:ext cx="1905" cy="1921510"/>
          </a:xfrm>
          <a:custGeom>
            <a:avLst/>
            <a:gdLst/>
            <a:ahLst/>
            <a:cxnLst/>
            <a:rect l="l" t="t" r="r" b="b"/>
            <a:pathLst>
              <a:path w="1904" h="1921510">
                <a:moveTo>
                  <a:pt x="1549" y="0"/>
                </a:moveTo>
                <a:lnTo>
                  <a:pt x="0" y="192100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806" y="2735834"/>
            <a:ext cx="55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964" y="213055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502" y="2263140"/>
            <a:ext cx="422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wmax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64741" y="2283447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77696" y="2257298"/>
            <a:ext cx="701675" cy="338455"/>
          </a:xfrm>
          <a:custGeom>
            <a:avLst/>
            <a:gdLst/>
            <a:ahLst/>
            <a:cxnLst/>
            <a:rect l="l" t="t" r="r" b="b"/>
            <a:pathLst>
              <a:path w="701675" h="338455">
                <a:moveTo>
                  <a:pt x="0" y="276478"/>
                </a:moveTo>
                <a:lnTo>
                  <a:pt x="47800" y="292923"/>
                </a:lnTo>
                <a:lnTo>
                  <a:pt x="95486" y="308308"/>
                </a:lnTo>
                <a:lnTo>
                  <a:pt x="142930" y="321573"/>
                </a:lnTo>
                <a:lnTo>
                  <a:pt x="190007" y="331660"/>
                </a:lnTo>
                <a:lnTo>
                  <a:pt x="236590" y="337508"/>
                </a:lnTo>
                <a:lnTo>
                  <a:pt x="282553" y="338058"/>
                </a:lnTo>
                <a:lnTo>
                  <a:pt x="327768" y="332249"/>
                </a:lnTo>
                <a:lnTo>
                  <a:pt x="372109" y="319024"/>
                </a:lnTo>
                <a:lnTo>
                  <a:pt x="410718" y="300436"/>
                </a:lnTo>
                <a:lnTo>
                  <a:pt x="448624" y="275902"/>
                </a:lnTo>
                <a:lnTo>
                  <a:pt x="485916" y="246163"/>
                </a:lnTo>
                <a:lnTo>
                  <a:pt x="522680" y="211962"/>
                </a:lnTo>
                <a:lnTo>
                  <a:pt x="559006" y="174041"/>
                </a:lnTo>
                <a:lnTo>
                  <a:pt x="594980" y="133143"/>
                </a:lnTo>
                <a:lnTo>
                  <a:pt x="630691" y="90008"/>
                </a:lnTo>
                <a:lnTo>
                  <a:pt x="666227" y="45379"/>
                </a:lnTo>
                <a:lnTo>
                  <a:pt x="701674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32685" y="2842514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64741" y="2842514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8611" y="2832354"/>
            <a:ext cx="668020" cy="0"/>
          </a:xfrm>
          <a:custGeom>
            <a:avLst/>
            <a:gdLst/>
            <a:ahLst/>
            <a:cxnLst/>
            <a:rect l="l" t="t" r="r" b="b"/>
            <a:pathLst>
              <a:path w="668019">
                <a:moveTo>
                  <a:pt x="66762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6546" y="2283841"/>
            <a:ext cx="668020" cy="0"/>
          </a:xfrm>
          <a:custGeom>
            <a:avLst/>
            <a:gdLst/>
            <a:ahLst/>
            <a:cxnLst/>
            <a:rect l="l" t="t" r="r" b="b"/>
            <a:pathLst>
              <a:path w="668019">
                <a:moveTo>
                  <a:pt x="66762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15511" y="3272282"/>
            <a:ext cx="139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0520" y="1673352"/>
            <a:ext cx="321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Y</a:t>
            </a:r>
            <a:r>
              <a:rPr sz="1800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91834" y="3712717"/>
            <a:ext cx="514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dirty="0">
                <a:solidFill>
                  <a:srgbClr val="001F5F"/>
                </a:solidFill>
                <a:latin typeface="Tahoma"/>
                <a:cs typeface="Tahoma"/>
              </a:rPr>
              <a:t>vmin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30007" y="3734307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Tahoma"/>
                <a:cs typeface="Tahoma"/>
              </a:rPr>
              <a:t>x</a:t>
            </a:r>
            <a:r>
              <a:rPr sz="1200" dirty="0">
                <a:latin typeface="Tahoma"/>
                <a:cs typeface="Tahoma"/>
              </a:rPr>
              <a:t>vmax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192521" y="3572128"/>
            <a:ext cx="3384550" cy="0"/>
          </a:xfrm>
          <a:custGeom>
            <a:avLst/>
            <a:gdLst/>
            <a:ahLst/>
            <a:cxnLst/>
            <a:rect l="l" t="t" r="r" b="b"/>
            <a:pathLst>
              <a:path w="3384550">
                <a:moveTo>
                  <a:pt x="0" y="0"/>
                </a:moveTo>
                <a:lnTo>
                  <a:pt x="338442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02629" y="1888235"/>
            <a:ext cx="3175" cy="1943100"/>
          </a:xfrm>
          <a:custGeom>
            <a:avLst/>
            <a:gdLst/>
            <a:ahLst/>
            <a:cxnLst/>
            <a:rect l="l" t="t" r="r" b="b"/>
            <a:pathLst>
              <a:path w="3175" h="1943100">
                <a:moveTo>
                  <a:pt x="0" y="0"/>
                </a:moveTo>
                <a:lnTo>
                  <a:pt x="2667" y="19425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37248" y="2562974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50076" y="2536825"/>
            <a:ext cx="702310" cy="338455"/>
          </a:xfrm>
          <a:custGeom>
            <a:avLst/>
            <a:gdLst/>
            <a:ahLst/>
            <a:cxnLst/>
            <a:rect l="l" t="t" r="r" b="b"/>
            <a:pathLst>
              <a:path w="702309" h="338455">
                <a:moveTo>
                  <a:pt x="0" y="276478"/>
                </a:moveTo>
                <a:lnTo>
                  <a:pt x="47842" y="292923"/>
                </a:lnTo>
                <a:lnTo>
                  <a:pt x="95559" y="308308"/>
                </a:lnTo>
                <a:lnTo>
                  <a:pt x="143026" y="321573"/>
                </a:lnTo>
                <a:lnTo>
                  <a:pt x="190119" y="331660"/>
                </a:lnTo>
                <a:lnTo>
                  <a:pt x="236711" y="337508"/>
                </a:lnTo>
                <a:lnTo>
                  <a:pt x="282678" y="338058"/>
                </a:lnTo>
                <a:lnTo>
                  <a:pt x="327895" y="332249"/>
                </a:lnTo>
                <a:lnTo>
                  <a:pt x="372237" y="319024"/>
                </a:lnTo>
                <a:lnTo>
                  <a:pt x="410845" y="300436"/>
                </a:lnTo>
                <a:lnTo>
                  <a:pt x="448751" y="275902"/>
                </a:lnTo>
                <a:lnTo>
                  <a:pt x="486043" y="246163"/>
                </a:lnTo>
                <a:lnTo>
                  <a:pt x="522807" y="211962"/>
                </a:lnTo>
                <a:lnTo>
                  <a:pt x="559133" y="174041"/>
                </a:lnTo>
                <a:lnTo>
                  <a:pt x="595107" y="133143"/>
                </a:lnTo>
                <a:lnTo>
                  <a:pt x="630818" y="90008"/>
                </a:lnTo>
                <a:lnTo>
                  <a:pt x="666354" y="45379"/>
                </a:lnTo>
                <a:lnTo>
                  <a:pt x="701801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05192" y="3122041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37248" y="3122041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46622" y="3111880"/>
            <a:ext cx="722630" cy="0"/>
          </a:xfrm>
          <a:custGeom>
            <a:avLst/>
            <a:gdLst/>
            <a:ahLst/>
            <a:cxnLst/>
            <a:rect l="l" t="t" r="r" b="b"/>
            <a:pathLst>
              <a:path w="722629">
                <a:moveTo>
                  <a:pt x="722122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89040" y="2563367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630411" y="3419347"/>
            <a:ext cx="285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r>
              <a:rPr sz="1800" spc="-7" baseline="-20833" dirty="0">
                <a:latin typeface="Tahoma"/>
                <a:cs typeface="Tahoma"/>
              </a:rPr>
              <a:t>v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40452" y="1952752"/>
            <a:ext cx="556260" cy="136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ahoma"/>
                <a:cs typeface="Tahoma"/>
              </a:rPr>
              <a:t>Y</a:t>
            </a:r>
            <a:r>
              <a:rPr sz="1800" spc="-67" baseline="-20833" dirty="0">
                <a:latin typeface="Tahoma"/>
                <a:cs typeface="Tahoma"/>
              </a:rPr>
              <a:t>v</a:t>
            </a:r>
            <a:endParaRPr sz="1800" baseline="-20833">
              <a:latin typeface="Tahoma"/>
              <a:cs typeface="Tahoma"/>
            </a:endParaRPr>
          </a:p>
          <a:p>
            <a:pPr marL="69215" marR="36830" indent="-31750">
              <a:lnSpc>
                <a:spcPts val="4320"/>
              </a:lnSpc>
              <a:spcBef>
                <a:spcPts val="225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dirty="0">
                <a:latin typeface="Tahoma"/>
                <a:cs typeface="Tahoma"/>
              </a:rPr>
              <a:t>vmax  </a:t>
            </a: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dirty="0">
                <a:latin typeface="Tahoma"/>
                <a:cs typeface="Tahoma"/>
              </a:rPr>
              <a:t>vmin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34385" y="2458211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850644" y="2598547"/>
            <a:ext cx="133476" cy="1313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035554" y="2905251"/>
            <a:ext cx="2959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Tahoma"/>
                <a:cs typeface="Tahoma"/>
              </a:rPr>
              <a:t>w</a:t>
            </a:r>
            <a:r>
              <a:rPr sz="800" spc="114" dirty="0">
                <a:latin typeface="Tahoma"/>
                <a:cs typeface="Tahoma"/>
              </a:rPr>
              <a:t> </a:t>
            </a:r>
            <a:r>
              <a:rPr sz="800" spc="-5" dirty="0">
                <a:latin typeface="Tahoma"/>
                <a:cs typeface="Tahoma"/>
              </a:rPr>
              <a:t>w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01442" y="2816859"/>
            <a:ext cx="488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(x ,y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02535" y="2688589"/>
            <a:ext cx="821690" cy="240665"/>
          </a:xfrm>
          <a:custGeom>
            <a:avLst/>
            <a:gdLst/>
            <a:ahLst/>
            <a:cxnLst/>
            <a:rect l="l" t="t" r="r" b="b"/>
            <a:pathLst>
              <a:path w="821689" h="240664">
                <a:moveTo>
                  <a:pt x="36591" y="31139"/>
                </a:moveTo>
                <a:lnTo>
                  <a:pt x="24434" y="34675"/>
                </a:lnTo>
                <a:lnTo>
                  <a:pt x="33373" y="43416"/>
                </a:lnTo>
                <a:lnTo>
                  <a:pt x="818388" y="240411"/>
                </a:lnTo>
                <a:lnTo>
                  <a:pt x="821563" y="228092"/>
                </a:lnTo>
                <a:lnTo>
                  <a:pt x="36591" y="31139"/>
                </a:lnTo>
                <a:close/>
              </a:path>
              <a:path w="821689" h="240664">
                <a:moveTo>
                  <a:pt x="98551" y="0"/>
                </a:moveTo>
                <a:lnTo>
                  <a:pt x="95122" y="888"/>
                </a:lnTo>
                <a:lnTo>
                  <a:pt x="0" y="28575"/>
                </a:lnTo>
                <a:lnTo>
                  <a:pt x="70865" y="97789"/>
                </a:lnTo>
                <a:lnTo>
                  <a:pt x="73278" y="100202"/>
                </a:lnTo>
                <a:lnTo>
                  <a:pt x="77343" y="100202"/>
                </a:lnTo>
                <a:lnTo>
                  <a:pt x="79756" y="97662"/>
                </a:lnTo>
                <a:lnTo>
                  <a:pt x="82295" y="95250"/>
                </a:lnTo>
                <a:lnTo>
                  <a:pt x="82168" y="91186"/>
                </a:lnTo>
                <a:lnTo>
                  <a:pt x="79756" y="88773"/>
                </a:lnTo>
                <a:lnTo>
                  <a:pt x="33373" y="43416"/>
                </a:lnTo>
                <a:lnTo>
                  <a:pt x="10668" y="37719"/>
                </a:lnTo>
                <a:lnTo>
                  <a:pt x="13715" y="25400"/>
                </a:lnTo>
                <a:lnTo>
                  <a:pt x="56324" y="25400"/>
                </a:lnTo>
                <a:lnTo>
                  <a:pt x="98678" y="13081"/>
                </a:lnTo>
                <a:lnTo>
                  <a:pt x="101981" y="12192"/>
                </a:lnTo>
                <a:lnTo>
                  <a:pt x="104012" y="8636"/>
                </a:lnTo>
                <a:lnTo>
                  <a:pt x="102996" y="5207"/>
                </a:lnTo>
                <a:lnTo>
                  <a:pt x="101981" y="1905"/>
                </a:lnTo>
                <a:lnTo>
                  <a:pt x="98551" y="0"/>
                </a:lnTo>
                <a:close/>
              </a:path>
              <a:path w="821689" h="240664">
                <a:moveTo>
                  <a:pt x="13715" y="25400"/>
                </a:moveTo>
                <a:lnTo>
                  <a:pt x="10668" y="37719"/>
                </a:lnTo>
                <a:lnTo>
                  <a:pt x="33373" y="43416"/>
                </a:lnTo>
                <a:lnTo>
                  <a:pt x="27546" y="37719"/>
                </a:lnTo>
                <a:lnTo>
                  <a:pt x="13969" y="37719"/>
                </a:lnTo>
                <a:lnTo>
                  <a:pt x="16637" y="27050"/>
                </a:lnTo>
                <a:lnTo>
                  <a:pt x="20296" y="27050"/>
                </a:lnTo>
                <a:lnTo>
                  <a:pt x="13715" y="25400"/>
                </a:lnTo>
                <a:close/>
              </a:path>
              <a:path w="821689" h="240664">
                <a:moveTo>
                  <a:pt x="16637" y="27050"/>
                </a:moveTo>
                <a:lnTo>
                  <a:pt x="13969" y="37719"/>
                </a:lnTo>
                <a:lnTo>
                  <a:pt x="24434" y="34675"/>
                </a:lnTo>
                <a:lnTo>
                  <a:pt x="16637" y="27050"/>
                </a:lnTo>
                <a:close/>
              </a:path>
              <a:path w="821689" h="240664">
                <a:moveTo>
                  <a:pt x="24434" y="34675"/>
                </a:moveTo>
                <a:lnTo>
                  <a:pt x="13969" y="37719"/>
                </a:lnTo>
                <a:lnTo>
                  <a:pt x="27546" y="37719"/>
                </a:lnTo>
                <a:lnTo>
                  <a:pt x="24434" y="34675"/>
                </a:lnTo>
                <a:close/>
              </a:path>
              <a:path w="821689" h="240664">
                <a:moveTo>
                  <a:pt x="20296" y="27050"/>
                </a:moveTo>
                <a:lnTo>
                  <a:pt x="16637" y="27050"/>
                </a:lnTo>
                <a:lnTo>
                  <a:pt x="24434" y="34675"/>
                </a:lnTo>
                <a:lnTo>
                  <a:pt x="36591" y="31139"/>
                </a:lnTo>
                <a:lnTo>
                  <a:pt x="20296" y="27050"/>
                </a:lnTo>
                <a:close/>
              </a:path>
              <a:path w="821689" h="240664">
                <a:moveTo>
                  <a:pt x="56324" y="25400"/>
                </a:moveTo>
                <a:lnTo>
                  <a:pt x="13715" y="25400"/>
                </a:lnTo>
                <a:lnTo>
                  <a:pt x="36591" y="31139"/>
                </a:lnTo>
                <a:lnTo>
                  <a:pt x="5632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45706" y="2847085"/>
            <a:ext cx="133476" cy="1313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57490" y="2537205"/>
            <a:ext cx="965200" cy="7366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sz="1800" dirty="0">
                <a:latin typeface="Tahoma"/>
                <a:cs typeface="Tahoma"/>
              </a:rPr>
              <a:t>Viewport</a:t>
            </a:r>
            <a:endParaRPr sz="1800">
              <a:latin typeface="Tahoma"/>
              <a:cs typeface="Tahoma"/>
            </a:endParaRPr>
          </a:p>
          <a:p>
            <a:pPr marR="45085" algn="ctr">
              <a:lnSpc>
                <a:spcPct val="100000"/>
              </a:lnSpc>
              <a:spcBef>
                <a:spcPts val="800"/>
              </a:spcBef>
            </a:pPr>
            <a:r>
              <a:rPr sz="1200" spc="-15" dirty="0">
                <a:latin typeface="Tahoma"/>
                <a:cs typeface="Tahoma"/>
              </a:rPr>
              <a:t>(x</a:t>
            </a:r>
            <a:r>
              <a:rPr sz="1200" spc="-22" baseline="-20833" dirty="0">
                <a:latin typeface="Tahoma"/>
                <a:cs typeface="Tahoma"/>
              </a:rPr>
              <a:t>v</a:t>
            </a:r>
            <a:r>
              <a:rPr sz="1200" spc="-15" dirty="0">
                <a:latin typeface="Tahoma"/>
                <a:cs typeface="Tahoma"/>
              </a:rPr>
              <a:t>,y</a:t>
            </a:r>
            <a:r>
              <a:rPr sz="1200" spc="-22" baseline="-20833" dirty="0">
                <a:latin typeface="Tahoma"/>
                <a:cs typeface="Tahoma"/>
              </a:rPr>
              <a:t>v</a:t>
            </a:r>
            <a:r>
              <a:rPr sz="1200" spc="-1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197597" y="2937129"/>
            <a:ext cx="821690" cy="240665"/>
          </a:xfrm>
          <a:custGeom>
            <a:avLst/>
            <a:gdLst/>
            <a:ahLst/>
            <a:cxnLst/>
            <a:rect l="l" t="t" r="r" b="b"/>
            <a:pathLst>
              <a:path w="821690" h="240664">
                <a:moveTo>
                  <a:pt x="36425" y="31221"/>
                </a:moveTo>
                <a:lnTo>
                  <a:pt x="24446" y="34687"/>
                </a:lnTo>
                <a:lnTo>
                  <a:pt x="33542" y="43582"/>
                </a:lnTo>
                <a:lnTo>
                  <a:pt x="818387" y="240411"/>
                </a:lnTo>
                <a:lnTo>
                  <a:pt x="821562" y="228092"/>
                </a:lnTo>
                <a:lnTo>
                  <a:pt x="36425" y="31221"/>
                </a:lnTo>
                <a:close/>
              </a:path>
              <a:path w="821690" h="240664">
                <a:moveTo>
                  <a:pt x="98551" y="0"/>
                </a:moveTo>
                <a:lnTo>
                  <a:pt x="0" y="28575"/>
                </a:lnTo>
                <a:lnTo>
                  <a:pt x="70866" y="97790"/>
                </a:lnTo>
                <a:lnTo>
                  <a:pt x="73405" y="100330"/>
                </a:lnTo>
                <a:lnTo>
                  <a:pt x="77343" y="100203"/>
                </a:lnTo>
                <a:lnTo>
                  <a:pt x="82296" y="95250"/>
                </a:lnTo>
                <a:lnTo>
                  <a:pt x="82169" y="91186"/>
                </a:lnTo>
                <a:lnTo>
                  <a:pt x="79755" y="88773"/>
                </a:lnTo>
                <a:lnTo>
                  <a:pt x="33542" y="43582"/>
                </a:lnTo>
                <a:lnTo>
                  <a:pt x="10668" y="37846"/>
                </a:lnTo>
                <a:lnTo>
                  <a:pt x="13716" y="25526"/>
                </a:lnTo>
                <a:lnTo>
                  <a:pt x="56105" y="25526"/>
                </a:lnTo>
                <a:lnTo>
                  <a:pt x="102107" y="12192"/>
                </a:lnTo>
                <a:lnTo>
                  <a:pt x="104012" y="8636"/>
                </a:lnTo>
                <a:lnTo>
                  <a:pt x="102997" y="5334"/>
                </a:lnTo>
                <a:lnTo>
                  <a:pt x="101980" y="1905"/>
                </a:lnTo>
                <a:lnTo>
                  <a:pt x="98551" y="0"/>
                </a:lnTo>
                <a:close/>
              </a:path>
              <a:path w="821690" h="240664">
                <a:moveTo>
                  <a:pt x="13716" y="25526"/>
                </a:moveTo>
                <a:lnTo>
                  <a:pt x="10668" y="37846"/>
                </a:lnTo>
                <a:lnTo>
                  <a:pt x="33542" y="43582"/>
                </a:lnTo>
                <a:lnTo>
                  <a:pt x="27546" y="37719"/>
                </a:lnTo>
                <a:lnTo>
                  <a:pt x="13970" y="37719"/>
                </a:lnTo>
                <a:lnTo>
                  <a:pt x="16636" y="27050"/>
                </a:lnTo>
                <a:lnTo>
                  <a:pt x="19793" y="27050"/>
                </a:lnTo>
                <a:lnTo>
                  <a:pt x="13716" y="25526"/>
                </a:lnTo>
                <a:close/>
              </a:path>
              <a:path w="821690" h="240664">
                <a:moveTo>
                  <a:pt x="16636" y="27050"/>
                </a:moveTo>
                <a:lnTo>
                  <a:pt x="13970" y="37719"/>
                </a:lnTo>
                <a:lnTo>
                  <a:pt x="24446" y="34687"/>
                </a:lnTo>
                <a:lnTo>
                  <a:pt x="16636" y="27050"/>
                </a:lnTo>
                <a:close/>
              </a:path>
              <a:path w="821690" h="240664">
                <a:moveTo>
                  <a:pt x="24446" y="34687"/>
                </a:moveTo>
                <a:lnTo>
                  <a:pt x="13970" y="37719"/>
                </a:lnTo>
                <a:lnTo>
                  <a:pt x="27546" y="37719"/>
                </a:lnTo>
                <a:lnTo>
                  <a:pt x="24446" y="34687"/>
                </a:lnTo>
                <a:close/>
              </a:path>
              <a:path w="821690" h="240664">
                <a:moveTo>
                  <a:pt x="19793" y="27050"/>
                </a:moveTo>
                <a:lnTo>
                  <a:pt x="16636" y="27050"/>
                </a:lnTo>
                <a:lnTo>
                  <a:pt x="24446" y="34687"/>
                </a:lnTo>
                <a:lnTo>
                  <a:pt x="36425" y="31221"/>
                </a:lnTo>
                <a:lnTo>
                  <a:pt x="19793" y="27050"/>
                </a:lnTo>
                <a:close/>
              </a:path>
              <a:path w="821690" h="240664">
                <a:moveTo>
                  <a:pt x="56105" y="25526"/>
                </a:moveTo>
                <a:lnTo>
                  <a:pt x="13716" y="25526"/>
                </a:lnTo>
                <a:lnTo>
                  <a:pt x="36425" y="31221"/>
                </a:lnTo>
                <a:lnTo>
                  <a:pt x="56105" y="25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51523" y="973061"/>
            <a:ext cx="5781040" cy="369570"/>
          </a:xfrm>
          <a:prstGeom prst="rect">
            <a:avLst/>
          </a:prstGeom>
          <a:solidFill>
            <a:srgbClr val="FFF5CC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sz="1800" dirty="0">
                <a:latin typeface="Tahoma"/>
                <a:cs typeface="Tahoma"/>
              </a:rPr>
              <a:t>Let a </a:t>
            </a:r>
            <a:r>
              <a:rPr sz="1800" spc="-5" dirty="0">
                <a:latin typeface="Tahoma"/>
                <a:cs typeface="Tahoma"/>
              </a:rPr>
              <a:t>window </a:t>
            </a:r>
            <a:r>
              <a:rPr sz="1800" dirty="0">
                <a:latin typeface="Tahoma"/>
                <a:cs typeface="Tahoma"/>
              </a:rPr>
              <a:t>point </a:t>
            </a:r>
            <a:r>
              <a:rPr sz="1800" spc="-15" dirty="0">
                <a:latin typeface="Tahoma"/>
                <a:cs typeface="Tahoma"/>
              </a:rPr>
              <a:t>(x</a:t>
            </a:r>
            <a:r>
              <a:rPr sz="1800" spc="-22" baseline="-20833" dirty="0">
                <a:latin typeface="Tahoma"/>
                <a:cs typeface="Tahoma"/>
              </a:rPr>
              <a:t>w</a:t>
            </a:r>
            <a:r>
              <a:rPr sz="1800" spc="-15" dirty="0">
                <a:latin typeface="Tahoma"/>
                <a:cs typeface="Tahoma"/>
              </a:rPr>
              <a:t>, </a:t>
            </a:r>
            <a:r>
              <a:rPr sz="1800" spc="-5" dirty="0">
                <a:latin typeface="Tahoma"/>
                <a:cs typeface="Tahoma"/>
              </a:rPr>
              <a:t>y</a:t>
            </a:r>
            <a:r>
              <a:rPr sz="1800" spc="-7" baseline="-20833" dirty="0">
                <a:latin typeface="Tahoma"/>
                <a:cs typeface="Tahoma"/>
              </a:rPr>
              <a:t>w</a:t>
            </a:r>
            <a:r>
              <a:rPr sz="1800" spc="-5" dirty="0">
                <a:latin typeface="Tahoma"/>
                <a:cs typeface="Tahoma"/>
              </a:rPr>
              <a:t>) </a:t>
            </a:r>
            <a:r>
              <a:rPr sz="1800" dirty="0">
                <a:latin typeface="Tahoma"/>
                <a:cs typeface="Tahoma"/>
              </a:rPr>
              <a:t>mapping </a:t>
            </a:r>
            <a:r>
              <a:rPr sz="1800" spc="-5" dirty="0">
                <a:latin typeface="Tahoma"/>
                <a:cs typeface="Tahoma"/>
              </a:rPr>
              <a:t>to viewport</a:t>
            </a:r>
            <a:r>
              <a:rPr sz="1800" spc="-15" dirty="0">
                <a:latin typeface="Tahoma"/>
                <a:cs typeface="Tahoma"/>
              </a:rPr>
              <a:t> (x</a:t>
            </a:r>
            <a:r>
              <a:rPr sz="1800" spc="-22" baseline="-20833" dirty="0">
                <a:latin typeface="Tahoma"/>
                <a:cs typeface="Tahoma"/>
              </a:rPr>
              <a:t>v,</a:t>
            </a:r>
            <a:r>
              <a:rPr sz="1800" spc="-15" dirty="0">
                <a:latin typeface="Tahoma"/>
                <a:cs typeface="Tahoma"/>
              </a:rPr>
              <a:t>y</a:t>
            </a:r>
            <a:r>
              <a:rPr sz="1800" spc="-22" baseline="-20833" dirty="0">
                <a:latin typeface="Tahoma"/>
                <a:cs typeface="Tahoma"/>
              </a:rPr>
              <a:t>v)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569080" y="2690733"/>
            <a:ext cx="1518285" cy="257175"/>
          </a:xfrm>
          <a:custGeom>
            <a:avLst/>
            <a:gdLst/>
            <a:ahLst/>
            <a:cxnLst/>
            <a:rect l="l" t="t" r="r" b="b"/>
            <a:pathLst>
              <a:path w="1518285" h="257175">
                <a:moveTo>
                  <a:pt x="1355228" y="157199"/>
                </a:moveTo>
                <a:lnTo>
                  <a:pt x="1274953" y="203596"/>
                </a:lnTo>
                <a:lnTo>
                  <a:pt x="1266485" y="211101"/>
                </a:lnTo>
                <a:lnTo>
                  <a:pt x="1261697" y="220964"/>
                </a:lnTo>
                <a:lnTo>
                  <a:pt x="1260933" y="231921"/>
                </a:lnTo>
                <a:lnTo>
                  <a:pt x="1264539" y="242712"/>
                </a:lnTo>
                <a:lnTo>
                  <a:pt x="1272041" y="251180"/>
                </a:lnTo>
                <a:lnTo>
                  <a:pt x="1281890" y="255968"/>
                </a:lnTo>
                <a:lnTo>
                  <a:pt x="1292810" y="256732"/>
                </a:lnTo>
                <a:lnTo>
                  <a:pt x="1303528" y="253126"/>
                </a:lnTo>
                <a:lnTo>
                  <a:pt x="1468774" y="157622"/>
                </a:lnTo>
                <a:lnTo>
                  <a:pt x="1461008" y="157622"/>
                </a:lnTo>
                <a:lnTo>
                  <a:pt x="1355228" y="157199"/>
                </a:lnTo>
                <a:close/>
              </a:path>
              <a:path w="1518285" h="257175">
                <a:moveTo>
                  <a:pt x="1404375" y="128794"/>
                </a:moveTo>
                <a:lnTo>
                  <a:pt x="1355228" y="157199"/>
                </a:lnTo>
                <a:lnTo>
                  <a:pt x="1461008" y="157622"/>
                </a:lnTo>
                <a:lnTo>
                  <a:pt x="1461025" y="153685"/>
                </a:lnTo>
                <a:lnTo>
                  <a:pt x="1446657" y="153685"/>
                </a:lnTo>
                <a:lnTo>
                  <a:pt x="1404375" y="128794"/>
                </a:lnTo>
                <a:close/>
              </a:path>
              <a:path w="1518285" h="257175">
                <a:moveTo>
                  <a:pt x="1293824" y="0"/>
                </a:moveTo>
                <a:lnTo>
                  <a:pt x="1282890" y="682"/>
                </a:lnTo>
                <a:lnTo>
                  <a:pt x="1273004" y="5413"/>
                </a:lnTo>
                <a:lnTo>
                  <a:pt x="1265428" y="13858"/>
                </a:lnTo>
                <a:lnTo>
                  <a:pt x="1261729" y="24578"/>
                </a:lnTo>
                <a:lnTo>
                  <a:pt x="1262411" y="35512"/>
                </a:lnTo>
                <a:lnTo>
                  <a:pt x="1267142" y="45398"/>
                </a:lnTo>
                <a:lnTo>
                  <a:pt x="1275588" y="52974"/>
                </a:lnTo>
                <a:lnTo>
                  <a:pt x="1355550" y="100050"/>
                </a:lnTo>
                <a:lnTo>
                  <a:pt x="1461262" y="100472"/>
                </a:lnTo>
                <a:lnTo>
                  <a:pt x="1461008" y="157622"/>
                </a:lnTo>
                <a:lnTo>
                  <a:pt x="1468774" y="157622"/>
                </a:lnTo>
                <a:lnTo>
                  <a:pt x="1517777" y="129301"/>
                </a:lnTo>
                <a:lnTo>
                  <a:pt x="1304544" y="3698"/>
                </a:lnTo>
                <a:lnTo>
                  <a:pt x="1293824" y="0"/>
                </a:lnTo>
                <a:close/>
              </a:path>
              <a:path w="1518285" h="257175">
                <a:moveTo>
                  <a:pt x="254" y="94630"/>
                </a:moveTo>
                <a:lnTo>
                  <a:pt x="0" y="151780"/>
                </a:lnTo>
                <a:lnTo>
                  <a:pt x="1355228" y="157199"/>
                </a:lnTo>
                <a:lnTo>
                  <a:pt x="1404375" y="128794"/>
                </a:lnTo>
                <a:lnTo>
                  <a:pt x="1355550" y="100050"/>
                </a:lnTo>
                <a:lnTo>
                  <a:pt x="254" y="94630"/>
                </a:lnTo>
                <a:close/>
              </a:path>
              <a:path w="1518285" h="257175">
                <a:moveTo>
                  <a:pt x="1446784" y="104282"/>
                </a:moveTo>
                <a:lnTo>
                  <a:pt x="1404375" y="128794"/>
                </a:lnTo>
                <a:lnTo>
                  <a:pt x="1446657" y="153685"/>
                </a:lnTo>
                <a:lnTo>
                  <a:pt x="1446784" y="104282"/>
                </a:lnTo>
                <a:close/>
              </a:path>
              <a:path w="1518285" h="257175">
                <a:moveTo>
                  <a:pt x="1461245" y="104282"/>
                </a:moveTo>
                <a:lnTo>
                  <a:pt x="1446784" y="104282"/>
                </a:lnTo>
                <a:lnTo>
                  <a:pt x="1446657" y="153685"/>
                </a:lnTo>
                <a:lnTo>
                  <a:pt x="1461025" y="153685"/>
                </a:lnTo>
                <a:lnTo>
                  <a:pt x="1461245" y="104282"/>
                </a:lnTo>
                <a:close/>
              </a:path>
              <a:path w="1518285" h="257175">
                <a:moveTo>
                  <a:pt x="1355550" y="100050"/>
                </a:moveTo>
                <a:lnTo>
                  <a:pt x="1404375" y="128794"/>
                </a:lnTo>
                <a:lnTo>
                  <a:pt x="1446784" y="104282"/>
                </a:lnTo>
                <a:lnTo>
                  <a:pt x="1461245" y="104282"/>
                </a:lnTo>
                <a:lnTo>
                  <a:pt x="1461262" y="100472"/>
                </a:lnTo>
                <a:lnTo>
                  <a:pt x="1355550" y="1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831082" y="2421382"/>
            <a:ext cx="811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Tahoma"/>
                <a:cs typeface="Tahoma"/>
              </a:rPr>
              <a:t>View</a:t>
            </a:r>
            <a:r>
              <a:rPr sz="1800" spc="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C00000"/>
                </a:solidFill>
                <a:latin typeface="Tahoma"/>
                <a:cs typeface="Tahoma"/>
              </a:rPr>
              <a:t>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82923" y="2826257"/>
            <a:ext cx="1600200" cy="613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4769">
              <a:lnSpc>
                <a:spcPct val="107100"/>
              </a:lnSpc>
              <a:spcBef>
                <a:spcPts val="100"/>
              </a:spcBef>
            </a:pPr>
            <a:r>
              <a:rPr sz="1800" spc="-17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1800" spc="-3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C00000"/>
                </a:solidFill>
                <a:latin typeface="Tahoma"/>
                <a:cs typeface="Tahoma"/>
              </a:rPr>
              <a:t>ans</a:t>
            </a:r>
            <a:r>
              <a:rPr sz="1800" spc="-20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1800" dirty="0">
                <a:solidFill>
                  <a:srgbClr val="C00000"/>
                </a:solidFill>
                <a:latin typeface="Tahoma"/>
                <a:cs typeface="Tahoma"/>
              </a:rPr>
              <a:t>ormation  </a:t>
            </a:r>
            <a:r>
              <a:rPr sz="1800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4653" y="3809212"/>
            <a:ext cx="4857750" cy="646430"/>
          </a:xfrm>
          <a:custGeom>
            <a:avLst/>
            <a:gdLst/>
            <a:ahLst/>
            <a:cxnLst/>
            <a:rect l="l" t="t" r="r" b="b"/>
            <a:pathLst>
              <a:path w="4857750" h="646429">
                <a:moveTo>
                  <a:pt x="0" y="646328"/>
                </a:moveTo>
                <a:lnTo>
                  <a:pt x="4857369" y="646328"/>
                </a:lnTo>
                <a:lnTo>
                  <a:pt x="4857369" y="0"/>
                </a:lnTo>
                <a:lnTo>
                  <a:pt x="0" y="0"/>
                </a:lnTo>
                <a:lnTo>
                  <a:pt x="0" y="646328"/>
                </a:lnTo>
                <a:close/>
              </a:path>
            </a:pathLst>
          </a:custGeom>
          <a:solidFill>
            <a:srgbClr val="FFF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53415" y="3840988"/>
            <a:ext cx="4695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As </a:t>
            </a:r>
            <a:r>
              <a:rPr sz="1800" spc="-5" dirty="0">
                <a:latin typeface="Tahoma"/>
                <a:cs typeface="Tahoma"/>
              </a:rPr>
              <a:t>the </a:t>
            </a:r>
            <a:r>
              <a:rPr sz="1800" spc="-10" dirty="0">
                <a:latin typeface="Tahoma"/>
                <a:cs typeface="Tahoma"/>
              </a:rPr>
              <a:t>relative </a:t>
            </a:r>
            <a:r>
              <a:rPr sz="1800" spc="-5" dirty="0">
                <a:latin typeface="Tahoma"/>
                <a:cs typeface="Tahoma"/>
              </a:rPr>
              <a:t>position </a:t>
            </a:r>
            <a:r>
              <a:rPr sz="1800" dirty="0">
                <a:latin typeface="Tahoma"/>
                <a:cs typeface="Tahoma"/>
              </a:rPr>
              <a:t>of both points is </a:t>
            </a:r>
            <a:r>
              <a:rPr sz="1800" spc="-5" dirty="0">
                <a:latin typeface="Tahoma"/>
                <a:cs typeface="Tahoma"/>
              </a:rPr>
              <a:t>same,  we can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write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2663" y="4437075"/>
            <a:ext cx="3468370" cy="820419"/>
          </a:xfrm>
          <a:custGeom>
            <a:avLst/>
            <a:gdLst/>
            <a:ahLst/>
            <a:cxnLst/>
            <a:rect l="l" t="t" r="r" b="b"/>
            <a:pathLst>
              <a:path w="3468370" h="820420">
                <a:moveTo>
                  <a:pt x="0" y="819962"/>
                </a:moveTo>
                <a:lnTo>
                  <a:pt x="3468370" y="819962"/>
                </a:lnTo>
                <a:lnTo>
                  <a:pt x="3468370" y="0"/>
                </a:lnTo>
                <a:lnTo>
                  <a:pt x="0" y="0"/>
                </a:lnTo>
                <a:lnTo>
                  <a:pt x="0" y="819962"/>
                </a:lnTo>
                <a:close/>
              </a:path>
            </a:pathLst>
          </a:custGeom>
          <a:solidFill>
            <a:srgbClr val="55FF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06768" y="4810125"/>
            <a:ext cx="1407795" cy="0"/>
          </a:xfrm>
          <a:custGeom>
            <a:avLst/>
            <a:gdLst/>
            <a:ahLst/>
            <a:cxnLst/>
            <a:rect l="l" t="t" r="r" b="b"/>
            <a:pathLst>
              <a:path w="1407795">
                <a:moveTo>
                  <a:pt x="0" y="0"/>
                </a:moveTo>
                <a:lnTo>
                  <a:pt x="1407401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664970" y="4634483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5025" y="4507992"/>
            <a:ext cx="2930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757045" algn="l"/>
              </a:tabLst>
            </a:pPr>
            <a:r>
              <a:rPr sz="2700" spc="7" baseline="10802" dirty="0">
                <a:latin typeface="Cambria Math"/>
                <a:cs typeface="Cambria Math"/>
              </a:rPr>
              <a:t>𝑥</a:t>
            </a:r>
            <a:r>
              <a:rPr sz="1300" spc="5" dirty="0">
                <a:latin typeface="Cambria Math"/>
                <a:cs typeface="Cambria Math"/>
              </a:rPr>
              <a:t>𝑣</a:t>
            </a:r>
            <a:r>
              <a:rPr sz="1300" spc="220" dirty="0">
                <a:latin typeface="Cambria Math"/>
                <a:cs typeface="Cambria Math"/>
              </a:rPr>
              <a:t>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15" baseline="10802" dirty="0">
                <a:latin typeface="Cambria Math"/>
                <a:cs typeface="Cambria Math"/>
              </a:rPr>
              <a:t> </a:t>
            </a:r>
            <a:r>
              <a:rPr sz="2700" spc="89" baseline="10802" dirty="0">
                <a:latin typeface="Cambria Math"/>
                <a:cs typeface="Cambria Math"/>
              </a:rPr>
              <a:t>𝑥</a:t>
            </a:r>
            <a:r>
              <a:rPr sz="1300" spc="60" dirty="0">
                <a:latin typeface="Cambria Math"/>
                <a:cs typeface="Cambria Math"/>
              </a:rPr>
              <a:t>𝑣𝑚𝑖𝑛	</a:t>
            </a:r>
            <a:r>
              <a:rPr sz="2700" spc="67" baseline="10802" dirty="0">
                <a:latin typeface="Cambria Math"/>
                <a:cs typeface="Cambria Math"/>
              </a:rPr>
              <a:t>𝑥</a:t>
            </a:r>
            <a:r>
              <a:rPr sz="1300" spc="45" dirty="0">
                <a:latin typeface="Cambria Math"/>
                <a:cs typeface="Cambria Math"/>
              </a:rPr>
              <a:t>𝑤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-300" baseline="10802" dirty="0">
                <a:latin typeface="Cambria Math"/>
                <a:cs typeface="Cambria Math"/>
              </a:rPr>
              <a:t> </a:t>
            </a:r>
            <a:r>
              <a:rPr sz="2700" spc="104" baseline="10802" dirty="0">
                <a:latin typeface="Cambria Math"/>
                <a:cs typeface="Cambria Math"/>
              </a:rPr>
              <a:t>𝑥</a:t>
            </a:r>
            <a:r>
              <a:rPr sz="1300" spc="70" dirty="0">
                <a:latin typeface="Cambria Math"/>
                <a:cs typeface="Cambria Math"/>
              </a:rPr>
              <a:t>𝑤𝑚𝑖𝑛</a:t>
            </a:r>
            <a:endParaRPr sz="1300" dirty="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8655" y="4834128"/>
            <a:ext cx="326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44345" algn="l"/>
              </a:tabLst>
            </a:pPr>
            <a:r>
              <a:rPr sz="2700" spc="89" baseline="10802" dirty="0">
                <a:latin typeface="Cambria Math"/>
                <a:cs typeface="Cambria Math"/>
              </a:rPr>
              <a:t>𝑥</a:t>
            </a:r>
            <a:r>
              <a:rPr sz="1300" spc="60" dirty="0">
                <a:latin typeface="Cambria Math"/>
                <a:cs typeface="Cambria Math"/>
              </a:rPr>
              <a:t>𝑣𝑚𝑎𝑥</a:t>
            </a:r>
            <a:r>
              <a:rPr sz="1300" spc="225" dirty="0">
                <a:latin typeface="Cambria Math"/>
                <a:cs typeface="Cambria Math"/>
              </a:rPr>
              <a:t>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22" baseline="10802" dirty="0">
                <a:latin typeface="Cambria Math"/>
                <a:cs typeface="Cambria Math"/>
              </a:rPr>
              <a:t> </a:t>
            </a:r>
            <a:r>
              <a:rPr sz="2700" spc="82" baseline="10802" dirty="0">
                <a:latin typeface="Cambria Math"/>
                <a:cs typeface="Cambria Math"/>
              </a:rPr>
              <a:t>𝑥</a:t>
            </a:r>
            <a:r>
              <a:rPr sz="1300" spc="55" dirty="0">
                <a:latin typeface="Cambria Math"/>
                <a:cs typeface="Cambria Math"/>
              </a:rPr>
              <a:t>𝑣𝑚𝑖𝑛	</a:t>
            </a:r>
            <a:r>
              <a:rPr sz="2700" spc="112" baseline="10802" dirty="0">
                <a:latin typeface="Cambria Math"/>
                <a:cs typeface="Cambria Math"/>
              </a:rPr>
              <a:t>𝑥</a:t>
            </a:r>
            <a:r>
              <a:rPr sz="1300" spc="75" dirty="0">
                <a:latin typeface="Cambria Math"/>
                <a:cs typeface="Cambria Math"/>
              </a:rPr>
              <a:t>𝑤𝑚𝑎𝑥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-367" baseline="10802" dirty="0">
                <a:latin typeface="Cambria Math"/>
                <a:cs typeface="Cambria Math"/>
              </a:rPr>
              <a:t> </a:t>
            </a:r>
            <a:r>
              <a:rPr sz="2700" spc="104" baseline="10802" dirty="0">
                <a:latin typeface="Cambria Math"/>
                <a:cs typeface="Cambria Math"/>
              </a:rPr>
              <a:t>𝑥</a:t>
            </a:r>
            <a:r>
              <a:rPr sz="1300" spc="70" dirty="0">
                <a:latin typeface="Cambria Math"/>
                <a:cs typeface="Cambria Math"/>
              </a:rPr>
              <a:t>𝑤𝑚𝑖𝑛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912873" y="4810125"/>
            <a:ext cx="1493520" cy="0"/>
          </a:xfrm>
          <a:custGeom>
            <a:avLst/>
            <a:gdLst/>
            <a:ahLst/>
            <a:cxnLst/>
            <a:rect l="l" t="t" r="r" b="b"/>
            <a:pathLst>
              <a:path w="1493520">
                <a:moveTo>
                  <a:pt x="0" y="0"/>
                </a:moveTo>
                <a:lnTo>
                  <a:pt x="1493520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6415" y="5325706"/>
            <a:ext cx="4608830" cy="626110"/>
          </a:xfrm>
          <a:custGeom>
            <a:avLst/>
            <a:gdLst/>
            <a:ahLst/>
            <a:cxnLst/>
            <a:rect l="l" t="t" r="r" b="b"/>
            <a:pathLst>
              <a:path w="4608830" h="626110">
                <a:moveTo>
                  <a:pt x="0" y="625944"/>
                </a:moveTo>
                <a:lnTo>
                  <a:pt x="4608449" y="625944"/>
                </a:lnTo>
                <a:lnTo>
                  <a:pt x="4608449" y="0"/>
                </a:lnTo>
                <a:lnTo>
                  <a:pt x="0" y="0"/>
                </a:lnTo>
                <a:lnTo>
                  <a:pt x="0" y="625944"/>
                </a:lnTo>
                <a:close/>
              </a:path>
            </a:pathLst>
          </a:custGeom>
          <a:solidFill>
            <a:srgbClr val="55FF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52400" y="5492496"/>
            <a:ext cx="135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700" spc="7" baseline="10802" dirty="0">
                <a:latin typeface="Cambria Math"/>
                <a:cs typeface="Cambria Math"/>
              </a:rPr>
              <a:t>𝑥</a:t>
            </a:r>
            <a:r>
              <a:rPr sz="1300" spc="5" dirty="0">
                <a:latin typeface="Cambria Math"/>
                <a:cs typeface="Cambria Math"/>
              </a:rPr>
              <a:t>𝑣 </a:t>
            </a:r>
            <a:r>
              <a:rPr sz="2700" baseline="10802" dirty="0">
                <a:latin typeface="Cambria Math"/>
                <a:cs typeface="Cambria Math"/>
              </a:rPr>
              <a:t>= </a:t>
            </a:r>
            <a:r>
              <a:rPr sz="2700" spc="89" baseline="10802" dirty="0">
                <a:latin typeface="Cambria Math"/>
                <a:cs typeface="Cambria Math"/>
              </a:rPr>
              <a:t>𝑥</a:t>
            </a:r>
            <a:r>
              <a:rPr sz="1300" spc="60" dirty="0">
                <a:latin typeface="Cambria Math"/>
                <a:cs typeface="Cambria Math"/>
              </a:rPr>
              <a:t>𝑣𝑚𝑖𝑛</a:t>
            </a:r>
            <a:r>
              <a:rPr sz="1300" spc="250" dirty="0">
                <a:latin typeface="Cambria Math"/>
                <a:cs typeface="Cambria Math"/>
              </a:rPr>
              <a:t> </a:t>
            </a:r>
            <a:r>
              <a:rPr sz="2700" baseline="10802" dirty="0">
                <a:latin typeface="Cambria Math"/>
                <a:cs typeface="Cambria Math"/>
              </a:rPr>
              <a:t>+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640077" y="5267705"/>
            <a:ext cx="1544955" cy="6781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05"/>
              </a:spcBef>
            </a:pPr>
            <a:r>
              <a:rPr sz="2700" spc="97" baseline="10802" dirty="0">
                <a:latin typeface="Cambria Math"/>
                <a:cs typeface="Cambria Math"/>
              </a:rPr>
              <a:t>𝑥</a:t>
            </a:r>
            <a:r>
              <a:rPr sz="1300" spc="65" dirty="0">
                <a:latin typeface="Cambria Math"/>
                <a:cs typeface="Cambria Math"/>
              </a:rPr>
              <a:t>𝑣𝑚𝑎𝑥 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-405" baseline="10802" dirty="0">
                <a:latin typeface="Cambria Math"/>
                <a:cs typeface="Cambria Math"/>
              </a:rPr>
              <a:t> </a:t>
            </a:r>
            <a:r>
              <a:rPr sz="2700" spc="82" baseline="10802" dirty="0">
                <a:latin typeface="Cambria Math"/>
                <a:cs typeface="Cambria Math"/>
              </a:rPr>
              <a:t>𝑥</a:t>
            </a:r>
            <a:r>
              <a:rPr sz="1300" spc="55" dirty="0">
                <a:latin typeface="Cambria Math"/>
                <a:cs typeface="Cambria Math"/>
              </a:rPr>
              <a:t>𝑣𝑚𝑖𝑛</a:t>
            </a:r>
            <a:endParaRPr sz="13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409"/>
              </a:spcBef>
            </a:pPr>
            <a:r>
              <a:rPr sz="2700" spc="112" baseline="10802" dirty="0">
                <a:latin typeface="Cambria Math"/>
                <a:cs typeface="Cambria Math"/>
              </a:rPr>
              <a:t>𝑥</a:t>
            </a:r>
            <a:r>
              <a:rPr sz="1300" spc="75" dirty="0">
                <a:latin typeface="Cambria Math"/>
                <a:cs typeface="Cambria Math"/>
              </a:rPr>
              <a:t>𝑤𝑚𝑎𝑥 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-405" baseline="10802" dirty="0">
                <a:latin typeface="Cambria Math"/>
                <a:cs typeface="Cambria Math"/>
              </a:rPr>
              <a:t> </a:t>
            </a:r>
            <a:r>
              <a:rPr sz="2700" spc="104" baseline="10802" dirty="0">
                <a:latin typeface="Cambria Math"/>
                <a:cs typeface="Cambria Math"/>
              </a:rPr>
              <a:t>𝑥</a:t>
            </a:r>
            <a:r>
              <a:rPr sz="1300" spc="70" dirty="0">
                <a:latin typeface="Cambria Math"/>
                <a:cs typeface="Cambria Math"/>
              </a:rPr>
              <a:t>𝑤𝑚𝑖𝑛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525016" y="5621756"/>
            <a:ext cx="1774825" cy="0"/>
          </a:xfrm>
          <a:custGeom>
            <a:avLst/>
            <a:gdLst/>
            <a:ahLst/>
            <a:cxnLst/>
            <a:rect l="l" t="t" r="r" b="b"/>
            <a:pathLst>
              <a:path w="1774825">
                <a:moveTo>
                  <a:pt x="0" y="0"/>
                </a:moveTo>
                <a:lnTo>
                  <a:pt x="1774698" y="0"/>
                </a:lnTo>
              </a:path>
            </a:pathLst>
          </a:custGeom>
          <a:ln w="144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590290" y="5554217"/>
            <a:ext cx="14986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300" spc="155" dirty="0">
                <a:latin typeface="Cambria Math"/>
                <a:cs typeface="Cambria Math"/>
              </a:rPr>
              <a:t>𝑤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108450" y="5554217"/>
            <a:ext cx="47244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300" spc="160" dirty="0">
                <a:latin typeface="Cambria Math"/>
                <a:cs typeface="Cambria Math"/>
              </a:rPr>
              <a:t>𝑤𝑚𝑖𝑛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375405" y="5446014"/>
            <a:ext cx="1312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0525" algn="l"/>
                <a:tab pos="1204595" algn="l"/>
              </a:tabLst>
            </a:pPr>
            <a:r>
              <a:rPr sz="1800" dirty="0">
                <a:latin typeface="Cambria Math"/>
                <a:cs typeface="Cambria Math"/>
              </a:rPr>
              <a:t>(𝑥	−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	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663" y="5998286"/>
            <a:ext cx="3150235" cy="824230"/>
          </a:xfrm>
          <a:prstGeom prst="rect">
            <a:avLst/>
          </a:prstGeom>
          <a:solidFill>
            <a:srgbClr val="FFEB99"/>
          </a:solidFill>
        </p:spPr>
        <p:txBody>
          <a:bodyPr vert="horz" wrap="square" lIns="0" tIns="88265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695"/>
              </a:spcBef>
            </a:pPr>
            <a:r>
              <a:rPr sz="2700" spc="7" baseline="10802" dirty="0">
                <a:latin typeface="Cambria Math"/>
                <a:cs typeface="Cambria Math"/>
              </a:rPr>
              <a:t>𝑥</a:t>
            </a:r>
            <a:r>
              <a:rPr sz="1300" spc="5" dirty="0">
                <a:latin typeface="Cambria Math"/>
                <a:cs typeface="Cambria Math"/>
              </a:rPr>
              <a:t>𝑣  </a:t>
            </a:r>
            <a:r>
              <a:rPr sz="2700" baseline="10802" dirty="0">
                <a:latin typeface="Cambria Math"/>
                <a:cs typeface="Cambria Math"/>
              </a:rPr>
              <a:t>= </a:t>
            </a:r>
            <a:r>
              <a:rPr sz="2700" spc="89" baseline="10802" dirty="0">
                <a:latin typeface="Cambria Math"/>
                <a:cs typeface="Cambria Math"/>
              </a:rPr>
              <a:t>𝑥</a:t>
            </a:r>
            <a:r>
              <a:rPr sz="1300" spc="60" dirty="0">
                <a:latin typeface="Cambria Math"/>
                <a:cs typeface="Cambria Math"/>
              </a:rPr>
              <a:t>𝑣𝑚𝑖𝑛 </a:t>
            </a:r>
            <a:r>
              <a:rPr sz="2700" baseline="10802" dirty="0">
                <a:latin typeface="Cambria Math"/>
                <a:cs typeface="Cambria Math"/>
              </a:rPr>
              <a:t>+ 𝑆</a:t>
            </a:r>
            <a:r>
              <a:rPr sz="1300" dirty="0">
                <a:latin typeface="Cambria Math"/>
                <a:cs typeface="Cambria Math"/>
              </a:rPr>
              <a:t>𝑥  </a:t>
            </a:r>
            <a:r>
              <a:rPr sz="2700" spc="44" baseline="10802" dirty="0">
                <a:latin typeface="Cambria Math"/>
                <a:cs typeface="Cambria Math"/>
              </a:rPr>
              <a:t>(𝑥</a:t>
            </a:r>
            <a:r>
              <a:rPr sz="1300" spc="30" dirty="0">
                <a:latin typeface="Cambria Math"/>
                <a:cs typeface="Cambria Math"/>
              </a:rPr>
              <a:t>𝑤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509" baseline="10802" dirty="0">
                <a:latin typeface="Cambria Math"/>
                <a:cs typeface="Cambria Math"/>
              </a:rPr>
              <a:t> </a:t>
            </a:r>
            <a:r>
              <a:rPr sz="2700" spc="112" baseline="10802" dirty="0">
                <a:latin typeface="Cambria Math"/>
                <a:cs typeface="Cambria Math"/>
              </a:rPr>
              <a:t>𝑥</a:t>
            </a:r>
            <a:r>
              <a:rPr sz="1300" spc="75" dirty="0">
                <a:latin typeface="Cambria Math"/>
                <a:cs typeface="Cambria Math"/>
              </a:rPr>
              <a:t>𝑤𝑚𝑖𝑛</a:t>
            </a:r>
            <a:r>
              <a:rPr sz="2700" spc="112" baseline="10802" dirty="0">
                <a:latin typeface="Cambria Math"/>
                <a:cs typeface="Cambria Math"/>
              </a:rPr>
              <a:t>)</a:t>
            </a:r>
            <a:endParaRPr sz="2700" baseline="10802" dirty="0">
              <a:latin typeface="Cambria Math"/>
              <a:cs typeface="Cambria Math"/>
            </a:endParaRPr>
          </a:p>
          <a:p>
            <a:pPr marL="107314">
              <a:lnSpc>
                <a:spcPct val="100000"/>
              </a:lnSpc>
              <a:spcBef>
                <a:spcPts val="1145"/>
              </a:spcBef>
            </a:pPr>
            <a:r>
              <a:rPr sz="2700" spc="-97" baseline="10802" dirty="0">
                <a:latin typeface="Cambria Math"/>
                <a:cs typeface="Cambria Math"/>
              </a:rPr>
              <a:t>𝑦</a:t>
            </a:r>
            <a:r>
              <a:rPr sz="1300" spc="-65" dirty="0">
                <a:latin typeface="Cambria Math"/>
                <a:cs typeface="Cambria Math"/>
              </a:rPr>
              <a:t>𝑣   </a:t>
            </a:r>
            <a:r>
              <a:rPr sz="2700" baseline="10802" dirty="0">
                <a:latin typeface="Cambria Math"/>
                <a:cs typeface="Cambria Math"/>
              </a:rPr>
              <a:t>= </a:t>
            </a:r>
            <a:r>
              <a:rPr sz="2700" spc="82" baseline="10802" dirty="0">
                <a:latin typeface="Cambria Math"/>
                <a:cs typeface="Cambria Math"/>
              </a:rPr>
              <a:t>𝑦</a:t>
            </a:r>
            <a:r>
              <a:rPr sz="1300" spc="55" dirty="0">
                <a:latin typeface="Cambria Math"/>
                <a:cs typeface="Cambria Math"/>
              </a:rPr>
              <a:t>𝑣𝑚𝑖𝑛  </a:t>
            </a:r>
            <a:r>
              <a:rPr sz="2700" baseline="10802" dirty="0">
                <a:latin typeface="Cambria Math"/>
                <a:cs typeface="Cambria Math"/>
              </a:rPr>
              <a:t>+ </a:t>
            </a:r>
            <a:r>
              <a:rPr sz="2700" spc="15" baseline="10802" dirty="0">
                <a:latin typeface="Cambria Math"/>
                <a:cs typeface="Cambria Math"/>
              </a:rPr>
              <a:t>𝑆</a:t>
            </a:r>
            <a:r>
              <a:rPr sz="1300" spc="10" dirty="0">
                <a:latin typeface="Cambria Math"/>
                <a:cs typeface="Cambria Math"/>
              </a:rPr>
              <a:t>𝑦  </a:t>
            </a:r>
            <a:r>
              <a:rPr sz="2700" spc="-22" baseline="10802" dirty="0">
                <a:latin typeface="Cambria Math"/>
                <a:cs typeface="Cambria Math"/>
              </a:rPr>
              <a:t>(𝑦</a:t>
            </a:r>
            <a:r>
              <a:rPr sz="1300" spc="-15" dirty="0">
                <a:latin typeface="Cambria Math"/>
                <a:cs typeface="Cambria Math"/>
              </a:rPr>
              <a:t>𝑤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-97" baseline="10802" dirty="0">
                <a:latin typeface="Cambria Math"/>
                <a:cs typeface="Cambria Math"/>
              </a:rPr>
              <a:t> </a:t>
            </a:r>
            <a:r>
              <a:rPr sz="2700" spc="104" baseline="10802" dirty="0">
                <a:latin typeface="Cambria Math"/>
                <a:cs typeface="Cambria Math"/>
              </a:rPr>
              <a:t>𝑦</a:t>
            </a:r>
            <a:r>
              <a:rPr sz="1300" spc="70" dirty="0">
                <a:latin typeface="Cambria Math"/>
                <a:cs typeface="Cambria Math"/>
              </a:rPr>
              <a:t>𝑤𝑚𝑖𝑛</a:t>
            </a:r>
            <a:r>
              <a:rPr sz="2700" spc="104" baseline="10802" dirty="0">
                <a:latin typeface="Cambria Math"/>
                <a:cs typeface="Cambria Math"/>
              </a:rPr>
              <a:t>)</a:t>
            </a:r>
            <a:endParaRPr sz="2700" baseline="10802" dirty="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490214" y="6131305"/>
            <a:ext cx="1463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Sx </a:t>
            </a:r>
            <a:r>
              <a:rPr sz="1800" dirty="0">
                <a:latin typeface="Tahoma"/>
                <a:cs typeface="Tahoma"/>
              </a:rPr>
              <a:t>and </a:t>
            </a:r>
            <a:r>
              <a:rPr sz="1800" spc="-15" dirty="0">
                <a:latin typeface="Tahoma"/>
                <a:cs typeface="Tahoma"/>
              </a:rPr>
              <a:t>Sy </a:t>
            </a:r>
            <a:r>
              <a:rPr sz="1800" spc="-5" dirty="0">
                <a:latin typeface="Tahoma"/>
                <a:cs typeface="Tahoma"/>
              </a:rPr>
              <a:t>are  scaling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factors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184010" y="4606671"/>
            <a:ext cx="1565910" cy="0"/>
          </a:xfrm>
          <a:custGeom>
            <a:avLst/>
            <a:gdLst/>
            <a:ahLst/>
            <a:cxnLst/>
            <a:rect l="l" t="t" r="r" b="b"/>
            <a:pathLst>
              <a:path w="1565909">
                <a:moveTo>
                  <a:pt x="0" y="0"/>
                </a:moveTo>
                <a:lnTo>
                  <a:pt x="156552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889747" y="4453890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626225" y="4541011"/>
            <a:ext cx="133476" cy="1313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618985" y="4240276"/>
            <a:ext cx="139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188328" y="5027421"/>
            <a:ext cx="2204720" cy="8255"/>
          </a:xfrm>
          <a:custGeom>
            <a:avLst/>
            <a:gdLst/>
            <a:ahLst/>
            <a:cxnLst/>
            <a:rect l="l" t="t" r="r" b="b"/>
            <a:pathLst>
              <a:path w="2204720" h="8254">
                <a:moveTo>
                  <a:pt x="0" y="0"/>
                </a:moveTo>
                <a:lnTo>
                  <a:pt x="2204212" y="812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814059" y="4302505"/>
            <a:ext cx="168275" cy="86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25">
              <a:lnSpc>
                <a:spcPct val="1534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Tahoma"/>
                <a:cs typeface="Tahoma"/>
              </a:rPr>
              <a:t>a  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471916" y="488289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013320" y="4924678"/>
            <a:ext cx="133476" cy="1311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023861" y="466496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670420" y="5227230"/>
            <a:ext cx="1584325" cy="766445"/>
          </a:xfrm>
          <a:custGeom>
            <a:avLst/>
            <a:gdLst/>
            <a:ahLst/>
            <a:cxnLst/>
            <a:rect l="l" t="t" r="r" b="b"/>
            <a:pathLst>
              <a:path w="1584325" h="766445">
                <a:moveTo>
                  <a:pt x="0" y="766165"/>
                </a:moveTo>
                <a:lnTo>
                  <a:pt x="1584071" y="766165"/>
                </a:lnTo>
                <a:lnTo>
                  <a:pt x="1584071" y="0"/>
                </a:lnTo>
                <a:lnTo>
                  <a:pt x="0" y="0"/>
                </a:lnTo>
                <a:lnTo>
                  <a:pt x="0" y="766165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783196" y="5593346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24" y="0"/>
                </a:lnTo>
              </a:path>
            </a:pathLst>
          </a:custGeom>
          <a:ln w="14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758431" y="5244846"/>
            <a:ext cx="141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𝑥 − 𝑎 </a:t>
            </a:r>
            <a:r>
              <a:rPr sz="2700" baseline="-41666" dirty="0">
                <a:latin typeface="Cambria Math"/>
                <a:cs typeface="Cambria Math"/>
              </a:rPr>
              <a:t>= </a:t>
            </a:r>
            <a:r>
              <a:rPr sz="1800" dirty="0">
                <a:latin typeface="Cambria Math"/>
                <a:cs typeface="Cambria Math"/>
              </a:rPr>
              <a:t>𝑦 −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𝑐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6783831" y="5570982"/>
            <a:ext cx="1363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33119" algn="l"/>
              </a:tabLst>
            </a:pPr>
            <a:r>
              <a:rPr sz="1800" dirty="0">
                <a:latin typeface="Cambria Math"/>
                <a:cs typeface="Cambria Math"/>
              </a:rPr>
              <a:t>𝑏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𝑎	𝑑 −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616825" y="5593346"/>
            <a:ext cx="524510" cy="0"/>
          </a:xfrm>
          <a:custGeom>
            <a:avLst/>
            <a:gdLst/>
            <a:ahLst/>
            <a:cxnLst/>
            <a:rect l="l" t="t" r="r" b="b"/>
            <a:pathLst>
              <a:path w="524509">
                <a:moveTo>
                  <a:pt x="0" y="0"/>
                </a:moveTo>
                <a:lnTo>
                  <a:pt x="524255" y="0"/>
                </a:lnTo>
              </a:path>
            </a:pathLst>
          </a:custGeom>
          <a:ln w="14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436615" y="4208398"/>
            <a:ext cx="18415" cy="2614295"/>
          </a:xfrm>
          <a:custGeom>
            <a:avLst/>
            <a:gdLst/>
            <a:ahLst/>
            <a:cxnLst/>
            <a:rect l="l" t="t" r="r" b="b"/>
            <a:pathLst>
              <a:path w="18414" h="2614295">
                <a:moveTo>
                  <a:pt x="0" y="0"/>
                </a:moveTo>
                <a:lnTo>
                  <a:pt x="17907" y="26139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629400" y="6032639"/>
            <a:ext cx="2348230" cy="825500"/>
          </a:xfrm>
          <a:custGeom>
            <a:avLst/>
            <a:gdLst/>
            <a:ahLst/>
            <a:cxnLst/>
            <a:rect l="l" t="t" r="r" b="b"/>
            <a:pathLst>
              <a:path w="2348229" h="825500">
                <a:moveTo>
                  <a:pt x="0" y="825360"/>
                </a:moveTo>
                <a:lnTo>
                  <a:pt x="2348103" y="825360"/>
                </a:lnTo>
                <a:lnTo>
                  <a:pt x="2348103" y="0"/>
                </a:lnTo>
                <a:lnTo>
                  <a:pt x="0" y="0"/>
                </a:lnTo>
                <a:lnTo>
                  <a:pt x="0" y="8253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7562595" y="6435090"/>
            <a:ext cx="541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𝑏 −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562088" y="6457454"/>
            <a:ext cx="534670" cy="0"/>
          </a:xfrm>
          <a:custGeom>
            <a:avLst/>
            <a:gdLst/>
            <a:ahLst/>
            <a:cxnLst/>
            <a:rect l="l" t="t" r="r" b="b"/>
            <a:pathLst>
              <a:path w="534670">
                <a:moveTo>
                  <a:pt x="0" y="0"/>
                </a:moveTo>
                <a:lnTo>
                  <a:pt x="534161" y="0"/>
                </a:lnTo>
              </a:path>
            </a:pathLst>
          </a:custGeom>
          <a:ln w="144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6721093" y="6281928"/>
            <a:ext cx="2177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𝑦 = 𝑐 + </a:t>
            </a:r>
            <a:r>
              <a:rPr sz="2700" baseline="41666" dirty="0">
                <a:latin typeface="Cambria Math"/>
                <a:cs typeface="Cambria Math"/>
              </a:rPr>
              <a:t>𝑑 − 𝑐 </a:t>
            </a:r>
            <a:r>
              <a:rPr sz="1800" dirty="0">
                <a:latin typeface="Cambria Math"/>
                <a:cs typeface="Cambria Math"/>
              </a:rPr>
              <a:t>(𝑥 −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spc="20" dirty="0">
                <a:latin typeface="Cambria Math"/>
                <a:cs typeface="Cambria Math"/>
              </a:rPr>
              <a:t>𝑎)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418709" y="4208398"/>
            <a:ext cx="3559175" cy="0"/>
          </a:xfrm>
          <a:custGeom>
            <a:avLst/>
            <a:gdLst/>
            <a:ahLst/>
            <a:cxnLst/>
            <a:rect l="l" t="t" r="r" b="b"/>
            <a:pathLst>
              <a:path w="3559175">
                <a:moveTo>
                  <a:pt x="0" y="0"/>
                </a:moveTo>
                <a:lnTo>
                  <a:pt x="355879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1053" y="206248"/>
            <a:ext cx="60782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Window to Viewport </a:t>
            </a:r>
            <a:r>
              <a:rPr sz="3200" spc="-10" dirty="0">
                <a:solidFill>
                  <a:srgbClr val="000000"/>
                </a:solidFill>
              </a:rPr>
              <a:t>Mapping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218946" y="3433317"/>
            <a:ext cx="55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spc="-5" dirty="0">
                <a:solidFill>
                  <a:srgbClr val="001F5F"/>
                </a:solidFill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7120" y="3454907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Tahoma"/>
                <a:cs typeface="Tahoma"/>
              </a:rPr>
              <a:t>x</a:t>
            </a:r>
            <a:r>
              <a:rPr sz="1200" spc="-5" dirty="0">
                <a:latin typeface="Tahoma"/>
                <a:cs typeface="Tahoma"/>
              </a:rPr>
              <a:t>wmax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070" y="3292602"/>
            <a:ext cx="3384550" cy="0"/>
          </a:xfrm>
          <a:custGeom>
            <a:avLst/>
            <a:gdLst/>
            <a:ahLst/>
            <a:cxnLst/>
            <a:rect l="l" t="t" r="r" b="b"/>
            <a:pathLst>
              <a:path w="3384550">
                <a:moveTo>
                  <a:pt x="0" y="0"/>
                </a:moveTo>
                <a:lnTo>
                  <a:pt x="338436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8611" y="1608708"/>
            <a:ext cx="1905" cy="1921510"/>
          </a:xfrm>
          <a:custGeom>
            <a:avLst/>
            <a:gdLst/>
            <a:ahLst/>
            <a:cxnLst/>
            <a:rect l="l" t="t" r="r" b="b"/>
            <a:pathLst>
              <a:path w="1904" h="1921510">
                <a:moveTo>
                  <a:pt x="1549" y="0"/>
                </a:moveTo>
                <a:lnTo>
                  <a:pt x="0" y="192100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64741" y="2283447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77696" y="2257298"/>
            <a:ext cx="701675" cy="338455"/>
          </a:xfrm>
          <a:custGeom>
            <a:avLst/>
            <a:gdLst/>
            <a:ahLst/>
            <a:cxnLst/>
            <a:rect l="l" t="t" r="r" b="b"/>
            <a:pathLst>
              <a:path w="701675" h="338455">
                <a:moveTo>
                  <a:pt x="0" y="276478"/>
                </a:moveTo>
                <a:lnTo>
                  <a:pt x="47800" y="292923"/>
                </a:lnTo>
                <a:lnTo>
                  <a:pt x="95486" y="308308"/>
                </a:lnTo>
                <a:lnTo>
                  <a:pt x="142930" y="321573"/>
                </a:lnTo>
                <a:lnTo>
                  <a:pt x="190007" y="331660"/>
                </a:lnTo>
                <a:lnTo>
                  <a:pt x="236590" y="337508"/>
                </a:lnTo>
                <a:lnTo>
                  <a:pt x="282553" y="338058"/>
                </a:lnTo>
                <a:lnTo>
                  <a:pt x="327768" y="332249"/>
                </a:lnTo>
                <a:lnTo>
                  <a:pt x="372109" y="319024"/>
                </a:lnTo>
                <a:lnTo>
                  <a:pt x="410718" y="300436"/>
                </a:lnTo>
                <a:lnTo>
                  <a:pt x="448624" y="275902"/>
                </a:lnTo>
                <a:lnTo>
                  <a:pt x="485916" y="246163"/>
                </a:lnTo>
                <a:lnTo>
                  <a:pt x="522680" y="211962"/>
                </a:lnTo>
                <a:lnTo>
                  <a:pt x="559006" y="174041"/>
                </a:lnTo>
                <a:lnTo>
                  <a:pt x="594980" y="133143"/>
                </a:lnTo>
                <a:lnTo>
                  <a:pt x="630691" y="90008"/>
                </a:lnTo>
                <a:lnTo>
                  <a:pt x="666227" y="45379"/>
                </a:lnTo>
                <a:lnTo>
                  <a:pt x="701674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32685" y="2842514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64741" y="2842514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8611" y="2832354"/>
            <a:ext cx="668020" cy="0"/>
          </a:xfrm>
          <a:custGeom>
            <a:avLst/>
            <a:gdLst/>
            <a:ahLst/>
            <a:cxnLst/>
            <a:rect l="l" t="t" r="r" b="b"/>
            <a:pathLst>
              <a:path w="668019">
                <a:moveTo>
                  <a:pt x="66762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6546" y="2283841"/>
            <a:ext cx="668020" cy="0"/>
          </a:xfrm>
          <a:custGeom>
            <a:avLst/>
            <a:gdLst/>
            <a:ahLst/>
            <a:cxnLst/>
            <a:rect l="l" t="t" r="r" b="b"/>
            <a:pathLst>
              <a:path w="668019">
                <a:moveTo>
                  <a:pt x="667626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57523" y="3139694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r>
              <a:rPr sz="1800" spc="-7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564" y="1673352"/>
            <a:ext cx="604520" cy="136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Y</a:t>
            </a:r>
            <a:r>
              <a:rPr sz="1800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  <a:p>
            <a:pPr marL="69215" marR="48260" indent="-31750">
              <a:lnSpc>
                <a:spcPts val="4320"/>
              </a:lnSpc>
              <a:spcBef>
                <a:spcPts val="225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wmax  </a:t>
            </a: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91834" y="3439667"/>
            <a:ext cx="514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dirty="0">
                <a:solidFill>
                  <a:srgbClr val="001F5F"/>
                </a:solidFill>
                <a:latin typeface="Tahoma"/>
                <a:cs typeface="Tahoma"/>
              </a:rPr>
              <a:t>vmin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30007" y="3461257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Tahoma"/>
                <a:cs typeface="Tahoma"/>
              </a:rPr>
              <a:t>x</a:t>
            </a:r>
            <a:r>
              <a:rPr sz="1200" dirty="0">
                <a:latin typeface="Tahoma"/>
                <a:cs typeface="Tahoma"/>
              </a:rPr>
              <a:t>vmax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92521" y="3299078"/>
            <a:ext cx="3384550" cy="0"/>
          </a:xfrm>
          <a:custGeom>
            <a:avLst/>
            <a:gdLst/>
            <a:ahLst/>
            <a:cxnLst/>
            <a:rect l="l" t="t" r="r" b="b"/>
            <a:pathLst>
              <a:path w="3384550">
                <a:moveTo>
                  <a:pt x="0" y="0"/>
                </a:moveTo>
                <a:lnTo>
                  <a:pt x="338442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02629" y="1615186"/>
            <a:ext cx="3175" cy="1942464"/>
          </a:xfrm>
          <a:custGeom>
            <a:avLst/>
            <a:gdLst/>
            <a:ahLst/>
            <a:cxnLst/>
            <a:rect l="l" t="t" r="r" b="b"/>
            <a:pathLst>
              <a:path w="3175" h="1942464">
                <a:moveTo>
                  <a:pt x="0" y="0"/>
                </a:moveTo>
                <a:lnTo>
                  <a:pt x="2667" y="194246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37248" y="2289924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50076" y="2263775"/>
            <a:ext cx="702310" cy="338455"/>
          </a:xfrm>
          <a:custGeom>
            <a:avLst/>
            <a:gdLst/>
            <a:ahLst/>
            <a:cxnLst/>
            <a:rect l="l" t="t" r="r" b="b"/>
            <a:pathLst>
              <a:path w="702309" h="338455">
                <a:moveTo>
                  <a:pt x="0" y="276351"/>
                </a:moveTo>
                <a:lnTo>
                  <a:pt x="47842" y="292796"/>
                </a:lnTo>
                <a:lnTo>
                  <a:pt x="95559" y="308181"/>
                </a:lnTo>
                <a:lnTo>
                  <a:pt x="143026" y="321446"/>
                </a:lnTo>
                <a:lnTo>
                  <a:pt x="190119" y="331533"/>
                </a:lnTo>
                <a:lnTo>
                  <a:pt x="236711" y="337381"/>
                </a:lnTo>
                <a:lnTo>
                  <a:pt x="282678" y="337931"/>
                </a:lnTo>
                <a:lnTo>
                  <a:pt x="327895" y="332122"/>
                </a:lnTo>
                <a:lnTo>
                  <a:pt x="372237" y="318897"/>
                </a:lnTo>
                <a:lnTo>
                  <a:pt x="410845" y="300309"/>
                </a:lnTo>
                <a:lnTo>
                  <a:pt x="448751" y="275776"/>
                </a:lnTo>
                <a:lnTo>
                  <a:pt x="486043" y="246041"/>
                </a:lnTo>
                <a:lnTo>
                  <a:pt x="522807" y="211846"/>
                </a:lnTo>
                <a:lnTo>
                  <a:pt x="559133" y="173936"/>
                </a:lnTo>
                <a:lnTo>
                  <a:pt x="595107" y="133053"/>
                </a:lnTo>
                <a:lnTo>
                  <a:pt x="630818" y="89941"/>
                </a:lnTo>
                <a:lnTo>
                  <a:pt x="666354" y="45342"/>
                </a:lnTo>
                <a:lnTo>
                  <a:pt x="701801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05192" y="2848991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37248" y="2848991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8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46622" y="2838704"/>
            <a:ext cx="722630" cy="0"/>
          </a:xfrm>
          <a:custGeom>
            <a:avLst/>
            <a:gdLst/>
            <a:ahLst/>
            <a:cxnLst/>
            <a:rect l="l" t="t" r="r" b="b"/>
            <a:pathLst>
              <a:path w="722629">
                <a:moveTo>
                  <a:pt x="722122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89040" y="2290317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630411" y="3146043"/>
            <a:ext cx="2851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r>
              <a:rPr sz="1800" spc="-7" baseline="-20833" dirty="0">
                <a:latin typeface="Tahoma"/>
                <a:cs typeface="Tahoma"/>
              </a:rPr>
              <a:t>v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40452" y="1679702"/>
            <a:ext cx="556260" cy="81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ahoma"/>
                <a:cs typeface="Tahoma"/>
              </a:rPr>
              <a:t>Y</a:t>
            </a:r>
            <a:r>
              <a:rPr sz="1800" spc="-67" baseline="-20833" dirty="0">
                <a:latin typeface="Tahoma"/>
                <a:cs typeface="Tahoma"/>
              </a:rPr>
              <a:t>v</a:t>
            </a:r>
            <a:endParaRPr sz="1800" baseline="-20833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885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vmax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34385" y="2458211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50644" y="2598547"/>
            <a:ext cx="133476" cy="131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035554" y="2905251"/>
            <a:ext cx="2959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Tahoma"/>
                <a:cs typeface="Tahoma"/>
              </a:rPr>
              <a:t>w</a:t>
            </a:r>
            <a:r>
              <a:rPr sz="800" spc="114" dirty="0">
                <a:latin typeface="Tahoma"/>
                <a:cs typeface="Tahoma"/>
              </a:rPr>
              <a:t> </a:t>
            </a:r>
            <a:r>
              <a:rPr sz="800" spc="-5" dirty="0">
                <a:latin typeface="Tahoma"/>
                <a:cs typeface="Tahoma"/>
              </a:rPr>
              <a:t>w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01442" y="2816859"/>
            <a:ext cx="488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(x ,y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02535" y="2688589"/>
            <a:ext cx="821690" cy="240665"/>
          </a:xfrm>
          <a:custGeom>
            <a:avLst/>
            <a:gdLst/>
            <a:ahLst/>
            <a:cxnLst/>
            <a:rect l="l" t="t" r="r" b="b"/>
            <a:pathLst>
              <a:path w="821689" h="240664">
                <a:moveTo>
                  <a:pt x="36591" y="31139"/>
                </a:moveTo>
                <a:lnTo>
                  <a:pt x="24434" y="34675"/>
                </a:lnTo>
                <a:lnTo>
                  <a:pt x="33373" y="43416"/>
                </a:lnTo>
                <a:lnTo>
                  <a:pt x="818388" y="240411"/>
                </a:lnTo>
                <a:lnTo>
                  <a:pt x="821563" y="228092"/>
                </a:lnTo>
                <a:lnTo>
                  <a:pt x="36591" y="31139"/>
                </a:lnTo>
                <a:close/>
              </a:path>
              <a:path w="821689" h="240664">
                <a:moveTo>
                  <a:pt x="98551" y="0"/>
                </a:moveTo>
                <a:lnTo>
                  <a:pt x="95122" y="888"/>
                </a:lnTo>
                <a:lnTo>
                  <a:pt x="0" y="28575"/>
                </a:lnTo>
                <a:lnTo>
                  <a:pt x="70865" y="97789"/>
                </a:lnTo>
                <a:lnTo>
                  <a:pt x="73278" y="100202"/>
                </a:lnTo>
                <a:lnTo>
                  <a:pt x="77343" y="100202"/>
                </a:lnTo>
                <a:lnTo>
                  <a:pt x="79756" y="97662"/>
                </a:lnTo>
                <a:lnTo>
                  <a:pt x="82295" y="95250"/>
                </a:lnTo>
                <a:lnTo>
                  <a:pt x="82168" y="91186"/>
                </a:lnTo>
                <a:lnTo>
                  <a:pt x="79756" y="88773"/>
                </a:lnTo>
                <a:lnTo>
                  <a:pt x="33373" y="43416"/>
                </a:lnTo>
                <a:lnTo>
                  <a:pt x="10668" y="37719"/>
                </a:lnTo>
                <a:lnTo>
                  <a:pt x="13715" y="25400"/>
                </a:lnTo>
                <a:lnTo>
                  <a:pt x="56324" y="25400"/>
                </a:lnTo>
                <a:lnTo>
                  <a:pt x="98678" y="13081"/>
                </a:lnTo>
                <a:lnTo>
                  <a:pt x="101981" y="12192"/>
                </a:lnTo>
                <a:lnTo>
                  <a:pt x="104012" y="8636"/>
                </a:lnTo>
                <a:lnTo>
                  <a:pt x="102996" y="5207"/>
                </a:lnTo>
                <a:lnTo>
                  <a:pt x="101981" y="1905"/>
                </a:lnTo>
                <a:lnTo>
                  <a:pt x="98551" y="0"/>
                </a:lnTo>
                <a:close/>
              </a:path>
              <a:path w="821689" h="240664">
                <a:moveTo>
                  <a:pt x="13715" y="25400"/>
                </a:moveTo>
                <a:lnTo>
                  <a:pt x="10668" y="37719"/>
                </a:lnTo>
                <a:lnTo>
                  <a:pt x="33373" y="43416"/>
                </a:lnTo>
                <a:lnTo>
                  <a:pt x="27546" y="37719"/>
                </a:lnTo>
                <a:lnTo>
                  <a:pt x="13969" y="37719"/>
                </a:lnTo>
                <a:lnTo>
                  <a:pt x="16637" y="27050"/>
                </a:lnTo>
                <a:lnTo>
                  <a:pt x="20296" y="27050"/>
                </a:lnTo>
                <a:lnTo>
                  <a:pt x="13715" y="25400"/>
                </a:lnTo>
                <a:close/>
              </a:path>
              <a:path w="821689" h="240664">
                <a:moveTo>
                  <a:pt x="16637" y="27050"/>
                </a:moveTo>
                <a:lnTo>
                  <a:pt x="13969" y="37719"/>
                </a:lnTo>
                <a:lnTo>
                  <a:pt x="24434" y="34675"/>
                </a:lnTo>
                <a:lnTo>
                  <a:pt x="16637" y="27050"/>
                </a:lnTo>
                <a:close/>
              </a:path>
              <a:path w="821689" h="240664">
                <a:moveTo>
                  <a:pt x="24434" y="34675"/>
                </a:moveTo>
                <a:lnTo>
                  <a:pt x="13969" y="37719"/>
                </a:lnTo>
                <a:lnTo>
                  <a:pt x="27546" y="37719"/>
                </a:lnTo>
                <a:lnTo>
                  <a:pt x="24434" y="34675"/>
                </a:lnTo>
                <a:close/>
              </a:path>
              <a:path w="821689" h="240664">
                <a:moveTo>
                  <a:pt x="20296" y="27050"/>
                </a:moveTo>
                <a:lnTo>
                  <a:pt x="16637" y="27050"/>
                </a:lnTo>
                <a:lnTo>
                  <a:pt x="24434" y="34675"/>
                </a:lnTo>
                <a:lnTo>
                  <a:pt x="36591" y="31139"/>
                </a:lnTo>
                <a:lnTo>
                  <a:pt x="20296" y="27050"/>
                </a:lnTo>
                <a:close/>
              </a:path>
              <a:path w="821689" h="240664">
                <a:moveTo>
                  <a:pt x="56324" y="25400"/>
                </a:moveTo>
                <a:lnTo>
                  <a:pt x="13715" y="25400"/>
                </a:lnTo>
                <a:lnTo>
                  <a:pt x="36591" y="31139"/>
                </a:lnTo>
                <a:lnTo>
                  <a:pt x="5632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045706" y="2574035"/>
            <a:ext cx="133476" cy="1313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857490" y="2264537"/>
            <a:ext cx="965200" cy="73596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sz="1800" dirty="0">
                <a:latin typeface="Tahoma"/>
                <a:cs typeface="Tahoma"/>
              </a:rPr>
              <a:t>Viewport</a:t>
            </a:r>
            <a:endParaRPr sz="1800">
              <a:latin typeface="Tahoma"/>
              <a:cs typeface="Tahoma"/>
            </a:endParaRPr>
          </a:p>
          <a:p>
            <a:pPr marR="45085" algn="ctr">
              <a:lnSpc>
                <a:spcPct val="100000"/>
              </a:lnSpc>
              <a:spcBef>
                <a:spcPts val="800"/>
              </a:spcBef>
            </a:pPr>
            <a:r>
              <a:rPr sz="1200" spc="-15" dirty="0">
                <a:latin typeface="Tahoma"/>
                <a:cs typeface="Tahoma"/>
              </a:rPr>
              <a:t>(x</a:t>
            </a:r>
            <a:r>
              <a:rPr sz="1200" spc="-22" baseline="-20833" dirty="0">
                <a:latin typeface="Tahoma"/>
                <a:cs typeface="Tahoma"/>
              </a:rPr>
              <a:t>v</a:t>
            </a:r>
            <a:r>
              <a:rPr sz="1200" spc="-15" dirty="0">
                <a:latin typeface="Tahoma"/>
                <a:cs typeface="Tahoma"/>
              </a:rPr>
              <a:t>,y</a:t>
            </a:r>
            <a:r>
              <a:rPr sz="1200" spc="-22" baseline="-20833" dirty="0">
                <a:latin typeface="Tahoma"/>
                <a:cs typeface="Tahoma"/>
              </a:rPr>
              <a:t>v</a:t>
            </a:r>
            <a:r>
              <a:rPr sz="1200" spc="-1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197597" y="2663951"/>
            <a:ext cx="821690" cy="240665"/>
          </a:xfrm>
          <a:custGeom>
            <a:avLst/>
            <a:gdLst/>
            <a:ahLst/>
            <a:cxnLst/>
            <a:rect l="l" t="t" r="r" b="b"/>
            <a:pathLst>
              <a:path w="821690" h="240664">
                <a:moveTo>
                  <a:pt x="36591" y="31266"/>
                </a:moveTo>
                <a:lnTo>
                  <a:pt x="24446" y="34798"/>
                </a:lnTo>
                <a:lnTo>
                  <a:pt x="33419" y="43555"/>
                </a:lnTo>
                <a:lnTo>
                  <a:pt x="818387" y="240537"/>
                </a:lnTo>
                <a:lnTo>
                  <a:pt x="821562" y="228219"/>
                </a:lnTo>
                <a:lnTo>
                  <a:pt x="36591" y="31266"/>
                </a:lnTo>
                <a:close/>
              </a:path>
              <a:path w="821690" h="240664">
                <a:moveTo>
                  <a:pt x="98551" y="0"/>
                </a:moveTo>
                <a:lnTo>
                  <a:pt x="0" y="28575"/>
                </a:lnTo>
                <a:lnTo>
                  <a:pt x="70866" y="97917"/>
                </a:lnTo>
                <a:lnTo>
                  <a:pt x="73405" y="100330"/>
                </a:lnTo>
                <a:lnTo>
                  <a:pt x="77343" y="100330"/>
                </a:lnTo>
                <a:lnTo>
                  <a:pt x="79755" y="97789"/>
                </a:lnTo>
                <a:lnTo>
                  <a:pt x="82296" y="95250"/>
                </a:lnTo>
                <a:lnTo>
                  <a:pt x="82169" y="91312"/>
                </a:lnTo>
                <a:lnTo>
                  <a:pt x="79755" y="88773"/>
                </a:lnTo>
                <a:lnTo>
                  <a:pt x="33419" y="43555"/>
                </a:lnTo>
                <a:lnTo>
                  <a:pt x="10668" y="37846"/>
                </a:lnTo>
                <a:lnTo>
                  <a:pt x="13716" y="25526"/>
                </a:lnTo>
                <a:lnTo>
                  <a:pt x="56324" y="25526"/>
                </a:lnTo>
                <a:lnTo>
                  <a:pt x="102107" y="12192"/>
                </a:lnTo>
                <a:lnTo>
                  <a:pt x="104012" y="8762"/>
                </a:lnTo>
                <a:lnTo>
                  <a:pt x="102997" y="5334"/>
                </a:lnTo>
                <a:lnTo>
                  <a:pt x="101980" y="2032"/>
                </a:lnTo>
                <a:lnTo>
                  <a:pt x="98551" y="0"/>
                </a:lnTo>
                <a:close/>
              </a:path>
              <a:path w="821690" h="240664">
                <a:moveTo>
                  <a:pt x="13716" y="25526"/>
                </a:moveTo>
                <a:lnTo>
                  <a:pt x="10668" y="37846"/>
                </a:lnTo>
                <a:lnTo>
                  <a:pt x="33419" y="43555"/>
                </a:lnTo>
                <a:lnTo>
                  <a:pt x="27568" y="37846"/>
                </a:lnTo>
                <a:lnTo>
                  <a:pt x="13970" y="37846"/>
                </a:lnTo>
                <a:lnTo>
                  <a:pt x="16636" y="27177"/>
                </a:lnTo>
                <a:lnTo>
                  <a:pt x="20296" y="27177"/>
                </a:lnTo>
                <a:lnTo>
                  <a:pt x="13716" y="25526"/>
                </a:lnTo>
                <a:close/>
              </a:path>
              <a:path w="821690" h="240664">
                <a:moveTo>
                  <a:pt x="16636" y="27177"/>
                </a:moveTo>
                <a:lnTo>
                  <a:pt x="13970" y="37846"/>
                </a:lnTo>
                <a:lnTo>
                  <a:pt x="24446" y="34798"/>
                </a:lnTo>
                <a:lnTo>
                  <a:pt x="16636" y="27177"/>
                </a:lnTo>
                <a:close/>
              </a:path>
              <a:path w="821690" h="240664">
                <a:moveTo>
                  <a:pt x="24446" y="34798"/>
                </a:moveTo>
                <a:lnTo>
                  <a:pt x="13970" y="37846"/>
                </a:lnTo>
                <a:lnTo>
                  <a:pt x="27568" y="37846"/>
                </a:lnTo>
                <a:lnTo>
                  <a:pt x="24446" y="34798"/>
                </a:lnTo>
                <a:close/>
              </a:path>
              <a:path w="821690" h="240664">
                <a:moveTo>
                  <a:pt x="20296" y="27177"/>
                </a:moveTo>
                <a:lnTo>
                  <a:pt x="16636" y="27177"/>
                </a:lnTo>
                <a:lnTo>
                  <a:pt x="24446" y="34798"/>
                </a:lnTo>
                <a:lnTo>
                  <a:pt x="36591" y="31266"/>
                </a:lnTo>
                <a:lnTo>
                  <a:pt x="20296" y="27177"/>
                </a:lnTo>
                <a:close/>
              </a:path>
              <a:path w="821690" h="240664">
                <a:moveTo>
                  <a:pt x="56324" y="25526"/>
                </a:moveTo>
                <a:lnTo>
                  <a:pt x="13716" y="25526"/>
                </a:lnTo>
                <a:lnTo>
                  <a:pt x="36591" y="31266"/>
                </a:lnTo>
                <a:lnTo>
                  <a:pt x="56324" y="25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51523" y="973061"/>
            <a:ext cx="5781040" cy="369570"/>
          </a:xfrm>
          <a:prstGeom prst="rect">
            <a:avLst/>
          </a:prstGeom>
          <a:solidFill>
            <a:srgbClr val="FFF5CC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sz="1800" dirty="0">
                <a:latin typeface="Tahoma"/>
                <a:cs typeface="Tahoma"/>
              </a:rPr>
              <a:t>Let a </a:t>
            </a:r>
            <a:r>
              <a:rPr sz="1800" spc="-5" dirty="0">
                <a:latin typeface="Tahoma"/>
                <a:cs typeface="Tahoma"/>
              </a:rPr>
              <a:t>window </a:t>
            </a:r>
            <a:r>
              <a:rPr sz="1800" dirty="0">
                <a:latin typeface="Tahoma"/>
                <a:cs typeface="Tahoma"/>
              </a:rPr>
              <a:t>point </a:t>
            </a:r>
            <a:r>
              <a:rPr sz="1800" spc="-15" dirty="0">
                <a:latin typeface="Tahoma"/>
                <a:cs typeface="Tahoma"/>
              </a:rPr>
              <a:t>(x</a:t>
            </a:r>
            <a:r>
              <a:rPr sz="1800" spc="-22" baseline="-20833" dirty="0">
                <a:latin typeface="Tahoma"/>
                <a:cs typeface="Tahoma"/>
              </a:rPr>
              <a:t>w</a:t>
            </a:r>
            <a:r>
              <a:rPr sz="1800" spc="-15" dirty="0">
                <a:latin typeface="Tahoma"/>
                <a:cs typeface="Tahoma"/>
              </a:rPr>
              <a:t>, </a:t>
            </a:r>
            <a:r>
              <a:rPr sz="1800" spc="-5" dirty="0">
                <a:latin typeface="Tahoma"/>
                <a:cs typeface="Tahoma"/>
              </a:rPr>
              <a:t>y</a:t>
            </a:r>
            <a:r>
              <a:rPr sz="1800" spc="-7" baseline="-20833" dirty="0">
                <a:latin typeface="Tahoma"/>
                <a:cs typeface="Tahoma"/>
              </a:rPr>
              <a:t>w</a:t>
            </a:r>
            <a:r>
              <a:rPr sz="1800" spc="-5" dirty="0">
                <a:latin typeface="Tahoma"/>
                <a:cs typeface="Tahoma"/>
              </a:rPr>
              <a:t>) </a:t>
            </a:r>
            <a:r>
              <a:rPr sz="1800" dirty="0">
                <a:latin typeface="Tahoma"/>
                <a:cs typeface="Tahoma"/>
              </a:rPr>
              <a:t>mapping </a:t>
            </a:r>
            <a:r>
              <a:rPr sz="1800" spc="-5" dirty="0">
                <a:latin typeface="Tahoma"/>
                <a:cs typeface="Tahoma"/>
              </a:rPr>
              <a:t>to viewport</a:t>
            </a:r>
            <a:r>
              <a:rPr sz="1800" spc="-15" dirty="0">
                <a:latin typeface="Tahoma"/>
                <a:cs typeface="Tahoma"/>
              </a:rPr>
              <a:t> (x</a:t>
            </a:r>
            <a:r>
              <a:rPr sz="1800" spc="-22" baseline="-20833" dirty="0">
                <a:latin typeface="Tahoma"/>
                <a:cs typeface="Tahoma"/>
              </a:rPr>
              <a:t>v,</a:t>
            </a:r>
            <a:r>
              <a:rPr sz="1800" spc="-15" dirty="0">
                <a:latin typeface="Tahoma"/>
                <a:cs typeface="Tahoma"/>
              </a:rPr>
              <a:t>y</a:t>
            </a:r>
            <a:r>
              <a:rPr sz="1800" spc="-22" baseline="-20833" dirty="0">
                <a:latin typeface="Tahoma"/>
                <a:cs typeface="Tahoma"/>
              </a:rPr>
              <a:t>v)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569080" y="2690733"/>
            <a:ext cx="1518285" cy="257175"/>
          </a:xfrm>
          <a:custGeom>
            <a:avLst/>
            <a:gdLst/>
            <a:ahLst/>
            <a:cxnLst/>
            <a:rect l="l" t="t" r="r" b="b"/>
            <a:pathLst>
              <a:path w="1518285" h="257175">
                <a:moveTo>
                  <a:pt x="1355228" y="157199"/>
                </a:moveTo>
                <a:lnTo>
                  <a:pt x="1274953" y="203596"/>
                </a:lnTo>
                <a:lnTo>
                  <a:pt x="1266485" y="211101"/>
                </a:lnTo>
                <a:lnTo>
                  <a:pt x="1261697" y="220964"/>
                </a:lnTo>
                <a:lnTo>
                  <a:pt x="1260933" y="231921"/>
                </a:lnTo>
                <a:lnTo>
                  <a:pt x="1264539" y="242712"/>
                </a:lnTo>
                <a:lnTo>
                  <a:pt x="1272041" y="251180"/>
                </a:lnTo>
                <a:lnTo>
                  <a:pt x="1281890" y="255968"/>
                </a:lnTo>
                <a:lnTo>
                  <a:pt x="1292810" y="256732"/>
                </a:lnTo>
                <a:lnTo>
                  <a:pt x="1303528" y="253126"/>
                </a:lnTo>
                <a:lnTo>
                  <a:pt x="1468774" y="157622"/>
                </a:lnTo>
                <a:lnTo>
                  <a:pt x="1461008" y="157622"/>
                </a:lnTo>
                <a:lnTo>
                  <a:pt x="1355228" y="157199"/>
                </a:lnTo>
                <a:close/>
              </a:path>
              <a:path w="1518285" h="257175">
                <a:moveTo>
                  <a:pt x="1404375" y="128794"/>
                </a:moveTo>
                <a:lnTo>
                  <a:pt x="1355228" y="157199"/>
                </a:lnTo>
                <a:lnTo>
                  <a:pt x="1461008" y="157622"/>
                </a:lnTo>
                <a:lnTo>
                  <a:pt x="1461025" y="153685"/>
                </a:lnTo>
                <a:lnTo>
                  <a:pt x="1446657" y="153685"/>
                </a:lnTo>
                <a:lnTo>
                  <a:pt x="1404375" y="128794"/>
                </a:lnTo>
                <a:close/>
              </a:path>
              <a:path w="1518285" h="257175">
                <a:moveTo>
                  <a:pt x="1293824" y="0"/>
                </a:moveTo>
                <a:lnTo>
                  <a:pt x="1282890" y="682"/>
                </a:lnTo>
                <a:lnTo>
                  <a:pt x="1273004" y="5413"/>
                </a:lnTo>
                <a:lnTo>
                  <a:pt x="1265428" y="13858"/>
                </a:lnTo>
                <a:lnTo>
                  <a:pt x="1261729" y="24578"/>
                </a:lnTo>
                <a:lnTo>
                  <a:pt x="1262411" y="35512"/>
                </a:lnTo>
                <a:lnTo>
                  <a:pt x="1267142" y="45398"/>
                </a:lnTo>
                <a:lnTo>
                  <a:pt x="1275588" y="52974"/>
                </a:lnTo>
                <a:lnTo>
                  <a:pt x="1355550" y="100050"/>
                </a:lnTo>
                <a:lnTo>
                  <a:pt x="1461262" y="100472"/>
                </a:lnTo>
                <a:lnTo>
                  <a:pt x="1461008" y="157622"/>
                </a:lnTo>
                <a:lnTo>
                  <a:pt x="1468774" y="157622"/>
                </a:lnTo>
                <a:lnTo>
                  <a:pt x="1517777" y="129301"/>
                </a:lnTo>
                <a:lnTo>
                  <a:pt x="1304544" y="3698"/>
                </a:lnTo>
                <a:lnTo>
                  <a:pt x="1293824" y="0"/>
                </a:lnTo>
                <a:close/>
              </a:path>
              <a:path w="1518285" h="257175">
                <a:moveTo>
                  <a:pt x="254" y="94630"/>
                </a:moveTo>
                <a:lnTo>
                  <a:pt x="0" y="151780"/>
                </a:lnTo>
                <a:lnTo>
                  <a:pt x="1355228" y="157199"/>
                </a:lnTo>
                <a:lnTo>
                  <a:pt x="1404375" y="128794"/>
                </a:lnTo>
                <a:lnTo>
                  <a:pt x="1355550" y="100050"/>
                </a:lnTo>
                <a:lnTo>
                  <a:pt x="254" y="94630"/>
                </a:lnTo>
                <a:close/>
              </a:path>
              <a:path w="1518285" h="257175">
                <a:moveTo>
                  <a:pt x="1446784" y="104282"/>
                </a:moveTo>
                <a:lnTo>
                  <a:pt x="1404375" y="128794"/>
                </a:lnTo>
                <a:lnTo>
                  <a:pt x="1446657" y="153685"/>
                </a:lnTo>
                <a:lnTo>
                  <a:pt x="1446784" y="104282"/>
                </a:lnTo>
                <a:close/>
              </a:path>
              <a:path w="1518285" h="257175">
                <a:moveTo>
                  <a:pt x="1461245" y="104282"/>
                </a:moveTo>
                <a:lnTo>
                  <a:pt x="1446784" y="104282"/>
                </a:lnTo>
                <a:lnTo>
                  <a:pt x="1446657" y="153685"/>
                </a:lnTo>
                <a:lnTo>
                  <a:pt x="1461025" y="153685"/>
                </a:lnTo>
                <a:lnTo>
                  <a:pt x="1461245" y="104282"/>
                </a:lnTo>
                <a:close/>
              </a:path>
              <a:path w="1518285" h="257175">
                <a:moveTo>
                  <a:pt x="1355550" y="100050"/>
                </a:moveTo>
                <a:lnTo>
                  <a:pt x="1404375" y="128794"/>
                </a:lnTo>
                <a:lnTo>
                  <a:pt x="1446784" y="104282"/>
                </a:lnTo>
                <a:lnTo>
                  <a:pt x="1461245" y="104282"/>
                </a:lnTo>
                <a:lnTo>
                  <a:pt x="1461262" y="100472"/>
                </a:lnTo>
                <a:lnTo>
                  <a:pt x="1355550" y="1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831082" y="2421382"/>
            <a:ext cx="811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Tahoma"/>
                <a:cs typeface="Tahoma"/>
              </a:rPr>
              <a:t>View</a:t>
            </a:r>
            <a:r>
              <a:rPr sz="1800" spc="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C00000"/>
                </a:solidFill>
                <a:latin typeface="Tahoma"/>
                <a:cs typeface="Tahoma"/>
              </a:rPr>
              <a:t>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22802" y="2845815"/>
            <a:ext cx="20631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C00000"/>
                </a:solidFill>
                <a:latin typeface="Tahoma"/>
                <a:cs typeface="Tahoma"/>
              </a:rPr>
              <a:t>Transformation</a:t>
            </a:r>
            <a:r>
              <a:rPr sz="1800" spc="-2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700" spc="-7" baseline="38580" dirty="0">
                <a:latin typeface="Tahoma"/>
                <a:cs typeface="Tahoma"/>
              </a:rPr>
              <a:t>y</a:t>
            </a:r>
            <a:r>
              <a:rPr sz="1800" spc="-7" baseline="37037" dirty="0">
                <a:latin typeface="Tahoma"/>
                <a:cs typeface="Tahoma"/>
              </a:rPr>
              <a:t>vmin</a:t>
            </a:r>
            <a:endParaRPr sz="1800" baseline="37037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6938" y="5480189"/>
            <a:ext cx="3119755" cy="400050"/>
          </a:xfrm>
          <a:prstGeom prst="rect">
            <a:avLst/>
          </a:prstGeom>
          <a:solidFill>
            <a:srgbClr val="FFEB99"/>
          </a:solidFill>
        </p:spPr>
        <p:txBody>
          <a:bodyPr vert="horz" wrap="square" lIns="0" tIns="882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695"/>
              </a:spcBef>
            </a:pPr>
            <a:r>
              <a:rPr sz="2700" spc="7" baseline="10802" dirty="0">
                <a:latin typeface="Cambria Math"/>
                <a:cs typeface="Cambria Math"/>
              </a:rPr>
              <a:t>𝑥</a:t>
            </a:r>
            <a:r>
              <a:rPr sz="1300" spc="5" dirty="0">
                <a:latin typeface="Cambria Math"/>
                <a:cs typeface="Cambria Math"/>
              </a:rPr>
              <a:t>𝑣 </a:t>
            </a:r>
            <a:r>
              <a:rPr sz="2700" baseline="10802" dirty="0">
                <a:latin typeface="Cambria Math"/>
                <a:cs typeface="Cambria Math"/>
              </a:rPr>
              <a:t>= </a:t>
            </a:r>
            <a:r>
              <a:rPr sz="2700" spc="89" baseline="10802" dirty="0">
                <a:latin typeface="Cambria Math"/>
                <a:cs typeface="Cambria Math"/>
              </a:rPr>
              <a:t>𝑥</a:t>
            </a:r>
            <a:r>
              <a:rPr sz="1300" spc="60" dirty="0">
                <a:latin typeface="Cambria Math"/>
                <a:cs typeface="Cambria Math"/>
              </a:rPr>
              <a:t>𝑣𝑚𝑖𝑛 </a:t>
            </a:r>
            <a:r>
              <a:rPr sz="2700" baseline="10802" dirty="0">
                <a:latin typeface="Cambria Math"/>
                <a:cs typeface="Cambria Math"/>
              </a:rPr>
              <a:t>+ 𝑆</a:t>
            </a:r>
            <a:r>
              <a:rPr sz="1300" dirty="0">
                <a:latin typeface="Cambria Math"/>
                <a:cs typeface="Cambria Math"/>
              </a:rPr>
              <a:t>𝑥 </a:t>
            </a:r>
            <a:r>
              <a:rPr sz="2700" spc="44" baseline="10802" dirty="0">
                <a:latin typeface="Cambria Math"/>
                <a:cs typeface="Cambria Math"/>
              </a:rPr>
              <a:t>(𝑥</a:t>
            </a:r>
            <a:r>
              <a:rPr sz="1300" spc="30" dirty="0">
                <a:latin typeface="Cambria Math"/>
                <a:cs typeface="Cambria Math"/>
              </a:rPr>
              <a:t>𝑤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525" baseline="10802" dirty="0">
                <a:latin typeface="Cambria Math"/>
                <a:cs typeface="Cambria Math"/>
              </a:rPr>
              <a:t> </a:t>
            </a:r>
            <a:r>
              <a:rPr sz="2700" spc="112" baseline="10802" dirty="0">
                <a:latin typeface="Cambria Math"/>
                <a:cs typeface="Cambria Math"/>
              </a:rPr>
              <a:t>𝑥</a:t>
            </a:r>
            <a:r>
              <a:rPr sz="1300" spc="75" dirty="0">
                <a:latin typeface="Cambria Math"/>
                <a:cs typeface="Cambria Math"/>
              </a:rPr>
              <a:t>𝑤𝑚𝑖𝑛</a:t>
            </a:r>
            <a:r>
              <a:rPr sz="2700" spc="112" baseline="10802" dirty="0">
                <a:latin typeface="Cambria Math"/>
                <a:cs typeface="Cambria Math"/>
              </a:rPr>
              <a:t>)</a:t>
            </a:r>
            <a:endParaRPr sz="2700" baseline="10802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74644" y="5470372"/>
            <a:ext cx="3150235" cy="400050"/>
          </a:xfrm>
          <a:prstGeom prst="rect">
            <a:avLst/>
          </a:prstGeom>
          <a:solidFill>
            <a:srgbClr val="FFEB99"/>
          </a:solidFill>
        </p:spPr>
        <p:txBody>
          <a:bodyPr vert="horz" wrap="square" lIns="0" tIns="8445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665"/>
              </a:spcBef>
            </a:pPr>
            <a:r>
              <a:rPr sz="2700" spc="-97" baseline="10802" dirty="0">
                <a:latin typeface="Cambria Math"/>
                <a:cs typeface="Cambria Math"/>
              </a:rPr>
              <a:t>𝑦</a:t>
            </a:r>
            <a:r>
              <a:rPr sz="1300" spc="-65" dirty="0">
                <a:latin typeface="Cambria Math"/>
                <a:cs typeface="Cambria Math"/>
              </a:rPr>
              <a:t>𝑣 </a:t>
            </a:r>
            <a:r>
              <a:rPr sz="2700" baseline="10802" dirty="0">
                <a:latin typeface="Cambria Math"/>
                <a:cs typeface="Cambria Math"/>
              </a:rPr>
              <a:t>= </a:t>
            </a:r>
            <a:r>
              <a:rPr sz="2700" spc="82" baseline="10802" dirty="0">
                <a:latin typeface="Cambria Math"/>
                <a:cs typeface="Cambria Math"/>
              </a:rPr>
              <a:t>𝑦</a:t>
            </a:r>
            <a:r>
              <a:rPr sz="1300" spc="55" dirty="0">
                <a:latin typeface="Cambria Math"/>
                <a:cs typeface="Cambria Math"/>
              </a:rPr>
              <a:t>𝑣𝑚𝑖𝑛 </a:t>
            </a:r>
            <a:r>
              <a:rPr sz="2700" baseline="10802" dirty="0">
                <a:latin typeface="Cambria Math"/>
                <a:cs typeface="Cambria Math"/>
              </a:rPr>
              <a:t>+ </a:t>
            </a:r>
            <a:r>
              <a:rPr sz="2700" spc="15" baseline="10802" dirty="0">
                <a:latin typeface="Cambria Math"/>
                <a:cs typeface="Cambria Math"/>
              </a:rPr>
              <a:t>𝑆</a:t>
            </a:r>
            <a:r>
              <a:rPr sz="1300" spc="10" dirty="0">
                <a:latin typeface="Cambria Math"/>
                <a:cs typeface="Cambria Math"/>
              </a:rPr>
              <a:t>𝑦 </a:t>
            </a:r>
            <a:r>
              <a:rPr sz="2700" spc="-22" baseline="10802" dirty="0">
                <a:latin typeface="Cambria Math"/>
                <a:cs typeface="Cambria Math"/>
              </a:rPr>
              <a:t>(𝑦</a:t>
            </a:r>
            <a:r>
              <a:rPr sz="1300" spc="-15" dirty="0">
                <a:latin typeface="Cambria Math"/>
                <a:cs typeface="Cambria Math"/>
              </a:rPr>
              <a:t>𝑤 </a:t>
            </a:r>
            <a:r>
              <a:rPr sz="2700" baseline="10802" dirty="0">
                <a:latin typeface="Cambria Math"/>
                <a:cs typeface="Cambria Math"/>
              </a:rPr>
              <a:t>−</a:t>
            </a:r>
            <a:r>
              <a:rPr sz="2700" spc="-75" baseline="10802" dirty="0">
                <a:latin typeface="Cambria Math"/>
                <a:cs typeface="Cambria Math"/>
              </a:rPr>
              <a:t> </a:t>
            </a:r>
            <a:r>
              <a:rPr sz="2700" spc="104" baseline="10802" dirty="0">
                <a:latin typeface="Cambria Math"/>
                <a:cs typeface="Cambria Math"/>
              </a:rPr>
              <a:t>𝑦</a:t>
            </a:r>
            <a:r>
              <a:rPr sz="1300" spc="70" dirty="0">
                <a:latin typeface="Cambria Math"/>
                <a:cs typeface="Cambria Math"/>
              </a:rPr>
              <a:t>𝑤𝑚𝑖𝑛</a:t>
            </a:r>
            <a:r>
              <a:rPr sz="2700" spc="104" baseline="10802" dirty="0">
                <a:latin typeface="Cambria Math"/>
                <a:cs typeface="Cambria Math"/>
              </a:rPr>
              <a:t>)</a:t>
            </a:r>
            <a:endParaRPr sz="2700" baseline="10802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966966" y="3793997"/>
            <a:ext cx="2101850" cy="1566545"/>
          </a:xfrm>
          <a:custGeom>
            <a:avLst/>
            <a:gdLst/>
            <a:ahLst/>
            <a:cxnLst/>
            <a:rect l="l" t="t" r="r" b="b"/>
            <a:pathLst>
              <a:path w="2101850" h="1566545">
                <a:moveTo>
                  <a:pt x="0" y="1566164"/>
                </a:moveTo>
                <a:lnTo>
                  <a:pt x="2101342" y="1566164"/>
                </a:lnTo>
                <a:lnTo>
                  <a:pt x="2101342" y="0"/>
                </a:lnTo>
                <a:lnTo>
                  <a:pt x="0" y="0"/>
                </a:lnTo>
                <a:lnTo>
                  <a:pt x="0" y="1566164"/>
                </a:lnTo>
                <a:close/>
              </a:path>
            </a:pathLst>
          </a:custGeom>
          <a:solidFill>
            <a:srgbClr val="FFEB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410195" y="3822700"/>
            <a:ext cx="121412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Cambria Math"/>
                <a:cs typeface="Cambria Math"/>
              </a:rPr>
              <a:t>𝑥</a:t>
            </a:r>
            <a:r>
              <a:rPr sz="1950" spc="89" baseline="-14957" dirty="0">
                <a:latin typeface="Cambria Math"/>
                <a:cs typeface="Cambria Math"/>
              </a:rPr>
              <a:t>𝑣𝑚𝑖𝑛 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30</a:t>
            </a:r>
            <a:endParaRPr sz="18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spc="65" dirty="0">
                <a:latin typeface="Cambria Math"/>
                <a:cs typeface="Cambria Math"/>
              </a:rPr>
              <a:t>𝑥</a:t>
            </a:r>
            <a:r>
              <a:rPr sz="1950" spc="97" baseline="-14957" dirty="0">
                <a:latin typeface="Cambria Math"/>
                <a:cs typeface="Cambria Math"/>
              </a:rPr>
              <a:t>𝑣𝑚𝑎𝑥 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60</a:t>
            </a:r>
            <a:endParaRPr sz="1800" dirty="0">
              <a:latin typeface="Cambria Math"/>
              <a:cs typeface="Cambria Math"/>
            </a:endParaRPr>
          </a:p>
          <a:p>
            <a:pPr marL="55880">
              <a:lnSpc>
                <a:spcPct val="100000"/>
              </a:lnSpc>
            </a:pPr>
            <a:r>
              <a:rPr sz="1800" spc="55" dirty="0">
                <a:latin typeface="Cambria Math"/>
                <a:cs typeface="Cambria Math"/>
              </a:rPr>
              <a:t>𝑦</a:t>
            </a:r>
            <a:r>
              <a:rPr sz="1950" spc="82" baseline="-14957" dirty="0">
                <a:latin typeface="Cambria Math"/>
                <a:cs typeface="Cambria Math"/>
              </a:rPr>
              <a:t>𝑣𝑚𝑖𝑛 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40</a:t>
            </a:r>
            <a:endParaRPr sz="1800" dirty="0">
              <a:latin typeface="Cambria Math"/>
              <a:cs typeface="Cambria Math"/>
            </a:endParaRPr>
          </a:p>
          <a:p>
            <a:pPr marL="81915" marR="48260" indent="-26034">
              <a:lnSpc>
                <a:spcPct val="100000"/>
              </a:lnSpc>
            </a:pPr>
            <a:r>
              <a:rPr sz="1800" spc="55" dirty="0">
                <a:latin typeface="Cambria Math"/>
                <a:cs typeface="Cambria Math"/>
              </a:rPr>
              <a:t>𝑦</a:t>
            </a:r>
            <a:r>
              <a:rPr sz="1950" spc="82" baseline="-14957" dirty="0">
                <a:latin typeface="Cambria Math"/>
                <a:cs typeface="Cambria Math"/>
              </a:rPr>
              <a:t>𝑣𝑚𝑖𝑛 </a:t>
            </a:r>
            <a:r>
              <a:rPr sz="1800" dirty="0">
                <a:latin typeface="Cambria Math"/>
                <a:cs typeface="Cambria Math"/>
              </a:rPr>
              <a:t>= </a:t>
            </a:r>
            <a:r>
              <a:rPr sz="1800" spc="-5" dirty="0">
                <a:latin typeface="Cambria Math"/>
                <a:cs typeface="Cambria Math"/>
              </a:rPr>
              <a:t>60  </a:t>
            </a:r>
            <a:r>
              <a:rPr sz="1800" spc="30" dirty="0">
                <a:latin typeface="Cambria Math"/>
                <a:cs typeface="Cambria Math"/>
              </a:rPr>
              <a:t>(𝑥</a:t>
            </a:r>
            <a:r>
              <a:rPr sz="1950" spc="44" baseline="-14957" dirty="0">
                <a:latin typeface="Cambria Math"/>
                <a:cs typeface="Cambria Math"/>
              </a:rPr>
              <a:t>𝑣</a:t>
            </a:r>
            <a:r>
              <a:rPr sz="1800" spc="30" dirty="0">
                <a:latin typeface="Cambria Math"/>
                <a:cs typeface="Cambria Math"/>
              </a:rPr>
              <a:t>, </a:t>
            </a:r>
            <a:r>
              <a:rPr sz="1800" spc="-10" dirty="0">
                <a:latin typeface="Cambria Math"/>
                <a:cs typeface="Cambria Math"/>
              </a:rPr>
              <a:t>𝑦</a:t>
            </a:r>
            <a:r>
              <a:rPr sz="1950" spc="-15" baseline="-14957" dirty="0">
                <a:latin typeface="Cambria Math"/>
                <a:cs typeface="Cambria Math"/>
              </a:rPr>
              <a:t>𝑣</a:t>
            </a:r>
            <a:r>
              <a:rPr sz="1800" spc="-10" dirty="0">
                <a:latin typeface="Cambria Math"/>
                <a:cs typeface="Cambria Math"/>
              </a:rPr>
              <a:t>)</a:t>
            </a:r>
            <a:r>
              <a:rPr sz="1800" spc="-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=?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53911" y="3838321"/>
            <a:ext cx="2988310" cy="1477645"/>
          </a:xfrm>
          <a:prstGeom prst="rect">
            <a:avLst/>
          </a:prstGeom>
          <a:solidFill>
            <a:srgbClr val="FFEB99"/>
          </a:solidFill>
        </p:spPr>
        <p:txBody>
          <a:bodyPr vert="horz" wrap="square" lIns="0" tIns="32384" rIns="0" bIns="0" rtlCol="0">
            <a:spAutoFit/>
          </a:bodyPr>
          <a:lstStyle/>
          <a:p>
            <a:pPr marL="937260">
              <a:lnSpc>
                <a:spcPct val="100000"/>
              </a:lnSpc>
              <a:spcBef>
                <a:spcPts val="254"/>
              </a:spcBef>
            </a:pPr>
            <a:r>
              <a:rPr sz="1800" spc="75" dirty="0">
                <a:latin typeface="Cambria Math"/>
                <a:cs typeface="Cambria Math"/>
              </a:rPr>
              <a:t>𝑥</a:t>
            </a:r>
            <a:r>
              <a:rPr sz="1950" spc="112" baseline="-14957" dirty="0">
                <a:latin typeface="Cambria Math"/>
                <a:cs typeface="Cambria Math"/>
              </a:rPr>
              <a:t>𝑤𝑚𝑖𝑛 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1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20</a:t>
            </a:r>
            <a:endParaRPr sz="1800">
              <a:latin typeface="Cambria Math"/>
              <a:cs typeface="Cambria Math"/>
            </a:endParaRPr>
          </a:p>
          <a:p>
            <a:pPr marL="918210">
              <a:lnSpc>
                <a:spcPct val="100000"/>
              </a:lnSpc>
            </a:pPr>
            <a:r>
              <a:rPr sz="1800" spc="75" dirty="0">
                <a:latin typeface="Cambria Math"/>
                <a:cs typeface="Cambria Math"/>
              </a:rPr>
              <a:t>𝑥</a:t>
            </a:r>
            <a:r>
              <a:rPr sz="1950" spc="112" baseline="-14957" dirty="0">
                <a:latin typeface="Cambria Math"/>
                <a:cs typeface="Cambria Math"/>
              </a:rPr>
              <a:t>𝑤𝑚𝑎𝑥 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80</a:t>
            </a:r>
            <a:endParaRPr sz="1800">
              <a:latin typeface="Cambria Math"/>
              <a:cs typeface="Cambria Math"/>
            </a:endParaRPr>
          </a:p>
          <a:p>
            <a:pPr marL="935990">
              <a:lnSpc>
                <a:spcPct val="100000"/>
              </a:lnSpc>
            </a:pPr>
            <a:r>
              <a:rPr sz="1800" spc="65" dirty="0">
                <a:latin typeface="Cambria Math"/>
                <a:cs typeface="Cambria Math"/>
              </a:rPr>
              <a:t>𝑦</a:t>
            </a:r>
            <a:r>
              <a:rPr sz="1950" spc="97" baseline="-14957" dirty="0">
                <a:latin typeface="Cambria Math"/>
                <a:cs typeface="Cambria Math"/>
              </a:rPr>
              <a:t>𝑤𝑚𝑖𝑛 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40</a:t>
            </a:r>
            <a:endParaRPr sz="1800">
              <a:latin typeface="Cambria Math"/>
              <a:cs typeface="Cambria Math"/>
            </a:endParaRPr>
          </a:p>
          <a:p>
            <a:pPr marL="923925">
              <a:lnSpc>
                <a:spcPct val="100000"/>
              </a:lnSpc>
            </a:pPr>
            <a:r>
              <a:rPr sz="1800" spc="50" dirty="0">
                <a:latin typeface="Cambria Math"/>
                <a:cs typeface="Cambria Math"/>
              </a:rPr>
              <a:t>𝑦</a:t>
            </a:r>
            <a:r>
              <a:rPr sz="1950" spc="75" baseline="-14957" dirty="0">
                <a:latin typeface="Cambria Math"/>
                <a:cs typeface="Cambria Math"/>
              </a:rPr>
              <a:t>𝑤𝑚𝑎𝑥 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80</a:t>
            </a:r>
            <a:endParaRPr sz="1800">
              <a:latin typeface="Cambria Math"/>
              <a:cs typeface="Cambria Math"/>
            </a:endParaRPr>
          </a:p>
          <a:p>
            <a:pPr marL="920115">
              <a:lnSpc>
                <a:spcPct val="100000"/>
              </a:lnSpc>
            </a:pPr>
            <a:r>
              <a:rPr sz="1800" spc="50" dirty="0">
                <a:latin typeface="Cambria Math"/>
                <a:cs typeface="Cambria Math"/>
              </a:rPr>
              <a:t>(𝑥</a:t>
            </a:r>
            <a:r>
              <a:rPr sz="1950" spc="75" baseline="-14957" dirty="0">
                <a:latin typeface="Cambria Math"/>
                <a:cs typeface="Cambria Math"/>
              </a:rPr>
              <a:t>𝑤</a:t>
            </a:r>
            <a:r>
              <a:rPr sz="1800" spc="50" dirty="0">
                <a:latin typeface="Cambria Math"/>
                <a:cs typeface="Cambria Math"/>
              </a:rPr>
              <a:t>, </a:t>
            </a:r>
            <a:r>
              <a:rPr sz="1800" spc="20" dirty="0">
                <a:latin typeface="Cambria Math"/>
                <a:cs typeface="Cambria Math"/>
              </a:rPr>
              <a:t>𝑦</a:t>
            </a:r>
            <a:r>
              <a:rPr sz="1950" spc="30" baseline="-14957" dirty="0">
                <a:latin typeface="Cambria Math"/>
                <a:cs typeface="Cambria Math"/>
              </a:rPr>
              <a:t>𝑤</a:t>
            </a:r>
            <a:r>
              <a:rPr sz="1800" spc="20" dirty="0">
                <a:latin typeface="Cambria Math"/>
                <a:cs typeface="Cambria Math"/>
              </a:rPr>
              <a:t>) </a:t>
            </a:r>
            <a:r>
              <a:rPr sz="1800" dirty="0">
                <a:latin typeface="Cambria Math"/>
                <a:cs typeface="Cambria Math"/>
              </a:rPr>
              <a:t>= (30,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80)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141726" y="3835400"/>
            <a:ext cx="3999229" cy="1509395"/>
          </a:xfrm>
          <a:custGeom>
            <a:avLst/>
            <a:gdLst/>
            <a:ahLst/>
            <a:cxnLst/>
            <a:rect l="l" t="t" r="r" b="b"/>
            <a:pathLst>
              <a:path w="3999229" h="1509395">
                <a:moveTo>
                  <a:pt x="0" y="1509014"/>
                </a:moveTo>
                <a:lnTo>
                  <a:pt x="3999229" y="1509014"/>
                </a:lnTo>
                <a:lnTo>
                  <a:pt x="3999229" y="0"/>
                </a:lnTo>
                <a:lnTo>
                  <a:pt x="0" y="0"/>
                </a:lnTo>
                <a:lnTo>
                  <a:pt x="0" y="1509014"/>
                </a:lnTo>
                <a:close/>
              </a:path>
            </a:pathLst>
          </a:custGeom>
          <a:solidFill>
            <a:srgbClr val="55FF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500882" y="4060697"/>
            <a:ext cx="1206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𝑆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99179" y="4156964"/>
            <a:ext cx="10096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150" spc="145" dirty="0">
                <a:latin typeface="Cambria Math"/>
                <a:cs typeface="Cambria Math"/>
              </a:rPr>
              <a:t>𝑥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30752" y="3947921"/>
            <a:ext cx="15487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aseline="-31250" dirty="0">
                <a:latin typeface="Cambria Math"/>
                <a:cs typeface="Cambria Math"/>
              </a:rPr>
              <a:t>= </a:t>
            </a:r>
            <a:r>
              <a:rPr sz="2400" spc="89" baseline="10416" dirty="0">
                <a:latin typeface="Cambria Math"/>
                <a:cs typeface="Cambria Math"/>
              </a:rPr>
              <a:t>𝑥</a:t>
            </a:r>
            <a:r>
              <a:rPr sz="1150" spc="60" dirty="0">
                <a:latin typeface="Cambria Math"/>
                <a:cs typeface="Cambria Math"/>
              </a:rPr>
              <a:t>𝑣𝑚𝑎𝑥 </a:t>
            </a:r>
            <a:r>
              <a:rPr sz="2400" baseline="10416" dirty="0">
                <a:latin typeface="Cambria Math"/>
                <a:cs typeface="Cambria Math"/>
              </a:rPr>
              <a:t>−</a:t>
            </a:r>
            <a:r>
              <a:rPr sz="2400" spc="-330" baseline="10416" dirty="0">
                <a:latin typeface="Cambria Math"/>
                <a:cs typeface="Cambria Math"/>
              </a:rPr>
              <a:t> </a:t>
            </a:r>
            <a:r>
              <a:rPr sz="2400" spc="75" baseline="10416" dirty="0">
                <a:latin typeface="Cambria Math"/>
                <a:cs typeface="Cambria Math"/>
              </a:rPr>
              <a:t>𝑥</a:t>
            </a:r>
            <a:r>
              <a:rPr sz="1150" spc="50" dirty="0">
                <a:latin typeface="Cambria Math"/>
                <a:cs typeface="Cambria Math"/>
              </a:rPr>
              <a:t>𝑣𝑚𝑖𝑛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39540" y="4238244"/>
            <a:ext cx="13779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spc="104" baseline="10416" dirty="0">
                <a:latin typeface="Cambria Math"/>
                <a:cs typeface="Cambria Math"/>
              </a:rPr>
              <a:t>𝑥</a:t>
            </a:r>
            <a:r>
              <a:rPr sz="1150" spc="70" dirty="0">
                <a:latin typeface="Cambria Math"/>
                <a:cs typeface="Cambria Math"/>
              </a:rPr>
              <a:t>𝑤𝑚𝑎𝑥 </a:t>
            </a:r>
            <a:r>
              <a:rPr sz="2400" baseline="10416" dirty="0">
                <a:latin typeface="Cambria Math"/>
                <a:cs typeface="Cambria Math"/>
              </a:rPr>
              <a:t>−</a:t>
            </a:r>
            <a:r>
              <a:rPr sz="2400" spc="89" baseline="10416" dirty="0">
                <a:latin typeface="Cambria Math"/>
                <a:cs typeface="Cambria Math"/>
              </a:rPr>
              <a:t> </a:t>
            </a:r>
            <a:r>
              <a:rPr sz="2400" spc="104" baseline="10416" dirty="0">
                <a:latin typeface="Cambria Math"/>
                <a:cs typeface="Cambria Math"/>
              </a:rPr>
              <a:t>𝑥</a:t>
            </a:r>
            <a:r>
              <a:rPr sz="1150" spc="70" dirty="0">
                <a:latin typeface="Cambria Math"/>
                <a:cs typeface="Cambria Math"/>
              </a:rPr>
              <a:t>𝑤𝑚𝑖𝑛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964685" y="4219066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10">
                <a:moveTo>
                  <a:pt x="0" y="0"/>
                </a:moveTo>
                <a:lnTo>
                  <a:pt x="1324355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554726" y="4197096"/>
            <a:ext cx="7073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mbria Math"/>
                <a:cs typeface="Cambria Math"/>
              </a:rPr>
              <a:t>80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20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554217" y="4219066"/>
            <a:ext cx="693420" cy="0"/>
          </a:xfrm>
          <a:custGeom>
            <a:avLst/>
            <a:gdLst/>
            <a:ahLst/>
            <a:cxnLst/>
            <a:rect l="l" t="t" r="r" b="b"/>
            <a:pathLst>
              <a:path w="693420">
                <a:moveTo>
                  <a:pt x="0" y="0"/>
                </a:moveTo>
                <a:lnTo>
                  <a:pt x="693420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320538" y="3906773"/>
            <a:ext cx="1499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aseline="-41666" dirty="0">
                <a:latin typeface="Cambria Math"/>
                <a:cs typeface="Cambria Math"/>
              </a:rPr>
              <a:t>= </a:t>
            </a:r>
            <a:r>
              <a:rPr sz="1600" spc="-5" dirty="0">
                <a:latin typeface="Cambria Math"/>
                <a:cs typeface="Cambria Math"/>
              </a:rPr>
              <a:t>60 </a:t>
            </a:r>
            <a:r>
              <a:rPr sz="1600" dirty="0">
                <a:latin typeface="Cambria Math"/>
                <a:cs typeface="Cambria Math"/>
              </a:rPr>
              <a:t>− </a:t>
            </a:r>
            <a:r>
              <a:rPr sz="1600" spc="-5" dirty="0">
                <a:latin typeface="Cambria Math"/>
                <a:cs typeface="Cambria Math"/>
              </a:rPr>
              <a:t>30 </a:t>
            </a:r>
            <a:r>
              <a:rPr sz="2400" baseline="-41666" dirty="0">
                <a:latin typeface="Cambria Math"/>
                <a:cs typeface="Cambria Math"/>
              </a:rPr>
              <a:t>=</a:t>
            </a:r>
            <a:r>
              <a:rPr sz="2400" spc="330" baseline="-41666" dirty="0">
                <a:latin typeface="Cambria Math"/>
                <a:cs typeface="Cambria Math"/>
              </a:rPr>
              <a:t> </a:t>
            </a:r>
            <a:r>
              <a:rPr sz="2400" baseline="-41666" dirty="0">
                <a:latin typeface="Cambria Math"/>
                <a:cs typeface="Cambria Math"/>
              </a:rPr>
              <a:t>0.5</a:t>
            </a:r>
            <a:endParaRPr sz="2400" baseline="-41666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501644" y="4761991"/>
            <a:ext cx="1206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𝑆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599941" y="4858003"/>
            <a:ext cx="107314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150" spc="170" dirty="0">
                <a:latin typeface="Cambria Math"/>
                <a:cs typeface="Cambria Math"/>
              </a:rPr>
              <a:t>𝑦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737609" y="4649216"/>
            <a:ext cx="15411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aseline="-31250" dirty="0">
                <a:latin typeface="Cambria Math"/>
                <a:cs typeface="Cambria Math"/>
              </a:rPr>
              <a:t>= </a:t>
            </a:r>
            <a:r>
              <a:rPr sz="2400" spc="52" baseline="10416" dirty="0">
                <a:latin typeface="Cambria Math"/>
                <a:cs typeface="Cambria Math"/>
              </a:rPr>
              <a:t>𝑦</a:t>
            </a:r>
            <a:r>
              <a:rPr sz="1150" spc="35" dirty="0">
                <a:latin typeface="Cambria Math"/>
                <a:cs typeface="Cambria Math"/>
              </a:rPr>
              <a:t>𝑣𝑚𝑎𝑥 </a:t>
            </a:r>
            <a:r>
              <a:rPr sz="2400" baseline="10416" dirty="0">
                <a:latin typeface="Cambria Math"/>
                <a:cs typeface="Cambria Math"/>
              </a:rPr>
              <a:t>−</a:t>
            </a:r>
            <a:r>
              <a:rPr sz="2400" spc="-240" baseline="10416" dirty="0">
                <a:latin typeface="Cambria Math"/>
                <a:cs typeface="Cambria Math"/>
              </a:rPr>
              <a:t> </a:t>
            </a:r>
            <a:r>
              <a:rPr sz="2400" spc="67" baseline="10416" dirty="0">
                <a:latin typeface="Cambria Math"/>
                <a:cs typeface="Cambria Math"/>
              </a:rPr>
              <a:t>𝑦</a:t>
            </a:r>
            <a:r>
              <a:rPr sz="1150" spc="45" dirty="0">
                <a:latin typeface="Cambria Math"/>
                <a:cs typeface="Cambria Math"/>
              </a:rPr>
              <a:t>𝑣𝑚𝑖𝑛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46397" y="4939538"/>
            <a:ext cx="13703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spc="67" baseline="10416" dirty="0">
                <a:latin typeface="Cambria Math"/>
                <a:cs typeface="Cambria Math"/>
              </a:rPr>
              <a:t>𝑦</a:t>
            </a:r>
            <a:r>
              <a:rPr sz="1150" spc="45" dirty="0">
                <a:latin typeface="Cambria Math"/>
                <a:cs typeface="Cambria Math"/>
              </a:rPr>
              <a:t>𝑤𝑚𝑎𝑥 </a:t>
            </a:r>
            <a:r>
              <a:rPr sz="2400" baseline="10416" dirty="0">
                <a:latin typeface="Cambria Math"/>
                <a:cs typeface="Cambria Math"/>
              </a:rPr>
              <a:t>−</a:t>
            </a:r>
            <a:r>
              <a:rPr sz="2400" spc="-284" baseline="10416" dirty="0">
                <a:latin typeface="Cambria Math"/>
                <a:cs typeface="Cambria Math"/>
              </a:rPr>
              <a:t> </a:t>
            </a:r>
            <a:r>
              <a:rPr sz="2400" spc="89" baseline="10416" dirty="0">
                <a:latin typeface="Cambria Math"/>
                <a:cs typeface="Cambria Math"/>
              </a:rPr>
              <a:t>𝑦</a:t>
            </a:r>
            <a:r>
              <a:rPr sz="1150" spc="60" dirty="0">
                <a:latin typeface="Cambria Math"/>
                <a:cs typeface="Cambria Math"/>
              </a:rPr>
              <a:t>𝑤𝑚𝑖𝑛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971544" y="4920107"/>
            <a:ext cx="1316990" cy="0"/>
          </a:xfrm>
          <a:custGeom>
            <a:avLst/>
            <a:gdLst/>
            <a:ahLst/>
            <a:cxnLst/>
            <a:rect l="l" t="t" r="r" b="b"/>
            <a:pathLst>
              <a:path w="1316989">
                <a:moveTo>
                  <a:pt x="0" y="0"/>
                </a:moveTo>
                <a:lnTo>
                  <a:pt x="1316735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554726" y="4898390"/>
            <a:ext cx="7061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80 −</a:t>
            </a:r>
            <a:r>
              <a:rPr sz="1600" spc="-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40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554217" y="4920107"/>
            <a:ext cx="693420" cy="0"/>
          </a:xfrm>
          <a:custGeom>
            <a:avLst/>
            <a:gdLst/>
            <a:ahLst/>
            <a:cxnLst/>
            <a:rect l="l" t="t" r="r" b="b"/>
            <a:pathLst>
              <a:path w="693420">
                <a:moveTo>
                  <a:pt x="0" y="0"/>
                </a:moveTo>
                <a:lnTo>
                  <a:pt x="693420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319776" y="4608067"/>
            <a:ext cx="1499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aseline="-41666" dirty="0">
                <a:latin typeface="Cambria Math"/>
                <a:cs typeface="Cambria Math"/>
              </a:rPr>
              <a:t>= </a:t>
            </a:r>
            <a:r>
              <a:rPr sz="1600" dirty="0">
                <a:latin typeface="Cambria Math"/>
                <a:cs typeface="Cambria Math"/>
              </a:rPr>
              <a:t>60 − 40 </a:t>
            </a:r>
            <a:r>
              <a:rPr sz="2400" baseline="-41666" dirty="0">
                <a:latin typeface="Cambria Math"/>
                <a:cs typeface="Cambria Math"/>
              </a:rPr>
              <a:t>=</a:t>
            </a:r>
            <a:r>
              <a:rPr sz="2400" spc="300" baseline="-41666" dirty="0">
                <a:latin typeface="Cambria Math"/>
                <a:cs typeface="Cambria Math"/>
              </a:rPr>
              <a:t> </a:t>
            </a:r>
            <a:r>
              <a:rPr sz="2400" baseline="-41666" dirty="0">
                <a:latin typeface="Cambria Math"/>
                <a:cs typeface="Cambria Math"/>
              </a:rPr>
              <a:t>0.5</a:t>
            </a:r>
            <a:endParaRPr sz="2400" baseline="-41666">
              <a:latin typeface="Cambria Math"/>
              <a:cs typeface="Cambria Math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84950" y="6021285"/>
            <a:ext cx="3143885" cy="539750"/>
          </a:xfrm>
          <a:custGeom>
            <a:avLst/>
            <a:gdLst/>
            <a:ahLst/>
            <a:cxnLst/>
            <a:rect l="l" t="t" r="r" b="b"/>
            <a:pathLst>
              <a:path w="3143885" h="539750">
                <a:moveTo>
                  <a:pt x="0" y="539127"/>
                </a:moveTo>
                <a:lnTo>
                  <a:pt x="3143377" y="539127"/>
                </a:lnTo>
                <a:lnTo>
                  <a:pt x="3143377" y="0"/>
                </a:lnTo>
                <a:lnTo>
                  <a:pt x="0" y="0"/>
                </a:lnTo>
                <a:lnTo>
                  <a:pt x="0" y="539127"/>
                </a:lnTo>
                <a:close/>
              </a:path>
            </a:pathLst>
          </a:custGeom>
          <a:solidFill>
            <a:srgbClr val="55FF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691639" y="6132791"/>
            <a:ext cx="929640" cy="212090"/>
          </a:xfrm>
          <a:custGeom>
            <a:avLst/>
            <a:gdLst/>
            <a:ahLst/>
            <a:cxnLst/>
            <a:rect l="l" t="t" r="r" b="b"/>
            <a:pathLst>
              <a:path w="929639" h="212089">
                <a:moveTo>
                  <a:pt x="861949" y="0"/>
                </a:moveTo>
                <a:lnTo>
                  <a:pt x="859028" y="8597"/>
                </a:lnTo>
                <a:lnTo>
                  <a:pt x="871241" y="13915"/>
                </a:lnTo>
                <a:lnTo>
                  <a:pt x="881776" y="21277"/>
                </a:lnTo>
                <a:lnTo>
                  <a:pt x="903190" y="55406"/>
                </a:lnTo>
                <a:lnTo>
                  <a:pt x="910209" y="104813"/>
                </a:lnTo>
                <a:lnTo>
                  <a:pt x="909423" y="123489"/>
                </a:lnTo>
                <a:lnTo>
                  <a:pt x="897636" y="169214"/>
                </a:lnTo>
                <a:lnTo>
                  <a:pt x="871382" y="197805"/>
                </a:lnTo>
                <a:lnTo>
                  <a:pt x="859282" y="203149"/>
                </a:lnTo>
                <a:lnTo>
                  <a:pt x="861949" y="211747"/>
                </a:lnTo>
                <a:lnTo>
                  <a:pt x="902471" y="187704"/>
                </a:lnTo>
                <a:lnTo>
                  <a:pt x="925147" y="143335"/>
                </a:lnTo>
                <a:lnTo>
                  <a:pt x="929513" y="105930"/>
                </a:lnTo>
                <a:lnTo>
                  <a:pt x="928419" y="86519"/>
                </a:lnTo>
                <a:lnTo>
                  <a:pt x="912114" y="37109"/>
                </a:lnTo>
                <a:lnTo>
                  <a:pt x="877359" y="5541"/>
                </a:lnTo>
                <a:lnTo>
                  <a:pt x="861949" y="0"/>
                </a:lnTo>
                <a:close/>
              </a:path>
              <a:path w="929639" h="212089">
                <a:moveTo>
                  <a:pt x="67564" y="0"/>
                </a:moveTo>
                <a:lnTo>
                  <a:pt x="27219" y="24095"/>
                </a:lnTo>
                <a:lnTo>
                  <a:pt x="4381" y="68576"/>
                </a:lnTo>
                <a:lnTo>
                  <a:pt x="0" y="105930"/>
                </a:lnTo>
                <a:lnTo>
                  <a:pt x="1095" y="125383"/>
                </a:lnTo>
                <a:lnTo>
                  <a:pt x="17526" y="174739"/>
                </a:lnTo>
                <a:lnTo>
                  <a:pt x="52208" y="206211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96" y="155689"/>
                </a:lnTo>
                <a:lnTo>
                  <a:pt x="19431" y="104813"/>
                </a:lnTo>
                <a:lnTo>
                  <a:pt x="20196" y="86744"/>
                </a:lnTo>
                <a:lnTo>
                  <a:pt x="31877" y="42138"/>
                </a:lnTo>
                <a:lnTo>
                  <a:pt x="58398" y="13915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59550" y="6063233"/>
            <a:ext cx="3194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  <a:tabLst>
                <a:tab pos="2545715" algn="l"/>
              </a:tabLst>
            </a:pPr>
            <a:r>
              <a:rPr sz="1800" spc="5" dirty="0">
                <a:latin typeface="Cambria Math"/>
                <a:cs typeface="Cambria Math"/>
              </a:rPr>
              <a:t>𝑥</a:t>
            </a:r>
            <a:r>
              <a:rPr sz="1950" spc="7" baseline="-14957" dirty="0">
                <a:latin typeface="Cambria Math"/>
                <a:cs typeface="Cambria Math"/>
              </a:rPr>
              <a:t>𝑣  </a:t>
            </a:r>
            <a:r>
              <a:rPr sz="1800" dirty="0">
                <a:latin typeface="Cambria Math"/>
                <a:cs typeface="Cambria Math"/>
              </a:rPr>
              <a:t>= </a:t>
            </a:r>
            <a:r>
              <a:rPr sz="1800" spc="-5" dirty="0">
                <a:latin typeface="Cambria Math"/>
                <a:cs typeface="Cambria Math"/>
              </a:rPr>
              <a:t>30 </a:t>
            </a:r>
            <a:r>
              <a:rPr sz="1800" dirty="0">
                <a:latin typeface="Cambria Math"/>
                <a:cs typeface="Cambria Math"/>
              </a:rPr>
              <a:t>+ 0.5  </a:t>
            </a:r>
            <a:r>
              <a:rPr sz="1800" spc="-5" dirty="0">
                <a:latin typeface="Cambria Math"/>
                <a:cs typeface="Cambria Math"/>
              </a:rPr>
              <a:t>30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20	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35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444494" y="6021285"/>
            <a:ext cx="3131820" cy="539750"/>
          </a:xfrm>
          <a:custGeom>
            <a:avLst/>
            <a:gdLst/>
            <a:ahLst/>
            <a:cxnLst/>
            <a:rect l="l" t="t" r="r" b="b"/>
            <a:pathLst>
              <a:path w="3131820" h="539750">
                <a:moveTo>
                  <a:pt x="0" y="539127"/>
                </a:moveTo>
                <a:lnTo>
                  <a:pt x="3131820" y="539127"/>
                </a:lnTo>
                <a:lnTo>
                  <a:pt x="3131820" y="0"/>
                </a:lnTo>
                <a:lnTo>
                  <a:pt x="0" y="0"/>
                </a:lnTo>
                <a:lnTo>
                  <a:pt x="0" y="539127"/>
                </a:lnTo>
                <a:close/>
              </a:path>
            </a:pathLst>
          </a:custGeom>
          <a:solidFill>
            <a:srgbClr val="55FF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939791" y="6132791"/>
            <a:ext cx="930275" cy="212090"/>
          </a:xfrm>
          <a:custGeom>
            <a:avLst/>
            <a:gdLst/>
            <a:ahLst/>
            <a:cxnLst/>
            <a:rect l="l" t="t" r="r" b="b"/>
            <a:pathLst>
              <a:path w="930275" h="212089">
                <a:moveTo>
                  <a:pt x="862711" y="0"/>
                </a:moveTo>
                <a:lnTo>
                  <a:pt x="859790" y="8597"/>
                </a:lnTo>
                <a:lnTo>
                  <a:pt x="872003" y="13915"/>
                </a:lnTo>
                <a:lnTo>
                  <a:pt x="882538" y="21277"/>
                </a:lnTo>
                <a:lnTo>
                  <a:pt x="903952" y="55406"/>
                </a:lnTo>
                <a:lnTo>
                  <a:pt x="910971" y="104813"/>
                </a:lnTo>
                <a:lnTo>
                  <a:pt x="910185" y="123489"/>
                </a:lnTo>
                <a:lnTo>
                  <a:pt x="898398" y="169214"/>
                </a:lnTo>
                <a:lnTo>
                  <a:pt x="872144" y="197805"/>
                </a:lnTo>
                <a:lnTo>
                  <a:pt x="860044" y="203149"/>
                </a:lnTo>
                <a:lnTo>
                  <a:pt x="862711" y="211747"/>
                </a:lnTo>
                <a:lnTo>
                  <a:pt x="903233" y="187704"/>
                </a:lnTo>
                <a:lnTo>
                  <a:pt x="925909" y="143335"/>
                </a:lnTo>
                <a:lnTo>
                  <a:pt x="930275" y="105930"/>
                </a:lnTo>
                <a:lnTo>
                  <a:pt x="929181" y="86519"/>
                </a:lnTo>
                <a:lnTo>
                  <a:pt x="912876" y="37109"/>
                </a:lnTo>
                <a:lnTo>
                  <a:pt x="878068" y="5541"/>
                </a:lnTo>
                <a:lnTo>
                  <a:pt x="862711" y="0"/>
                </a:lnTo>
                <a:close/>
              </a:path>
              <a:path w="930275" h="212089">
                <a:moveTo>
                  <a:pt x="67563" y="0"/>
                </a:moveTo>
                <a:lnTo>
                  <a:pt x="27219" y="24095"/>
                </a:lnTo>
                <a:lnTo>
                  <a:pt x="4381" y="68576"/>
                </a:lnTo>
                <a:lnTo>
                  <a:pt x="0" y="105930"/>
                </a:lnTo>
                <a:lnTo>
                  <a:pt x="1095" y="125383"/>
                </a:lnTo>
                <a:lnTo>
                  <a:pt x="17525" y="174739"/>
                </a:lnTo>
                <a:lnTo>
                  <a:pt x="52208" y="206211"/>
                </a:lnTo>
                <a:lnTo>
                  <a:pt x="67563" y="211747"/>
                </a:lnTo>
                <a:lnTo>
                  <a:pt x="70231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96" y="155689"/>
                </a:lnTo>
                <a:lnTo>
                  <a:pt x="19431" y="104813"/>
                </a:lnTo>
                <a:lnTo>
                  <a:pt x="20196" y="86744"/>
                </a:lnTo>
                <a:lnTo>
                  <a:pt x="31877" y="42138"/>
                </a:lnTo>
                <a:lnTo>
                  <a:pt x="58398" y="13915"/>
                </a:lnTo>
                <a:lnTo>
                  <a:pt x="70612" y="8597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3419094" y="6063233"/>
            <a:ext cx="3182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  <a:tabLst>
                <a:tab pos="2534920" algn="l"/>
              </a:tabLst>
            </a:pPr>
            <a:r>
              <a:rPr sz="1800" spc="-65" dirty="0">
                <a:latin typeface="Cambria Math"/>
                <a:cs typeface="Cambria Math"/>
              </a:rPr>
              <a:t>𝑦</a:t>
            </a:r>
            <a:r>
              <a:rPr sz="1950" spc="-97" baseline="-14957" dirty="0">
                <a:latin typeface="Cambria Math"/>
                <a:cs typeface="Cambria Math"/>
              </a:rPr>
              <a:t>𝑣   </a:t>
            </a:r>
            <a:r>
              <a:rPr sz="1800" dirty="0">
                <a:latin typeface="Cambria Math"/>
                <a:cs typeface="Cambria Math"/>
              </a:rPr>
              <a:t>= </a:t>
            </a:r>
            <a:r>
              <a:rPr sz="1800" spc="-5" dirty="0">
                <a:latin typeface="Cambria Math"/>
                <a:cs typeface="Cambria Math"/>
              </a:rPr>
              <a:t>40 </a:t>
            </a:r>
            <a:r>
              <a:rPr sz="1800" dirty="0">
                <a:latin typeface="Cambria Math"/>
                <a:cs typeface="Cambria Math"/>
              </a:rPr>
              <a:t>+ 0.5  </a:t>
            </a:r>
            <a:r>
              <a:rPr sz="1800" spc="-5" dirty="0">
                <a:latin typeface="Cambria Math"/>
                <a:cs typeface="Cambria Math"/>
              </a:rPr>
              <a:t>80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 </a:t>
            </a:r>
            <a:r>
              <a:rPr sz="1800" spc="-5" dirty="0">
                <a:latin typeface="Cambria Math"/>
                <a:cs typeface="Cambria Math"/>
              </a:rPr>
              <a:t>40	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60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479551"/>
            <a:ext cx="8298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Example </a:t>
            </a:r>
            <a:r>
              <a:rPr sz="3200" dirty="0"/>
              <a:t>on </a:t>
            </a:r>
            <a:r>
              <a:rPr sz="3200" spc="-5" dirty="0"/>
              <a:t>Workstation</a:t>
            </a:r>
            <a:r>
              <a:rPr sz="3200" spc="20" dirty="0"/>
              <a:t> </a:t>
            </a:r>
            <a:r>
              <a:rPr sz="3200" spc="-10" dirty="0"/>
              <a:t>Transformation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396709" y="999108"/>
            <a:ext cx="8429625" cy="13826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709" y="2492848"/>
            <a:ext cx="5327396" cy="4365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28104" y="4457700"/>
            <a:ext cx="55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200" spc="-5" dirty="0">
                <a:solidFill>
                  <a:srgbClr val="001F5F"/>
                </a:solidFill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28791" y="4316984"/>
            <a:ext cx="2702560" cy="0"/>
          </a:xfrm>
          <a:custGeom>
            <a:avLst/>
            <a:gdLst/>
            <a:ahLst/>
            <a:cxnLst/>
            <a:rect l="l" t="t" r="r" b="b"/>
            <a:pathLst>
              <a:path w="2702559">
                <a:moveTo>
                  <a:pt x="0" y="0"/>
                </a:moveTo>
                <a:lnTo>
                  <a:pt x="270243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37376" y="2633091"/>
            <a:ext cx="1905" cy="1921510"/>
          </a:xfrm>
          <a:custGeom>
            <a:avLst/>
            <a:gdLst/>
            <a:ahLst/>
            <a:cxnLst/>
            <a:rect l="l" t="t" r="r" b="b"/>
            <a:pathLst>
              <a:path w="1904" h="1921510">
                <a:moveTo>
                  <a:pt x="1524" y="0"/>
                </a:moveTo>
                <a:lnTo>
                  <a:pt x="0" y="192100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73518" y="3307829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86345" y="3281679"/>
            <a:ext cx="702310" cy="338455"/>
          </a:xfrm>
          <a:custGeom>
            <a:avLst/>
            <a:gdLst/>
            <a:ahLst/>
            <a:cxnLst/>
            <a:rect l="l" t="t" r="r" b="b"/>
            <a:pathLst>
              <a:path w="702309" h="338454">
                <a:moveTo>
                  <a:pt x="0" y="276479"/>
                </a:moveTo>
                <a:lnTo>
                  <a:pt x="47842" y="292923"/>
                </a:lnTo>
                <a:lnTo>
                  <a:pt x="95559" y="308308"/>
                </a:lnTo>
                <a:lnTo>
                  <a:pt x="143026" y="321573"/>
                </a:lnTo>
                <a:lnTo>
                  <a:pt x="190119" y="331660"/>
                </a:lnTo>
                <a:lnTo>
                  <a:pt x="236711" y="337508"/>
                </a:lnTo>
                <a:lnTo>
                  <a:pt x="282678" y="338058"/>
                </a:lnTo>
                <a:lnTo>
                  <a:pt x="327895" y="332249"/>
                </a:lnTo>
                <a:lnTo>
                  <a:pt x="372236" y="319024"/>
                </a:lnTo>
                <a:lnTo>
                  <a:pt x="410845" y="300436"/>
                </a:lnTo>
                <a:lnTo>
                  <a:pt x="448751" y="275902"/>
                </a:lnTo>
                <a:lnTo>
                  <a:pt x="486043" y="246163"/>
                </a:lnTo>
                <a:lnTo>
                  <a:pt x="522807" y="211962"/>
                </a:lnTo>
                <a:lnTo>
                  <a:pt x="559133" y="174041"/>
                </a:lnTo>
                <a:lnTo>
                  <a:pt x="595107" y="133143"/>
                </a:lnTo>
                <a:lnTo>
                  <a:pt x="630818" y="90008"/>
                </a:lnTo>
                <a:lnTo>
                  <a:pt x="666354" y="45379"/>
                </a:lnTo>
                <a:lnTo>
                  <a:pt x="701801" y="0"/>
                </a:lnTo>
              </a:path>
            </a:pathLst>
          </a:custGeom>
          <a:ln w="190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41461" y="3866896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7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73518" y="3866896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087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37376" y="3856735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25310" y="3308222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066278" y="4158741"/>
            <a:ext cx="841375" cy="6203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556895">
              <a:lnSpc>
                <a:spcPct val="100000"/>
              </a:lnSpc>
              <a:spcBef>
                <a:spcPts val="280"/>
              </a:spcBef>
            </a:pPr>
            <a:r>
              <a:rPr sz="1800" spc="-5" dirty="0">
                <a:latin typeface="Tahoma"/>
                <a:cs typeface="Tahoma"/>
              </a:rPr>
              <a:t>X</a:t>
            </a:r>
            <a:r>
              <a:rPr sz="1800" spc="-7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sz="2700" spc="-7" baseline="13888" dirty="0">
                <a:latin typeface="Tahoma"/>
                <a:cs typeface="Tahoma"/>
              </a:rPr>
              <a:t>x</a:t>
            </a:r>
            <a:r>
              <a:rPr sz="1200" spc="-5" dirty="0">
                <a:latin typeface="Tahoma"/>
                <a:cs typeface="Tahoma"/>
              </a:rPr>
              <a:t>wmax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6721" y="2697734"/>
            <a:ext cx="604520" cy="136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Y</a:t>
            </a:r>
            <a:r>
              <a:rPr sz="1800" baseline="-20833" dirty="0">
                <a:latin typeface="Tahoma"/>
                <a:cs typeface="Tahoma"/>
              </a:rPr>
              <a:t>w</a:t>
            </a:r>
            <a:endParaRPr sz="1800" baseline="-20833">
              <a:latin typeface="Tahoma"/>
              <a:cs typeface="Tahoma"/>
            </a:endParaRPr>
          </a:p>
          <a:p>
            <a:pPr marL="69215" marR="48260" indent="-31750">
              <a:lnSpc>
                <a:spcPts val="4320"/>
              </a:lnSpc>
              <a:spcBef>
                <a:spcPts val="225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wmax  </a:t>
            </a: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wmin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37907" y="2872994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79868" y="3877690"/>
            <a:ext cx="1055370" cy="434975"/>
          </a:xfrm>
          <a:prstGeom prst="rect">
            <a:avLst/>
          </a:prstGeom>
          <a:solidFill>
            <a:srgbClr val="8EFFE0"/>
          </a:solidFill>
        </p:spPr>
        <p:txBody>
          <a:bodyPr vert="horz" wrap="square" lIns="0" tIns="3365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latin typeface="Tahoma"/>
                <a:cs typeface="Tahoma"/>
              </a:rPr>
              <a:t>1)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3662" y="3871340"/>
            <a:ext cx="668655" cy="441325"/>
          </a:xfrm>
          <a:prstGeom prst="rect">
            <a:avLst/>
          </a:prstGeom>
          <a:solidFill>
            <a:srgbClr val="8EFFE0"/>
          </a:solidFill>
        </p:spPr>
        <p:txBody>
          <a:bodyPr vert="horz" wrap="square" lIns="0" tIns="40005" rIns="0" bIns="0" rtlCol="0">
            <a:spAutoFit/>
          </a:bodyPr>
          <a:lstStyle/>
          <a:p>
            <a:pPr marL="37338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Tahoma"/>
                <a:cs typeface="Tahoma"/>
              </a:rPr>
              <a:t>(1,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09204" y="2956814"/>
            <a:ext cx="520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(3,5)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77759" y="6499605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Tahoma"/>
                <a:cs typeface="Tahoma"/>
              </a:rPr>
              <a:t>x</a:t>
            </a:r>
            <a:r>
              <a:rPr sz="1200" dirty="0">
                <a:latin typeface="Tahoma"/>
                <a:cs typeface="Tahoma"/>
              </a:rPr>
              <a:t>vmax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04484" y="6370065"/>
            <a:ext cx="3239770" cy="0"/>
          </a:xfrm>
          <a:custGeom>
            <a:avLst/>
            <a:gdLst/>
            <a:ahLst/>
            <a:cxnLst/>
            <a:rect l="l" t="t" r="r" b="b"/>
            <a:pathLst>
              <a:path w="3239770">
                <a:moveTo>
                  <a:pt x="0" y="0"/>
                </a:moveTo>
                <a:lnTo>
                  <a:pt x="323951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17131" y="4978527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5">
                <a:moveTo>
                  <a:pt x="0" y="0"/>
                </a:moveTo>
                <a:lnTo>
                  <a:pt x="0" y="16501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893561" y="5675121"/>
            <a:ext cx="560070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vmax</a:t>
            </a:r>
            <a:endParaRPr sz="1200">
              <a:latin typeface="Tahoma"/>
              <a:cs typeface="Tahoma"/>
            </a:endParaRPr>
          </a:p>
          <a:p>
            <a:pPr marL="83820">
              <a:lnSpc>
                <a:spcPct val="100000"/>
              </a:lnSpc>
              <a:spcBef>
                <a:spcPts val="1380"/>
              </a:spcBef>
            </a:pPr>
            <a:r>
              <a:rPr sz="2700" spc="-7" baseline="13888" dirty="0">
                <a:latin typeface="Tahoma"/>
                <a:cs typeface="Tahoma"/>
              </a:rPr>
              <a:t>y</a:t>
            </a:r>
            <a:r>
              <a:rPr sz="1200" spc="-5" dirty="0">
                <a:latin typeface="Tahoma"/>
                <a:cs typeface="Tahoma"/>
              </a:rPr>
              <a:t>vmin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42278" y="5814872"/>
            <a:ext cx="1068070" cy="559435"/>
          </a:xfrm>
          <a:custGeom>
            <a:avLst/>
            <a:gdLst/>
            <a:ahLst/>
            <a:cxnLst/>
            <a:rect l="l" t="t" r="r" b="b"/>
            <a:pathLst>
              <a:path w="1068070" h="559435">
                <a:moveTo>
                  <a:pt x="0" y="559066"/>
                </a:moveTo>
                <a:lnTo>
                  <a:pt x="1067879" y="559066"/>
                </a:lnTo>
                <a:lnTo>
                  <a:pt x="1067879" y="0"/>
                </a:lnTo>
                <a:lnTo>
                  <a:pt x="0" y="0"/>
                </a:lnTo>
                <a:lnTo>
                  <a:pt x="0" y="55906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55105" y="5788736"/>
            <a:ext cx="702310" cy="338455"/>
          </a:xfrm>
          <a:custGeom>
            <a:avLst/>
            <a:gdLst/>
            <a:ahLst/>
            <a:cxnLst/>
            <a:rect l="l" t="t" r="r" b="b"/>
            <a:pathLst>
              <a:path w="702309" h="338454">
                <a:moveTo>
                  <a:pt x="0" y="276440"/>
                </a:moveTo>
                <a:lnTo>
                  <a:pt x="47842" y="292876"/>
                </a:lnTo>
                <a:lnTo>
                  <a:pt x="95559" y="308254"/>
                </a:lnTo>
                <a:lnTo>
                  <a:pt x="143026" y="321513"/>
                </a:lnTo>
                <a:lnTo>
                  <a:pt x="190119" y="331597"/>
                </a:lnTo>
                <a:lnTo>
                  <a:pt x="236711" y="337443"/>
                </a:lnTo>
                <a:lnTo>
                  <a:pt x="282678" y="337995"/>
                </a:lnTo>
                <a:lnTo>
                  <a:pt x="327895" y="332191"/>
                </a:lnTo>
                <a:lnTo>
                  <a:pt x="372237" y="318973"/>
                </a:lnTo>
                <a:lnTo>
                  <a:pt x="410845" y="300391"/>
                </a:lnTo>
                <a:lnTo>
                  <a:pt x="448751" y="275859"/>
                </a:lnTo>
                <a:lnTo>
                  <a:pt x="486043" y="246120"/>
                </a:lnTo>
                <a:lnTo>
                  <a:pt x="522807" y="211918"/>
                </a:lnTo>
                <a:lnTo>
                  <a:pt x="559133" y="173997"/>
                </a:lnTo>
                <a:lnTo>
                  <a:pt x="595107" y="133101"/>
                </a:lnTo>
                <a:lnTo>
                  <a:pt x="630818" y="89974"/>
                </a:lnTo>
                <a:lnTo>
                  <a:pt x="666354" y="45358"/>
                </a:lnTo>
                <a:lnTo>
                  <a:pt x="701801" y="0"/>
                </a:lnTo>
              </a:path>
            </a:pathLst>
          </a:custGeom>
          <a:ln w="1904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217027" y="5919952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113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149210" y="5919952"/>
            <a:ext cx="0" cy="450215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50113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14592" y="6221260"/>
            <a:ext cx="722630" cy="0"/>
          </a:xfrm>
          <a:custGeom>
            <a:avLst/>
            <a:gdLst/>
            <a:ahLst/>
            <a:cxnLst/>
            <a:rect l="l" t="t" r="r" b="b"/>
            <a:pathLst>
              <a:path w="722629">
                <a:moveTo>
                  <a:pt x="722122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01003" y="5361304"/>
            <a:ext cx="668020" cy="0"/>
          </a:xfrm>
          <a:custGeom>
            <a:avLst/>
            <a:gdLst/>
            <a:ahLst/>
            <a:cxnLst/>
            <a:rect l="l" t="t" r="r" b="b"/>
            <a:pathLst>
              <a:path w="668020">
                <a:moveTo>
                  <a:pt x="66763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112764" y="5010403"/>
            <a:ext cx="27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ahoma"/>
                <a:cs typeface="Tahoma"/>
              </a:rPr>
              <a:t>Y</a:t>
            </a:r>
            <a:r>
              <a:rPr sz="1800" spc="-67" baseline="-20833" dirty="0">
                <a:latin typeface="Tahoma"/>
                <a:cs typeface="Tahoma"/>
              </a:rPr>
              <a:t>v</a:t>
            </a:r>
            <a:endParaRPr sz="1800" baseline="-20833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09080" y="5582666"/>
            <a:ext cx="20377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2700" baseline="32407" dirty="0">
                <a:latin typeface="Tahoma"/>
                <a:cs typeface="Tahoma"/>
              </a:rPr>
              <a:t>Viewport	</a:t>
            </a:r>
            <a:r>
              <a:rPr sz="1800" dirty="0">
                <a:latin typeface="Tahoma"/>
                <a:cs typeface="Tahoma"/>
              </a:rPr>
              <a:t>(1/2,1/2)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58332" y="6402070"/>
            <a:ext cx="1113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(0,0)</a:t>
            </a:r>
            <a:r>
              <a:rPr sz="1800" spc="185" dirty="0">
                <a:latin typeface="Tahoma"/>
                <a:cs typeface="Tahoma"/>
              </a:rPr>
              <a:t> </a:t>
            </a:r>
            <a:r>
              <a:rPr sz="2700" baseline="3086" dirty="0">
                <a:solidFill>
                  <a:srgbClr val="001F5F"/>
                </a:solidFill>
                <a:latin typeface="Tahoma"/>
                <a:cs typeface="Tahoma"/>
              </a:rPr>
              <a:t>x</a:t>
            </a:r>
            <a:r>
              <a:rPr sz="1800" baseline="-16203" dirty="0">
                <a:solidFill>
                  <a:srgbClr val="001F5F"/>
                </a:solidFill>
                <a:latin typeface="Tahoma"/>
                <a:cs typeface="Tahoma"/>
              </a:rPr>
              <a:t>vmin</a:t>
            </a:r>
            <a:endParaRPr sz="1800" baseline="-16203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479551"/>
            <a:ext cx="8298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Example </a:t>
            </a:r>
            <a:r>
              <a:rPr sz="3200" dirty="0"/>
              <a:t>on </a:t>
            </a:r>
            <a:r>
              <a:rPr sz="3200" spc="-5" dirty="0"/>
              <a:t>Workstation</a:t>
            </a:r>
            <a:r>
              <a:rPr sz="3200" spc="20" dirty="0"/>
              <a:t> </a:t>
            </a:r>
            <a:r>
              <a:rPr sz="3200" spc="-10" dirty="0"/>
              <a:t>Transformation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409575" y="956237"/>
            <a:ext cx="8429625" cy="13826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709" y="2564853"/>
            <a:ext cx="8527034" cy="3744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0800" y="1981200"/>
            <a:ext cx="825500" cy="673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90800" y="1981200"/>
            <a:ext cx="825500" cy="673100"/>
          </a:xfrm>
          <a:custGeom>
            <a:avLst/>
            <a:gdLst/>
            <a:ahLst/>
            <a:cxnLst/>
            <a:rect l="l" t="t" r="r" b="b"/>
            <a:pathLst>
              <a:path w="825500" h="673100">
                <a:moveTo>
                  <a:pt x="0" y="336550"/>
                </a:moveTo>
                <a:lnTo>
                  <a:pt x="3215" y="294322"/>
                </a:lnTo>
                <a:lnTo>
                  <a:pt x="12605" y="253663"/>
                </a:lnTo>
                <a:lnTo>
                  <a:pt x="27781" y="214888"/>
                </a:lnTo>
                <a:lnTo>
                  <a:pt x="48358" y="178311"/>
                </a:lnTo>
                <a:lnTo>
                  <a:pt x="73948" y="144247"/>
                </a:lnTo>
                <a:lnTo>
                  <a:pt x="104165" y="113011"/>
                </a:lnTo>
                <a:lnTo>
                  <a:pt x="138622" y="84918"/>
                </a:lnTo>
                <a:lnTo>
                  <a:pt x="176932" y="60283"/>
                </a:lnTo>
                <a:lnTo>
                  <a:pt x="218709" y="39420"/>
                </a:lnTo>
                <a:lnTo>
                  <a:pt x="263566" y="22646"/>
                </a:lnTo>
                <a:lnTo>
                  <a:pt x="311117" y="10275"/>
                </a:lnTo>
                <a:lnTo>
                  <a:pt x="360973" y="2621"/>
                </a:lnTo>
                <a:lnTo>
                  <a:pt x="412750" y="0"/>
                </a:lnTo>
                <a:lnTo>
                  <a:pt x="464526" y="2621"/>
                </a:lnTo>
                <a:lnTo>
                  <a:pt x="514382" y="10275"/>
                </a:lnTo>
                <a:lnTo>
                  <a:pt x="561933" y="22646"/>
                </a:lnTo>
                <a:lnTo>
                  <a:pt x="606790" y="39420"/>
                </a:lnTo>
                <a:lnTo>
                  <a:pt x="648567" y="60283"/>
                </a:lnTo>
                <a:lnTo>
                  <a:pt x="686877" y="84918"/>
                </a:lnTo>
                <a:lnTo>
                  <a:pt x="721334" y="113011"/>
                </a:lnTo>
                <a:lnTo>
                  <a:pt x="751551" y="144247"/>
                </a:lnTo>
                <a:lnTo>
                  <a:pt x="777141" y="178311"/>
                </a:lnTo>
                <a:lnTo>
                  <a:pt x="797718" y="214888"/>
                </a:lnTo>
                <a:lnTo>
                  <a:pt x="812894" y="253663"/>
                </a:lnTo>
                <a:lnTo>
                  <a:pt x="822284" y="294322"/>
                </a:lnTo>
                <a:lnTo>
                  <a:pt x="825500" y="336550"/>
                </a:lnTo>
                <a:lnTo>
                  <a:pt x="822284" y="378777"/>
                </a:lnTo>
                <a:lnTo>
                  <a:pt x="812894" y="419436"/>
                </a:lnTo>
                <a:lnTo>
                  <a:pt x="797718" y="458211"/>
                </a:lnTo>
                <a:lnTo>
                  <a:pt x="777141" y="494788"/>
                </a:lnTo>
                <a:lnTo>
                  <a:pt x="751551" y="528852"/>
                </a:lnTo>
                <a:lnTo>
                  <a:pt x="721334" y="560088"/>
                </a:lnTo>
                <a:lnTo>
                  <a:pt x="686877" y="588181"/>
                </a:lnTo>
                <a:lnTo>
                  <a:pt x="648567" y="612816"/>
                </a:lnTo>
                <a:lnTo>
                  <a:pt x="606790" y="633679"/>
                </a:lnTo>
                <a:lnTo>
                  <a:pt x="561933" y="650453"/>
                </a:lnTo>
                <a:lnTo>
                  <a:pt x="514382" y="662824"/>
                </a:lnTo>
                <a:lnTo>
                  <a:pt x="464526" y="670478"/>
                </a:lnTo>
                <a:lnTo>
                  <a:pt x="412750" y="673100"/>
                </a:lnTo>
                <a:lnTo>
                  <a:pt x="360973" y="670478"/>
                </a:lnTo>
                <a:lnTo>
                  <a:pt x="311117" y="662824"/>
                </a:lnTo>
                <a:lnTo>
                  <a:pt x="263566" y="650453"/>
                </a:lnTo>
                <a:lnTo>
                  <a:pt x="218709" y="633679"/>
                </a:lnTo>
                <a:lnTo>
                  <a:pt x="176932" y="612816"/>
                </a:lnTo>
                <a:lnTo>
                  <a:pt x="138622" y="588181"/>
                </a:lnTo>
                <a:lnTo>
                  <a:pt x="104165" y="560088"/>
                </a:lnTo>
                <a:lnTo>
                  <a:pt x="73948" y="528852"/>
                </a:lnTo>
                <a:lnTo>
                  <a:pt x="48358" y="494788"/>
                </a:lnTo>
                <a:lnTo>
                  <a:pt x="27781" y="458211"/>
                </a:lnTo>
                <a:lnTo>
                  <a:pt x="12605" y="419436"/>
                </a:lnTo>
                <a:lnTo>
                  <a:pt x="3215" y="378777"/>
                </a:lnTo>
                <a:lnTo>
                  <a:pt x="0" y="3365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35100" y="702309"/>
            <a:ext cx="53721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Window &amp;</a:t>
            </a:r>
            <a:r>
              <a:rPr spc="-80" dirty="0"/>
              <a:t> </a:t>
            </a:r>
            <a:r>
              <a:rPr spc="-10" dirty="0"/>
              <a:t>Clipping</a:t>
            </a:r>
          </a:p>
        </p:txBody>
      </p:sp>
      <p:sp>
        <p:nvSpPr>
          <p:cNvPr id="5" name="object 5"/>
          <p:cNvSpPr/>
          <p:nvPr/>
        </p:nvSpPr>
        <p:spPr>
          <a:xfrm>
            <a:off x="679450" y="1676400"/>
            <a:ext cx="0" cy="1758314"/>
          </a:xfrm>
          <a:custGeom>
            <a:avLst/>
            <a:gdLst/>
            <a:ahLst/>
            <a:cxnLst/>
            <a:rect l="l" t="t" r="r" b="b"/>
            <a:pathLst>
              <a:path h="1758314">
                <a:moveTo>
                  <a:pt x="0" y="0"/>
                </a:moveTo>
                <a:lnTo>
                  <a:pt x="0" y="175827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3400" y="3346450"/>
            <a:ext cx="3492500" cy="0"/>
          </a:xfrm>
          <a:custGeom>
            <a:avLst/>
            <a:gdLst/>
            <a:ahLst/>
            <a:cxnLst/>
            <a:rect l="l" t="t" r="r" b="b"/>
            <a:pathLst>
              <a:path w="3492500">
                <a:moveTo>
                  <a:pt x="0" y="0"/>
                </a:moveTo>
                <a:lnTo>
                  <a:pt x="3492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40368" y="1641475"/>
            <a:ext cx="1968500" cy="1054100"/>
          </a:xfrm>
          <a:custGeom>
            <a:avLst/>
            <a:gdLst/>
            <a:ahLst/>
            <a:cxnLst/>
            <a:rect l="l" t="t" r="r" b="b"/>
            <a:pathLst>
              <a:path w="1968500" h="1054100">
                <a:moveTo>
                  <a:pt x="0" y="1054100"/>
                </a:moveTo>
                <a:lnTo>
                  <a:pt x="1968500" y="1054100"/>
                </a:lnTo>
                <a:lnTo>
                  <a:pt x="1968500" y="0"/>
                </a:lnTo>
                <a:lnTo>
                  <a:pt x="0" y="0"/>
                </a:lnTo>
                <a:lnTo>
                  <a:pt x="0" y="10541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38400" y="2133600"/>
            <a:ext cx="749300" cy="520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38400" y="2133600"/>
            <a:ext cx="749300" cy="520700"/>
          </a:xfrm>
          <a:custGeom>
            <a:avLst/>
            <a:gdLst/>
            <a:ahLst/>
            <a:cxnLst/>
            <a:rect l="l" t="t" r="r" b="b"/>
            <a:pathLst>
              <a:path w="749300" h="520700">
                <a:moveTo>
                  <a:pt x="0" y="260350"/>
                </a:moveTo>
                <a:lnTo>
                  <a:pt x="4062" y="221882"/>
                </a:lnTo>
                <a:lnTo>
                  <a:pt x="15864" y="185166"/>
                </a:lnTo>
                <a:lnTo>
                  <a:pt x="34825" y="150603"/>
                </a:lnTo>
                <a:lnTo>
                  <a:pt x="60366" y="118597"/>
                </a:lnTo>
                <a:lnTo>
                  <a:pt x="91905" y="89550"/>
                </a:lnTo>
                <a:lnTo>
                  <a:pt x="128864" y="63867"/>
                </a:lnTo>
                <a:lnTo>
                  <a:pt x="170662" y="41949"/>
                </a:lnTo>
                <a:lnTo>
                  <a:pt x="216720" y="24201"/>
                </a:lnTo>
                <a:lnTo>
                  <a:pt x="266457" y="11024"/>
                </a:lnTo>
                <a:lnTo>
                  <a:pt x="319293" y="2823"/>
                </a:lnTo>
                <a:lnTo>
                  <a:pt x="374650" y="0"/>
                </a:lnTo>
                <a:lnTo>
                  <a:pt x="430006" y="2823"/>
                </a:lnTo>
                <a:lnTo>
                  <a:pt x="482842" y="11024"/>
                </a:lnTo>
                <a:lnTo>
                  <a:pt x="532579" y="24201"/>
                </a:lnTo>
                <a:lnTo>
                  <a:pt x="578637" y="41949"/>
                </a:lnTo>
                <a:lnTo>
                  <a:pt x="620435" y="63867"/>
                </a:lnTo>
                <a:lnTo>
                  <a:pt x="657394" y="89550"/>
                </a:lnTo>
                <a:lnTo>
                  <a:pt x="688933" y="118597"/>
                </a:lnTo>
                <a:lnTo>
                  <a:pt x="714474" y="150603"/>
                </a:lnTo>
                <a:lnTo>
                  <a:pt x="733435" y="185166"/>
                </a:lnTo>
                <a:lnTo>
                  <a:pt x="745237" y="221882"/>
                </a:lnTo>
                <a:lnTo>
                  <a:pt x="749300" y="260350"/>
                </a:lnTo>
                <a:lnTo>
                  <a:pt x="745237" y="298817"/>
                </a:lnTo>
                <a:lnTo>
                  <a:pt x="733435" y="335533"/>
                </a:lnTo>
                <a:lnTo>
                  <a:pt x="714474" y="370096"/>
                </a:lnTo>
                <a:lnTo>
                  <a:pt x="688933" y="402102"/>
                </a:lnTo>
                <a:lnTo>
                  <a:pt x="657394" y="431149"/>
                </a:lnTo>
                <a:lnTo>
                  <a:pt x="620435" y="456832"/>
                </a:lnTo>
                <a:lnTo>
                  <a:pt x="578637" y="478750"/>
                </a:lnTo>
                <a:lnTo>
                  <a:pt x="532579" y="496498"/>
                </a:lnTo>
                <a:lnTo>
                  <a:pt x="482842" y="509675"/>
                </a:lnTo>
                <a:lnTo>
                  <a:pt x="430006" y="517876"/>
                </a:lnTo>
                <a:lnTo>
                  <a:pt x="374650" y="520700"/>
                </a:lnTo>
                <a:lnTo>
                  <a:pt x="319293" y="517876"/>
                </a:lnTo>
                <a:lnTo>
                  <a:pt x="266457" y="509675"/>
                </a:lnTo>
                <a:lnTo>
                  <a:pt x="216720" y="496498"/>
                </a:lnTo>
                <a:lnTo>
                  <a:pt x="170662" y="478750"/>
                </a:lnTo>
                <a:lnTo>
                  <a:pt x="128864" y="456832"/>
                </a:lnTo>
                <a:lnTo>
                  <a:pt x="91905" y="431149"/>
                </a:lnTo>
                <a:lnTo>
                  <a:pt x="60366" y="402102"/>
                </a:lnTo>
                <a:lnTo>
                  <a:pt x="34825" y="370096"/>
                </a:lnTo>
                <a:lnTo>
                  <a:pt x="15864" y="335533"/>
                </a:lnTo>
                <a:lnTo>
                  <a:pt x="4062" y="298817"/>
                </a:lnTo>
                <a:lnTo>
                  <a:pt x="0" y="2603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1800" y="2514600"/>
            <a:ext cx="139700" cy="825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71800" y="2514600"/>
            <a:ext cx="139700" cy="825500"/>
          </a:xfrm>
          <a:custGeom>
            <a:avLst/>
            <a:gdLst/>
            <a:ahLst/>
            <a:cxnLst/>
            <a:rect l="l" t="t" r="r" b="b"/>
            <a:pathLst>
              <a:path w="139700" h="825500">
                <a:moveTo>
                  <a:pt x="0" y="825500"/>
                </a:moveTo>
                <a:lnTo>
                  <a:pt x="139700" y="825500"/>
                </a:lnTo>
                <a:lnTo>
                  <a:pt x="139700" y="0"/>
                </a:lnTo>
                <a:lnTo>
                  <a:pt x="0" y="0"/>
                </a:lnTo>
                <a:lnTo>
                  <a:pt x="0" y="8255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19400" y="2057400"/>
            <a:ext cx="825500" cy="520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19400" y="2057400"/>
            <a:ext cx="825500" cy="520700"/>
          </a:xfrm>
          <a:custGeom>
            <a:avLst/>
            <a:gdLst/>
            <a:ahLst/>
            <a:cxnLst/>
            <a:rect l="l" t="t" r="r" b="b"/>
            <a:pathLst>
              <a:path w="825500" h="520700">
                <a:moveTo>
                  <a:pt x="0" y="260350"/>
                </a:moveTo>
                <a:lnTo>
                  <a:pt x="14743" y="191146"/>
                </a:lnTo>
                <a:lnTo>
                  <a:pt x="56350" y="128956"/>
                </a:lnTo>
                <a:lnTo>
                  <a:pt x="85998" y="101267"/>
                </a:lnTo>
                <a:lnTo>
                  <a:pt x="120888" y="76263"/>
                </a:lnTo>
                <a:lnTo>
                  <a:pt x="160526" y="54254"/>
                </a:lnTo>
                <a:lnTo>
                  <a:pt x="204422" y="35550"/>
                </a:lnTo>
                <a:lnTo>
                  <a:pt x="252085" y="20462"/>
                </a:lnTo>
                <a:lnTo>
                  <a:pt x="303021" y="9301"/>
                </a:lnTo>
                <a:lnTo>
                  <a:pt x="356740" y="2377"/>
                </a:lnTo>
                <a:lnTo>
                  <a:pt x="412750" y="0"/>
                </a:lnTo>
                <a:lnTo>
                  <a:pt x="468759" y="2377"/>
                </a:lnTo>
                <a:lnTo>
                  <a:pt x="522478" y="9301"/>
                </a:lnTo>
                <a:lnTo>
                  <a:pt x="573414" y="20462"/>
                </a:lnTo>
                <a:lnTo>
                  <a:pt x="621077" y="35550"/>
                </a:lnTo>
                <a:lnTo>
                  <a:pt x="664973" y="54254"/>
                </a:lnTo>
                <a:lnTo>
                  <a:pt x="704611" y="76263"/>
                </a:lnTo>
                <a:lnTo>
                  <a:pt x="739501" y="101267"/>
                </a:lnTo>
                <a:lnTo>
                  <a:pt x="769149" y="128956"/>
                </a:lnTo>
                <a:lnTo>
                  <a:pt x="793065" y="159019"/>
                </a:lnTo>
                <a:lnTo>
                  <a:pt x="821732" y="225026"/>
                </a:lnTo>
                <a:lnTo>
                  <a:pt x="825500" y="260350"/>
                </a:lnTo>
                <a:lnTo>
                  <a:pt x="821732" y="295673"/>
                </a:lnTo>
                <a:lnTo>
                  <a:pt x="793065" y="361680"/>
                </a:lnTo>
                <a:lnTo>
                  <a:pt x="769149" y="391743"/>
                </a:lnTo>
                <a:lnTo>
                  <a:pt x="739501" y="419432"/>
                </a:lnTo>
                <a:lnTo>
                  <a:pt x="704611" y="444436"/>
                </a:lnTo>
                <a:lnTo>
                  <a:pt x="664973" y="466445"/>
                </a:lnTo>
                <a:lnTo>
                  <a:pt x="621077" y="485149"/>
                </a:lnTo>
                <a:lnTo>
                  <a:pt x="573414" y="500237"/>
                </a:lnTo>
                <a:lnTo>
                  <a:pt x="522478" y="511398"/>
                </a:lnTo>
                <a:lnTo>
                  <a:pt x="468759" y="518322"/>
                </a:lnTo>
                <a:lnTo>
                  <a:pt x="412750" y="520700"/>
                </a:lnTo>
                <a:lnTo>
                  <a:pt x="356740" y="518322"/>
                </a:lnTo>
                <a:lnTo>
                  <a:pt x="303021" y="511398"/>
                </a:lnTo>
                <a:lnTo>
                  <a:pt x="252085" y="500237"/>
                </a:lnTo>
                <a:lnTo>
                  <a:pt x="204422" y="485149"/>
                </a:lnTo>
                <a:lnTo>
                  <a:pt x="160526" y="466445"/>
                </a:lnTo>
                <a:lnTo>
                  <a:pt x="120888" y="444436"/>
                </a:lnTo>
                <a:lnTo>
                  <a:pt x="85998" y="419432"/>
                </a:lnTo>
                <a:lnTo>
                  <a:pt x="56350" y="391743"/>
                </a:lnTo>
                <a:lnTo>
                  <a:pt x="32434" y="361680"/>
                </a:lnTo>
                <a:lnTo>
                  <a:pt x="3767" y="295673"/>
                </a:lnTo>
                <a:lnTo>
                  <a:pt x="0" y="2603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43200" y="1828800"/>
            <a:ext cx="520700" cy="5969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43200" y="1828800"/>
            <a:ext cx="520700" cy="596900"/>
          </a:xfrm>
          <a:custGeom>
            <a:avLst/>
            <a:gdLst/>
            <a:ahLst/>
            <a:cxnLst/>
            <a:rect l="l" t="t" r="r" b="b"/>
            <a:pathLst>
              <a:path w="520700" h="596900">
                <a:moveTo>
                  <a:pt x="0" y="298450"/>
                </a:moveTo>
                <a:lnTo>
                  <a:pt x="3408" y="250035"/>
                </a:lnTo>
                <a:lnTo>
                  <a:pt x="13275" y="204110"/>
                </a:lnTo>
                <a:lnTo>
                  <a:pt x="29064" y="161287"/>
                </a:lnTo>
                <a:lnTo>
                  <a:pt x="50239" y="122182"/>
                </a:lnTo>
                <a:lnTo>
                  <a:pt x="76263" y="87407"/>
                </a:lnTo>
                <a:lnTo>
                  <a:pt x="106600" y="57578"/>
                </a:lnTo>
                <a:lnTo>
                  <a:pt x="140714" y="33309"/>
                </a:lnTo>
                <a:lnTo>
                  <a:pt x="178068" y="15213"/>
                </a:lnTo>
                <a:lnTo>
                  <a:pt x="218125" y="3905"/>
                </a:lnTo>
                <a:lnTo>
                  <a:pt x="260350" y="0"/>
                </a:lnTo>
                <a:lnTo>
                  <a:pt x="302574" y="3905"/>
                </a:lnTo>
                <a:lnTo>
                  <a:pt x="342631" y="15213"/>
                </a:lnTo>
                <a:lnTo>
                  <a:pt x="379985" y="33309"/>
                </a:lnTo>
                <a:lnTo>
                  <a:pt x="414099" y="57578"/>
                </a:lnTo>
                <a:lnTo>
                  <a:pt x="444436" y="87407"/>
                </a:lnTo>
                <a:lnTo>
                  <a:pt x="470460" y="122182"/>
                </a:lnTo>
                <a:lnTo>
                  <a:pt x="491635" y="161287"/>
                </a:lnTo>
                <a:lnTo>
                  <a:pt x="507424" y="204110"/>
                </a:lnTo>
                <a:lnTo>
                  <a:pt x="517291" y="250035"/>
                </a:lnTo>
                <a:lnTo>
                  <a:pt x="520700" y="298450"/>
                </a:lnTo>
                <a:lnTo>
                  <a:pt x="517291" y="346864"/>
                </a:lnTo>
                <a:lnTo>
                  <a:pt x="507424" y="392789"/>
                </a:lnTo>
                <a:lnTo>
                  <a:pt x="491635" y="435612"/>
                </a:lnTo>
                <a:lnTo>
                  <a:pt x="470460" y="474717"/>
                </a:lnTo>
                <a:lnTo>
                  <a:pt x="444436" y="509492"/>
                </a:lnTo>
                <a:lnTo>
                  <a:pt x="414099" y="539321"/>
                </a:lnTo>
                <a:lnTo>
                  <a:pt x="379985" y="563590"/>
                </a:lnTo>
                <a:lnTo>
                  <a:pt x="342631" y="581686"/>
                </a:lnTo>
                <a:lnTo>
                  <a:pt x="302574" y="592994"/>
                </a:lnTo>
                <a:lnTo>
                  <a:pt x="260350" y="596900"/>
                </a:lnTo>
                <a:lnTo>
                  <a:pt x="218125" y="592994"/>
                </a:lnTo>
                <a:lnTo>
                  <a:pt x="178068" y="581686"/>
                </a:lnTo>
                <a:lnTo>
                  <a:pt x="140714" y="563590"/>
                </a:lnTo>
                <a:lnTo>
                  <a:pt x="106600" y="539321"/>
                </a:lnTo>
                <a:lnTo>
                  <a:pt x="76263" y="509492"/>
                </a:lnTo>
                <a:lnTo>
                  <a:pt x="50239" y="474717"/>
                </a:lnTo>
                <a:lnTo>
                  <a:pt x="29064" y="435612"/>
                </a:lnTo>
                <a:lnTo>
                  <a:pt x="13275" y="392789"/>
                </a:lnTo>
                <a:lnTo>
                  <a:pt x="3408" y="346864"/>
                </a:lnTo>
                <a:lnTo>
                  <a:pt x="0" y="2984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19200" y="2667000"/>
            <a:ext cx="901700" cy="6731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19200" y="2667000"/>
            <a:ext cx="901700" cy="673100"/>
          </a:xfrm>
          <a:custGeom>
            <a:avLst/>
            <a:gdLst/>
            <a:ahLst/>
            <a:cxnLst/>
            <a:rect l="l" t="t" r="r" b="b"/>
            <a:pathLst>
              <a:path w="901700" h="673100">
                <a:moveTo>
                  <a:pt x="0" y="673100"/>
                </a:moveTo>
                <a:lnTo>
                  <a:pt x="901700" y="673100"/>
                </a:lnTo>
                <a:lnTo>
                  <a:pt x="901700" y="0"/>
                </a:lnTo>
                <a:lnTo>
                  <a:pt x="0" y="0"/>
                </a:lnTo>
                <a:lnTo>
                  <a:pt x="0" y="6731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12850" y="2203450"/>
            <a:ext cx="914400" cy="457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12850" y="220345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457200"/>
                </a:moveTo>
                <a:lnTo>
                  <a:pt x="457200" y="0"/>
                </a:lnTo>
                <a:lnTo>
                  <a:pt x="914400" y="4572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00200" y="2971800"/>
            <a:ext cx="215900" cy="368300"/>
          </a:xfrm>
          <a:custGeom>
            <a:avLst/>
            <a:gdLst/>
            <a:ahLst/>
            <a:cxnLst/>
            <a:rect l="l" t="t" r="r" b="b"/>
            <a:pathLst>
              <a:path w="215900" h="368300">
                <a:moveTo>
                  <a:pt x="0" y="368300"/>
                </a:moveTo>
                <a:lnTo>
                  <a:pt x="215900" y="368300"/>
                </a:lnTo>
                <a:lnTo>
                  <a:pt x="215900" y="0"/>
                </a:lnTo>
                <a:lnTo>
                  <a:pt x="0" y="0"/>
                </a:lnTo>
                <a:lnTo>
                  <a:pt x="0" y="368300"/>
                </a:lnTo>
                <a:close/>
              </a:path>
            </a:pathLst>
          </a:custGeom>
          <a:solidFill>
            <a:srgbClr val="8EF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00200" y="2971800"/>
            <a:ext cx="215900" cy="368300"/>
          </a:xfrm>
          <a:custGeom>
            <a:avLst/>
            <a:gdLst/>
            <a:ahLst/>
            <a:cxnLst/>
            <a:rect l="l" t="t" r="r" b="b"/>
            <a:pathLst>
              <a:path w="215900" h="368300">
                <a:moveTo>
                  <a:pt x="0" y="368300"/>
                </a:moveTo>
                <a:lnTo>
                  <a:pt x="215900" y="368300"/>
                </a:lnTo>
                <a:lnTo>
                  <a:pt x="215900" y="0"/>
                </a:lnTo>
                <a:lnTo>
                  <a:pt x="0" y="0"/>
                </a:lnTo>
                <a:lnTo>
                  <a:pt x="0" y="3683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878832" y="1703832"/>
            <a:ext cx="7042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Arial"/>
                <a:cs typeface="Arial"/>
              </a:rPr>
              <a:t>Window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92500" y="1822450"/>
            <a:ext cx="1233170" cy="175260"/>
          </a:xfrm>
          <a:custGeom>
            <a:avLst/>
            <a:gdLst/>
            <a:ahLst/>
            <a:cxnLst/>
            <a:rect l="l" t="t" r="r" b="b"/>
            <a:pathLst>
              <a:path w="1233170" h="175260">
                <a:moveTo>
                  <a:pt x="71374" y="99567"/>
                </a:moveTo>
                <a:lnTo>
                  <a:pt x="0" y="146050"/>
                </a:lnTo>
                <a:lnTo>
                  <a:pt x="80010" y="175260"/>
                </a:lnTo>
                <a:lnTo>
                  <a:pt x="76575" y="145161"/>
                </a:lnTo>
                <a:lnTo>
                  <a:pt x="63753" y="145161"/>
                </a:lnTo>
                <a:lnTo>
                  <a:pt x="62357" y="132587"/>
                </a:lnTo>
                <a:lnTo>
                  <a:pt x="74978" y="131156"/>
                </a:lnTo>
                <a:lnTo>
                  <a:pt x="71374" y="99567"/>
                </a:lnTo>
                <a:close/>
              </a:path>
              <a:path w="1233170" h="175260">
                <a:moveTo>
                  <a:pt x="74978" y="131156"/>
                </a:moveTo>
                <a:lnTo>
                  <a:pt x="62357" y="132587"/>
                </a:lnTo>
                <a:lnTo>
                  <a:pt x="63753" y="145161"/>
                </a:lnTo>
                <a:lnTo>
                  <a:pt x="76412" y="143726"/>
                </a:lnTo>
                <a:lnTo>
                  <a:pt x="74978" y="131156"/>
                </a:lnTo>
                <a:close/>
              </a:path>
              <a:path w="1233170" h="175260">
                <a:moveTo>
                  <a:pt x="76412" y="143726"/>
                </a:moveTo>
                <a:lnTo>
                  <a:pt x="63753" y="145161"/>
                </a:lnTo>
                <a:lnTo>
                  <a:pt x="76575" y="145161"/>
                </a:lnTo>
                <a:lnTo>
                  <a:pt x="76412" y="143726"/>
                </a:lnTo>
                <a:close/>
              </a:path>
              <a:path w="1233170" h="175260">
                <a:moveTo>
                  <a:pt x="1231138" y="0"/>
                </a:moveTo>
                <a:lnTo>
                  <a:pt x="74978" y="131156"/>
                </a:lnTo>
                <a:lnTo>
                  <a:pt x="76412" y="143726"/>
                </a:lnTo>
                <a:lnTo>
                  <a:pt x="1232662" y="12700"/>
                </a:lnTo>
                <a:lnTo>
                  <a:pt x="12311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8955" y="3434676"/>
            <a:ext cx="8765540" cy="3139440"/>
          </a:xfrm>
          <a:custGeom>
            <a:avLst/>
            <a:gdLst/>
            <a:ahLst/>
            <a:cxnLst/>
            <a:rect l="l" t="t" r="r" b="b"/>
            <a:pathLst>
              <a:path w="8765540" h="3139440">
                <a:moveTo>
                  <a:pt x="0" y="3139313"/>
                </a:moveTo>
                <a:lnTo>
                  <a:pt x="8765044" y="3139313"/>
                </a:lnTo>
                <a:lnTo>
                  <a:pt x="8765044" y="0"/>
                </a:lnTo>
                <a:lnTo>
                  <a:pt x="0" y="0"/>
                </a:lnTo>
                <a:lnTo>
                  <a:pt x="0" y="3139313"/>
                </a:lnTo>
                <a:close/>
              </a:path>
            </a:pathLst>
          </a:custGeom>
          <a:solidFill>
            <a:srgbClr val="8EF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57708" y="3466592"/>
            <a:ext cx="7950834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Clipping</a:t>
            </a:r>
            <a:r>
              <a:rPr sz="1800" spc="-5" dirty="0">
                <a:latin typeface="Tahoma"/>
                <a:cs typeface="Tahoma"/>
              </a:rPr>
              <a:t>: </a:t>
            </a:r>
            <a:r>
              <a:rPr sz="1800" dirty="0">
                <a:latin typeface="Tahoma"/>
                <a:cs typeface="Tahoma"/>
              </a:rPr>
              <a:t>The </a:t>
            </a:r>
            <a:r>
              <a:rPr sz="1800" spc="-5" dirty="0">
                <a:latin typeface="Tahoma"/>
                <a:cs typeface="Tahoma"/>
              </a:rPr>
              <a:t>procedure that identifies the </a:t>
            </a:r>
            <a:r>
              <a:rPr sz="1800" dirty="0">
                <a:latin typeface="Tahoma"/>
                <a:cs typeface="Tahoma"/>
              </a:rPr>
              <a:t>portion of a </a:t>
            </a:r>
            <a:r>
              <a:rPr sz="1800" spc="-5" dirty="0">
                <a:latin typeface="Tahoma"/>
                <a:cs typeface="Tahoma"/>
              </a:rPr>
              <a:t>picture  That are either </a:t>
            </a:r>
            <a:r>
              <a:rPr sz="1800" dirty="0">
                <a:latin typeface="Tahoma"/>
                <a:cs typeface="Tahoma"/>
              </a:rPr>
              <a:t>inside or outside of a </a:t>
            </a:r>
            <a:r>
              <a:rPr sz="1800" spc="-5" dirty="0">
                <a:latin typeface="Tahoma"/>
                <a:cs typeface="Tahoma"/>
              </a:rPr>
              <a:t>specified </a:t>
            </a:r>
            <a:r>
              <a:rPr sz="1800" spc="-10" dirty="0">
                <a:latin typeface="Tahoma"/>
                <a:cs typeface="Tahoma"/>
              </a:rPr>
              <a:t>region </a:t>
            </a:r>
            <a:r>
              <a:rPr sz="1800" dirty="0">
                <a:latin typeface="Tahoma"/>
                <a:cs typeface="Tahoma"/>
              </a:rPr>
              <a:t>of </a:t>
            </a:r>
            <a:r>
              <a:rPr sz="1800" spc="-5" dirty="0">
                <a:latin typeface="Tahoma"/>
                <a:cs typeface="Tahoma"/>
              </a:rPr>
              <a:t>space </a:t>
            </a:r>
            <a:r>
              <a:rPr sz="1800" dirty="0">
                <a:latin typeface="Tahoma"/>
                <a:cs typeface="Tahoma"/>
              </a:rPr>
              <a:t>is </a:t>
            </a:r>
            <a:r>
              <a:rPr sz="1800" spc="-10" dirty="0">
                <a:latin typeface="Tahoma"/>
                <a:cs typeface="Tahoma"/>
              </a:rPr>
              <a:t>referred </a:t>
            </a:r>
            <a:r>
              <a:rPr sz="1800" spc="-5" dirty="0">
                <a:latin typeface="Tahoma"/>
                <a:cs typeface="Tahoma"/>
              </a:rPr>
              <a:t>to </a:t>
            </a:r>
            <a:r>
              <a:rPr sz="1800" dirty="0">
                <a:latin typeface="Tahoma"/>
                <a:cs typeface="Tahoma"/>
              </a:rPr>
              <a:t>as  Clipping. The </a:t>
            </a:r>
            <a:r>
              <a:rPr sz="1800" spc="-10" dirty="0">
                <a:latin typeface="Tahoma"/>
                <a:cs typeface="Tahoma"/>
              </a:rPr>
              <a:t>region </a:t>
            </a:r>
            <a:r>
              <a:rPr sz="1800" dirty="0">
                <a:latin typeface="Tahoma"/>
                <a:cs typeface="Tahoma"/>
              </a:rPr>
              <a:t>against </a:t>
            </a:r>
            <a:r>
              <a:rPr sz="1800" spc="-5" dirty="0">
                <a:latin typeface="Tahoma"/>
                <a:cs typeface="Tahoma"/>
              </a:rPr>
              <a:t>which </a:t>
            </a:r>
            <a:r>
              <a:rPr sz="1800" dirty="0">
                <a:latin typeface="Tahoma"/>
                <a:cs typeface="Tahoma"/>
              </a:rPr>
              <a:t>an </a:t>
            </a:r>
            <a:r>
              <a:rPr sz="1800" spc="-5" dirty="0">
                <a:latin typeface="Tahoma"/>
                <a:cs typeface="Tahoma"/>
              </a:rPr>
              <a:t>object </a:t>
            </a:r>
            <a:r>
              <a:rPr sz="1800" dirty="0">
                <a:latin typeface="Tahoma"/>
                <a:cs typeface="Tahoma"/>
              </a:rPr>
              <a:t>is </a:t>
            </a:r>
            <a:r>
              <a:rPr sz="1800" spc="-5" dirty="0">
                <a:latin typeface="Tahoma"/>
                <a:cs typeface="Tahoma"/>
              </a:rPr>
              <a:t>to </a:t>
            </a:r>
            <a:r>
              <a:rPr sz="1800" dirty="0">
                <a:latin typeface="Tahoma"/>
                <a:cs typeface="Tahoma"/>
              </a:rPr>
              <a:t>be </a:t>
            </a:r>
            <a:r>
              <a:rPr sz="1800" spc="-5" dirty="0">
                <a:latin typeface="Tahoma"/>
                <a:cs typeface="Tahoma"/>
              </a:rPr>
              <a:t>clipped </a:t>
            </a:r>
            <a:r>
              <a:rPr sz="1800" dirty="0">
                <a:latin typeface="Tahoma"/>
                <a:cs typeface="Tahoma"/>
              </a:rPr>
              <a:t>is </a:t>
            </a:r>
            <a:r>
              <a:rPr sz="1800" spc="-5" dirty="0">
                <a:latin typeface="Tahoma"/>
                <a:cs typeface="Tahoma"/>
              </a:rPr>
              <a:t>called </a:t>
            </a:r>
            <a:r>
              <a:rPr sz="1800" b="1" dirty="0">
                <a:latin typeface="Tahoma"/>
                <a:cs typeface="Tahoma"/>
              </a:rPr>
              <a:t>a </a:t>
            </a:r>
            <a:r>
              <a:rPr sz="1800" b="1" spc="-5" dirty="0">
                <a:latin typeface="Tahoma"/>
                <a:cs typeface="Tahoma"/>
              </a:rPr>
              <a:t>clip  </a:t>
            </a:r>
            <a:r>
              <a:rPr sz="1800" b="1" dirty="0">
                <a:latin typeface="Tahoma"/>
                <a:cs typeface="Tahoma"/>
              </a:rPr>
              <a:t>Window </a:t>
            </a:r>
            <a:r>
              <a:rPr sz="1800" dirty="0">
                <a:latin typeface="Tahoma"/>
                <a:cs typeface="Tahoma"/>
              </a:rPr>
              <a:t>or </a:t>
            </a:r>
            <a:r>
              <a:rPr sz="1800" b="1" spc="-5" dirty="0">
                <a:latin typeface="Tahoma"/>
                <a:cs typeface="Tahoma"/>
              </a:rPr>
              <a:t>clipping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window</a:t>
            </a:r>
            <a:r>
              <a:rPr sz="1800" dirty="0">
                <a:latin typeface="Tahoma"/>
                <a:cs typeface="Tahoma"/>
              </a:rPr>
              <a:t>.</a:t>
            </a:r>
          </a:p>
          <a:p>
            <a:pPr marL="226695" marR="1543050" indent="-214629">
              <a:lnSpc>
                <a:spcPct val="100000"/>
              </a:lnSpc>
            </a:pPr>
            <a:r>
              <a:rPr sz="1800" b="1" spc="-5" dirty="0">
                <a:latin typeface="Tahoma"/>
                <a:cs typeface="Tahoma"/>
              </a:rPr>
              <a:t>Types of Clipping</a:t>
            </a:r>
            <a:r>
              <a:rPr sz="1800" spc="-5" dirty="0">
                <a:latin typeface="Tahoma"/>
                <a:cs typeface="Tahoma"/>
              </a:rPr>
              <a:t>: Discarding the </a:t>
            </a:r>
            <a:r>
              <a:rPr sz="1800" dirty="0">
                <a:latin typeface="Tahoma"/>
                <a:cs typeface="Tahoma"/>
              </a:rPr>
              <a:t>portion outside </a:t>
            </a:r>
            <a:r>
              <a:rPr sz="1800" spc="-5" dirty="0">
                <a:latin typeface="Tahoma"/>
                <a:cs typeface="Tahoma"/>
              </a:rPr>
              <a:t>the window  </a:t>
            </a:r>
            <a:r>
              <a:rPr sz="1800" spc="-35" dirty="0">
                <a:latin typeface="Tahoma"/>
                <a:cs typeface="Tahoma"/>
              </a:rPr>
              <a:t>Types: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45994" y="5112511"/>
            <a:ext cx="36734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7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279400" algn="l"/>
              </a:tabLst>
            </a:pPr>
            <a:r>
              <a:rPr sz="1800" spc="-10" dirty="0">
                <a:latin typeface="Tahoma"/>
                <a:cs typeface="Tahoma"/>
              </a:rPr>
              <a:t>Polygon </a:t>
            </a:r>
            <a:r>
              <a:rPr sz="1800" dirty="0">
                <a:latin typeface="Tahoma"/>
                <a:cs typeface="Tahoma"/>
              </a:rPr>
              <a:t>Clipping</a:t>
            </a:r>
            <a:endParaRPr sz="180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</a:pPr>
            <a:r>
              <a:rPr sz="1800" spc="-5" dirty="0">
                <a:latin typeface="Tahoma"/>
                <a:cs typeface="Tahoma"/>
              </a:rPr>
              <a:t>Sutherland-Hodgeman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Algorithm</a:t>
            </a:r>
            <a:endParaRPr sz="1800">
              <a:latin typeface="Tahoma"/>
              <a:cs typeface="Tahoma"/>
            </a:endParaRPr>
          </a:p>
          <a:p>
            <a:pPr marL="282575" indent="-264795">
              <a:lnSpc>
                <a:spcPct val="100000"/>
              </a:lnSpc>
              <a:buAutoNum type="arabicPeriod" startAt="4"/>
              <a:tabLst>
                <a:tab pos="283210" algn="l"/>
              </a:tabLst>
            </a:pPr>
            <a:r>
              <a:rPr sz="1800" spc="-5" dirty="0">
                <a:latin typeface="Tahoma"/>
                <a:cs typeface="Tahoma"/>
              </a:rPr>
              <a:t>Curve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Clipping</a:t>
            </a:r>
            <a:endParaRPr sz="1800">
              <a:latin typeface="Tahoma"/>
              <a:cs typeface="Tahoma"/>
            </a:endParaRPr>
          </a:p>
          <a:p>
            <a:pPr marL="296545" indent="-267335">
              <a:lnSpc>
                <a:spcPct val="100000"/>
              </a:lnSpc>
              <a:buAutoNum type="arabicPeriod" startAt="4"/>
              <a:tabLst>
                <a:tab pos="297180" algn="l"/>
              </a:tabLst>
            </a:pPr>
            <a:r>
              <a:rPr sz="1800" spc="-50" dirty="0">
                <a:latin typeface="Tahoma"/>
                <a:cs typeface="Tahoma"/>
              </a:rPr>
              <a:t>Text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Clipping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908" y="5112511"/>
            <a:ext cx="36074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6720" indent="-4146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26720" algn="l"/>
                <a:tab pos="427355" algn="l"/>
              </a:tabLst>
            </a:pPr>
            <a:r>
              <a:rPr sz="1800" spc="-10" dirty="0">
                <a:latin typeface="Tahoma"/>
                <a:cs typeface="Tahoma"/>
              </a:rPr>
              <a:t>Point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Clipping</a:t>
            </a:r>
            <a:endParaRPr sz="1800">
              <a:latin typeface="Tahoma"/>
              <a:cs typeface="Tahoma"/>
            </a:endParaRPr>
          </a:p>
          <a:p>
            <a:pPr marL="426720" indent="-414655">
              <a:lnSpc>
                <a:spcPct val="100000"/>
              </a:lnSpc>
              <a:buAutoNum type="arabicPeriod"/>
              <a:tabLst>
                <a:tab pos="426720" algn="l"/>
                <a:tab pos="427355" algn="l"/>
              </a:tabLst>
            </a:pPr>
            <a:r>
              <a:rPr sz="1800" dirty="0">
                <a:latin typeface="Tahoma"/>
                <a:cs typeface="Tahoma"/>
              </a:rPr>
              <a:t>Line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Clipping</a:t>
            </a:r>
            <a:endParaRPr sz="1800">
              <a:latin typeface="Tahoma"/>
              <a:cs typeface="Tahoma"/>
            </a:endParaRPr>
          </a:p>
          <a:p>
            <a:pPr marL="748665" lvl="1" indent="-279400">
              <a:lnSpc>
                <a:spcPct val="100000"/>
              </a:lnSpc>
              <a:buAutoNum type="alphaLcParenR"/>
              <a:tabLst>
                <a:tab pos="749300" algn="l"/>
              </a:tabLst>
            </a:pPr>
            <a:r>
              <a:rPr sz="1800" spc="-5" dirty="0">
                <a:latin typeface="Tahoma"/>
                <a:cs typeface="Tahoma"/>
              </a:rPr>
              <a:t>Cohen-Sutherland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Algorithm</a:t>
            </a:r>
            <a:endParaRPr sz="1800">
              <a:latin typeface="Tahoma"/>
              <a:cs typeface="Tahoma"/>
            </a:endParaRPr>
          </a:p>
          <a:p>
            <a:pPr marL="727075" lvl="1" indent="-286385">
              <a:lnSpc>
                <a:spcPct val="100000"/>
              </a:lnSpc>
              <a:buAutoNum type="alphaLcParenR"/>
              <a:tabLst>
                <a:tab pos="727710" algn="l"/>
              </a:tabLst>
            </a:pPr>
            <a:r>
              <a:rPr sz="1800" spc="-5" dirty="0">
                <a:latin typeface="Tahoma"/>
                <a:cs typeface="Tahoma"/>
              </a:rPr>
              <a:t>Cyrus-Beck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Algorithm</a:t>
            </a:r>
            <a:endParaRPr sz="1800">
              <a:latin typeface="Tahoma"/>
              <a:cs typeface="Tahoma"/>
            </a:endParaRPr>
          </a:p>
          <a:p>
            <a:pPr marL="704215" lvl="1" indent="-263525">
              <a:lnSpc>
                <a:spcPct val="100000"/>
              </a:lnSpc>
              <a:buAutoNum type="alphaLcParenR"/>
              <a:tabLst>
                <a:tab pos="704850" algn="l"/>
              </a:tabLst>
            </a:pPr>
            <a:r>
              <a:rPr sz="1800" spc="-5" dirty="0">
                <a:latin typeface="Tahoma"/>
                <a:cs typeface="Tahoma"/>
              </a:rPr>
              <a:t>Liang-Bersky Algorithm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2611" y="126238"/>
            <a:ext cx="39471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Point</a:t>
            </a:r>
            <a:r>
              <a:rPr spc="-90" dirty="0"/>
              <a:t> </a:t>
            </a:r>
            <a:r>
              <a:rPr spc="-5" dirty="0"/>
              <a:t>Clipping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433" y="2281643"/>
            <a:ext cx="3441700" cy="1016000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45085" rIns="0" bIns="0" rtlCol="0">
            <a:spAutoFit/>
          </a:bodyPr>
          <a:lstStyle/>
          <a:p>
            <a:pPr marL="91440">
              <a:lnSpc>
                <a:spcPts val="2390"/>
              </a:lnSpc>
              <a:spcBef>
                <a:spcPts val="355"/>
              </a:spcBef>
            </a:pPr>
            <a:r>
              <a:rPr sz="2000" spc="-5" dirty="0">
                <a:latin typeface="Tahoma"/>
                <a:cs typeface="Tahoma"/>
              </a:rPr>
              <a:t>Conditions </a:t>
            </a:r>
            <a:r>
              <a:rPr sz="2000" spc="-10" dirty="0">
                <a:latin typeface="Tahoma"/>
                <a:cs typeface="Tahoma"/>
              </a:rPr>
              <a:t>for clipping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(x,y)</a:t>
            </a:r>
            <a:endParaRPr sz="2000">
              <a:latin typeface="Tahoma"/>
              <a:cs typeface="Tahoma"/>
            </a:endParaRPr>
          </a:p>
          <a:p>
            <a:pPr marL="548640" indent="-457834">
              <a:lnSpc>
                <a:spcPts val="2390"/>
              </a:lnSpc>
              <a:buAutoNum type="alphaLcPeriod"/>
              <a:tabLst>
                <a:tab pos="548005" algn="l"/>
                <a:tab pos="549275" algn="l"/>
              </a:tabLst>
            </a:pPr>
            <a:r>
              <a:rPr sz="2000" spc="-5" dirty="0">
                <a:latin typeface="Tahoma"/>
                <a:cs typeface="Tahoma"/>
              </a:rPr>
              <a:t>Xmin </a:t>
            </a:r>
            <a:r>
              <a:rPr sz="2000" spc="-5" dirty="0">
                <a:latin typeface="Symbol"/>
                <a:cs typeface="Symbol"/>
              </a:rPr>
              <a:t>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ahoma"/>
                <a:cs typeface="Tahoma"/>
              </a:rPr>
              <a:t>x </a:t>
            </a:r>
            <a:r>
              <a:rPr sz="2000" spc="-5" dirty="0">
                <a:latin typeface="Symbol"/>
                <a:cs typeface="Symbol"/>
              </a:rPr>
              <a:t>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ahoma"/>
                <a:cs typeface="Tahoma"/>
              </a:rPr>
              <a:t>Xmax</a:t>
            </a:r>
            <a:endParaRPr sz="2000">
              <a:latin typeface="Tahoma"/>
              <a:cs typeface="Tahoma"/>
            </a:endParaRPr>
          </a:p>
          <a:p>
            <a:pPr marL="548640" indent="-457834">
              <a:lnSpc>
                <a:spcPct val="100000"/>
              </a:lnSpc>
              <a:buAutoNum type="alphaLcPeriod"/>
              <a:tabLst>
                <a:tab pos="548005" algn="l"/>
                <a:tab pos="549275" algn="l"/>
              </a:tabLst>
            </a:pPr>
            <a:r>
              <a:rPr sz="2000" spc="-25" dirty="0">
                <a:latin typeface="Tahoma"/>
                <a:cs typeface="Tahoma"/>
              </a:rPr>
              <a:t>Ymin </a:t>
            </a:r>
            <a:r>
              <a:rPr sz="2000" spc="-5" dirty="0">
                <a:latin typeface="Symbol"/>
                <a:cs typeface="Symbol"/>
              </a:rPr>
              <a:t>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ahoma"/>
                <a:cs typeface="Tahoma"/>
              </a:rPr>
              <a:t>y </a:t>
            </a:r>
            <a:r>
              <a:rPr sz="2000" spc="-5" dirty="0">
                <a:latin typeface="Symbol"/>
                <a:cs typeface="Symbol"/>
              </a:rPr>
              <a:t>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ahoma"/>
                <a:cs typeface="Tahoma"/>
              </a:rPr>
              <a:t>Ymax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3065" y="3242817"/>
            <a:ext cx="2877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05685" algn="l"/>
              </a:tabLst>
            </a:pPr>
            <a:r>
              <a:rPr sz="1800" spc="-5" dirty="0">
                <a:latin typeface="Tahoma"/>
                <a:cs typeface="Tahoma"/>
              </a:rPr>
              <a:t>X</a:t>
            </a:r>
            <a:r>
              <a:rPr sz="1800" dirty="0">
                <a:latin typeface="Tahoma"/>
                <a:cs typeface="Tahoma"/>
              </a:rPr>
              <a:t>min	</a:t>
            </a:r>
            <a:r>
              <a:rPr sz="1800" spc="-5" dirty="0">
                <a:latin typeface="Tahoma"/>
                <a:cs typeface="Tahoma"/>
              </a:rPr>
              <a:t>X</a:t>
            </a:r>
            <a:r>
              <a:rPr sz="1800" dirty="0">
                <a:latin typeface="Tahoma"/>
                <a:cs typeface="Tahoma"/>
              </a:rPr>
              <a:t>m</a:t>
            </a:r>
            <a:r>
              <a:rPr sz="1800" spc="-10" dirty="0">
                <a:latin typeface="Tahoma"/>
                <a:cs typeface="Tahoma"/>
              </a:rPr>
              <a:t>a</a:t>
            </a:r>
            <a:r>
              <a:rPr sz="1800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83964" y="3068954"/>
            <a:ext cx="4248785" cy="0"/>
          </a:xfrm>
          <a:custGeom>
            <a:avLst/>
            <a:gdLst/>
            <a:ahLst/>
            <a:cxnLst/>
            <a:rect l="l" t="t" r="r" b="b"/>
            <a:pathLst>
              <a:path w="4248784">
                <a:moveTo>
                  <a:pt x="0" y="0"/>
                </a:moveTo>
                <a:lnTo>
                  <a:pt x="424853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0" y="1052702"/>
            <a:ext cx="0" cy="2343150"/>
          </a:xfrm>
          <a:custGeom>
            <a:avLst/>
            <a:gdLst/>
            <a:ahLst/>
            <a:cxnLst/>
            <a:rect l="l" t="t" r="r" b="b"/>
            <a:pathLst>
              <a:path h="2343150">
                <a:moveTo>
                  <a:pt x="0" y="0"/>
                </a:moveTo>
                <a:lnTo>
                  <a:pt x="0" y="23431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56558" y="2636520"/>
            <a:ext cx="518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Tahoma"/>
                <a:cs typeface="Tahoma"/>
              </a:rPr>
              <a:t>Y</a:t>
            </a:r>
            <a:r>
              <a:rPr sz="1800" dirty="0">
                <a:latin typeface="Tahoma"/>
                <a:cs typeface="Tahoma"/>
              </a:rPr>
              <a:t>min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7685" y="1588515"/>
            <a:ext cx="572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Tahoma"/>
                <a:cs typeface="Tahoma"/>
              </a:rPr>
              <a:t>Y</a:t>
            </a:r>
            <a:r>
              <a:rPr sz="1800" dirty="0">
                <a:latin typeface="Tahoma"/>
                <a:cs typeface="Tahoma"/>
              </a:rPr>
              <a:t>max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0080" y="1556766"/>
            <a:ext cx="2304415" cy="1296670"/>
          </a:xfrm>
          <a:prstGeom prst="rect">
            <a:avLst/>
          </a:prstGeom>
          <a:solidFill>
            <a:srgbClr val="8EFFE0"/>
          </a:solidFill>
          <a:ln w="25400">
            <a:solidFill>
              <a:srgbClr val="00A77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955675">
              <a:lnSpc>
                <a:spcPct val="100000"/>
              </a:lnSpc>
              <a:tabLst>
                <a:tab pos="1168400" algn="l"/>
              </a:tabLst>
            </a:pPr>
            <a:r>
              <a:rPr sz="1800" dirty="0">
                <a:latin typeface="Tahoma"/>
                <a:cs typeface="Tahoma"/>
              </a:rPr>
              <a:t>.	</a:t>
            </a:r>
            <a:r>
              <a:rPr sz="1800" spc="-5" dirty="0">
                <a:latin typeface="Tahoma"/>
                <a:cs typeface="Tahoma"/>
              </a:rPr>
              <a:t>(x,y)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8980" y="1755965"/>
            <a:ext cx="3441700" cy="40068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2000" spc="-10" dirty="0">
                <a:latin typeface="Tahoma"/>
                <a:cs typeface="Tahoma"/>
              </a:rPr>
              <a:t>Define </a:t>
            </a:r>
            <a:r>
              <a:rPr sz="2000" spc="-5" dirty="0">
                <a:latin typeface="Tahoma"/>
                <a:cs typeface="Tahoma"/>
              </a:rPr>
              <a:t>a </a:t>
            </a:r>
            <a:r>
              <a:rPr sz="2000" spc="-10" dirty="0">
                <a:latin typeface="Tahoma"/>
                <a:cs typeface="Tahoma"/>
              </a:rPr>
              <a:t>window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first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0500" y="270256"/>
            <a:ext cx="36537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Line</a:t>
            </a:r>
            <a:r>
              <a:rPr spc="-70" dirty="0"/>
              <a:t> </a:t>
            </a:r>
            <a:r>
              <a:rPr spc="-10" dirty="0"/>
              <a:t>Clipping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648" y="5157190"/>
            <a:ext cx="8425180" cy="755650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43180" rIns="0" bIns="0" rtlCol="0">
            <a:spAutoFit/>
          </a:bodyPr>
          <a:lstStyle/>
          <a:p>
            <a:pPr marL="433070" indent="-343535">
              <a:lnSpc>
                <a:spcPct val="100000"/>
              </a:lnSpc>
              <a:spcBef>
                <a:spcPts val="34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433070" algn="l"/>
                <a:tab pos="433705" algn="l"/>
              </a:tabLst>
            </a:pPr>
            <a:r>
              <a:rPr sz="2400" dirty="0">
                <a:latin typeface="Tahoma"/>
                <a:cs typeface="Tahoma"/>
              </a:rPr>
              <a:t>A </a:t>
            </a:r>
            <a:r>
              <a:rPr sz="2400" b="1" dirty="0">
                <a:latin typeface="Tahoma"/>
                <a:cs typeface="Tahoma"/>
              </a:rPr>
              <a:t>line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visible </a:t>
            </a:r>
            <a:r>
              <a:rPr sz="2400" dirty="0">
                <a:latin typeface="Tahoma"/>
                <a:cs typeface="Tahoma"/>
              </a:rPr>
              <a:t>if both of its </a:t>
            </a:r>
            <a:r>
              <a:rPr sz="2400" spc="-5" dirty="0">
                <a:latin typeface="Tahoma"/>
                <a:cs typeface="Tahoma"/>
              </a:rPr>
              <a:t>end </a:t>
            </a:r>
            <a:r>
              <a:rPr sz="2400" dirty="0">
                <a:latin typeface="Tahoma"/>
                <a:cs typeface="Tahoma"/>
              </a:rPr>
              <a:t>points are in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window.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4861" y="2028444"/>
            <a:ext cx="2578100" cy="2120900"/>
          </a:xfrm>
          <a:custGeom>
            <a:avLst/>
            <a:gdLst/>
            <a:ahLst/>
            <a:cxnLst/>
            <a:rect l="l" t="t" r="r" b="b"/>
            <a:pathLst>
              <a:path w="2578100" h="2120900">
                <a:moveTo>
                  <a:pt x="0" y="2120899"/>
                </a:moveTo>
                <a:lnTo>
                  <a:pt x="2578100" y="2120899"/>
                </a:lnTo>
                <a:lnTo>
                  <a:pt x="2578100" y="0"/>
                </a:lnTo>
                <a:lnTo>
                  <a:pt x="0" y="0"/>
                </a:lnTo>
                <a:lnTo>
                  <a:pt x="0" y="212089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96841" y="1792224"/>
            <a:ext cx="51815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6188" y="1716024"/>
            <a:ext cx="5092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6188" y="4154677"/>
            <a:ext cx="5588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96841" y="4154677"/>
            <a:ext cx="5676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07157" y="2802127"/>
            <a:ext cx="2237105" cy="1843405"/>
          </a:xfrm>
          <a:custGeom>
            <a:avLst/>
            <a:gdLst/>
            <a:ahLst/>
            <a:cxnLst/>
            <a:rect l="l" t="t" r="r" b="b"/>
            <a:pathLst>
              <a:path w="2237104" h="1843404">
                <a:moveTo>
                  <a:pt x="2236851" y="0"/>
                </a:moveTo>
                <a:lnTo>
                  <a:pt x="0" y="184327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5535" y="2693923"/>
            <a:ext cx="929005" cy="955675"/>
          </a:xfrm>
          <a:custGeom>
            <a:avLst/>
            <a:gdLst/>
            <a:ahLst/>
            <a:cxnLst/>
            <a:rect l="l" t="t" r="r" b="b"/>
            <a:pathLst>
              <a:path w="929005" h="955675">
                <a:moveTo>
                  <a:pt x="0" y="0"/>
                </a:moveTo>
                <a:lnTo>
                  <a:pt x="928496" y="95516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43609" y="2308860"/>
            <a:ext cx="24765" cy="1725295"/>
          </a:xfrm>
          <a:custGeom>
            <a:avLst/>
            <a:gdLst/>
            <a:ahLst/>
            <a:cxnLst/>
            <a:rect l="l" t="t" r="r" b="b"/>
            <a:pathLst>
              <a:path w="24765" h="1725295">
                <a:moveTo>
                  <a:pt x="24599" y="1725295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73120" y="1434464"/>
            <a:ext cx="694690" cy="1172845"/>
          </a:xfrm>
          <a:custGeom>
            <a:avLst/>
            <a:gdLst/>
            <a:ahLst/>
            <a:cxnLst/>
            <a:rect l="l" t="t" r="r" b="b"/>
            <a:pathLst>
              <a:path w="694689" h="1172845">
                <a:moveTo>
                  <a:pt x="694690" y="0"/>
                </a:moveTo>
                <a:lnTo>
                  <a:pt x="0" y="117284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5198" y="2138171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9217" y="3881373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67077" y="2364485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59785" y="3362197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30194" y="1225041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2567" y="2486152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40935" y="2523744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p8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93467" y="4258309"/>
            <a:ext cx="1740535" cy="71882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Tahoma"/>
                <a:cs typeface="Tahoma"/>
              </a:rPr>
              <a:t>p7</a:t>
            </a:r>
            <a:endParaRPr sz="1800">
              <a:latin typeface="Tahoma"/>
              <a:cs typeface="Tahoma"/>
            </a:endParaRPr>
          </a:p>
          <a:p>
            <a:pPr marL="200660">
              <a:lnSpc>
                <a:spcPct val="100000"/>
              </a:lnSpc>
              <a:spcBef>
                <a:spcPts val="570"/>
              </a:spcBef>
            </a:pPr>
            <a:r>
              <a:rPr sz="1800" spc="-5" dirty="0">
                <a:latin typeface="Tahoma"/>
                <a:cs typeface="Tahoma"/>
              </a:rPr>
              <a:t>Before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Clipping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64098" y="2315806"/>
            <a:ext cx="3441700" cy="1016000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ts val="2390"/>
              </a:lnSpc>
              <a:spcBef>
                <a:spcPts val="350"/>
              </a:spcBef>
            </a:pPr>
            <a:r>
              <a:rPr sz="2000" spc="-5" dirty="0">
                <a:latin typeface="Tahoma"/>
                <a:cs typeface="Tahoma"/>
              </a:rPr>
              <a:t>Conditions </a:t>
            </a:r>
            <a:r>
              <a:rPr sz="2000" spc="-10" dirty="0">
                <a:latin typeface="Tahoma"/>
                <a:cs typeface="Tahoma"/>
              </a:rPr>
              <a:t>for clipping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(x,y)</a:t>
            </a:r>
            <a:endParaRPr sz="2000">
              <a:latin typeface="Tahoma"/>
              <a:cs typeface="Tahoma"/>
            </a:endParaRPr>
          </a:p>
          <a:p>
            <a:pPr marL="548640" indent="-457834">
              <a:lnSpc>
                <a:spcPts val="2390"/>
              </a:lnSpc>
              <a:buAutoNum type="alphaLcPeriod"/>
              <a:tabLst>
                <a:tab pos="548640" algn="l"/>
                <a:tab pos="549275" algn="l"/>
              </a:tabLst>
            </a:pPr>
            <a:r>
              <a:rPr sz="2000" spc="-5" dirty="0">
                <a:latin typeface="Tahoma"/>
                <a:cs typeface="Tahoma"/>
              </a:rPr>
              <a:t>Xmin </a:t>
            </a:r>
            <a:r>
              <a:rPr sz="2000" dirty="0">
                <a:latin typeface="Symbol"/>
                <a:cs typeface="Symbol"/>
              </a:rPr>
              <a:t>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ahoma"/>
                <a:cs typeface="Tahoma"/>
              </a:rPr>
              <a:t>x </a:t>
            </a:r>
            <a:r>
              <a:rPr sz="2000" dirty="0">
                <a:latin typeface="Symbol"/>
                <a:cs typeface="Symbol"/>
              </a:rPr>
              <a:t>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ahoma"/>
                <a:cs typeface="Tahoma"/>
              </a:rPr>
              <a:t>Xmax</a:t>
            </a:r>
            <a:endParaRPr sz="2000">
              <a:latin typeface="Tahoma"/>
              <a:cs typeface="Tahoma"/>
            </a:endParaRPr>
          </a:p>
          <a:p>
            <a:pPr marL="548640" indent="-457834">
              <a:lnSpc>
                <a:spcPct val="100000"/>
              </a:lnSpc>
              <a:buAutoNum type="alphaLcPeriod"/>
              <a:tabLst>
                <a:tab pos="548640" algn="l"/>
                <a:tab pos="549275" algn="l"/>
              </a:tabLst>
            </a:pPr>
            <a:r>
              <a:rPr sz="2000" spc="-25" dirty="0">
                <a:latin typeface="Tahoma"/>
                <a:cs typeface="Tahoma"/>
              </a:rPr>
              <a:t>Ymin </a:t>
            </a:r>
            <a:r>
              <a:rPr sz="2000" spc="-5" dirty="0">
                <a:latin typeface="Symbol"/>
                <a:cs typeface="Symbol"/>
              </a:rPr>
              <a:t>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ahoma"/>
                <a:cs typeface="Tahoma"/>
              </a:rPr>
              <a:t>y </a:t>
            </a:r>
            <a:r>
              <a:rPr sz="2000" spc="-5" dirty="0">
                <a:latin typeface="Symbol"/>
                <a:cs typeface="Symbol"/>
              </a:rPr>
              <a:t>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ahoma"/>
                <a:cs typeface="Tahoma"/>
              </a:rPr>
              <a:t>Ymax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2229" y="38353"/>
            <a:ext cx="36550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Line</a:t>
            </a:r>
            <a:r>
              <a:rPr spc="-90" dirty="0"/>
              <a:t> </a:t>
            </a:r>
            <a:r>
              <a:rPr spc="-5" dirty="0"/>
              <a:t>Clipping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648" y="5013159"/>
            <a:ext cx="4232275" cy="158432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170" algn="just">
              <a:lnSpc>
                <a:spcPct val="100000"/>
              </a:lnSpc>
              <a:spcBef>
                <a:spcPts val="305"/>
              </a:spcBef>
            </a:pPr>
            <a:r>
              <a:rPr sz="2000" spc="-5" dirty="0">
                <a:latin typeface="Tahoma"/>
                <a:cs typeface="Tahoma"/>
              </a:rPr>
              <a:t>p1-p2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ahoma"/>
                <a:cs typeface="Tahoma"/>
              </a:rPr>
              <a:t>Reject</a:t>
            </a:r>
            <a:endParaRPr sz="2000">
              <a:latin typeface="Tahoma"/>
              <a:cs typeface="Tahoma"/>
            </a:endParaRPr>
          </a:p>
          <a:p>
            <a:pPr marL="90170" marR="1089660" algn="just">
              <a:lnSpc>
                <a:spcPct val="120000"/>
              </a:lnSpc>
            </a:pPr>
            <a:r>
              <a:rPr sz="2000" spc="-5" dirty="0">
                <a:latin typeface="Tahoma"/>
                <a:cs typeface="Tahoma"/>
              </a:rPr>
              <a:t>p3-p4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ahoma"/>
                <a:cs typeface="Tahoma"/>
              </a:rPr>
              <a:t>Consider (Accept)  p5-p6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ahoma"/>
                <a:cs typeface="Tahoma"/>
              </a:rPr>
              <a:t>Clipping </a:t>
            </a:r>
            <a:r>
              <a:rPr sz="2000" spc="-10" dirty="0">
                <a:latin typeface="Tahoma"/>
                <a:cs typeface="Tahoma"/>
              </a:rPr>
              <a:t>Required  </a:t>
            </a:r>
            <a:r>
              <a:rPr sz="2000" spc="-5" dirty="0">
                <a:latin typeface="Tahoma"/>
                <a:cs typeface="Tahoma"/>
              </a:rPr>
              <a:t>p7-p8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ahoma"/>
                <a:cs typeface="Tahoma"/>
              </a:rPr>
              <a:t>Clipping</a:t>
            </a:r>
            <a:r>
              <a:rPr sz="2000" spc="9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Required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8161" y="1215897"/>
            <a:ext cx="2695575" cy="1936750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b="1" spc="-5" dirty="0">
                <a:latin typeface="Arial"/>
                <a:cs typeface="Arial"/>
              </a:rPr>
              <a:t>point </a:t>
            </a:r>
            <a:r>
              <a:rPr sz="2400" spc="-5" dirty="0">
                <a:latin typeface="Arial"/>
                <a:cs typeface="Arial"/>
              </a:rPr>
              <a:t>is visible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662305" marR="654050" algn="ct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xl </a:t>
            </a:r>
            <a:r>
              <a:rPr sz="2400" dirty="0">
                <a:latin typeface="Arial"/>
                <a:cs typeface="Arial"/>
              </a:rPr>
              <a:t>&lt; X &lt;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xr  </a:t>
            </a:r>
            <a:r>
              <a:rPr sz="2400" spc="-10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yb </a:t>
            </a:r>
            <a:r>
              <a:rPr sz="2400" dirty="0">
                <a:latin typeface="Arial"/>
                <a:cs typeface="Arial"/>
              </a:rPr>
              <a:t>&lt; Y &lt;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8189" y="4492497"/>
            <a:ext cx="1552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Before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Clipping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2778" y="1750695"/>
            <a:ext cx="2578100" cy="2120900"/>
          </a:xfrm>
          <a:custGeom>
            <a:avLst/>
            <a:gdLst/>
            <a:ahLst/>
            <a:cxnLst/>
            <a:rect l="l" t="t" r="r" b="b"/>
            <a:pathLst>
              <a:path w="2578100" h="2120900">
                <a:moveTo>
                  <a:pt x="0" y="2120899"/>
                </a:moveTo>
                <a:lnTo>
                  <a:pt x="2578100" y="2120899"/>
                </a:lnTo>
                <a:lnTo>
                  <a:pt x="2578100" y="0"/>
                </a:lnTo>
                <a:lnTo>
                  <a:pt x="0" y="0"/>
                </a:lnTo>
                <a:lnTo>
                  <a:pt x="0" y="212089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4544" y="1514601"/>
            <a:ext cx="51815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144" y="1438401"/>
            <a:ext cx="5092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144" y="3877055"/>
            <a:ext cx="5588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4544" y="3877055"/>
            <a:ext cx="5676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55114" y="2524379"/>
            <a:ext cx="2237105" cy="1843405"/>
          </a:xfrm>
          <a:custGeom>
            <a:avLst/>
            <a:gdLst/>
            <a:ahLst/>
            <a:cxnLst/>
            <a:rect l="l" t="t" r="r" b="b"/>
            <a:pathLst>
              <a:path w="2237104" h="1843404">
                <a:moveTo>
                  <a:pt x="2236851" y="0"/>
                </a:moveTo>
                <a:lnTo>
                  <a:pt x="0" y="184327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3491" y="2416175"/>
            <a:ext cx="929005" cy="955040"/>
          </a:xfrm>
          <a:custGeom>
            <a:avLst/>
            <a:gdLst/>
            <a:ahLst/>
            <a:cxnLst/>
            <a:rect l="l" t="t" r="r" b="b"/>
            <a:pathLst>
              <a:path w="929005" h="955039">
                <a:moveTo>
                  <a:pt x="0" y="0"/>
                </a:moveTo>
                <a:lnTo>
                  <a:pt x="928497" y="95503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1527" y="2031110"/>
            <a:ext cx="24765" cy="1725295"/>
          </a:xfrm>
          <a:custGeom>
            <a:avLst/>
            <a:gdLst/>
            <a:ahLst/>
            <a:cxnLst/>
            <a:rect l="l" t="t" r="r" b="b"/>
            <a:pathLst>
              <a:path w="24765" h="1725295">
                <a:moveTo>
                  <a:pt x="24599" y="1725295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20950" y="1156716"/>
            <a:ext cx="695325" cy="1172845"/>
          </a:xfrm>
          <a:custGeom>
            <a:avLst/>
            <a:gdLst/>
            <a:ahLst/>
            <a:cxnLst/>
            <a:rect l="l" t="t" r="r" b="b"/>
            <a:pathLst>
              <a:path w="695325" h="1172845">
                <a:moveTo>
                  <a:pt x="694817" y="0"/>
                </a:moveTo>
                <a:lnTo>
                  <a:pt x="0" y="117271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3154" y="1860295"/>
            <a:ext cx="276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6919" y="3603497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5033" y="2086610"/>
            <a:ext cx="276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07742" y="3084576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78150" y="947420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60270" y="2208276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41423" y="4053078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p7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88638" y="2245867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p8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80253" y="3943057"/>
            <a:ext cx="2578100" cy="2120900"/>
          </a:xfrm>
          <a:custGeom>
            <a:avLst/>
            <a:gdLst/>
            <a:ahLst/>
            <a:cxnLst/>
            <a:rect l="l" t="t" r="r" b="b"/>
            <a:pathLst>
              <a:path w="2578100" h="2120900">
                <a:moveTo>
                  <a:pt x="0" y="2120900"/>
                </a:moveTo>
                <a:lnTo>
                  <a:pt x="2578100" y="2120900"/>
                </a:lnTo>
                <a:lnTo>
                  <a:pt x="2578100" y="0"/>
                </a:lnTo>
                <a:lnTo>
                  <a:pt x="0" y="0"/>
                </a:lnTo>
                <a:lnTo>
                  <a:pt x="0" y="21209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222488" y="3707129"/>
            <a:ext cx="51815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21834" y="3630929"/>
            <a:ext cx="5092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21834" y="6069584"/>
            <a:ext cx="5588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22488" y="6069584"/>
            <a:ext cx="5676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72121" y="5245100"/>
            <a:ext cx="1086485" cy="819150"/>
          </a:xfrm>
          <a:custGeom>
            <a:avLst/>
            <a:gdLst/>
            <a:ahLst/>
            <a:cxnLst/>
            <a:rect l="l" t="t" r="r" b="b"/>
            <a:pathLst>
              <a:path w="1086484" h="819150">
                <a:moveTo>
                  <a:pt x="1086230" y="0"/>
                </a:moveTo>
                <a:lnTo>
                  <a:pt x="0" y="81885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00928" y="4608576"/>
            <a:ext cx="929005" cy="955040"/>
          </a:xfrm>
          <a:custGeom>
            <a:avLst/>
            <a:gdLst/>
            <a:ahLst/>
            <a:cxnLst/>
            <a:rect l="l" t="t" r="r" b="b"/>
            <a:pathLst>
              <a:path w="929004" h="955039">
                <a:moveTo>
                  <a:pt x="0" y="0"/>
                </a:moveTo>
                <a:lnTo>
                  <a:pt x="928497" y="9550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98513" y="3943096"/>
            <a:ext cx="347345" cy="579120"/>
          </a:xfrm>
          <a:custGeom>
            <a:avLst/>
            <a:gdLst/>
            <a:ahLst/>
            <a:cxnLst/>
            <a:rect l="l" t="t" r="r" b="b"/>
            <a:pathLst>
              <a:path w="347345" h="579120">
                <a:moveTo>
                  <a:pt x="347344" y="0"/>
                </a:moveTo>
                <a:lnTo>
                  <a:pt x="0" y="57873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805678" y="4279392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98131" y="5277103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05395" y="3596640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50914" y="4400804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60591" y="6050279"/>
            <a:ext cx="1388745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4840">
              <a:lnSpc>
                <a:spcPct val="1346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p7  After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Clipping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44916" y="5118100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p8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0" y="441451"/>
            <a:ext cx="80594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Cohen-Sutherland</a:t>
            </a:r>
            <a:r>
              <a:rPr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377" y="2257044"/>
            <a:ext cx="7125334" cy="161671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Region Checks</a:t>
            </a:r>
            <a:r>
              <a:rPr sz="1800" dirty="0">
                <a:latin typeface="Arial"/>
                <a:cs typeface="Arial"/>
              </a:rPr>
              <a:t>: Trivially </a:t>
            </a:r>
            <a:r>
              <a:rPr sz="1800" spc="-5" dirty="0">
                <a:latin typeface="Arial"/>
                <a:cs typeface="Arial"/>
              </a:rPr>
              <a:t>reject or </a:t>
            </a:r>
            <a:r>
              <a:rPr sz="1800" dirty="0">
                <a:latin typeface="Arial"/>
                <a:cs typeface="Arial"/>
              </a:rPr>
              <a:t>accept </a:t>
            </a:r>
            <a:r>
              <a:rPr sz="1800" spc="-5" dirty="0">
                <a:latin typeface="Arial"/>
                <a:cs typeface="Arial"/>
              </a:rPr>
              <a:t>lines and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points.</a:t>
            </a:r>
            <a:endParaRPr sz="1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Fast for </a:t>
            </a:r>
            <a:r>
              <a:rPr sz="1800" spc="-5" dirty="0">
                <a:latin typeface="Arial"/>
                <a:cs typeface="Arial"/>
              </a:rPr>
              <a:t>large </a:t>
            </a:r>
            <a:r>
              <a:rPr sz="1800" dirty="0">
                <a:latin typeface="Arial"/>
                <a:cs typeface="Arial"/>
              </a:rPr>
              <a:t>windows </a:t>
            </a:r>
            <a:r>
              <a:rPr sz="1800" spc="-5" dirty="0">
                <a:latin typeface="Arial"/>
                <a:cs typeface="Arial"/>
              </a:rPr>
              <a:t>(everything is inside) and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small windows  (everything is outside).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3333CC"/>
              </a:buClr>
              <a:buFont typeface="Wingdings"/>
              <a:buChar char=""/>
            </a:pP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CC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Each </a:t>
            </a:r>
            <a:r>
              <a:rPr sz="1800" dirty="0">
                <a:latin typeface="Arial"/>
                <a:cs typeface="Arial"/>
              </a:rPr>
              <a:t>vertex </a:t>
            </a:r>
            <a:r>
              <a:rPr sz="1800" spc="-5" dirty="0">
                <a:latin typeface="Arial"/>
                <a:cs typeface="Arial"/>
              </a:rPr>
              <a:t>is assigned a </a:t>
            </a:r>
            <a:r>
              <a:rPr sz="1800" dirty="0">
                <a:latin typeface="Arial"/>
                <a:cs typeface="Arial"/>
              </a:rPr>
              <a:t>four-bit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outcode</a:t>
            </a:r>
            <a:r>
              <a:rPr sz="1800" spc="-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3327" y="4266756"/>
          <a:ext cx="6179185" cy="12429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7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286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1989"/>
                        </a:lnSpc>
                        <a:buClr>
                          <a:srgbClr val="3333CC"/>
                        </a:buClr>
                        <a:buSzPct val="58333"/>
                        <a:buFont typeface="Wingdings"/>
                        <a:buChar char="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Bit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ctr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&lt;-- sign bit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(yt-Y)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989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--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point is above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window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marL="374650" indent="-342900">
                        <a:lnSpc>
                          <a:spcPct val="100000"/>
                        </a:lnSpc>
                        <a:spcBef>
                          <a:spcPts val="120"/>
                        </a:spcBef>
                        <a:buClr>
                          <a:srgbClr val="3333CC"/>
                        </a:buClr>
                        <a:buSzPct val="58333"/>
                        <a:buFont typeface="Wingdings"/>
                        <a:buChar char="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Bit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&lt;-- sign bit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(Y-yb)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--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point is below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window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374650" indent="-342900">
                        <a:lnSpc>
                          <a:spcPct val="100000"/>
                        </a:lnSpc>
                        <a:spcBef>
                          <a:spcPts val="120"/>
                        </a:spcBef>
                        <a:buClr>
                          <a:srgbClr val="3333CC"/>
                        </a:buClr>
                        <a:buSzPct val="58333"/>
                        <a:buFont typeface="Wingdings"/>
                        <a:buChar char="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Bit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&lt;-- sign bit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(xr-X)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--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point is to right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window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286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080"/>
                        </a:lnSpc>
                        <a:spcBef>
                          <a:spcPts val="120"/>
                        </a:spcBef>
                        <a:buClr>
                          <a:srgbClr val="3333CC"/>
                        </a:buClr>
                        <a:buSzPct val="58333"/>
                        <a:buFont typeface="Wingdings"/>
                        <a:buChar char="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Bit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93980" algn="ctr">
                        <a:lnSpc>
                          <a:spcPts val="208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&lt;-- sign bit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(X-xl)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208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--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8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point is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 left of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window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311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Cohen-Sutherland</a:t>
            </a:r>
            <a:r>
              <a:rPr spc="-5" dirty="0"/>
              <a:t> </a:t>
            </a:r>
            <a:r>
              <a:rPr spc="-10" dirty="0"/>
              <a:t>Clipping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22851" y="1939925"/>
          <a:ext cx="2977515" cy="2273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6357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345178" y="19324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5178" y="28468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123" y="3837432"/>
            <a:ext cx="7366000" cy="2323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6695" algn="ctr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 marL="355600" marR="53975" indent="-343535">
              <a:lnSpc>
                <a:spcPts val="1939"/>
              </a:lnSpc>
              <a:spcBef>
                <a:spcPts val="894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5600" algn="l"/>
                <a:tab pos="356235" algn="l"/>
                <a:tab pos="635000" algn="l"/>
              </a:tabLst>
            </a:pPr>
            <a:r>
              <a:rPr sz="1800" dirty="0">
                <a:latin typeface="Arial"/>
                <a:cs typeface="Arial"/>
              </a:rPr>
              <a:t>A	</a:t>
            </a:r>
            <a:r>
              <a:rPr sz="1800" spc="-5" dirty="0">
                <a:latin typeface="Arial"/>
                <a:cs typeface="Arial"/>
              </a:rPr>
              <a:t>line can be </a:t>
            </a:r>
            <a:r>
              <a:rPr sz="1800" dirty="0">
                <a:latin typeface="Arial"/>
                <a:cs typeface="Arial"/>
              </a:rPr>
              <a:t>trivially </a:t>
            </a:r>
            <a:r>
              <a:rPr sz="1800" b="1" spc="-5" dirty="0">
                <a:latin typeface="Arial"/>
                <a:cs typeface="Arial"/>
              </a:rPr>
              <a:t>accepted </a:t>
            </a:r>
            <a:r>
              <a:rPr sz="1800" dirty="0">
                <a:latin typeface="Arial"/>
                <a:cs typeface="Arial"/>
              </a:rPr>
              <a:t>if </a:t>
            </a:r>
            <a:r>
              <a:rPr sz="1800" spc="-5" dirty="0">
                <a:latin typeface="Arial"/>
                <a:cs typeface="Arial"/>
              </a:rPr>
              <a:t>both endpoints have an outcode </a:t>
            </a:r>
            <a:r>
              <a:rPr sz="1800" dirty="0">
                <a:latin typeface="Arial"/>
                <a:cs typeface="Arial"/>
              </a:rPr>
              <a:t>of  </a:t>
            </a:r>
            <a:r>
              <a:rPr sz="1800" spc="-5" dirty="0">
                <a:latin typeface="Arial"/>
                <a:cs typeface="Arial"/>
              </a:rPr>
              <a:t>0000.</a:t>
            </a:r>
            <a:endParaRPr sz="1800" dirty="0">
              <a:latin typeface="Arial"/>
              <a:cs typeface="Arial"/>
            </a:endParaRPr>
          </a:p>
          <a:p>
            <a:pPr marL="355600" marR="5080" indent="-343535">
              <a:lnSpc>
                <a:spcPct val="90100"/>
              </a:lnSpc>
              <a:spcBef>
                <a:spcPts val="405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5600" algn="l"/>
                <a:tab pos="356235" algn="l"/>
                <a:tab pos="3441700" algn="l"/>
              </a:tabLst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line can be trivially </a:t>
            </a:r>
            <a:r>
              <a:rPr sz="1800" b="1" spc="-5" dirty="0">
                <a:latin typeface="Arial"/>
                <a:cs typeface="Arial"/>
              </a:rPr>
              <a:t>rejected </a:t>
            </a:r>
            <a:r>
              <a:rPr sz="1800" dirty="0">
                <a:latin typeface="Arial"/>
                <a:cs typeface="Arial"/>
              </a:rPr>
              <a:t>if </a:t>
            </a:r>
            <a:r>
              <a:rPr sz="1800" spc="-5" dirty="0">
                <a:latin typeface="Arial"/>
                <a:cs typeface="Arial"/>
              </a:rPr>
              <a:t>any corresponding </a:t>
            </a:r>
            <a:r>
              <a:rPr sz="1800" dirty="0">
                <a:latin typeface="Arial"/>
                <a:cs typeface="Arial"/>
              </a:rPr>
              <a:t>bits </a:t>
            </a:r>
            <a:r>
              <a:rPr sz="1800" spc="-5" dirty="0">
                <a:latin typeface="Arial"/>
                <a:cs typeface="Arial"/>
              </a:rPr>
              <a:t>in </a:t>
            </a:r>
            <a:r>
              <a:rPr sz="1800" dirty="0">
                <a:latin typeface="Arial"/>
                <a:cs typeface="Arial"/>
              </a:rPr>
              <a:t>the two  </a:t>
            </a:r>
            <a:r>
              <a:rPr sz="1800" spc="-5" dirty="0">
                <a:latin typeface="Arial"/>
                <a:cs typeface="Arial"/>
              </a:rPr>
              <a:t>outcodes are both equal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1.	(This </a:t>
            </a:r>
            <a:r>
              <a:rPr sz="1800" spc="-5" dirty="0">
                <a:latin typeface="Arial"/>
                <a:cs typeface="Arial"/>
              </a:rPr>
              <a:t>means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5" dirty="0">
                <a:latin typeface="Arial"/>
                <a:cs typeface="Arial"/>
              </a:rPr>
              <a:t>both endpoints are to  the </a:t>
            </a:r>
            <a:r>
              <a:rPr sz="1800" dirty="0">
                <a:latin typeface="Arial"/>
                <a:cs typeface="Arial"/>
              </a:rPr>
              <a:t>right, </a:t>
            </a:r>
            <a:r>
              <a:rPr sz="1800" spc="-5" dirty="0">
                <a:latin typeface="Arial"/>
                <a:cs typeface="Arial"/>
              </a:rPr>
              <a:t>to </a:t>
            </a:r>
            <a:r>
              <a:rPr sz="1800" dirty="0">
                <a:latin typeface="Arial"/>
                <a:cs typeface="Arial"/>
              </a:rPr>
              <a:t>the left, </a:t>
            </a:r>
            <a:r>
              <a:rPr sz="1800" spc="-5" dirty="0">
                <a:latin typeface="Arial"/>
                <a:cs typeface="Arial"/>
              </a:rPr>
              <a:t>above, or below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window.) Can be computed  with a </a:t>
            </a:r>
            <a:r>
              <a:rPr sz="1800" dirty="0">
                <a:latin typeface="Arial"/>
                <a:cs typeface="Arial"/>
              </a:rPr>
              <a:t>logical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1600" y="1750186"/>
            <a:ext cx="2304415" cy="1936750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61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85"/>
              </a:spcBef>
            </a:pPr>
            <a:r>
              <a:rPr sz="2400" b="1" spc="-5" dirty="0">
                <a:latin typeface="Arial"/>
                <a:cs typeface="Arial"/>
              </a:rPr>
              <a:t>ABRL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Code</a:t>
            </a:r>
            <a:endParaRPr sz="24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tabLst>
                <a:tab pos="935355" algn="l"/>
              </a:tabLst>
            </a:pPr>
            <a:r>
              <a:rPr sz="2400" dirty="0">
                <a:latin typeface="Arial"/>
                <a:cs typeface="Arial"/>
              </a:rPr>
              <a:t>Bit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1:	</a:t>
            </a:r>
            <a:r>
              <a:rPr sz="2400" spc="-5" dirty="0">
                <a:latin typeface="Arial"/>
                <a:cs typeface="Arial"/>
              </a:rPr>
              <a:t>Above</a:t>
            </a:r>
            <a:endParaRPr sz="24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tabLst>
                <a:tab pos="952500" algn="l"/>
              </a:tabLst>
            </a:pPr>
            <a:r>
              <a:rPr sz="2400" dirty="0">
                <a:latin typeface="Arial"/>
                <a:cs typeface="Arial"/>
              </a:rPr>
              <a:t>Bit </a:t>
            </a:r>
            <a:r>
              <a:rPr sz="2400" spc="-5" dirty="0">
                <a:latin typeface="Arial"/>
                <a:cs typeface="Arial"/>
              </a:rPr>
              <a:t>2:	Below</a:t>
            </a:r>
            <a:endParaRPr sz="24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tabLst>
                <a:tab pos="952500" algn="l"/>
              </a:tabLst>
            </a:pPr>
            <a:r>
              <a:rPr sz="2400" dirty="0">
                <a:latin typeface="Arial"/>
                <a:cs typeface="Arial"/>
              </a:rPr>
              <a:t>Bit </a:t>
            </a:r>
            <a:r>
              <a:rPr sz="2400" spc="-5" dirty="0">
                <a:latin typeface="Arial"/>
                <a:cs typeface="Arial"/>
              </a:rPr>
              <a:t>3:	Right</a:t>
            </a:r>
            <a:endParaRPr sz="24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tabLst>
                <a:tab pos="951865" algn="l"/>
              </a:tabLst>
            </a:pPr>
            <a:r>
              <a:rPr sz="2400" dirty="0">
                <a:latin typeface="Arial"/>
                <a:cs typeface="Arial"/>
              </a:rPr>
              <a:t>Bit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4:	</a:t>
            </a:r>
            <a:r>
              <a:rPr sz="2400" spc="-5" dirty="0">
                <a:latin typeface="Arial"/>
                <a:cs typeface="Arial"/>
              </a:rPr>
              <a:t>Left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36870" y="19324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36870" y="28468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6870" y="38374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0397" y="4653076"/>
            <a:ext cx="3533775" cy="1321435"/>
          </a:xfrm>
          <a:custGeom>
            <a:avLst/>
            <a:gdLst/>
            <a:ahLst/>
            <a:cxnLst/>
            <a:rect l="l" t="t" r="r" b="b"/>
            <a:pathLst>
              <a:path w="3533775" h="1321435">
                <a:moveTo>
                  <a:pt x="0" y="1320927"/>
                </a:moveTo>
                <a:lnTo>
                  <a:pt x="3533521" y="1320927"/>
                </a:lnTo>
                <a:lnTo>
                  <a:pt x="3533521" y="0"/>
                </a:lnTo>
                <a:lnTo>
                  <a:pt x="0" y="0"/>
                </a:lnTo>
                <a:lnTo>
                  <a:pt x="0" y="1320927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614161" y="1939925"/>
          <a:ext cx="2977515" cy="2273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6357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68122" y="4678426"/>
            <a:ext cx="14319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ABRL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122" y="4983226"/>
            <a:ext cx="28390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22655" algn="l"/>
              </a:tabLst>
            </a:pPr>
            <a:r>
              <a:rPr sz="2000" spc="-5" dirty="0">
                <a:latin typeface="Arial"/>
                <a:cs typeface="Arial"/>
              </a:rPr>
              <a:t>P1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0001 </a:t>
            </a:r>
            <a:r>
              <a:rPr sz="2000" spc="-5" dirty="0">
                <a:latin typeface="Arial"/>
                <a:cs typeface="Arial"/>
              </a:rPr>
              <a:t>– Non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  P2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0001 </a:t>
            </a:r>
            <a:r>
              <a:rPr sz="2000" spc="-5" dirty="0">
                <a:latin typeface="Arial"/>
                <a:cs typeface="Arial"/>
              </a:rPr>
              <a:t>– Non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9316" y="1966086"/>
            <a:ext cx="2578100" cy="2120900"/>
          </a:xfrm>
          <a:custGeom>
            <a:avLst/>
            <a:gdLst/>
            <a:ahLst/>
            <a:cxnLst/>
            <a:rect l="l" t="t" r="r" b="b"/>
            <a:pathLst>
              <a:path w="2578100" h="2120900">
                <a:moveTo>
                  <a:pt x="0" y="2120900"/>
                </a:moveTo>
                <a:lnTo>
                  <a:pt x="2578100" y="2120900"/>
                </a:lnTo>
                <a:lnTo>
                  <a:pt x="2578100" y="0"/>
                </a:lnTo>
                <a:lnTo>
                  <a:pt x="0" y="0"/>
                </a:lnTo>
                <a:lnTo>
                  <a:pt x="0" y="21209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31082" y="1729739"/>
            <a:ext cx="51815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681" y="1653539"/>
            <a:ext cx="5092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681" y="4092194"/>
            <a:ext cx="5588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1082" y="4092194"/>
            <a:ext cx="5676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41651" y="2739644"/>
            <a:ext cx="2237105" cy="1843405"/>
          </a:xfrm>
          <a:custGeom>
            <a:avLst/>
            <a:gdLst/>
            <a:ahLst/>
            <a:cxnLst/>
            <a:rect l="l" t="t" r="r" b="b"/>
            <a:pathLst>
              <a:path w="2237104" h="1843404">
                <a:moveTo>
                  <a:pt x="2236851" y="0"/>
                </a:moveTo>
                <a:lnTo>
                  <a:pt x="0" y="184327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10030" y="2631439"/>
            <a:ext cx="929005" cy="955675"/>
          </a:xfrm>
          <a:custGeom>
            <a:avLst/>
            <a:gdLst/>
            <a:ahLst/>
            <a:cxnLst/>
            <a:rect l="l" t="t" r="r" b="b"/>
            <a:pathLst>
              <a:path w="929005" h="955675">
                <a:moveTo>
                  <a:pt x="0" y="0"/>
                </a:moveTo>
                <a:lnTo>
                  <a:pt x="928496" y="95516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8065" y="2246376"/>
            <a:ext cx="24765" cy="1725295"/>
          </a:xfrm>
          <a:custGeom>
            <a:avLst/>
            <a:gdLst/>
            <a:ahLst/>
            <a:cxnLst/>
            <a:rect l="l" t="t" r="r" b="b"/>
            <a:pathLst>
              <a:path w="24765" h="1725295">
                <a:moveTo>
                  <a:pt x="24599" y="1725295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07488" y="1371980"/>
            <a:ext cx="695325" cy="1172845"/>
          </a:xfrm>
          <a:custGeom>
            <a:avLst/>
            <a:gdLst/>
            <a:ahLst/>
            <a:cxnLst/>
            <a:rect l="l" t="t" r="r" b="b"/>
            <a:pathLst>
              <a:path w="695325" h="1172845">
                <a:moveTo>
                  <a:pt x="694817" y="0"/>
                </a:moveTo>
                <a:lnTo>
                  <a:pt x="0" y="117284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9691" y="2075688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3458" y="3818890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1572" y="2302002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94279" y="3299714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1075"/>
              </a:spcBef>
            </a:pPr>
            <a:r>
              <a:rPr spc="-10" dirty="0"/>
              <a:t>Cohen-Sutherland</a:t>
            </a:r>
            <a:r>
              <a:rPr spc="-5" dirty="0"/>
              <a:t> </a:t>
            </a:r>
            <a:r>
              <a:rPr spc="-10" dirty="0"/>
              <a:t>Clipping</a:t>
            </a:r>
          </a:p>
          <a:p>
            <a:pPr marL="2274570">
              <a:lnSpc>
                <a:spcPct val="100000"/>
              </a:lnSpc>
              <a:spcBef>
                <a:spcPts val="400"/>
              </a:spcBef>
            </a:pPr>
            <a:r>
              <a:rPr sz="1800" b="0" dirty="0">
                <a:solidFill>
                  <a:srgbClr val="000000"/>
                </a:solidFill>
                <a:latin typeface="Tahoma"/>
                <a:cs typeface="Tahoma"/>
              </a:rPr>
              <a:t>p5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46807" y="2423667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27961" y="4268216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p7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75176" y="2461259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p8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1441" y="5597753"/>
            <a:ext cx="3454400" cy="0"/>
          </a:xfrm>
          <a:custGeom>
            <a:avLst/>
            <a:gdLst/>
            <a:ahLst/>
            <a:cxnLst/>
            <a:rect l="l" t="t" r="r" b="b"/>
            <a:pathLst>
              <a:path w="3454400">
                <a:moveTo>
                  <a:pt x="0" y="0"/>
                </a:moveTo>
                <a:lnTo>
                  <a:pt x="345414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7509" y="5974016"/>
            <a:ext cx="3533775" cy="705485"/>
          </a:xfrm>
          <a:custGeom>
            <a:avLst/>
            <a:gdLst/>
            <a:ahLst/>
            <a:cxnLst/>
            <a:rect l="l" t="t" r="r" b="b"/>
            <a:pathLst>
              <a:path w="3533775" h="705484">
                <a:moveTo>
                  <a:pt x="0" y="705319"/>
                </a:moveTo>
                <a:lnTo>
                  <a:pt x="3533521" y="705319"/>
                </a:lnTo>
                <a:lnTo>
                  <a:pt x="3533521" y="0"/>
                </a:lnTo>
                <a:lnTo>
                  <a:pt x="0" y="0"/>
                </a:lnTo>
                <a:lnTo>
                  <a:pt x="0" y="705319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68122" y="5490869"/>
            <a:ext cx="3023870" cy="11436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spc="-5" dirty="0">
                <a:latin typeface="Arial"/>
                <a:cs typeface="Arial"/>
              </a:rPr>
              <a:t>AND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0001 </a:t>
            </a:r>
            <a:r>
              <a:rPr sz="2000" dirty="0">
                <a:latin typeface="Arial"/>
                <a:cs typeface="Arial"/>
              </a:rPr>
              <a:t>– </a:t>
            </a:r>
            <a:r>
              <a:rPr sz="2000" spc="-5" dirty="0">
                <a:latin typeface="Arial"/>
                <a:cs typeface="Arial"/>
              </a:rPr>
              <a:t>Non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800"/>
              </a:spcBef>
            </a:pPr>
            <a:r>
              <a:rPr sz="2000" spc="-5" dirty="0">
                <a:latin typeface="Arial"/>
                <a:cs typeface="Arial"/>
              </a:rPr>
              <a:t>p1p2 is completely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outside</a:t>
            </a:r>
            <a:endParaRPr sz="200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REJET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LINE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99228" y="4643107"/>
            <a:ext cx="3533775" cy="131508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7465" rIns="0" bIns="0" rtlCol="0">
            <a:spAutoFit/>
          </a:bodyPr>
          <a:lstStyle/>
          <a:p>
            <a:pPr marL="83185" algn="just">
              <a:lnSpc>
                <a:spcPct val="100000"/>
              </a:lnSpc>
              <a:spcBef>
                <a:spcPts val="295"/>
              </a:spcBef>
            </a:pPr>
            <a:r>
              <a:rPr sz="2000" b="1" spc="-5" dirty="0">
                <a:latin typeface="Arial"/>
                <a:cs typeface="Arial"/>
              </a:rPr>
              <a:t>ABRL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Code</a:t>
            </a:r>
            <a:endParaRPr sz="2000" dirty="0">
              <a:latin typeface="Arial"/>
              <a:cs typeface="Arial"/>
            </a:endParaRPr>
          </a:p>
          <a:p>
            <a:pPr marL="83185" marR="1217295" algn="just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P3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–Zero  P4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–Zero  AND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0000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–Zero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9228" y="5964034"/>
            <a:ext cx="3533775" cy="705485"/>
          </a:xfrm>
          <a:prstGeom prst="rect">
            <a:avLst/>
          </a:prstGeom>
          <a:solidFill>
            <a:srgbClr val="FFE167"/>
          </a:solidFill>
          <a:ln w="127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2000" spc="-5" dirty="0">
                <a:latin typeface="Arial"/>
                <a:cs typeface="Arial"/>
              </a:rPr>
              <a:t>p3p4 is completely inside</a:t>
            </a:r>
            <a:endParaRPr sz="2000" dirty="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ACCEPT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LINE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36870" y="19324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36870" y="28468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6870" y="38374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700" y="4653076"/>
            <a:ext cx="3079750" cy="1321435"/>
          </a:xfrm>
          <a:custGeom>
            <a:avLst/>
            <a:gdLst/>
            <a:ahLst/>
            <a:cxnLst/>
            <a:rect l="l" t="t" r="r" b="b"/>
            <a:pathLst>
              <a:path w="3079750" h="1321435">
                <a:moveTo>
                  <a:pt x="0" y="1320927"/>
                </a:moveTo>
                <a:lnTo>
                  <a:pt x="3079750" y="1320927"/>
                </a:lnTo>
                <a:lnTo>
                  <a:pt x="3079750" y="0"/>
                </a:lnTo>
                <a:lnTo>
                  <a:pt x="0" y="0"/>
                </a:lnTo>
                <a:lnTo>
                  <a:pt x="0" y="1320927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614161" y="1939925"/>
          <a:ext cx="2977515" cy="2273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6357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34263" y="4678426"/>
            <a:ext cx="1419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ABRL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263" y="4983226"/>
            <a:ext cx="2826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  <a:tabLst>
                <a:tab pos="909319" algn="l"/>
              </a:tabLst>
            </a:pPr>
            <a:r>
              <a:rPr sz="2000" spc="-5" dirty="0">
                <a:latin typeface="Arial"/>
                <a:cs typeface="Arial"/>
              </a:rPr>
              <a:t>P5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1000 </a:t>
            </a:r>
            <a:r>
              <a:rPr sz="2000" spc="-5" dirty="0">
                <a:latin typeface="Arial"/>
                <a:cs typeface="Arial"/>
              </a:rPr>
              <a:t>– Non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  P6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9316" y="1966086"/>
            <a:ext cx="2578100" cy="2120900"/>
          </a:xfrm>
          <a:custGeom>
            <a:avLst/>
            <a:gdLst/>
            <a:ahLst/>
            <a:cxnLst/>
            <a:rect l="l" t="t" r="r" b="b"/>
            <a:pathLst>
              <a:path w="2578100" h="2120900">
                <a:moveTo>
                  <a:pt x="0" y="2120900"/>
                </a:moveTo>
                <a:lnTo>
                  <a:pt x="2578100" y="2120900"/>
                </a:lnTo>
                <a:lnTo>
                  <a:pt x="2578100" y="0"/>
                </a:lnTo>
                <a:lnTo>
                  <a:pt x="0" y="0"/>
                </a:lnTo>
                <a:lnTo>
                  <a:pt x="0" y="21209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31082" y="1729739"/>
            <a:ext cx="51815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681" y="1653539"/>
            <a:ext cx="5092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681" y="4092194"/>
            <a:ext cx="5588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1082" y="4092194"/>
            <a:ext cx="5676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41651" y="2739644"/>
            <a:ext cx="2237105" cy="1843405"/>
          </a:xfrm>
          <a:custGeom>
            <a:avLst/>
            <a:gdLst/>
            <a:ahLst/>
            <a:cxnLst/>
            <a:rect l="l" t="t" r="r" b="b"/>
            <a:pathLst>
              <a:path w="2237104" h="1843404">
                <a:moveTo>
                  <a:pt x="2236851" y="0"/>
                </a:moveTo>
                <a:lnTo>
                  <a:pt x="0" y="184327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10030" y="2631439"/>
            <a:ext cx="929005" cy="955675"/>
          </a:xfrm>
          <a:custGeom>
            <a:avLst/>
            <a:gdLst/>
            <a:ahLst/>
            <a:cxnLst/>
            <a:rect l="l" t="t" r="r" b="b"/>
            <a:pathLst>
              <a:path w="929005" h="955675">
                <a:moveTo>
                  <a:pt x="0" y="0"/>
                </a:moveTo>
                <a:lnTo>
                  <a:pt x="928496" y="95516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8065" y="2246376"/>
            <a:ext cx="24765" cy="1725295"/>
          </a:xfrm>
          <a:custGeom>
            <a:avLst/>
            <a:gdLst/>
            <a:ahLst/>
            <a:cxnLst/>
            <a:rect l="l" t="t" r="r" b="b"/>
            <a:pathLst>
              <a:path w="24765" h="1725295">
                <a:moveTo>
                  <a:pt x="24599" y="1725295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07488" y="1371980"/>
            <a:ext cx="695325" cy="1172845"/>
          </a:xfrm>
          <a:custGeom>
            <a:avLst/>
            <a:gdLst/>
            <a:ahLst/>
            <a:cxnLst/>
            <a:rect l="l" t="t" r="r" b="b"/>
            <a:pathLst>
              <a:path w="695325" h="1172845">
                <a:moveTo>
                  <a:pt x="694817" y="0"/>
                </a:moveTo>
                <a:lnTo>
                  <a:pt x="0" y="117284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9691" y="2075688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3458" y="3818890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1572" y="2302002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94279" y="3299714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1075"/>
              </a:spcBef>
            </a:pPr>
            <a:r>
              <a:rPr spc="-10" dirty="0"/>
              <a:t>Cohen-Sutherland</a:t>
            </a:r>
            <a:r>
              <a:rPr spc="-5" dirty="0"/>
              <a:t> </a:t>
            </a:r>
            <a:r>
              <a:rPr spc="-10" dirty="0"/>
              <a:t>Clipping</a:t>
            </a:r>
          </a:p>
          <a:p>
            <a:pPr marL="2274570">
              <a:lnSpc>
                <a:spcPct val="100000"/>
              </a:lnSpc>
              <a:spcBef>
                <a:spcPts val="400"/>
              </a:spcBef>
            </a:pPr>
            <a:r>
              <a:rPr sz="1800" b="0" dirty="0">
                <a:solidFill>
                  <a:srgbClr val="000000"/>
                </a:solidFill>
                <a:latin typeface="Tahoma"/>
                <a:cs typeface="Tahoma"/>
              </a:rPr>
              <a:t>p5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46807" y="2423667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27961" y="4268216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p7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75176" y="2461259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p8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61461" y="1706371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p5’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14744" y="5610453"/>
            <a:ext cx="2964180" cy="0"/>
          </a:xfrm>
          <a:custGeom>
            <a:avLst/>
            <a:gdLst/>
            <a:ahLst/>
            <a:cxnLst/>
            <a:rect l="l" t="t" r="r" b="b"/>
            <a:pathLst>
              <a:path w="2964180">
                <a:moveTo>
                  <a:pt x="0" y="0"/>
                </a:moveTo>
                <a:lnTo>
                  <a:pt x="29638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50825" y="5974003"/>
            <a:ext cx="3079750" cy="398145"/>
          </a:xfrm>
          <a:custGeom>
            <a:avLst/>
            <a:gdLst/>
            <a:ahLst/>
            <a:cxnLst/>
            <a:rect l="l" t="t" r="r" b="b"/>
            <a:pathLst>
              <a:path w="3079750" h="398145">
                <a:moveTo>
                  <a:pt x="0" y="397548"/>
                </a:moveTo>
                <a:lnTo>
                  <a:pt x="3079750" y="397548"/>
                </a:lnTo>
                <a:lnTo>
                  <a:pt x="3079750" y="0"/>
                </a:lnTo>
                <a:lnTo>
                  <a:pt x="0" y="0"/>
                </a:lnTo>
                <a:lnTo>
                  <a:pt x="0" y="397548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34263" y="5490869"/>
            <a:ext cx="2485390" cy="8388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</a:pPr>
            <a:r>
              <a:rPr sz="2000" spc="-5" dirty="0">
                <a:latin typeface="Arial"/>
                <a:cs typeface="Arial"/>
              </a:rPr>
              <a:t>AND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0000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 dirty="0">
              <a:latin typeface="Arial"/>
              <a:cs typeface="Arial"/>
            </a:endParaRPr>
          </a:p>
          <a:p>
            <a:pPr marL="6985">
              <a:lnSpc>
                <a:spcPct val="100000"/>
              </a:lnSpc>
              <a:spcBef>
                <a:spcPts val="800"/>
              </a:spcBef>
            </a:pPr>
            <a:r>
              <a:rPr sz="2000" b="1" spc="-5" dirty="0">
                <a:latin typeface="Arial"/>
                <a:cs typeface="Arial"/>
              </a:rPr>
              <a:t>Clipping is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Required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389503" y="4653140"/>
            <a:ext cx="2832735" cy="1628775"/>
          </a:xfrm>
          <a:custGeom>
            <a:avLst/>
            <a:gdLst/>
            <a:ahLst/>
            <a:cxnLst/>
            <a:rect l="l" t="t" r="r" b="b"/>
            <a:pathLst>
              <a:path w="2832735" h="1628775">
                <a:moveTo>
                  <a:pt x="0" y="1628647"/>
                </a:moveTo>
                <a:lnTo>
                  <a:pt x="2832607" y="1628647"/>
                </a:lnTo>
                <a:lnTo>
                  <a:pt x="2832607" y="0"/>
                </a:lnTo>
                <a:lnTo>
                  <a:pt x="0" y="0"/>
                </a:lnTo>
                <a:lnTo>
                  <a:pt x="0" y="1628647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60546" y="5907557"/>
            <a:ext cx="2717800" cy="0"/>
          </a:xfrm>
          <a:custGeom>
            <a:avLst/>
            <a:gdLst/>
            <a:ahLst/>
            <a:cxnLst/>
            <a:rect l="l" t="t" r="r" b="b"/>
            <a:pathLst>
              <a:path w="2717800">
                <a:moveTo>
                  <a:pt x="0" y="0"/>
                </a:moveTo>
                <a:lnTo>
                  <a:pt x="271767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418078" y="6281788"/>
            <a:ext cx="2804160" cy="398145"/>
          </a:xfrm>
          <a:custGeom>
            <a:avLst/>
            <a:gdLst/>
            <a:ahLst/>
            <a:cxnLst/>
            <a:rect l="l" t="t" r="r" b="b"/>
            <a:pathLst>
              <a:path w="2804160" h="398145">
                <a:moveTo>
                  <a:pt x="0" y="397548"/>
                </a:moveTo>
                <a:lnTo>
                  <a:pt x="2804160" y="397548"/>
                </a:lnTo>
                <a:lnTo>
                  <a:pt x="2804160" y="0"/>
                </a:lnTo>
                <a:lnTo>
                  <a:pt x="0" y="0"/>
                </a:lnTo>
                <a:lnTo>
                  <a:pt x="0" y="397548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389503" y="4678426"/>
            <a:ext cx="2832735" cy="195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805" marR="139700" algn="just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Let p5’ is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intersection  on window</a:t>
            </a:r>
            <a:endParaRPr sz="2000" dirty="0">
              <a:latin typeface="Arial"/>
              <a:cs typeface="Arial"/>
            </a:endParaRPr>
          </a:p>
          <a:p>
            <a:pPr marL="90805" marR="439420" algn="just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P5’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 Zero  P6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0000 </a:t>
            </a:r>
            <a:r>
              <a:rPr sz="2000" dirty="0">
                <a:latin typeface="Arial"/>
                <a:cs typeface="Arial"/>
              </a:rPr>
              <a:t>– </a:t>
            </a:r>
            <a:r>
              <a:rPr sz="2000" spc="-5" dirty="0">
                <a:latin typeface="Arial"/>
                <a:cs typeface="Arial"/>
              </a:rPr>
              <a:t>Zero  AND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 dirty="0">
              <a:latin typeface="Arial"/>
              <a:cs typeface="Arial"/>
            </a:endParaRPr>
          </a:p>
          <a:p>
            <a:pPr marL="118745" algn="just">
              <a:lnSpc>
                <a:spcPct val="100000"/>
              </a:lnSpc>
              <a:spcBef>
                <a:spcPts val="830"/>
              </a:spcBef>
            </a:pPr>
            <a:r>
              <a:rPr sz="2000" b="1" spc="-5" dirty="0">
                <a:latin typeface="Arial"/>
                <a:cs typeface="Arial"/>
              </a:rPr>
              <a:t>P5’p6 is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inside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301740" y="6281788"/>
            <a:ext cx="2804160" cy="398145"/>
          </a:xfrm>
          <a:custGeom>
            <a:avLst/>
            <a:gdLst/>
            <a:ahLst/>
            <a:cxnLst/>
            <a:rect l="l" t="t" r="r" b="b"/>
            <a:pathLst>
              <a:path w="2804159" h="398145">
                <a:moveTo>
                  <a:pt x="0" y="397548"/>
                </a:moveTo>
                <a:lnTo>
                  <a:pt x="2804160" y="397548"/>
                </a:lnTo>
                <a:lnTo>
                  <a:pt x="2804160" y="0"/>
                </a:lnTo>
                <a:lnTo>
                  <a:pt x="0" y="0"/>
                </a:lnTo>
                <a:lnTo>
                  <a:pt x="0" y="397548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379971" y="6307328"/>
            <a:ext cx="19284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p5p5’ is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outside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36870" y="19324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36870" y="28468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6870" y="38374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700" y="4653076"/>
            <a:ext cx="3079750" cy="1321435"/>
          </a:xfrm>
          <a:custGeom>
            <a:avLst/>
            <a:gdLst/>
            <a:ahLst/>
            <a:cxnLst/>
            <a:rect l="l" t="t" r="r" b="b"/>
            <a:pathLst>
              <a:path w="3079750" h="1321435">
                <a:moveTo>
                  <a:pt x="0" y="1320927"/>
                </a:moveTo>
                <a:lnTo>
                  <a:pt x="3079750" y="1320927"/>
                </a:lnTo>
                <a:lnTo>
                  <a:pt x="3079750" y="0"/>
                </a:lnTo>
                <a:lnTo>
                  <a:pt x="0" y="0"/>
                </a:lnTo>
                <a:lnTo>
                  <a:pt x="0" y="1320927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614161" y="1939925"/>
          <a:ext cx="2977515" cy="2273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6357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34263" y="4678426"/>
            <a:ext cx="1419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ABRL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263" y="4983226"/>
            <a:ext cx="2896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  <a:tabLst>
                <a:tab pos="909319" algn="l"/>
                <a:tab pos="1826260" algn="l"/>
              </a:tabLst>
            </a:pPr>
            <a:r>
              <a:rPr sz="2000" spc="-5" dirty="0">
                <a:latin typeface="Arial"/>
                <a:cs typeface="Arial"/>
              </a:rPr>
              <a:t>P7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0100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–	Non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  P8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0010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–	Non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9316" y="1966086"/>
            <a:ext cx="2578100" cy="2120900"/>
          </a:xfrm>
          <a:custGeom>
            <a:avLst/>
            <a:gdLst/>
            <a:ahLst/>
            <a:cxnLst/>
            <a:rect l="l" t="t" r="r" b="b"/>
            <a:pathLst>
              <a:path w="2578100" h="2120900">
                <a:moveTo>
                  <a:pt x="0" y="2120900"/>
                </a:moveTo>
                <a:lnTo>
                  <a:pt x="2578100" y="2120900"/>
                </a:lnTo>
                <a:lnTo>
                  <a:pt x="2578100" y="0"/>
                </a:lnTo>
                <a:lnTo>
                  <a:pt x="0" y="0"/>
                </a:lnTo>
                <a:lnTo>
                  <a:pt x="0" y="21209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31082" y="1729739"/>
            <a:ext cx="51815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681" y="1653539"/>
            <a:ext cx="5092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681" y="4092194"/>
            <a:ext cx="5588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1082" y="4092194"/>
            <a:ext cx="5676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41651" y="2739644"/>
            <a:ext cx="2237105" cy="1843405"/>
          </a:xfrm>
          <a:custGeom>
            <a:avLst/>
            <a:gdLst/>
            <a:ahLst/>
            <a:cxnLst/>
            <a:rect l="l" t="t" r="r" b="b"/>
            <a:pathLst>
              <a:path w="2237104" h="1843404">
                <a:moveTo>
                  <a:pt x="2236851" y="0"/>
                </a:moveTo>
                <a:lnTo>
                  <a:pt x="0" y="184327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10030" y="2631439"/>
            <a:ext cx="929005" cy="955675"/>
          </a:xfrm>
          <a:custGeom>
            <a:avLst/>
            <a:gdLst/>
            <a:ahLst/>
            <a:cxnLst/>
            <a:rect l="l" t="t" r="r" b="b"/>
            <a:pathLst>
              <a:path w="929005" h="955675">
                <a:moveTo>
                  <a:pt x="0" y="0"/>
                </a:moveTo>
                <a:lnTo>
                  <a:pt x="928496" y="95516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8065" y="2246376"/>
            <a:ext cx="24765" cy="1725295"/>
          </a:xfrm>
          <a:custGeom>
            <a:avLst/>
            <a:gdLst/>
            <a:ahLst/>
            <a:cxnLst/>
            <a:rect l="l" t="t" r="r" b="b"/>
            <a:pathLst>
              <a:path w="24765" h="1725295">
                <a:moveTo>
                  <a:pt x="24599" y="1725295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07488" y="1371980"/>
            <a:ext cx="695325" cy="1172845"/>
          </a:xfrm>
          <a:custGeom>
            <a:avLst/>
            <a:gdLst/>
            <a:ahLst/>
            <a:cxnLst/>
            <a:rect l="l" t="t" r="r" b="b"/>
            <a:pathLst>
              <a:path w="695325" h="1172845">
                <a:moveTo>
                  <a:pt x="694817" y="0"/>
                </a:moveTo>
                <a:lnTo>
                  <a:pt x="0" y="117284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9691" y="2075688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3458" y="3818890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1572" y="2302002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94279" y="3299714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1075"/>
              </a:spcBef>
            </a:pPr>
            <a:r>
              <a:rPr spc="-10" dirty="0"/>
              <a:t>Cohen-Sutherland</a:t>
            </a:r>
            <a:r>
              <a:rPr spc="-5" dirty="0"/>
              <a:t> </a:t>
            </a:r>
            <a:r>
              <a:rPr spc="-10" dirty="0"/>
              <a:t>Clipping</a:t>
            </a:r>
          </a:p>
          <a:p>
            <a:pPr marL="2274570">
              <a:lnSpc>
                <a:spcPct val="100000"/>
              </a:lnSpc>
              <a:spcBef>
                <a:spcPts val="400"/>
              </a:spcBef>
            </a:pPr>
            <a:r>
              <a:rPr sz="1800" b="0" dirty="0">
                <a:solidFill>
                  <a:srgbClr val="000000"/>
                </a:solidFill>
                <a:latin typeface="Tahoma"/>
                <a:cs typeface="Tahoma"/>
              </a:rPr>
              <a:t>p5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46807" y="2423667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27961" y="4268216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p7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75176" y="2461259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p8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61461" y="1706371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p5’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89529" y="4118864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p7’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14744" y="5610453"/>
            <a:ext cx="2964180" cy="0"/>
          </a:xfrm>
          <a:custGeom>
            <a:avLst/>
            <a:gdLst/>
            <a:ahLst/>
            <a:cxnLst/>
            <a:rect l="l" t="t" r="r" b="b"/>
            <a:pathLst>
              <a:path w="2964180">
                <a:moveTo>
                  <a:pt x="0" y="0"/>
                </a:moveTo>
                <a:lnTo>
                  <a:pt x="29638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0825" y="5974003"/>
            <a:ext cx="3079750" cy="398145"/>
          </a:xfrm>
          <a:custGeom>
            <a:avLst/>
            <a:gdLst/>
            <a:ahLst/>
            <a:cxnLst/>
            <a:rect l="l" t="t" r="r" b="b"/>
            <a:pathLst>
              <a:path w="3079750" h="398145">
                <a:moveTo>
                  <a:pt x="0" y="397548"/>
                </a:moveTo>
                <a:lnTo>
                  <a:pt x="3079750" y="397548"/>
                </a:lnTo>
                <a:lnTo>
                  <a:pt x="3079750" y="0"/>
                </a:lnTo>
                <a:lnTo>
                  <a:pt x="0" y="0"/>
                </a:lnTo>
                <a:lnTo>
                  <a:pt x="0" y="397548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34263" y="5490869"/>
            <a:ext cx="2485390" cy="8388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</a:pPr>
            <a:r>
              <a:rPr sz="2000" spc="-5" dirty="0">
                <a:latin typeface="Arial"/>
                <a:cs typeface="Arial"/>
              </a:rPr>
              <a:t>AND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0000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>
              <a:latin typeface="Arial"/>
              <a:cs typeface="Arial"/>
            </a:endParaRPr>
          </a:p>
          <a:p>
            <a:pPr marL="6985">
              <a:lnSpc>
                <a:spcPct val="100000"/>
              </a:lnSpc>
              <a:spcBef>
                <a:spcPts val="800"/>
              </a:spcBef>
            </a:pPr>
            <a:r>
              <a:rPr sz="2000" b="1" spc="-5" dirty="0">
                <a:latin typeface="Arial"/>
                <a:cs typeface="Arial"/>
              </a:rPr>
              <a:t>Clipping is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Required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89503" y="4653140"/>
            <a:ext cx="2832735" cy="1013460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 marR="139700">
              <a:lnSpc>
                <a:spcPct val="100000"/>
              </a:lnSpc>
              <a:spcBef>
                <a:spcPts val="295"/>
              </a:spcBef>
            </a:pPr>
            <a:r>
              <a:rPr sz="2000" b="1" spc="-5" dirty="0">
                <a:latin typeface="Arial"/>
                <a:cs typeface="Arial"/>
              </a:rPr>
              <a:t>Let p7’ is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intersection  on window</a:t>
            </a:r>
            <a:endParaRPr sz="20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p7p7’ </a:t>
            </a:r>
            <a:r>
              <a:rPr sz="2000" b="1" spc="-5" dirty="0">
                <a:latin typeface="Wingdings"/>
                <a:cs typeface="Wingdings"/>
              </a:rPr>
              <a:t>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Arial"/>
                <a:cs typeface="Arial"/>
              </a:rPr>
              <a:t>clipped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01740" y="6281788"/>
            <a:ext cx="2804160" cy="398145"/>
          </a:xfrm>
          <a:custGeom>
            <a:avLst/>
            <a:gdLst/>
            <a:ahLst/>
            <a:cxnLst/>
            <a:rect l="l" t="t" r="r" b="b"/>
            <a:pathLst>
              <a:path w="2804159" h="398145">
                <a:moveTo>
                  <a:pt x="0" y="397548"/>
                </a:moveTo>
                <a:lnTo>
                  <a:pt x="2804160" y="397548"/>
                </a:lnTo>
                <a:lnTo>
                  <a:pt x="2804160" y="0"/>
                </a:lnTo>
                <a:lnTo>
                  <a:pt x="0" y="0"/>
                </a:lnTo>
                <a:lnTo>
                  <a:pt x="0" y="397548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379971" y="6307328"/>
            <a:ext cx="24911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Clipping is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Required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22110" y="4589564"/>
            <a:ext cx="2922270" cy="162877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 marR="228600">
              <a:lnSpc>
                <a:spcPct val="100000"/>
              </a:lnSpc>
              <a:spcBef>
                <a:spcPts val="295"/>
              </a:spcBef>
            </a:pPr>
            <a:r>
              <a:rPr sz="2000" b="1" spc="-5" dirty="0">
                <a:latin typeface="Arial"/>
                <a:cs typeface="Arial"/>
              </a:rPr>
              <a:t>Let p7’ is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intersection  on window</a:t>
            </a:r>
            <a:endParaRPr sz="20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tabLst>
                <a:tab pos="978535" algn="l"/>
              </a:tabLst>
            </a:pPr>
            <a:r>
              <a:rPr sz="2000" spc="-5" dirty="0">
                <a:latin typeface="Arial"/>
                <a:cs typeface="Arial"/>
              </a:rPr>
              <a:t>P7’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 Zero</a:t>
            </a:r>
            <a:endParaRPr sz="20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tabLst>
                <a:tab pos="1000760" algn="l"/>
              </a:tabLst>
            </a:pPr>
            <a:r>
              <a:rPr sz="2000" u="heavy" spc="-1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P8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Wingdings"/>
                <a:cs typeface="Wingdings"/>
              </a:rPr>
              <a:t>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0010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–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Non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Zero</a:t>
            </a:r>
            <a:r>
              <a:rPr sz="1800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AND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614161" y="1939925"/>
          <a:ext cx="2977515" cy="2273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6357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0100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E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436870" y="19324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6870" y="28468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6870" y="3837432"/>
            <a:ext cx="124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89316" y="1966086"/>
            <a:ext cx="2578100" cy="2120900"/>
          </a:xfrm>
          <a:custGeom>
            <a:avLst/>
            <a:gdLst/>
            <a:ahLst/>
            <a:cxnLst/>
            <a:rect l="l" t="t" r="r" b="b"/>
            <a:pathLst>
              <a:path w="2578100" h="2120900">
                <a:moveTo>
                  <a:pt x="0" y="2120900"/>
                </a:moveTo>
                <a:lnTo>
                  <a:pt x="2578100" y="2120900"/>
                </a:lnTo>
                <a:lnTo>
                  <a:pt x="2578100" y="0"/>
                </a:lnTo>
                <a:lnTo>
                  <a:pt x="0" y="0"/>
                </a:lnTo>
                <a:lnTo>
                  <a:pt x="0" y="21209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31082" y="1729739"/>
            <a:ext cx="51815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681" y="1653539"/>
            <a:ext cx="5092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681" y="4092194"/>
            <a:ext cx="5588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(xl,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1082" y="4092194"/>
            <a:ext cx="5676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Arial"/>
                <a:cs typeface="Arial"/>
              </a:rPr>
              <a:t>(xr,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yb)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41651" y="2739644"/>
            <a:ext cx="2237105" cy="1843405"/>
          </a:xfrm>
          <a:custGeom>
            <a:avLst/>
            <a:gdLst/>
            <a:ahLst/>
            <a:cxnLst/>
            <a:rect l="l" t="t" r="r" b="b"/>
            <a:pathLst>
              <a:path w="2237104" h="1843404">
                <a:moveTo>
                  <a:pt x="2236851" y="0"/>
                </a:moveTo>
                <a:lnTo>
                  <a:pt x="0" y="184327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10030" y="2631439"/>
            <a:ext cx="929005" cy="955675"/>
          </a:xfrm>
          <a:custGeom>
            <a:avLst/>
            <a:gdLst/>
            <a:ahLst/>
            <a:cxnLst/>
            <a:rect l="l" t="t" r="r" b="b"/>
            <a:pathLst>
              <a:path w="929005" h="955675">
                <a:moveTo>
                  <a:pt x="0" y="0"/>
                </a:moveTo>
                <a:lnTo>
                  <a:pt x="928496" y="95516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8065" y="2246376"/>
            <a:ext cx="24765" cy="1725295"/>
          </a:xfrm>
          <a:custGeom>
            <a:avLst/>
            <a:gdLst/>
            <a:ahLst/>
            <a:cxnLst/>
            <a:rect l="l" t="t" r="r" b="b"/>
            <a:pathLst>
              <a:path w="24765" h="1725295">
                <a:moveTo>
                  <a:pt x="24599" y="1725295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07488" y="1371980"/>
            <a:ext cx="695325" cy="1172845"/>
          </a:xfrm>
          <a:custGeom>
            <a:avLst/>
            <a:gdLst/>
            <a:ahLst/>
            <a:cxnLst/>
            <a:rect l="l" t="t" r="r" b="b"/>
            <a:pathLst>
              <a:path w="695325" h="1172845">
                <a:moveTo>
                  <a:pt x="694817" y="0"/>
                </a:moveTo>
                <a:lnTo>
                  <a:pt x="0" y="117284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9691" y="2075688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3458" y="3818890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1572" y="2302002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94279" y="3299714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1075"/>
              </a:spcBef>
            </a:pPr>
            <a:r>
              <a:rPr spc="-10" dirty="0"/>
              <a:t>Cohen-Sutherland</a:t>
            </a:r>
            <a:r>
              <a:rPr spc="-5" dirty="0"/>
              <a:t> </a:t>
            </a:r>
            <a:r>
              <a:rPr spc="-10" dirty="0"/>
              <a:t>Clipping</a:t>
            </a:r>
          </a:p>
          <a:p>
            <a:pPr marL="2274570">
              <a:lnSpc>
                <a:spcPct val="100000"/>
              </a:lnSpc>
              <a:spcBef>
                <a:spcPts val="400"/>
              </a:spcBef>
            </a:pPr>
            <a:r>
              <a:rPr sz="1800" b="0" dirty="0">
                <a:solidFill>
                  <a:srgbClr val="000000"/>
                </a:solidFill>
                <a:latin typeface="Tahoma"/>
                <a:cs typeface="Tahoma"/>
              </a:rPr>
              <a:t>p5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46807" y="2423667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27961" y="4268216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p7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75176" y="2461259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p8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61461" y="1706371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p5’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89529" y="4118864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p7’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29634" y="3105911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p8’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3662" y="4645850"/>
            <a:ext cx="2832735" cy="1013460"/>
          </a:xfrm>
          <a:custGeom>
            <a:avLst/>
            <a:gdLst/>
            <a:ahLst/>
            <a:cxnLst/>
            <a:rect l="l" t="t" r="r" b="b"/>
            <a:pathLst>
              <a:path w="2832735" h="1013460">
                <a:moveTo>
                  <a:pt x="0" y="1013091"/>
                </a:moveTo>
                <a:lnTo>
                  <a:pt x="2832608" y="1013091"/>
                </a:lnTo>
                <a:lnTo>
                  <a:pt x="2832608" y="0"/>
                </a:lnTo>
                <a:lnTo>
                  <a:pt x="0" y="0"/>
                </a:lnTo>
                <a:lnTo>
                  <a:pt x="0" y="1013091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71450" y="4671059"/>
            <a:ext cx="26193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Arial"/>
                <a:cs typeface="Arial"/>
              </a:rPr>
              <a:t>Let </a:t>
            </a:r>
            <a:r>
              <a:rPr sz="2000" b="1" dirty="0">
                <a:latin typeface="Arial"/>
                <a:cs typeface="Arial"/>
              </a:rPr>
              <a:t>p8’ is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intersection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on window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p8p8’ </a:t>
            </a:r>
            <a:r>
              <a:rPr sz="2000" b="1" spc="-5" dirty="0">
                <a:latin typeface="Wingdings"/>
                <a:cs typeface="Wingdings"/>
              </a:rPr>
              <a:t>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Arial"/>
                <a:cs typeface="Arial"/>
              </a:rPr>
              <a:t>clipped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19882" y="5680227"/>
            <a:ext cx="3409950" cy="39814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5"/>
              </a:spcBef>
            </a:pPr>
            <a:r>
              <a:rPr sz="2000" b="1" spc="-5" dirty="0">
                <a:latin typeface="Arial"/>
                <a:cs typeface="Arial"/>
              </a:rPr>
              <a:t>P8’p7’ is completely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inside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119882" y="4667135"/>
            <a:ext cx="2922270" cy="1013460"/>
          </a:xfrm>
          <a:custGeom>
            <a:avLst/>
            <a:gdLst/>
            <a:ahLst/>
            <a:cxnLst/>
            <a:rect l="l" t="t" r="r" b="b"/>
            <a:pathLst>
              <a:path w="2922270" h="1013460">
                <a:moveTo>
                  <a:pt x="0" y="1013091"/>
                </a:moveTo>
                <a:lnTo>
                  <a:pt x="2921762" y="1013091"/>
                </a:lnTo>
                <a:lnTo>
                  <a:pt x="2921762" y="0"/>
                </a:lnTo>
                <a:lnTo>
                  <a:pt x="0" y="0"/>
                </a:lnTo>
                <a:lnTo>
                  <a:pt x="0" y="1013091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119882" y="4667135"/>
            <a:ext cx="2922270" cy="64579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170" marR="567690">
              <a:lnSpc>
                <a:spcPct val="100000"/>
              </a:lnSpc>
              <a:spcBef>
                <a:spcPts val="295"/>
              </a:spcBef>
              <a:tabLst>
                <a:tab pos="977900" algn="l"/>
              </a:tabLst>
            </a:pPr>
            <a:r>
              <a:rPr sz="2000" spc="-5" dirty="0">
                <a:latin typeface="Arial"/>
                <a:cs typeface="Arial"/>
              </a:rPr>
              <a:t>P8’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  P7’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Zero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19882" y="5340921"/>
            <a:ext cx="2922270" cy="33972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2195"/>
              </a:lnSpc>
            </a:pPr>
            <a:r>
              <a:rPr sz="2000" spc="-5" dirty="0">
                <a:latin typeface="Arial"/>
                <a:cs typeface="Arial"/>
              </a:rPr>
              <a:t>AND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0000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100704" y="5326634"/>
            <a:ext cx="2964180" cy="0"/>
          </a:xfrm>
          <a:custGeom>
            <a:avLst/>
            <a:gdLst/>
            <a:ahLst/>
            <a:cxnLst/>
            <a:rect l="l" t="t" r="r" b="b"/>
            <a:pathLst>
              <a:path w="2964179">
                <a:moveTo>
                  <a:pt x="0" y="0"/>
                </a:moveTo>
                <a:lnTo>
                  <a:pt x="296379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980" y="126238"/>
            <a:ext cx="75653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Cohen-Sutherland</a:t>
            </a:r>
            <a:r>
              <a:rPr spc="-5" dirty="0"/>
              <a:t> </a:t>
            </a:r>
            <a:r>
              <a:rPr spc="-10" dirty="0"/>
              <a:t>Clipping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6793" y="2361945"/>
            <a:ext cx="4216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1001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63064" y="2475230"/>
            <a:ext cx="4216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1000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656" y="3675888"/>
            <a:ext cx="4216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0001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0394" y="3814826"/>
            <a:ext cx="4089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0000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8900" y="3864864"/>
            <a:ext cx="4216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0010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656" y="5189220"/>
            <a:ext cx="4216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0101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7035" y="5081015"/>
            <a:ext cx="4216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0100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9316" y="2877566"/>
            <a:ext cx="2578100" cy="2120900"/>
          </a:xfrm>
          <a:custGeom>
            <a:avLst/>
            <a:gdLst/>
            <a:ahLst/>
            <a:cxnLst/>
            <a:rect l="l" t="t" r="r" b="b"/>
            <a:pathLst>
              <a:path w="2578100" h="2120900">
                <a:moveTo>
                  <a:pt x="0" y="2120899"/>
                </a:moveTo>
                <a:lnTo>
                  <a:pt x="2578100" y="2120899"/>
                </a:lnTo>
                <a:lnTo>
                  <a:pt x="2578100" y="0"/>
                </a:lnTo>
                <a:lnTo>
                  <a:pt x="0" y="0"/>
                </a:lnTo>
                <a:lnTo>
                  <a:pt x="0" y="212089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31082" y="4956790"/>
            <a:ext cx="1069340" cy="6191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sz="2000" spc="-5" dirty="0">
                <a:latin typeface="Arial"/>
                <a:cs typeface="Arial"/>
              </a:rPr>
              <a:t>B(90,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20)</a:t>
            </a:r>
            <a:endParaRPr sz="2000">
              <a:latin typeface="Arial"/>
              <a:cs typeface="Arial"/>
            </a:endParaRPr>
          </a:p>
          <a:p>
            <a:pPr marL="48895" algn="ctr">
              <a:lnSpc>
                <a:spcPct val="100000"/>
              </a:lnSpc>
              <a:spcBef>
                <a:spcPts val="244"/>
              </a:spcBef>
            </a:pP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0110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2645" y="2204847"/>
            <a:ext cx="2832735" cy="2376805"/>
          </a:xfrm>
          <a:custGeom>
            <a:avLst/>
            <a:gdLst/>
            <a:ahLst/>
            <a:cxnLst/>
            <a:rect l="l" t="t" r="r" b="b"/>
            <a:pathLst>
              <a:path w="2832735" h="2376804">
                <a:moveTo>
                  <a:pt x="2832595" y="0"/>
                </a:moveTo>
                <a:lnTo>
                  <a:pt x="0" y="237629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2465" y="4632452"/>
            <a:ext cx="101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P1(10,30)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01259" y="5538393"/>
            <a:ext cx="3223895" cy="107505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600" spc="-5" dirty="0">
                <a:latin typeface="Arial"/>
                <a:cs typeface="Arial"/>
              </a:rPr>
              <a:t>m=(90-30)/(80-10)=0.85</a:t>
            </a:r>
            <a:endParaRPr sz="1600" dirty="0">
              <a:latin typeface="Arial"/>
              <a:cs typeface="Arial"/>
            </a:endParaRPr>
          </a:p>
          <a:p>
            <a:pPr marL="90805" marR="36068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(y1-30)/(20-10)=0.85 </a:t>
            </a:r>
            <a:r>
              <a:rPr sz="1600" dirty="0">
                <a:latin typeface="Wingdings"/>
                <a:cs typeface="Wingdings"/>
              </a:rPr>
              <a:t>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y1=39  </a:t>
            </a:r>
            <a:r>
              <a:rPr sz="1600" spc="-5" dirty="0">
                <a:latin typeface="Arial"/>
                <a:cs typeface="Arial"/>
              </a:rPr>
              <a:t>(90-70)/(80-x2)=0.85 </a:t>
            </a:r>
            <a:r>
              <a:rPr sz="1600" dirty="0">
                <a:latin typeface="Wingdings"/>
                <a:cs typeface="Wingdings"/>
              </a:rPr>
              <a:t>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x2=57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352922" y="4409351"/>
            <a:ext cx="3409950" cy="70548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170" marR="563245">
              <a:lnSpc>
                <a:spcPct val="100000"/>
              </a:lnSpc>
              <a:spcBef>
                <a:spcPts val="295"/>
              </a:spcBef>
            </a:pPr>
            <a:r>
              <a:rPr sz="2000" b="1" spc="-5" dirty="0">
                <a:latin typeface="Arial"/>
                <a:cs typeface="Arial"/>
              </a:rPr>
              <a:t>P1P2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partially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inside  (trivially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accepted)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9090" y="2199551"/>
            <a:ext cx="1981835" cy="70548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  <a:tabLst>
                <a:tab pos="861694" algn="l"/>
              </a:tabLst>
            </a:pPr>
            <a:r>
              <a:rPr sz="2000" spc="-5" dirty="0">
                <a:latin typeface="Arial"/>
                <a:cs typeface="Arial"/>
              </a:rPr>
              <a:t>P1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0001</a:t>
            </a:r>
            <a:endParaRPr sz="20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tabLst>
                <a:tab pos="860425" algn="l"/>
              </a:tabLst>
            </a:pPr>
            <a:r>
              <a:rPr sz="2000" spc="-5" dirty="0">
                <a:latin typeface="Arial"/>
                <a:cs typeface="Arial"/>
              </a:rPr>
              <a:t>P2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1000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3662" y="836663"/>
            <a:ext cx="9050655" cy="1013460"/>
          </a:xfrm>
          <a:custGeom>
            <a:avLst/>
            <a:gdLst/>
            <a:ahLst/>
            <a:cxnLst/>
            <a:rect l="l" t="t" r="r" b="b"/>
            <a:pathLst>
              <a:path w="9050655" h="1013460">
                <a:moveTo>
                  <a:pt x="0" y="1013091"/>
                </a:moveTo>
                <a:lnTo>
                  <a:pt x="9050274" y="1013091"/>
                </a:lnTo>
                <a:lnTo>
                  <a:pt x="9050274" y="0"/>
                </a:lnTo>
                <a:lnTo>
                  <a:pt x="0" y="0"/>
                </a:lnTo>
                <a:lnTo>
                  <a:pt x="0" y="1013091"/>
                </a:lnTo>
                <a:close/>
              </a:path>
            </a:pathLst>
          </a:custGeom>
          <a:solidFill>
            <a:srgbClr val="FFE1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1450" y="861567"/>
            <a:ext cx="88557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Prob: </a:t>
            </a:r>
            <a:r>
              <a:rPr sz="2000" dirty="0">
                <a:latin typeface="Arial"/>
                <a:cs typeface="Arial"/>
              </a:rPr>
              <a:t>Let </a:t>
            </a:r>
            <a:r>
              <a:rPr sz="2000" spc="-5" dirty="0">
                <a:latin typeface="Arial"/>
                <a:cs typeface="Arial"/>
              </a:rPr>
              <a:t>ABCD be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rectanguler window with A(20,20), B(90,20), C(90,70),  D(20,70). Find the codes for endpoints and use Cohen-Sutherland algorithm to  clip lines with P1(10,30) and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P2(80,90).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53511" y="1861820"/>
            <a:ext cx="101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P2(80,90)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61079" y="2180041"/>
            <a:ext cx="1270635" cy="65659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65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1010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000" spc="-5" dirty="0">
                <a:latin typeface="Arial"/>
                <a:cs typeface="Arial"/>
              </a:rPr>
              <a:t>C(90,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70)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9246" y="5139182"/>
            <a:ext cx="10693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A(20,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20)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6600" y="2479039"/>
            <a:ext cx="1082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D(20,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70)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56173" y="1908302"/>
            <a:ext cx="1845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Step </a:t>
            </a:r>
            <a:r>
              <a:rPr sz="1800" dirty="0">
                <a:latin typeface="Tahoma"/>
                <a:cs typeface="Tahoma"/>
              </a:rPr>
              <a:t>1: </a:t>
            </a:r>
            <a:r>
              <a:rPr sz="1800" spc="-5" dirty="0">
                <a:latin typeface="Tahoma"/>
                <a:cs typeface="Tahoma"/>
              </a:rPr>
              <a:t>Find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TBRL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76164" y="3330689"/>
            <a:ext cx="2922270" cy="654050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 marR="149225">
              <a:lnSpc>
                <a:spcPct val="100000"/>
              </a:lnSpc>
              <a:spcBef>
                <a:spcPts val="295"/>
              </a:spcBef>
              <a:tabLst>
                <a:tab pos="860425" algn="l"/>
              </a:tabLst>
            </a:pPr>
            <a:r>
              <a:rPr sz="2000" spc="-5" dirty="0">
                <a:latin typeface="Arial"/>
                <a:cs typeface="Arial"/>
              </a:rPr>
              <a:t>P1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0001 </a:t>
            </a:r>
            <a:r>
              <a:rPr sz="2000" spc="-5" dirty="0">
                <a:latin typeface="Arial"/>
                <a:cs typeface="Arial"/>
              </a:rPr>
              <a:t>– Non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  P2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Arial"/>
                <a:cs typeface="Arial"/>
              </a:rPr>
              <a:t>1000 </a:t>
            </a:r>
            <a:r>
              <a:rPr sz="2000" dirty="0">
                <a:latin typeface="Arial"/>
                <a:cs typeface="Arial"/>
              </a:rPr>
              <a:t>– </a:t>
            </a:r>
            <a:r>
              <a:rPr sz="2000" spc="-5" dirty="0">
                <a:latin typeface="Arial"/>
                <a:cs typeface="Arial"/>
              </a:rPr>
              <a:t>Non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Zero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76164" y="4013136"/>
            <a:ext cx="2922270" cy="330835"/>
          </a:xfrm>
          <a:prstGeom prst="rect">
            <a:avLst/>
          </a:prstGeom>
          <a:solidFill>
            <a:srgbClr val="FFE167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125"/>
              </a:lnSpc>
            </a:pPr>
            <a:r>
              <a:rPr sz="2000" spc="-5" dirty="0">
                <a:latin typeface="Arial"/>
                <a:cs typeface="Arial"/>
              </a:rPr>
              <a:t>AND 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0000 </a:t>
            </a:r>
            <a:r>
              <a:rPr sz="2000" spc="-5" dirty="0">
                <a:latin typeface="Arial"/>
                <a:cs typeface="Arial"/>
              </a:rPr>
              <a:t>–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Zero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410708" y="3998848"/>
            <a:ext cx="2964180" cy="0"/>
          </a:xfrm>
          <a:custGeom>
            <a:avLst/>
            <a:gdLst/>
            <a:ahLst/>
            <a:cxnLst/>
            <a:rect l="l" t="t" r="r" b="b"/>
            <a:pathLst>
              <a:path w="2964179">
                <a:moveTo>
                  <a:pt x="0" y="0"/>
                </a:moveTo>
                <a:lnTo>
                  <a:pt x="296379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456173" y="2993135"/>
            <a:ext cx="3157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Step </a:t>
            </a:r>
            <a:r>
              <a:rPr sz="1800" dirty="0">
                <a:latin typeface="Tahoma"/>
                <a:cs typeface="Tahoma"/>
              </a:rPr>
              <a:t>2: Check </a:t>
            </a:r>
            <a:r>
              <a:rPr sz="1800" spc="-5" dirty="0">
                <a:latin typeface="Tahoma"/>
                <a:cs typeface="Tahoma"/>
              </a:rPr>
              <a:t>Visibility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P1P2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01564" y="5252973"/>
            <a:ext cx="316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Step </a:t>
            </a:r>
            <a:r>
              <a:rPr sz="1800" dirty="0">
                <a:latin typeface="Tahoma"/>
                <a:cs typeface="Tahoma"/>
              </a:rPr>
              <a:t>3: </a:t>
            </a:r>
            <a:r>
              <a:rPr sz="1800" spc="-5" dirty="0">
                <a:latin typeface="Tahoma"/>
                <a:cs typeface="Tahoma"/>
              </a:rPr>
              <a:t>Find </a:t>
            </a:r>
            <a:r>
              <a:rPr sz="1800" dirty="0">
                <a:latin typeface="Tahoma"/>
                <a:cs typeface="Tahoma"/>
              </a:rPr>
              <a:t>intersection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Points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9896" y="3873245"/>
            <a:ext cx="1043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P1’(20,y1)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9360" y="2909315"/>
            <a:ext cx="1038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P2’(x2,70)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800" y="314451"/>
            <a:ext cx="527050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Tahoma"/>
                <a:cs typeface="Tahoma"/>
              </a:rPr>
              <a:t>Clipping Lines not  </a:t>
            </a:r>
            <a:r>
              <a:rPr b="0" dirty="0">
                <a:latin typeface="Tahoma"/>
                <a:cs typeface="Tahoma"/>
              </a:rPr>
              <a:t>Accepted or</a:t>
            </a:r>
            <a:r>
              <a:rPr b="0" spc="-90" dirty="0">
                <a:latin typeface="Tahoma"/>
                <a:cs typeface="Tahoma"/>
              </a:rPr>
              <a:t> </a:t>
            </a:r>
            <a:r>
              <a:rPr b="0" dirty="0">
                <a:latin typeface="Tahoma"/>
                <a:cs typeface="Tahoma"/>
              </a:rPr>
              <a:t>Rejected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9577" y="2007108"/>
            <a:ext cx="6438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In </a:t>
            </a:r>
            <a:r>
              <a:rPr sz="1800" spc="-5" dirty="0">
                <a:latin typeface="Arial"/>
                <a:cs typeface="Arial"/>
              </a:rPr>
              <a:t>the case where a line can be neither </a:t>
            </a:r>
            <a:r>
              <a:rPr sz="1800" dirty="0">
                <a:latin typeface="Arial"/>
                <a:cs typeface="Arial"/>
              </a:rPr>
              <a:t>trivially </a:t>
            </a:r>
            <a:r>
              <a:rPr sz="1800" spc="-5" dirty="0">
                <a:latin typeface="Arial"/>
                <a:cs typeface="Arial"/>
              </a:rPr>
              <a:t>accepted nor  </a:t>
            </a:r>
            <a:r>
              <a:rPr sz="1800" dirty="0">
                <a:latin typeface="Arial"/>
                <a:cs typeface="Arial"/>
              </a:rPr>
              <a:t>rejected, the </a:t>
            </a:r>
            <a:r>
              <a:rPr sz="1800" spc="-5" dirty="0">
                <a:latin typeface="Arial"/>
                <a:cs typeface="Arial"/>
              </a:rPr>
              <a:t>algorithm uses </a:t>
            </a:r>
            <a:r>
              <a:rPr sz="1800" dirty="0">
                <a:latin typeface="Arial"/>
                <a:cs typeface="Arial"/>
              </a:rPr>
              <a:t>a “divide </a:t>
            </a:r>
            <a:r>
              <a:rPr sz="1800" spc="-5" dirty="0">
                <a:latin typeface="Arial"/>
                <a:cs typeface="Arial"/>
              </a:rPr>
              <a:t>and conquer”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method.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5777" y="4904485"/>
            <a:ext cx="69532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Line</a:t>
            </a:r>
            <a:r>
              <a:rPr sz="1400" spc="-1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AD: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3622" y="4861509"/>
            <a:ext cx="5598795" cy="1476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marR="452755" indent="-215900">
              <a:lnSpc>
                <a:spcPct val="120000"/>
              </a:lnSpc>
              <a:spcBef>
                <a:spcPts val="100"/>
              </a:spcBef>
              <a:buAutoNum type="arabicParenR"/>
              <a:tabLst>
                <a:tab pos="215900" algn="l"/>
              </a:tabLst>
            </a:pPr>
            <a:r>
              <a:rPr sz="1400" spc="-45" dirty="0">
                <a:latin typeface="Arial"/>
                <a:cs typeface="Arial"/>
              </a:rPr>
              <a:t>Test </a:t>
            </a:r>
            <a:r>
              <a:rPr sz="1400" spc="-5" dirty="0">
                <a:latin typeface="Arial"/>
                <a:cs typeface="Arial"/>
              </a:rPr>
              <a:t>outcodes of A (0001) and D (1000) . </a:t>
            </a:r>
            <a:r>
              <a:rPr sz="1400" dirty="0">
                <a:latin typeface="Arial"/>
                <a:cs typeface="Arial"/>
              </a:rPr>
              <a:t>Here </a:t>
            </a:r>
            <a:r>
              <a:rPr sz="1400" spc="-5" dirty="0">
                <a:latin typeface="Arial"/>
                <a:cs typeface="Arial"/>
              </a:rPr>
              <a:t>A and B =0000,  accept or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reject?</a:t>
            </a:r>
            <a:endParaRPr sz="1400">
              <a:latin typeface="Arial"/>
              <a:cs typeface="Arial"/>
            </a:endParaRPr>
          </a:p>
          <a:p>
            <a:pPr marL="236220" indent="-206375">
              <a:lnSpc>
                <a:spcPct val="100000"/>
              </a:lnSpc>
              <a:spcBef>
                <a:spcPts val="335"/>
              </a:spcBef>
              <a:buAutoNum type="arabicParenR"/>
              <a:tabLst>
                <a:tab pos="236854" algn="l"/>
              </a:tabLst>
            </a:pPr>
            <a:r>
              <a:rPr sz="1400" spc="-5" dirty="0">
                <a:latin typeface="Arial"/>
                <a:cs typeface="Arial"/>
              </a:rPr>
              <a:t>Calculate intersection point B, which is conceptually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on</a:t>
            </a:r>
            <a:endParaRPr sz="1400">
              <a:latin typeface="Arial"/>
              <a:cs typeface="Arial"/>
            </a:endParaRPr>
          </a:p>
          <a:p>
            <a:pPr marL="403225" marR="5080" indent="-28575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"/>
                <a:cs typeface="Arial"/>
              </a:rPr>
              <a:t>the window side of the dividing line. Here A and B=1000 which is  non-zero, so it is outside the </a:t>
            </a:r>
            <a:r>
              <a:rPr sz="1400" spc="-15" dirty="0">
                <a:latin typeface="Arial"/>
                <a:cs typeface="Arial"/>
              </a:rPr>
              <a:t>window. </a:t>
            </a:r>
            <a:r>
              <a:rPr sz="1400" spc="-5" dirty="0">
                <a:latin typeface="Arial"/>
                <a:cs typeface="Arial"/>
              </a:rPr>
              <a:t>Then B and D=1000, so it is  also nonzero hence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outside.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2377" y="3151632"/>
            <a:ext cx="8153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Example: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9701" y="2930525"/>
            <a:ext cx="0" cy="1739900"/>
          </a:xfrm>
          <a:custGeom>
            <a:avLst/>
            <a:gdLst/>
            <a:ahLst/>
            <a:cxnLst/>
            <a:rect l="l" t="t" r="r" b="b"/>
            <a:pathLst>
              <a:path h="1739900">
                <a:moveTo>
                  <a:pt x="0" y="0"/>
                </a:moveTo>
                <a:lnTo>
                  <a:pt x="0" y="173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73701" y="2930525"/>
            <a:ext cx="0" cy="1739900"/>
          </a:xfrm>
          <a:custGeom>
            <a:avLst/>
            <a:gdLst/>
            <a:ahLst/>
            <a:cxnLst/>
            <a:rect l="l" t="t" r="r" b="b"/>
            <a:pathLst>
              <a:path h="1739900">
                <a:moveTo>
                  <a:pt x="0" y="0"/>
                </a:moveTo>
                <a:lnTo>
                  <a:pt x="0" y="173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62301" y="3609975"/>
            <a:ext cx="2838450" cy="19050"/>
          </a:xfrm>
          <a:custGeom>
            <a:avLst/>
            <a:gdLst/>
            <a:ahLst/>
            <a:cxnLst/>
            <a:rect l="l" t="t" r="r" b="b"/>
            <a:pathLst>
              <a:path w="2838450" h="19050">
                <a:moveTo>
                  <a:pt x="0" y="19050"/>
                </a:moveTo>
                <a:lnTo>
                  <a:pt x="28384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98851" y="4752975"/>
            <a:ext cx="2501900" cy="0"/>
          </a:xfrm>
          <a:custGeom>
            <a:avLst/>
            <a:gdLst/>
            <a:ahLst/>
            <a:cxnLst/>
            <a:rect l="l" t="t" r="r" b="b"/>
            <a:pathLst>
              <a:path w="2501900">
                <a:moveTo>
                  <a:pt x="0" y="0"/>
                </a:moveTo>
                <a:lnTo>
                  <a:pt x="2501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13457" y="3241675"/>
            <a:ext cx="1397000" cy="660400"/>
          </a:xfrm>
          <a:custGeom>
            <a:avLst/>
            <a:gdLst/>
            <a:ahLst/>
            <a:cxnLst/>
            <a:rect l="l" t="t" r="r" b="b"/>
            <a:pathLst>
              <a:path w="1397000" h="660400">
                <a:moveTo>
                  <a:pt x="1397000" y="0"/>
                </a:moveTo>
                <a:lnTo>
                  <a:pt x="0" y="6604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40378" y="2999232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177" y="3304032"/>
            <a:ext cx="75374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400" spc="-5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06978" y="3151632"/>
            <a:ext cx="1536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22651" y="4295775"/>
            <a:ext cx="3035300" cy="0"/>
          </a:xfrm>
          <a:custGeom>
            <a:avLst/>
            <a:gdLst/>
            <a:ahLst/>
            <a:cxnLst/>
            <a:rect l="l" t="t" r="r" b="b"/>
            <a:pathLst>
              <a:path w="3035300">
                <a:moveTo>
                  <a:pt x="0" y="0"/>
                </a:moveTo>
                <a:lnTo>
                  <a:pt x="30353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19678" y="4294885"/>
            <a:ext cx="1212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9132" y="4294885"/>
            <a:ext cx="1511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21832" y="4065778"/>
            <a:ext cx="1543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49701" y="4747259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387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55987" y="3623309"/>
            <a:ext cx="0" cy="1117600"/>
          </a:xfrm>
          <a:custGeom>
            <a:avLst/>
            <a:gdLst/>
            <a:ahLst/>
            <a:cxnLst/>
            <a:rect l="l" t="t" r="r" b="b"/>
            <a:pathLst>
              <a:path h="1117600">
                <a:moveTo>
                  <a:pt x="0" y="0"/>
                </a:moveTo>
                <a:lnTo>
                  <a:pt x="0" y="1117600"/>
                </a:lnTo>
              </a:path>
            </a:pathLst>
          </a:custGeom>
          <a:ln w="12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49701" y="3616959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387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67223" y="3622675"/>
            <a:ext cx="0" cy="1117600"/>
          </a:xfrm>
          <a:custGeom>
            <a:avLst/>
            <a:gdLst/>
            <a:ahLst/>
            <a:cxnLst/>
            <a:rect l="l" t="t" r="r" b="b"/>
            <a:pathLst>
              <a:path h="1117600">
                <a:moveTo>
                  <a:pt x="0" y="0"/>
                </a:moveTo>
                <a:lnTo>
                  <a:pt x="0" y="1117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74973" y="4721859"/>
            <a:ext cx="1473200" cy="0"/>
          </a:xfrm>
          <a:custGeom>
            <a:avLst/>
            <a:gdLst/>
            <a:ahLst/>
            <a:cxnLst/>
            <a:rect l="l" t="t" r="r" b="b"/>
            <a:pathLst>
              <a:path w="1473200">
                <a:moveTo>
                  <a:pt x="0" y="0"/>
                </a:moveTo>
                <a:lnTo>
                  <a:pt x="1473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81387" y="3648709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128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74973" y="3642359"/>
            <a:ext cx="1473200" cy="0"/>
          </a:xfrm>
          <a:custGeom>
            <a:avLst/>
            <a:gdLst/>
            <a:ahLst/>
            <a:cxnLst/>
            <a:rect l="l" t="t" r="r" b="b"/>
            <a:pathLst>
              <a:path w="1473200">
                <a:moveTo>
                  <a:pt x="0" y="0"/>
                </a:moveTo>
                <a:lnTo>
                  <a:pt x="1473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41823" y="3648075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147565" y="3116580"/>
            <a:ext cx="4216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1000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51760" y="3116580"/>
            <a:ext cx="4216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1001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4977" y="3896817"/>
            <a:ext cx="463550" cy="5607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525"/>
              </a:spcBef>
            </a:pPr>
            <a:r>
              <a:rPr sz="1400" spc="-5" dirty="0">
                <a:latin typeface="Arial"/>
                <a:cs typeface="Arial"/>
              </a:rPr>
              <a:t>0001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spc="-5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1244" y="313690"/>
            <a:ext cx="6445885" cy="228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0" spc="-5" dirty="0"/>
              <a:t>Polygon</a:t>
            </a:r>
            <a:r>
              <a:rPr sz="6000" spc="-95" dirty="0"/>
              <a:t> </a:t>
            </a:r>
            <a:r>
              <a:rPr sz="6000" spc="-5" dirty="0"/>
              <a:t>Clipping</a:t>
            </a:r>
            <a:endParaRPr sz="6000"/>
          </a:p>
          <a:p>
            <a:pPr marL="209550" marR="200660" algn="ctr">
              <a:lnSpc>
                <a:spcPct val="100000"/>
              </a:lnSpc>
              <a:spcBef>
                <a:spcPts val="5"/>
              </a:spcBef>
            </a:pPr>
            <a:r>
              <a:rPr spc="-5" dirty="0">
                <a:solidFill>
                  <a:srgbClr val="FF0000"/>
                </a:solidFill>
              </a:rPr>
              <a:t>Suther</a:t>
            </a:r>
            <a:r>
              <a:rPr spc="-15" dirty="0">
                <a:solidFill>
                  <a:srgbClr val="FF0000"/>
                </a:solidFill>
              </a:rPr>
              <a:t>l</a:t>
            </a:r>
            <a:r>
              <a:rPr dirty="0">
                <a:solidFill>
                  <a:srgbClr val="FF0000"/>
                </a:solidFill>
              </a:rPr>
              <a:t>an</a:t>
            </a:r>
            <a:r>
              <a:rPr spc="5" dirty="0">
                <a:solidFill>
                  <a:srgbClr val="FF0000"/>
                </a:solidFill>
              </a:rPr>
              <a:t>d</a:t>
            </a:r>
            <a:r>
              <a:rPr spc="-5" dirty="0">
                <a:solidFill>
                  <a:srgbClr val="FF0000"/>
                </a:solidFill>
              </a:rPr>
              <a:t>-Hodgman 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834" y="3437675"/>
            <a:ext cx="7346950" cy="185737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3333FF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Basic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idea: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85"/>
              </a:spcBef>
              <a:buClr>
                <a:srgbClr val="CC00FF"/>
              </a:buClr>
              <a:buSzPct val="5416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Consider each edge of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viewport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individually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CC00FF"/>
              </a:buClr>
              <a:buSzPct val="5416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Clip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polygon against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edge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equation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CC00FF"/>
              </a:buClr>
              <a:buSzPct val="54166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After </a:t>
            </a:r>
            <a:r>
              <a:rPr sz="2400" spc="-5" dirty="0">
                <a:latin typeface="Arial"/>
                <a:cs typeface="Arial"/>
              </a:rPr>
              <a:t>doing all planes,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polygon is fully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clipped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767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Polygon</a:t>
            </a:r>
            <a:r>
              <a:rPr spc="-15" dirty="0"/>
              <a:t> </a:t>
            </a:r>
            <a:r>
              <a:rPr spc="-10" dirty="0"/>
              <a:t>Clipping</a:t>
            </a:r>
          </a:p>
          <a:p>
            <a:pPr marL="447675" algn="ctr">
              <a:lnSpc>
                <a:spcPct val="100000"/>
              </a:lnSpc>
              <a:spcBef>
                <a:spcPts val="15"/>
              </a:spcBef>
            </a:pPr>
            <a:r>
              <a:rPr sz="3200" spc="-5" dirty="0">
                <a:solidFill>
                  <a:srgbClr val="FF0000"/>
                </a:solidFill>
              </a:rPr>
              <a:t>Sutherland-Hodgman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77279" y="2401316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334518"/>
                </a:moveTo>
                <a:lnTo>
                  <a:pt x="7897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279" y="273583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0"/>
                </a:moveTo>
                <a:lnTo>
                  <a:pt x="789736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985" y="1955292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3"/>
                </a:moveTo>
                <a:lnTo>
                  <a:pt x="20284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7833" y="1955292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30">
                <a:moveTo>
                  <a:pt x="273710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31544" y="2401316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4">
                <a:moveTo>
                  <a:pt x="0" y="0"/>
                </a:moveTo>
                <a:lnTo>
                  <a:pt x="836168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00683" y="2735833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9" y="0"/>
                </a:moveTo>
                <a:lnTo>
                  <a:pt x="0" y="3091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97851" y="3074416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3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9985" y="3044951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23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07891" y="234848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334517"/>
                </a:moveTo>
                <a:lnTo>
                  <a:pt x="78968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07891" y="2683001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0"/>
                </a:moveTo>
                <a:lnTo>
                  <a:pt x="789686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80559" y="1902460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2"/>
                </a:moveTo>
                <a:lnTo>
                  <a:pt x="20294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88459" y="1902460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30">
                <a:moveTo>
                  <a:pt x="273685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2144" y="2348483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5" h="334644">
                <a:moveTo>
                  <a:pt x="0" y="0"/>
                </a:moveTo>
                <a:lnTo>
                  <a:pt x="836167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31283" y="2683001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8" y="0"/>
                </a:moveTo>
                <a:lnTo>
                  <a:pt x="0" y="309118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28464" y="302158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629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80559" y="2992120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20" h="468629">
                <a:moveTo>
                  <a:pt x="273812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98214" y="2136673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4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218" y="3691382"/>
            <a:ext cx="166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Original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polygon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6200" y="3636264"/>
            <a:ext cx="170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Clipping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767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Polygon</a:t>
            </a:r>
            <a:r>
              <a:rPr spc="-15" dirty="0"/>
              <a:t> </a:t>
            </a:r>
            <a:r>
              <a:rPr spc="-10" dirty="0"/>
              <a:t>Clipping</a:t>
            </a:r>
          </a:p>
          <a:p>
            <a:pPr marL="447675" algn="ctr">
              <a:lnSpc>
                <a:spcPct val="100000"/>
              </a:lnSpc>
              <a:spcBef>
                <a:spcPts val="15"/>
              </a:spcBef>
            </a:pPr>
            <a:r>
              <a:rPr sz="3200" spc="-5" dirty="0">
                <a:solidFill>
                  <a:srgbClr val="FF0000"/>
                </a:solidFill>
              </a:rPr>
              <a:t>Sutherland-Hodgman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77279" y="2401316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334518"/>
                </a:moveTo>
                <a:lnTo>
                  <a:pt x="7897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279" y="273583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0"/>
                </a:moveTo>
                <a:lnTo>
                  <a:pt x="789736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985" y="1955292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3"/>
                </a:moveTo>
                <a:lnTo>
                  <a:pt x="20284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7833" y="1955292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30">
                <a:moveTo>
                  <a:pt x="273710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31544" y="2401316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4">
                <a:moveTo>
                  <a:pt x="0" y="0"/>
                </a:moveTo>
                <a:lnTo>
                  <a:pt x="836168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00683" y="2735833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9" y="0"/>
                </a:moveTo>
                <a:lnTo>
                  <a:pt x="0" y="3091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97851" y="3074416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3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9985" y="3044951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23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07891" y="234848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334517"/>
                </a:moveTo>
                <a:lnTo>
                  <a:pt x="78968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07891" y="2683001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0"/>
                </a:moveTo>
                <a:lnTo>
                  <a:pt x="789686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80559" y="1902460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2"/>
                </a:moveTo>
                <a:lnTo>
                  <a:pt x="20294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88459" y="1902460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30">
                <a:moveTo>
                  <a:pt x="273685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2144" y="2348483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5" h="334644">
                <a:moveTo>
                  <a:pt x="0" y="0"/>
                </a:moveTo>
                <a:lnTo>
                  <a:pt x="836167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31283" y="2683001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8" y="0"/>
                </a:moveTo>
                <a:lnTo>
                  <a:pt x="0" y="309118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28464" y="302158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629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80559" y="2992120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20" h="468629">
                <a:moveTo>
                  <a:pt x="273812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98214" y="2136673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4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218" y="3691382"/>
            <a:ext cx="166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Original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polygon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6200" y="3636264"/>
            <a:ext cx="170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Clipping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4296" y="5099177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4" h="295275">
                <a:moveTo>
                  <a:pt x="0" y="295021"/>
                </a:moveTo>
                <a:lnTo>
                  <a:pt x="49946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4296" y="5588241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4" h="180339">
                <a:moveTo>
                  <a:pt x="0" y="0"/>
                </a:moveTo>
                <a:lnTo>
                  <a:pt x="499465" y="17995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26744" y="465315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4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34592" y="4653153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4" h="468629">
                <a:moveTo>
                  <a:pt x="273659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08252" y="5099177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5">
                <a:moveTo>
                  <a:pt x="0" y="0"/>
                </a:moveTo>
                <a:lnTo>
                  <a:pt x="836295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77391" y="5433695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5">
                <a:moveTo>
                  <a:pt x="867156" y="0"/>
                </a:moveTo>
                <a:lnTo>
                  <a:pt x="0" y="30910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4572" y="5772302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5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26744" y="5742800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35" y="46855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4296" y="4887404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87222" y="6413500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Left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767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Polygon</a:t>
            </a:r>
            <a:r>
              <a:rPr spc="-15" dirty="0"/>
              <a:t> </a:t>
            </a:r>
            <a:r>
              <a:rPr spc="-10" dirty="0"/>
              <a:t>Clipping</a:t>
            </a:r>
          </a:p>
          <a:p>
            <a:pPr marL="447675" algn="ctr">
              <a:lnSpc>
                <a:spcPct val="100000"/>
              </a:lnSpc>
              <a:spcBef>
                <a:spcPts val="15"/>
              </a:spcBef>
            </a:pPr>
            <a:r>
              <a:rPr sz="3200" spc="-5" dirty="0">
                <a:solidFill>
                  <a:srgbClr val="FF0000"/>
                </a:solidFill>
              </a:rPr>
              <a:t>Sutherland-Hodgman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77279" y="2401316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334518"/>
                </a:moveTo>
                <a:lnTo>
                  <a:pt x="7897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279" y="273583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0"/>
                </a:moveTo>
                <a:lnTo>
                  <a:pt x="789736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985" y="1955292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3"/>
                </a:moveTo>
                <a:lnTo>
                  <a:pt x="20284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7833" y="1955292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30">
                <a:moveTo>
                  <a:pt x="273710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31544" y="2401316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4">
                <a:moveTo>
                  <a:pt x="0" y="0"/>
                </a:moveTo>
                <a:lnTo>
                  <a:pt x="836168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00683" y="2735833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9" y="0"/>
                </a:moveTo>
                <a:lnTo>
                  <a:pt x="0" y="3091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97851" y="3074416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3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9985" y="3044951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23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07891" y="234848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334517"/>
                </a:moveTo>
                <a:lnTo>
                  <a:pt x="78968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07891" y="2683001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0"/>
                </a:moveTo>
                <a:lnTo>
                  <a:pt x="789686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80559" y="1902460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2"/>
                </a:moveTo>
                <a:lnTo>
                  <a:pt x="20294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88459" y="1902460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30">
                <a:moveTo>
                  <a:pt x="273685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2144" y="2348483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5" h="334644">
                <a:moveTo>
                  <a:pt x="0" y="0"/>
                </a:moveTo>
                <a:lnTo>
                  <a:pt x="836167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31283" y="2683001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8" y="0"/>
                </a:moveTo>
                <a:lnTo>
                  <a:pt x="0" y="309118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28464" y="302158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629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80559" y="2992120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20" h="468629">
                <a:moveTo>
                  <a:pt x="273812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98214" y="2136673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4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218" y="3691382"/>
            <a:ext cx="166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Original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polygon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6200" y="3636264"/>
            <a:ext cx="170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Clipping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4296" y="5099177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4" h="295275">
                <a:moveTo>
                  <a:pt x="0" y="295021"/>
                </a:moveTo>
                <a:lnTo>
                  <a:pt x="49946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4296" y="5588241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4" h="180339">
                <a:moveTo>
                  <a:pt x="0" y="0"/>
                </a:moveTo>
                <a:lnTo>
                  <a:pt x="499465" y="17995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26744" y="465315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4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34592" y="4653153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4" h="468629">
                <a:moveTo>
                  <a:pt x="273659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08252" y="5099177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5">
                <a:moveTo>
                  <a:pt x="0" y="0"/>
                </a:moveTo>
                <a:lnTo>
                  <a:pt x="836295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77391" y="5433695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5">
                <a:moveTo>
                  <a:pt x="867156" y="0"/>
                </a:moveTo>
                <a:lnTo>
                  <a:pt x="0" y="30910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4572" y="5772302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5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26744" y="5742800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35" y="46855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4296" y="4887404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87222" y="6413500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Left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60116" y="5074411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5" h="295275">
                <a:moveTo>
                  <a:pt x="0" y="295021"/>
                </a:moveTo>
                <a:lnTo>
                  <a:pt x="49949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60116" y="5563489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5" h="180339">
                <a:moveTo>
                  <a:pt x="0" y="0"/>
                </a:moveTo>
                <a:lnTo>
                  <a:pt x="499491" y="17994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42589" y="4628388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50360" y="4628388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20" h="468629">
                <a:moveTo>
                  <a:pt x="273812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24172" y="5074411"/>
            <a:ext cx="548640" cy="295275"/>
          </a:xfrm>
          <a:custGeom>
            <a:avLst/>
            <a:gdLst/>
            <a:ahLst/>
            <a:cxnLst/>
            <a:rect l="l" t="t" r="r" b="b"/>
            <a:pathLst>
              <a:path w="548639" h="295275">
                <a:moveTo>
                  <a:pt x="0" y="0"/>
                </a:moveTo>
                <a:lnTo>
                  <a:pt x="548131" y="2950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893184" y="5563489"/>
            <a:ext cx="604520" cy="154940"/>
          </a:xfrm>
          <a:custGeom>
            <a:avLst/>
            <a:gdLst/>
            <a:ahLst/>
            <a:cxnLst/>
            <a:rect l="l" t="t" r="r" b="b"/>
            <a:pathLst>
              <a:path w="604520" h="154939">
                <a:moveTo>
                  <a:pt x="604392" y="0"/>
                </a:moveTo>
                <a:lnTo>
                  <a:pt x="0" y="15454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90365" y="5747537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5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42589" y="5718035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29">
                <a:moveTo>
                  <a:pt x="273685" y="468553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960116" y="4862652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8" y="1013561"/>
                </a:lnTo>
                <a:lnTo>
                  <a:pt x="1512188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303270" y="6388608"/>
            <a:ext cx="989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Right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767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Polygon</a:t>
            </a:r>
            <a:r>
              <a:rPr spc="-15" dirty="0"/>
              <a:t> </a:t>
            </a:r>
            <a:r>
              <a:rPr spc="-10" dirty="0"/>
              <a:t>Clipping</a:t>
            </a:r>
          </a:p>
          <a:p>
            <a:pPr marL="447675" algn="ctr">
              <a:lnSpc>
                <a:spcPct val="100000"/>
              </a:lnSpc>
              <a:spcBef>
                <a:spcPts val="15"/>
              </a:spcBef>
            </a:pPr>
            <a:r>
              <a:rPr sz="3200" spc="-5" dirty="0">
                <a:solidFill>
                  <a:srgbClr val="FF0000"/>
                </a:solidFill>
              </a:rPr>
              <a:t>Sutherland-Hodgman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77279" y="2401316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334518"/>
                </a:moveTo>
                <a:lnTo>
                  <a:pt x="7897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279" y="273583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0"/>
                </a:moveTo>
                <a:lnTo>
                  <a:pt x="789736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985" y="1955292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3"/>
                </a:moveTo>
                <a:lnTo>
                  <a:pt x="20284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7833" y="1955292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30">
                <a:moveTo>
                  <a:pt x="273710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31544" y="2401316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4">
                <a:moveTo>
                  <a:pt x="0" y="0"/>
                </a:moveTo>
                <a:lnTo>
                  <a:pt x="836168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00683" y="2735833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9" y="0"/>
                </a:moveTo>
                <a:lnTo>
                  <a:pt x="0" y="3091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97851" y="3074416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3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9985" y="3044951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23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07891" y="234848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334517"/>
                </a:moveTo>
                <a:lnTo>
                  <a:pt x="78968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07891" y="2683001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0"/>
                </a:moveTo>
                <a:lnTo>
                  <a:pt x="789686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80559" y="1902460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2"/>
                </a:moveTo>
                <a:lnTo>
                  <a:pt x="20294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88459" y="1902460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30">
                <a:moveTo>
                  <a:pt x="273685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2144" y="2348483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5" h="334644">
                <a:moveTo>
                  <a:pt x="0" y="0"/>
                </a:moveTo>
                <a:lnTo>
                  <a:pt x="836167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31283" y="2683001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8" y="0"/>
                </a:moveTo>
                <a:lnTo>
                  <a:pt x="0" y="309118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28464" y="302158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629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80559" y="2992120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20" h="468629">
                <a:moveTo>
                  <a:pt x="273812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98214" y="2136673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4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218" y="3691382"/>
            <a:ext cx="166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Original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polygon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6200" y="3636264"/>
            <a:ext cx="170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Clipping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4296" y="5099177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4" h="295275">
                <a:moveTo>
                  <a:pt x="0" y="295021"/>
                </a:moveTo>
                <a:lnTo>
                  <a:pt x="49946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4296" y="5588241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4" h="180339">
                <a:moveTo>
                  <a:pt x="0" y="0"/>
                </a:moveTo>
                <a:lnTo>
                  <a:pt x="499465" y="17995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26744" y="465315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4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34592" y="4653153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4" h="468629">
                <a:moveTo>
                  <a:pt x="273659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08252" y="5099177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5">
                <a:moveTo>
                  <a:pt x="0" y="0"/>
                </a:moveTo>
                <a:lnTo>
                  <a:pt x="836295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77391" y="5433695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5">
                <a:moveTo>
                  <a:pt x="867156" y="0"/>
                </a:moveTo>
                <a:lnTo>
                  <a:pt x="0" y="30910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4572" y="5772302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5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26744" y="5742800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35" y="46855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4296" y="4887404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87222" y="6413500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Left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60116" y="5074411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5" h="295275">
                <a:moveTo>
                  <a:pt x="0" y="295021"/>
                </a:moveTo>
                <a:lnTo>
                  <a:pt x="49949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60116" y="5563489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5" h="180339">
                <a:moveTo>
                  <a:pt x="0" y="0"/>
                </a:moveTo>
                <a:lnTo>
                  <a:pt x="499491" y="17994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42589" y="4628388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50360" y="4628388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20" h="468629">
                <a:moveTo>
                  <a:pt x="273812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24172" y="5074411"/>
            <a:ext cx="548640" cy="295275"/>
          </a:xfrm>
          <a:custGeom>
            <a:avLst/>
            <a:gdLst/>
            <a:ahLst/>
            <a:cxnLst/>
            <a:rect l="l" t="t" r="r" b="b"/>
            <a:pathLst>
              <a:path w="548639" h="295275">
                <a:moveTo>
                  <a:pt x="0" y="0"/>
                </a:moveTo>
                <a:lnTo>
                  <a:pt x="548131" y="2950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893184" y="5563489"/>
            <a:ext cx="604520" cy="154940"/>
          </a:xfrm>
          <a:custGeom>
            <a:avLst/>
            <a:gdLst/>
            <a:ahLst/>
            <a:cxnLst/>
            <a:rect l="l" t="t" r="r" b="b"/>
            <a:pathLst>
              <a:path w="604520" h="154939">
                <a:moveTo>
                  <a:pt x="604392" y="0"/>
                </a:moveTo>
                <a:lnTo>
                  <a:pt x="0" y="15454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90365" y="5747537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5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42589" y="5718035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29">
                <a:moveTo>
                  <a:pt x="273685" y="468553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960116" y="4862652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8" y="1013561"/>
                </a:lnTo>
                <a:lnTo>
                  <a:pt x="1512188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303270" y="6388608"/>
            <a:ext cx="989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Right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029580" y="5082540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5" h="295275">
                <a:moveTo>
                  <a:pt x="0" y="295021"/>
                </a:moveTo>
                <a:lnTo>
                  <a:pt x="49949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029580" y="5571616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5" h="180339">
                <a:moveTo>
                  <a:pt x="0" y="0"/>
                </a:moveTo>
                <a:lnTo>
                  <a:pt x="499491" y="17999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512053" y="4862703"/>
            <a:ext cx="101600" cy="242570"/>
          </a:xfrm>
          <a:custGeom>
            <a:avLst/>
            <a:gdLst/>
            <a:ahLst/>
            <a:cxnLst/>
            <a:rect l="l" t="t" r="r" b="b"/>
            <a:pathLst>
              <a:path w="101600" h="242570">
                <a:moveTo>
                  <a:pt x="0" y="242443"/>
                </a:moveTo>
                <a:lnTo>
                  <a:pt x="10134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85739" y="4870830"/>
            <a:ext cx="208279" cy="234315"/>
          </a:xfrm>
          <a:custGeom>
            <a:avLst/>
            <a:gdLst/>
            <a:ahLst/>
            <a:cxnLst/>
            <a:rect l="l" t="t" r="r" b="b"/>
            <a:pathLst>
              <a:path w="208279" h="234314">
                <a:moveTo>
                  <a:pt x="207899" y="234315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993638" y="5082540"/>
            <a:ext cx="548640" cy="295275"/>
          </a:xfrm>
          <a:custGeom>
            <a:avLst/>
            <a:gdLst/>
            <a:ahLst/>
            <a:cxnLst/>
            <a:rect l="l" t="t" r="r" b="b"/>
            <a:pathLst>
              <a:path w="548640" h="295275">
                <a:moveTo>
                  <a:pt x="0" y="0"/>
                </a:moveTo>
                <a:lnTo>
                  <a:pt x="548132" y="2950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962777" y="5571616"/>
            <a:ext cx="604520" cy="154940"/>
          </a:xfrm>
          <a:custGeom>
            <a:avLst/>
            <a:gdLst/>
            <a:ahLst/>
            <a:cxnLst/>
            <a:rect l="l" t="t" r="r" b="b"/>
            <a:pathLst>
              <a:path w="604520" h="154939">
                <a:moveTo>
                  <a:pt x="604393" y="0"/>
                </a:moveTo>
                <a:lnTo>
                  <a:pt x="0" y="15459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759958" y="575570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53"/>
                </a:moveTo>
                <a:lnTo>
                  <a:pt x="2028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512053" y="5726214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29">
                <a:moveTo>
                  <a:pt x="273685" y="46855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29580" y="4870818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8" y="1013561"/>
                </a:lnTo>
                <a:lnTo>
                  <a:pt x="1512188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372861" y="6396735"/>
            <a:ext cx="826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ahoma"/>
                <a:cs typeface="Tahoma"/>
              </a:rPr>
              <a:t>Top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767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Polygon</a:t>
            </a:r>
            <a:r>
              <a:rPr spc="-15" dirty="0"/>
              <a:t> </a:t>
            </a:r>
            <a:r>
              <a:rPr spc="-10" dirty="0"/>
              <a:t>Clipping</a:t>
            </a:r>
          </a:p>
          <a:p>
            <a:pPr marL="447675" algn="ctr">
              <a:lnSpc>
                <a:spcPct val="100000"/>
              </a:lnSpc>
              <a:spcBef>
                <a:spcPts val="15"/>
              </a:spcBef>
            </a:pPr>
            <a:r>
              <a:rPr sz="3200" spc="-5" dirty="0">
                <a:solidFill>
                  <a:srgbClr val="FF0000"/>
                </a:solidFill>
              </a:rPr>
              <a:t>Sutherland-Hodgman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77279" y="2401316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334518"/>
                </a:moveTo>
                <a:lnTo>
                  <a:pt x="7897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279" y="273583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40" h="334644">
                <a:moveTo>
                  <a:pt x="0" y="0"/>
                </a:moveTo>
                <a:lnTo>
                  <a:pt x="789736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985" y="1955292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3"/>
                </a:moveTo>
                <a:lnTo>
                  <a:pt x="20284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7833" y="1955292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30">
                <a:moveTo>
                  <a:pt x="273710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31544" y="2401316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4">
                <a:moveTo>
                  <a:pt x="0" y="0"/>
                </a:moveTo>
                <a:lnTo>
                  <a:pt x="836168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00683" y="2735833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9" y="0"/>
                </a:moveTo>
                <a:lnTo>
                  <a:pt x="0" y="3091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97851" y="3074416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3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9985" y="3044951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23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07891" y="2348483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334517"/>
                </a:moveTo>
                <a:lnTo>
                  <a:pt x="78968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07891" y="2683001"/>
            <a:ext cx="789940" cy="334645"/>
          </a:xfrm>
          <a:custGeom>
            <a:avLst/>
            <a:gdLst/>
            <a:ahLst/>
            <a:cxnLst/>
            <a:rect l="l" t="t" r="r" b="b"/>
            <a:pathLst>
              <a:path w="789939" h="334644">
                <a:moveTo>
                  <a:pt x="0" y="0"/>
                </a:moveTo>
                <a:lnTo>
                  <a:pt x="789686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80559" y="1902460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502"/>
                </a:moveTo>
                <a:lnTo>
                  <a:pt x="20294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88459" y="1902460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30">
                <a:moveTo>
                  <a:pt x="273685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2144" y="2348483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5" h="334644">
                <a:moveTo>
                  <a:pt x="0" y="0"/>
                </a:moveTo>
                <a:lnTo>
                  <a:pt x="836167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31283" y="2683001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8" y="0"/>
                </a:moveTo>
                <a:lnTo>
                  <a:pt x="0" y="309118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28464" y="302158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629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80559" y="2992120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20" h="468629">
                <a:moveTo>
                  <a:pt x="273812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98214" y="2136673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4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218" y="3691382"/>
            <a:ext cx="166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Original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polygon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6200" y="3636264"/>
            <a:ext cx="170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Clipping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Window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4296" y="5099177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4" h="295275">
                <a:moveTo>
                  <a:pt x="0" y="295021"/>
                </a:moveTo>
                <a:lnTo>
                  <a:pt x="49946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4296" y="5588241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4" h="180339">
                <a:moveTo>
                  <a:pt x="0" y="0"/>
                </a:moveTo>
                <a:lnTo>
                  <a:pt x="499465" y="17995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26744" y="465315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4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34592" y="4653153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4" h="468629">
                <a:moveTo>
                  <a:pt x="273659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08252" y="5099177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5">
                <a:moveTo>
                  <a:pt x="0" y="0"/>
                </a:moveTo>
                <a:lnTo>
                  <a:pt x="836295" y="33451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77391" y="5433695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5">
                <a:moveTo>
                  <a:pt x="867156" y="0"/>
                </a:moveTo>
                <a:lnTo>
                  <a:pt x="0" y="30910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4572" y="5772302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5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26744" y="5742800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35" y="46855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4296" y="4887404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87222" y="6413500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Left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60116" y="5074411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5" h="295275">
                <a:moveTo>
                  <a:pt x="0" y="295021"/>
                </a:moveTo>
                <a:lnTo>
                  <a:pt x="49949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60116" y="5563489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5" h="180339">
                <a:moveTo>
                  <a:pt x="0" y="0"/>
                </a:moveTo>
                <a:lnTo>
                  <a:pt x="499491" y="17994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42589" y="4628388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50360" y="4628388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20" h="468629">
                <a:moveTo>
                  <a:pt x="273812" y="46850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24172" y="5074411"/>
            <a:ext cx="548640" cy="295275"/>
          </a:xfrm>
          <a:custGeom>
            <a:avLst/>
            <a:gdLst/>
            <a:ahLst/>
            <a:cxnLst/>
            <a:rect l="l" t="t" r="r" b="b"/>
            <a:pathLst>
              <a:path w="548639" h="295275">
                <a:moveTo>
                  <a:pt x="0" y="0"/>
                </a:moveTo>
                <a:lnTo>
                  <a:pt x="548131" y="2950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893184" y="5563489"/>
            <a:ext cx="604520" cy="154940"/>
          </a:xfrm>
          <a:custGeom>
            <a:avLst/>
            <a:gdLst/>
            <a:ahLst/>
            <a:cxnLst/>
            <a:rect l="l" t="t" r="r" b="b"/>
            <a:pathLst>
              <a:path w="604520" h="154939">
                <a:moveTo>
                  <a:pt x="604392" y="0"/>
                </a:moveTo>
                <a:lnTo>
                  <a:pt x="0" y="15454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90365" y="5747537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53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42589" y="5718035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29">
                <a:moveTo>
                  <a:pt x="273685" y="468553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960116" y="4862652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8" y="1013561"/>
                </a:lnTo>
                <a:lnTo>
                  <a:pt x="1512188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303270" y="6388608"/>
            <a:ext cx="989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Right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029580" y="5082540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5" h="295275">
                <a:moveTo>
                  <a:pt x="0" y="295021"/>
                </a:moveTo>
                <a:lnTo>
                  <a:pt x="49949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029580" y="5571616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5" h="180339">
                <a:moveTo>
                  <a:pt x="0" y="0"/>
                </a:moveTo>
                <a:lnTo>
                  <a:pt x="499491" y="17999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512053" y="4862703"/>
            <a:ext cx="101600" cy="242570"/>
          </a:xfrm>
          <a:custGeom>
            <a:avLst/>
            <a:gdLst/>
            <a:ahLst/>
            <a:cxnLst/>
            <a:rect l="l" t="t" r="r" b="b"/>
            <a:pathLst>
              <a:path w="101600" h="242570">
                <a:moveTo>
                  <a:pt x="0" y="242443"/>
                </a:moveTo>
                <a:lnTo>
                  <a:pt x="10134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85739" y="4870830"/>
            <a:ext cx="208279" cy="234315"/>
          </a:xfrm>
          <a:custGeom>
            <a:avLst/>
            <a:gdLst/>
            <a:ahLst/>
            <a:cxnLst/>
            <a:rect l="l" t="t" r="r" b="b"/>
            <a:pathLst>
              <a:path w="208279" h="234314">
                <a:moveTo>
                  <a:pt x="207899" y="234315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993638" y="5082540"/>
            <a:ext cx="548640" cy="295275"/>
          </a:xfrm>
          <a:custGeom>
            <a:avLst/>
            <a:gdLst/>
            <a:ahLst/>
            <a:cxnLst/>
            <a:rect l="l" t="t" r="r" b="b"/>
            <a:pathLst>
              <a:path w="548640" h="295275">
                <a:moveTo>
                  <a:pt x="0" y="0"/>
                </a:moveTo>
                <a:lnTo>
                  <a:pt x="548132" y="2950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962777" y="5571616"/>
            <a:ext cx="604520" cy="154940"/>
          </a:xfrm>
          <a:custGeom>
            <a:avLst/>
            <a:gdLst/>
            <a:ahLst/>
            <a:cxnLst/>
            <a:rect l="l" t="t" r="r" b="b"/>
            <a:pathLst>
              <a:path w="604520" h="154939">
                <a:moveTo>
                  <a:pt x="604393" y="0"/>
                </a:moveTo>
                <a:lnTo>
                  <a:pt x="0" y="15459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759958" y="575570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53"/>
                </a:moveTo>
                <a:lnTo>
                  <a:pt x="2028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512053" y="5726214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29">
                <a:moveTo>
                  <a:pt x="273685" y="46855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29580" y="4870818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8" y="1013561"/>
                </a:lnTo>
                <a:lnTo>
                  <a:pt x="1512188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372861" y="6396735"/>
            <a:ext cx="826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ahoma"/>
                <a:cs typeface="Tahoma"/>
              </a:rPr>
              <a:t>Top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164323" y="5082540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5" h="295275">
                <a:moveTo>
                  <a:pt x="0" y="295021"/>
                </a:moveTo>
                <a:lnTo>
                  <a:pt x="49949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164323" y="5571616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5" h="180339">
                <a:moveTo>
                  <a:pt x="0" y="0"/>
                </a:moveTo>
                <a:lnTo>
                  <a:pt x="499491" y="17999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646669" y="4862703"/>
            <a:ext cx="101600" cy="242570"/>
          </a:xfrm>
          <a:custGeom>
            <a:avLst/>
            <a:gdLst/>
            <a:ahLst/>
            <a:cxnLst/>
            <a:rect l="l" t="t" r="r" b="b"/>
            <a:pathLst>
              <a:path w="101600" h="242570">
                <a:moveTo>
                  <a:pt x="0" y="242443"/>
                </a:moveTo>
                <a:lnTo>
                  <a:pt x="101473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920355" y="4870830"/>
            <a:ext cx="208279" cy="234315"/>
          </a:xfrm>
          <a:custGeom>
            <a:avLst/>
            <a:gdLst/>
            <a:ahLst/>
            <a:cxnLst/>
            <a:rect l="l" t="t" r="r" b="b"/>
            <a:pathLst>
              <a:path w="208279" h="234314">
                <a:moveTo>
                  <a:pt x="207899" y="234315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128254" y="5082540"/>
            <a:ext cx="548640" cy="295275"/>
          </a:xfrm>
          <a:custGeom>
            <a:avLst/>
            <a:gdLst/>
            <a:ahLst/>
            <a:cxnLst/>
            <a:rect l="l" t="t" r="r" b="b"/>
            <a:pathLst>
              <a:path w="548640" h="295275">
                <a:moveTo>
                  <a:pt x="0" y="0"/>
                </a:moveTo>
                <a:lnTo>
                  <a:pt x="548259" y="2950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097393" y="5571616"/>
            <a:ext cx="604520" cy="154940"/>
          </a:xfrm>
          <a:custGeom>
            <a:avLst/>
            <a:gdLst/>
            <a:ahLst/>
            <a:cxnLst/>
            <a:rect l="l" t="t" r="r" b="b"/>
            <a:pathLst>
              <a:path w="604520" h="154939">
                <a:moveTo>
                  <a:pt x="604392" y="0"/>
                </a:moveTo>
                <a:lnTo>
                  <a:pt x="0" y="15459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920355" y="5755716"/>
            <a:ext cx="177165" cy="128905"/>
          </a:xfrm>
          <a:custGeom>
            <a:avLst/>
            <a:gdLst/>
            <a:ahLst/>
            <a:cxnLst/>
            <a:rect l="l" t="t" r="r" b="b"/>
            <a:pathLst>
              <a:path w="177165" h="128904">
                <a:moveTo>
                  <a:pt x="0" y="128663"/>
                </a:moveTo>
                <a:lnTo>
                  <a:pt x="17703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646669" y="5726214"/>
            <a:ext cx="101600" cy="150495"/>
          </a:xfrm>
          <a:custGeom>
            <a:avLst/>
            <a:gdLst/>
            <a:ahLst/>
            <a:cxnLst/>
            <a:rect l="l" t="t" r="r" b="b"/>
            <a:pathLst>
              <a:path w="101600" h="150495">
                <a:moveTo>
                  <a:pt x="101473" y="149999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164323" y="4870818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5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507731" y="6396735"/>
            <a:ext cx="1191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Bottom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767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Polygon</a:t>
            </a:r>
            <a:r>
              <a:rPr spc="-15" dirty="0"/>
              <a:t> </a:t>
            </a:r>
            <a:r>
              <a:rPr spc="-10" dirty="0"/>
              <a:t>Clipping</a:t>
            </a:r>
          </a:p>
          <a:p>
            <a:pPr marL="447675" algn="ctr">
              <a:lnSpc>
                <a:spcPct val="100000"/>
              </a:lnSpc>
              <a:spcBef>
                <a:spcPts val="15"/>
              </a:spcBef>
            </a:pPr>
            <a:r>
              <a:rPr sz="3200" spc="-5" dirty="0">
                <a:solidFill>
                  <a:srgbClr val="FF0000"/>
                </a:solidFill>
              </a:rPr>
              <a:t>Sutherland-Hodgman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392772" y="2171573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4" h="295275">
                <a:moveTo>
                  <a:pt x="0" y="295021"/>
                </a:moveTo>
                <a:lnTo>
                  <a:pt x="49946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2772" y="2660650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4" h="180339">
                <a:moveTo>
                  <a:pt x="0" y="0"/>
                </a:moveTo>
                <a:lnTo>
                  <a:pt x="499465" y="1799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5207" y="1725548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629"/>
                </a:moveTo>
                <a:lnTo>
                  <a:pt x="202844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83068" y="1725548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4" h="468630">
                <a:moveTo>
                  <a:pt x="273672" y="468629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56741" y="2171573"/>
            <a:ext cx="836294" cy="334645"/>
          </a:xfrm>
          <a:custGeom>
            <a:avLst/>
            <a:gdLst/>
            <a:ahLst/>
            <a:cxnLst/>
            <a:rect l="l" t="t" r="r" b="b"/>
            <a:pathLst>
              <a:path w="836294" h="334644">
                <a:moveTo>
                  <a:pt x="0" y="0"/>
                </a:moveTo>
                <a:lnTo>
                  <a:pt x="836167" y="33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25880" y="2506091"/>
            <a:ext cx="867410" cy="309245"/>
          </a:xfrm>
          <a:custGeom>
            <a:avLst/>
            <a:gdLst/>
            <a:ahLst/>
            <a:cxnLst/>
            <a:rect l="l" t="t" r="r" b="b"/>
            <a:pathLst>
              <a:path w="867410" h="309244">
                <a:moveTo>
                  <a:pt x="867028" y="0"/>
                </a:moveTo>
                <a:lnTo>
                  <a:pt x="0" y="309118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23073" y="284467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629"/>
                </a:moveTo>
                <a:lnTo>
                  <a:pt x="2028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5207" y="2815208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19" h="468629">
                <a:moveTo>
                  <a:pt x="273723" y="468629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2772" y="1959889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4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5583" y="3485642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Left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08604" y="2146807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5" h="295275">
                <a:moveTo>
                  <a:pt x="0" y="295020"/>
                </a:moveTo>
                <a:lnTo>
                  <a:pt x="499491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08604" y="2635885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5" h="180339">
                <a:moveTo>
                  <a:pt x="0" y="0"/>
                </a:moveTo>
                <a:lnTo>
                  <a:pt x="499491" y="1799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90951" y="170078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30">
                <a:moveTo>
                  <a:pt x="0" y="468629"/>
                </a:moveTo>
                <a:lnTo>
                  <a:pt x="20294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98850" y="1700783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30">
                <a:moveTo>
                  <a:pt x="273685" y="468629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72534" y="2146807"/>
            <a:ext cx="548640" cy="295275"/>
          </a:xfrm>
          <a:custGeom>
            <a:avLst/>
            <a:gdLst/>
            <a:ahLst/>
            <a:cxnLst/>
            <a:rect l="l" t="t" r="r" b="b"/>
            <a:pathLst>
              <a:path w="548639" h="295275">
                <a:moveTo>
                  <a:pt x="0" y="0"/>
                </a:moveTo>
                <a:lnTo>
                  <a:pt x="548259" y="29502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41673" y="2635885"/>
            <a:ext cx="604520" cy="154940"/>
          </a:xfrm>
          <a:custGeom>
            <a:avLst/>
            <a:gdLst/>
            <a:ahLst/>
            <a:cxnLst/>
            <a:rect l="l" t="t" r="r" b="b"/>
            <a:pathLst>
              <a:path w="604520" h="154939">
                <a:moveTo>
                  <a:pt x="604392" y="0"/>
                </a:moveTo>
                <a:lnTo>
                  <a:pt x="0" y="1545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38854" y="2819907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629"/>
                </a:moveTo>
                <a:lnTo>
                  <a:pt x="2028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90951" y="2790444"/>
            <a:ext cx="274320" cy="468630"/>
          </a:xfrm>
          <a:custGeom>
            <a:avLst/>
            <a:gdLst/>
            <a:ahLst/>
            <a:cxnLst/>
            <a:rect l="l" t="t" r="r" b="b"/>
            <a:pathLst>
              <a:path w="274320" h="468629">
                <a:moveTo>
                  <a:pt x="273812" y="468629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08604" y="1935124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4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151632" y="3460750"/>
            <a:ext cx="989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Right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78070" y="2155063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5" h="295275">
                <a:moveTo>
                  <a:pt x="0" y="295021"/>
                </a:moveTo>
                <a:lnTo>
                  <a:pt x="49949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78070" y="2644139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5" h="180339">
                <a:moveTo>
                  <a:pt x="0" y="0"/>
                </a:moveTo>
                <a:lnTo>
                  <a:pt x="499490" y="1799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60542" y="1935098"/>
            <a:ext cx="101600" cy="242570"/>
          </a:xfrm>
          <a:custGeom>
            <a:avLst/>
            <a:gdLst/>
            <a:ahLst/>
            <a:cxnLst/>
            <a:rect l="l" t="t" r="r" b="b"/>
            <a:pathLst>
              <a:path w="101600" h="242569">
                <a:moveTo>
                  <a:pt x="0" y="242442"/>
                </a:moveTo>
                <a:lnTo>
                  <a:pt x="10134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34101" y="1943226"/>
            <a:ext cx="208279" cy="234315"/>
          </a:xfrm>
          <a:custGeom>
            <a:avLst/>
            <a:gdLst/>
            <a:ahLst/>
            <a:cxnLst/>
            <a:rect l="l" t="t" r="r" b="b"/>
            <a:pathLst>
              <a:path w="208279" h="234314">
                <a:moveTo>
                  <a:pt x="208025" y="234314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42127" y="2155063"/>
            <a:ext cx="548640" cy="295275"/>
          </a:xfrm>
          <a:custGeom>
            <a:avLst/>
            <a:gdLst/>
            <a:ahLst/>
            <a:cxnLst/>
            <a:rect l="l" t="t" r="r" b="b"/>
            <a:pathLst>
              <a:path w="548639" h="295275">
                <a:moveTo>
                  <a:pt x="0" y="0"/>
                </a:moveTo>
                <a:lnTo>
                  <a:pt x="548132" y="2950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811265" y="2644139"/>
            <a:ext cx="604520" cy="154940"/>
          </a:xfrm>
          <a:custGeom>
            <a:avLst/>
            <a:gdLst/>
            <a:ahLst/>
            <a:cxnLst/>
            <a:rect l="l" t="t" r="r" b="b"/>
            <a:pathLst>
              <a:path w="604520" h="154939">
                <a:moveTo>
                  <a:pt x="604393" y="0"/>
                </a:moveTo>
                <a:lnTo>
                  <a:pt x="0" y="1545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08320" y="2828163"/>
            <a:ext cx="203200" cy="468630"/>
          </a:xfrm>
          <a:custGeom>
            <a:avLst/>
            <a:gdLst/>
            <a:ahLst/>
            <a:cxnLst/>
            <a:rect l="l" t="t" r="r" b="b"/>
            <a:pathLst>
              <a:path w="203200" h="468629">
                <a:moveTo>
                  <a:pt x="0" y="468502"/>
                </a:moveTo>
                <a:lnTo>
                  <a:pt x="20294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60542" y="2798698"/>
            <a:ext cx="273685" cy="468630"/>
          </a:xfrm>
          <a:custGeom>
            <a:avLst/>
            <a:gdLst/>
            <a:ahLst/>
            <a:cxnLst/>
            <a:rect l="l" t="t" r="r" b="b"/>
            <a:pathLst>
              <a:path w="273685" h="468629">
                <a:moveTo>
                  <a:pt x="273685" y="46850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78070" y="1943252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4">
                <a:moveTo>
                  <a:pt x="0" y="1013561"/>
                </a:moveTo>
                <a:lnTo>
                  <a:pt x="1512189" y="1013561"/>
                </a:lnTo>
                <a:lnTo>
                  <a:pt x="1512189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221223" y="3468878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ahoma"/>
                <a:cs typeface="Tahoma"/>
              </a:rPr>
              <a:t>Top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012813" y="2155063"/>
            <a:ext cx="499745" cy="295275"/>
          </a:xfrm>
          <a:custGeom>
            <a:avLst/>
            <a:gdLst/>
            <a:ahLst/>
            <a:cxnLst/>
            <a:rect l="l" t="t" r="r" b="b"/>
            <a:pathLst>
              <a:path w="499745" h="295275">
                <a:moveTo>
                  <a:pt x="0" y="295021"/>
                </a:moveTo>
                <a:lnTo>
                  <a:pt x="499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012813" y="2644139"/>
            <a:ext cx="499745" cy="180340"/>
          </a:xfrm>
          <a:custGeom>
            <a:avLst/>
            <a:gdLst/>
            <a:ahLst/>
            <a:cxnLst/>
            <a:rect l="l" t="t" r="r" b="b"/>
            <a:pathLst>
              <a:path w="499745" h="180339">
                <a:moveTo>
                  <a:pt x="0" y="0"/>
                </a:moveTo>
                <a:lnTo>
                  <a:pt x="499363" y="1799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95158" y="1935098"/>
            <a:ext cx="101600" cy="242570"/>
          </a:xfrm>
          <a:custGeom>
            <a:avLst/>
            <a:gdLst/>
            <a:ahLst/>
            <a:cxnLst/>
            <a:rect l="l" t="t" r="r" b="b"/>
            <a:pathLst>
              <a:path w="101600" h="242569">
                <a:moveTo>
                  <a:pt x="0" y="242442"/>
                </a:moveTo>
                <a:lnTo>
                  <a:pt x="10147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768843" y="1943226"/>
            <a:ext cx="208279" cy="234315"/>
          </a:xfrm>
          <a:custGeom>
            <a:avLst/>
            <a:gdLst/>
            <a:ahLst/>
            <a:cxnLst/>
            <a:rect l="l" t="t" r="r" b="b"/>
            <a:pathLst>
              <a:path w="208279" h="234314">
                <a:moveTo>
                  <a:pt x="207899" y="234314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976743" y="2155063"/>
            <a:ext cx="548640" cy="295275"/>
          </a:xfrm>
          <a:custGeom>
            <a:avLst/>
            <a:gdLst/>
            <a:ahLst/>
            <a:cxnLst/>
            <a:rect l="l" t="t" r="r" b="b"/>
            <a:pathLst>
              <a:path w="548640" h="295275">
                <a:moveTo>
                  <a:pt x="0" y="0"/>
                </a:moveTo>
                <a:lnTo>
                  <a:pt x="548131" y="2950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945881" y="2644139"/>
            <a:ext cx="604520" cy="154940"/>
          </a:xfrm>
          <a:custGeom>
            <a:avLst/>
            <a:gdLst/>
            <a:ahLst/>
            <a:cxnLst/>
            <a:rect l="l" t="t" r="r" b="b"/>
            <a:pathLst>
              <a:path w="604520" h="154939">
                <a:moveTo>
                  <a:pt x="604393" y="0"/>
                </a:moveTo>
                <a:lnTo>
                  <a:pt x="0" y="1545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768843" y="2828163"/>
            <a:ext cx="177165" cy="128905"/>
          </a:xfrm>
          <a:custGeom>
            <a:avLst/>
            <a:gdLst/>
            <a:ahLst/>
            <a:cxnLst/>
            <a:rect l="l" t="t" r="r" b="b"/>
            <a:pathLst>
              <a:path w="177165" h="128905">
                <a:moveTo>
                  <a:pt x="0" y="128650"/>
                </a:moveTo>
                <a:lnTo>
                  <a:pt x="17703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95158" y="2798698"/>
            <a:ext cx="101600" cy="150495"/>
          </a:xfrm>
          <a:custGeom>
            <a:avLst/>
            <a:gdLst/>
            <a:ahLst/>
            <a:cxnLst/>
            <a:rect l="l" t="t" r="r" b="b"/>
            <a:pathLst>
              <a:path w="101600" h="150494">
                <a:moveTo>
                  <a:pt x="101473" y="149987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012813" y="1943252"/>
            <a:ext cx="1512570" cy="1014094"/>
          </a:xfrm>
          <a:custGeom>
            <a:avLst/>
            <a:gdLst/>
            <a:ahLst/>
            <a:cxnLst/>
            <a:rect l="l" t="t" r="r" b="b"/>
            <a:pathLst>
              <a:path w="1512570" h="1014094">
                <a:moveTo>
                  <a:pt x="0" y="1013561"/>
                </a:moveTo>
                <a:lnTo>
                  <a:pt x="1512188" y="1013561"/>
                </a:lnTo>
                <a:lnTo>
                  <a:pt x="1512188" y="0"/>
                </a:lnTo>
                <a:lnTo>
                  <a:pt x="0" y="0"/>
                </a:lnTo>
                <a:lnTo>
                  <a:pt x="0" y="1013561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356093" y="3468878"/>
            <a:ext cx="1191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Bottom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0" y="393306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75207" y="4365116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30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244091" y="4624070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9824" y="4624070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54667" y="5368544"/>
            <a:ext cx="869950" cy="403225"/>
          </a:xfrm>
          <a:custGeom>
            <a:avLst/>
            <a:gdLst/>
            <a:ahLst/>
            <a:cxnLst/>
            <a:rect l="l" t="t" r="r" b="b"/>
            <a:pathLst>
              <a:path w="869950" h="403225">
                <a:moveTo>
                  <a:pt x="37769" y="326600"/>
                </a:moveTo>
                <a:lnTo>
                  <a:pt x="22967" y="329742"/>
                </a:lnTo>
                <a:lnTo>
                  <a:pt x="10550" y="338387"/>
                </a:lnTo>
                <a:lnTo>
                  <a:pt x="2682" y="350693"/>
                </a:lnTo>
                <a:lnTo>
                  <a:pt x="0" y="365048"/>
                </a:lnTo>
                <a:lnTo>
                  <a:pt x="3142" y="379844"/>
                </a:lnTo>
                <a:lnTo>
                  <a:pt x="11779" y="392268"/>
                </a:lnTo>
                <a:lnTo>
                  <a:pt x="24083" y="400140"/>
                </a:lnTo>
                <a:lnTo>
                  <a:pt x="38441" y="402823"/>
                </a:lnTo>
                <a:lnTo>
                  <a:pt x="53243" y="399681"/>
                </a:lnTo>
                <a:lnTo>
                  <a:pt x="65660" y="391037"/>
                </a:lnTo>
                <a:lnTo>
                  <a:pt x="73529" y="378731"/>
                </a:lnTo>
                <a:lnTo>
                  <a:pt x="75060" y="370535"/>
                </a:lnTo>
                <a:lnTo>
                  <a:pt x="40632" y="370535"/>
                </a:lnTo>
                <a:lnTo>
                  <a:pt x="35578" y="358889"/>
                </a:lnTo>
                <a:lnTo>
                  <a:pt x="69372" y="344263"/>
                </a:lnTo>
                <a:lnTo>
                  <a:pt x="64431" y="337156"/>
                </a:lnTo>
                <a:lnTo>
                  <a:pt x="52127" y="329284"/>
                </a:lnTo>
                <a:lnTo>
                  <a:pt x="37769" y="326600"/>
                </a:lnTo>
                <a:close/>
              </a:path>
              <a:path w="869950" h="403225">
                <a:moveTo>
                  <a:pt x="69372" y="344263"/>
                </a:moveTo>
                <a:lnTo>
                  <a:pt x="35578" y="358889"/>
                </a:lnTo>
                <a:lnTo>
                  <a:pt x="40632" y="370535"/>
                </a:lnTo>
                <a:lnTo>
                  <a:pt x="74413" y="355910"/>
                </a:lnTo>
                <a:lnTo>
                  <a:pt x="73068" y="349580"/>
                </a:lnTo>
                <a:lnTo>
                  <a:pt x="69372" y="344263"/>
                </a:lnTo>
                <a:close/>
              </a:path>
              <a:path w="869950" h="403225">
                <a:moveTo>
                  <a:pt x="74413" y="355910"/>
                </a:moveTo>
                <a:lnTo>
                  <a:pt x="40632" y="370535"/>
                </a:lnTo>
                <a:lnTo>
                  <a:pt x="75060" y="370535"/>
                </a:lnTo>
                <a:lnTo>
                  <a:pt x="76211" y="364375"/>
                </a:lnTo>
                <a:lnTo>
                  <a:pt x="74413" y="355910"/>
                </a:lnTo>
                <a:close/>
              </a:path>
              <a:path w="869950" h="403225">
                <a:moveTo>
                  <a:pt x="797400" y="29165"/>
                </a:moveTo>
                <a:lnTo>
                  <a:pt x="69372" y="344263"/>
                </a:lnTo>
                <a:lnTo>
                  <a:pt x="73068" y="349580"/>
                </a:lnTo>
                <a:lnTo>
                  <a:pt x="74413" y="355910"/>
                </a:lnTo>
                <a:lnTo>
                  <a:pt x="802413" y="40735"/>
                </a:lnTo>
                <a:lnTo>
                  <a:pt x="797400" y="29165"/>
                </a:lnTo>
                <a:close/>
              </a:path>
              <a:path w="869950" h="403225">
                <a:moveTo>
                  <a:pt x="853484" y="24129"/>
                </a:moveTo>
                <a:lnTo>
                  <a:pt x="809033" y="24129"/>
                </a:lnTo>
                <a:lnTo>
                  <a:pt x="814075" y="35686"/>
                </a:lnTo>
                <a:lnTo>
                  <a:pt x="802413" y="40735"/>
                </a:lnTo>
                <a:lnTo>
                  <a:pt x="815028" y="69849"/>
                </a:lnTo>
                <a:lnTo>
                  <a:pt x="853484" y="24129"/>
                </a:lnTo>
                <a:close/>
              </a:path>
              <a:path w="869950" h="403225">
                <a:moveTo>
                  <a:pt x="809033" y="24129"/>
                </a:moveTo>
                <a:lnTo>
                  <a:pt x="797400" y="29165"/>
                </a:lnTo>
                <a:lnTo>
                  <a:pt x="802413" y="40735"/>
                </a:lnTo>
                <a:lnTo>
                  <a:pt x="814075" y="35686"/>
                </a:lnTo>
                <a:lnTo>
                  <a:pt x="809033" y="24129"/>
                </a:lnTo>
                <a:close/>
              </a:path>
              <a:path w="869950" h="403225">
                <a:moveTo>
                  <a:pt x="784763" y="0"/>
                </a:moveTo>
                <a:lnTo>
                  <a:pt x="797400" y="29165"/>
                </a:lnTo>
                <a:lnTo>
                  <a:pt x="809033" y="24129"/>
                </a:lnTo>
                <a:lnTo>
                  <a:pt x="853484" y="24129"/>
                </a:lnTo>
                <a:lnTo>
                  <a:pt x="869828" y="4698"/>
                </a:lnTo>
                <a:lnTo>
                  <a:pt x="7847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61365" y="5796534"/>
            <a:ext cx="263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00969" y="5292597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1622" y="52204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78408" y="6161785"/>
            <a:ext cx="175069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1: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v1’v2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43885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638551" y="4611116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563114" y="5360338"/>
            <a:ext cx="990600" cy="436245"/>
          </a:xfrm>
          <a:custGeom>
            <a:avLst/>
            <a:gdLst/>
            <a:ahLst/>
            <a:cxnLst/>
            <a:rect l="l" t="t" r="r" b="b"/>
            <a:pathLst>
              <a:path w="990600" h="436245">
                <a:moveTo>
                  <a:pt x="56006" y="365303"/>
                </a:moveTo>
                <a:lnTo>
                  <a:pt x="0" y="429515"/>
                </a:lnTo>
                <a:lnTo>
                  <a:pt x="84962" y="435788"/>
                </a:lnTo>
                <a:lnTo>
                  <a:pt x="74883" y="411252"/>
                </a:lnTo>
                <a:lnTo>
                  <a:pt x="61087" y="411252"/>
                </a:lnTo>
                <a:lnTo>
                  <a:pt x="56261" y="399505"/>
                </a:lnTo>
                <a:lnTo>
                  <a:pt x="68063" y="394652"/>
                </a:lnTo>
                <a:lnTo>
                  <a:pt x="56006" y="365303"/>
                </a:lnTo>
                <a:close/>
              </a:path>
              <a:path w="990600" h="436245">
                <a:moveTo>
                  <a:pt x="68063" y="394652"/>
                </a:moveTo>
                <a:lnTo>
                  <a:pt x="56261" y="399505"/>
                </a:lnTo>
                <a:lnTo>
                  <a:pt x="61087" y="411252"/>
                </a:lnTo>
                <a:lnTo>
                  <a:pt x="72890" y="406401"/>
                </a:lnTo>
                <a:lnTo>
                  <a:pt x="68063" y="394652"/>
                </a:lnTo>
                <a:close/>
              </a:path>
              <a:path w="990600" h="436245">
                <a:moveTo>
                  <a:pt x="72890" y="406401"/>
                </a:moveTo>
                <a:lnTo>
                  <a:pt x="61087" y="411252"/>
                </a:lnTo>
                <a:lnTo>
                  <a:pt x="74883" y="411252"/>
                </a:lnTo>
                <a:lnTo>
                  <a:pt x="72890" y="406401"/>
                </a:lnTo>
                <a:close/>
              </a:path>
              <a:path w="990600" h="436245">
                <a:moveTo>
                  <a:pt x="915693" y="46190"/>
                </a:moveTo>
                <a:lnTo>
                  <a:pt x="68063" y="394652"/>
                </a:lnTo>
                <a:lnTo>
                  <a:pt x="72890" y="406401"/>
                </a:lnTo>
                <a:lnTo>
                  <a:pt x="920516" y="58000"/>
                </a:lnTo>
                <a:lnTo>
                  <a:pt x="916939" y="52655"/>
                </a:lnTo>
                <a:lnTo>
                  <a:pt x="915693" y="46190"/>
                </a:lnTo>
                <a:close/>
              </a:path>
              <a:path w="990600" h="436245">
                <a:moveTo>
                  <a:pt x="989072" y="32208"/>
                </a:moveTo>
                <a:lnTo>
                  <a:pt x="949706" y="32208"/>
                </a:lnTo>
                <a:lnTo>
                  <a:pt x="954532" y="44019"/>
                </a:lnTo>
                <a:lnTo>
                  <a:pt x="920516" y="58000"/>
                </a:lnTo>
                <a:lnTo>
                  <a:pt x="925341" y="65212"/>
                </a:lnTo>
                <a:lnTo>
                  <a:pt x="937482" y="73292"/>
                </a:lnTo>
                <a:lnTo>
                  <a:pt x="951765" y="76229"/>
                </a:lnTo>
                <a:lnTo>
                  <a:pt x="966597" y="73356"/>
                </a:lnTo>
                <a:lnTo>
                  <a:pt x="979227" y="64954"/>
                </a:lnTo>
                <a:lnTo>
                  <a:pt x="987345" y="52814"/>
                </a:lnTo>
                <a:lnTo>
                  <a:pt x="990296" y="38530"/>
                </a:lnTo>
                <a:lnTo>
                  <a:pt x="989072" y="32208"/>
                </a:lnTo>
                <a:close/>
              </a:path>
              <a:path w="990600" h="436245">
                <a:moveTo>
                  <a:pt x="949706" y="32208"/>
                </a:moveTo>
                <a:lnTo>
                  <a:pt x="915693" y="46190"/>
                </a:lnTo>
                <a:lnTo>
                  <a:pt x="916939" y="52655"/>
                </a:lnTo>
                <a:lnTo>
                  <a:pt x="920516" y="58000"/>
                </a:lnTo>
                <a:lnTo>
                  <a:pt x="954532" y="44019"/>
                </a:lnTo>
                <a:lnTo>
                  <a:pt x="949706" y="32208"/>
                </a:lnTo>
                <a:close/>
              </a:path>
              <a:path w="990600" h="436245">
                <a:moveTo>
                  <a:pt x="952492" y="0"/>
                </a:moveTo>
                <a:lnTo>
                  <a:pt x="937640" y="2871"/>
                </a:lnTo>
                <a:lnTo>
                  <a:pt x="925083" y="11275"/>
                </a:lnTo>
                <a:lnTo>
                  <a:pt x="917003" y="23429"/>
                </a:lnTo>
                <a:lnTo>
                  <a:pt x="914066" y="37750"/>
                </a:lnTo>
                <a:lnTo>
                  <a:pt x="915693" y="46190"/>
                </a:lnTo>
                <a:lnTo>
                  <a:pt x="949706" y="32208"/>
                </a:lnTo>
                <a:lnTo>
                  <a:pt x="989072" y="32208"/>
                </a:lnTo>
                <a:lnTo>
                  <a:pt x="987425" y="23699"/>
                </a:lnTo>
                <a:lnTo>
                  <a:pt x="979003" y="11068"/>
                </a:lnTo>
                <a:lnTo>
                  <a:pt x="966819" y="2950"/>
                </a:lnTo>
                <a:lnTo>
                  <a:pt x="952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530348" y="578383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169634" y="5279644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800350" y="52077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247135" y="6148832"/>
            <a:ext cx="1751330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2: 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v1v1’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602478" y="4610861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491991" y="3832899"/>
            <a:ext cx="1590040" cy="107823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800" b="1" dirty="0">
                <a:latin typeface="Tahoma"/>
                <a:cs typeface="Tahoma"/>
              </a:rPr>
              <a:t>4</a:t>
            </a:r>
            <a:r>
              <a:rPr sz="2800" b="1" spc="-3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Cases</a:t>
            </a:r>
            <a:endParaRPr sz="2800">
              <a:latin typeface="Tahoma"/>
              <a:cs typeface="Tahoma"/>
            </a:endParaRPr>
          </a:p>
          <a:p>
            <a:pPr marL="33655">
              <a:lnSpc>
                <a:spcPct val="100000"/>
              </a:lnSpc>
              <a:spcBef>
                <a:spcPts val="1080"/>
              </a:spcBef>
              <a:tabLst>
                <a:tab pos="1248410" algn="l"/>
              </a:tabLst>
            </a:pPr>
            <a:r>
              <a:rPr sz="1800" dirty="0">
                <a:latin typeface="Tahoma"/>
                <a:cs typeface="Tahoma"/>
              </a:rPr>
              <a:t>in	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399532" y="5513323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36794" y="6148578"/>
            <a:ext cx="163258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3: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423969" y="5234178"/>
            <a:ext cx="641350" cy="348615"/>
          </a:xfrm>
          <a:custGeom>
            <a:avLst/>
            <a:gdLst/>
            <a:ahLst/>
            <a:cxnLst/>
            <a:rect l="l" t="t" r="r" b="b"/>
            <a:pathLst>
              <a:path w="641350" h="348614">
                <a:moveTo>
                  <a:pt x="35055" y="272595"/>
                </a:moveTo>
                <a:lnTo>
                  <a:pt x="20520" y="276733"/>
                </a:lnTo>
                <a:lnTo>
                  <a:pt x="8727" y="286125"/>
                </a:lnTo>
                <a:lnTo>
                  <a:pt x="1708" y="298910"/>
                </a:lnTo>
                <a:lnTo>
                  <a:pt x="0" y="313434"/>
                </a:lnTo>
                <a:lnTo>
                  <a:pt x="4137" y="328041"/>
                </a:lnTo>
                <a:lnTo>
                  <a:pt x="13583" y="339830"/>
                </a:lnTo>
                <a:lnTo>
                  <a:pt x="26362" y="346843"/>
                </a:lnTo>
                <a:lnTo>
                  <a:pt x="40856" y="348550"/>
                </a:lnTo>
                <a:lnTo>
                  <a:pt x="55445" y="344424"/>
                </a:lnTo>
                <a:lnTo>
                  <a:pt x="67238" y="334960"/>
                </a:lnTo>
                <a:lnTo>
                  <a:pt x="74257" y="322151"/>
                </a:lnTo>
                <a:lnTo>
                  <a:pt x="74955" y="316230"/>
                </a:lnTo>
                <a:lnTo>
                  <a:pt x="40840" y="316230"/>
                </a:lnTo>
                <a:lnTo>
                  <a:pt x="34998" y="304927"/>
                </a:lnTo>
                <a:lnTo>
                  <a:pt x="67763" y="288049"/>
                </a:lnTo>
                <a:lnTo>
                  <a:pt x="62364" y="281322"/>
                </a:lnTo>
                <a:lnTo>
                  <a:pt x="49555" y="274304"/>
                </a:lnTo>
                <a:lnTo>
                  <a:pt x="35055" y="272595"/>
                </a:lnTo>
                <a:close/>
              </a:path>
              <a:path w="641350" h="348614">
                <a:moveTo>
                  <a:pt x="67763" y="288049"/>
                </a:moveTo>
                <a:lnTo>
                  <a:pt x="34998" y="304927"/>
                </a:lnTo>
                <a:lnTo>
                  <a:pt x="40840" y="316230"/>
                </a:lnTo>
                <a:lnTo>
                  <a:pt x="73603" y="299353"/>
                </a:lnTo>
                <a:lnTo>
                  <a:pt x="71828" y="293116"/>
                </a:lnTo>
                <a:lnTo>
                  <a:pt x="67763" y="288049"/>
                </a:lnTo>
                <a:close/>
              </a:path>
              <a:path w="641350" h="348614">
                <a:moveTo>
                  <a:pt x="73603" y="299353"/>
                </a:moveTo>
                <a:lnTo>
                  <a:pt x="40840" y="316230"/>
                </a:lnTo>
                <a:lnTo>
                  <a:pt x="74955" y="316230"/>
                </a:lnTo>
                <a:lnTo>
                  <a:pt x="75965" y="307651"/>
                </a:lnTo>
                <a:lnTo>
                  <a:pt x="73603" y="299353"/>
                </a:lnTo>
                <a:close/>
              </a:path>
              <a:path w="641350" h="348614">
                <a:moveTo>
                  <a:pt x="570249" y="29218"/>
                </a:moveTo>
                <a:lnTo>
                  <a:pt x="67763" y="288049"/>
                </a:lnTo>
                <a:lnTo>
                  <a:pt x="71828" y="293116"/>
                </a:lnTo>
                <a:lnTo>
                  <a:pt x="73603" y="299353"/>
                </a:lnTo>
                <a:lnTo>
                  <a:pt x="576083" y="40525"/>
                </a:lnTo>
                <a:lnTo>
                  <a:pt x="570249" y="29218"/>
                </a:lnTo>
                <a:close/>
              </a:path>
              <a:path w="641350" h="348614">
                <a:moveTo>
                  <a:pt x="623810" y="23368"/>
                </a:moveTo>
                <a:lnTo>
                  <a:pt x="581606" y="23368"/>
                </a:lnTo>
                <a:lnTo>
                  <a:pt x="587448" y="34671"/>
                </a:lnTo>
                <a:lnTo>
                  <a:pt x="576083" y="40525"/>
                </a:lnTo>
                <a:lnTo>
                  <a:pt x="590623" y="68707"/>
                </a:lnTo>
                <a:lnTo>
                  <a:pt x="623810" y="23368"/>
                </a:lnTo>
                <a:close/>
              </a:path>
              <a:path w="641350" h="348614">
                <a:moveTo>
                  <a:pt x="581606" y="23368"/>
                </a:moveTo>
                <a:lnTo>
                  <a:pt x="570249" y="29218"/>
                </a:lnTo>
                <a:lnTo>
                  <a:pt x="576083" y="40525"/>
                </a:lnTo>
                <a:lnTo>
                  <a:pt x="587448" y="34671"/>
                </a:lnTo>
                <a:lnTo>
                  <a:pt x="581606" y="23368"/>
                </a:lnTo>
                <a:close/>
              </a:path>
              <a:path w="641350" h="348614">
                <a:moveTo>
                  <a:pt x="640915" y="0"/>
                </a:moveTo>
                <a:lnTo>
                  <a:pt x="555698" y="1016"/>
                </a:lnTo>
                <a:lnTo>
                  <a:pt x="570249" y="29218"/>
                </a:lnTo>
                <a:lnTo>
                  <a:pt x="581606" y="23368"/>
                </a:lnTo>
                <a:lnTo>
                  <a:pt x="623810" y="23368"/>
                </a:lnTo>
                <a:lnTo>
                  <a:pt x="64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5933947" y="5267705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223255" y="4477765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8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190867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560309" y="4611116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886956" y="5175377"/>
            <a:ext cx="76200" cy="583565"/>
          </a:xfrm>
          <a:custGeom>
            <a:avLst/>
            <a:gdLst/>
            <a:ahLst/>
            <a:cxnLst/>
            <a:rect l="l" t="t" r="r" b="b"/>
            <a:pathLst>
              <a:path w="76200" h="583564">
                <a:moveTo>
                  <a:pt x="31750" y="508205"/>
                </a:moveTo>
                <a:lnTo>
                  <a:pt x="23306" y="509914"/>
                </a:lnTo>
                <a:lnTo>
                  <a:pt x="11191" y="518079"/>
                </a:lnTo>
                <a:lnTo>
                  <a:pt x="3006" y="530189"/>
                </a:lnTo>
                <a:lnTo>
                  <a:pt x="0" y="545020"/>
                </a:lnTo>
                <a:lnTo>
                  <a:pt x="3006" y="559851"/>
                </a:lnTo>
                <a:lnTo>
                  <a:pt x="11191" y="571961"/>
                </a:lnTo>
                <a:lnTo>
                  <a:pt x="23306" y="580126"/>
                </a:lnTo>
                <a:lnTo>
                  <a:pt x="38100" y="583120"/>
                </a:lnTo>
                <a:lnTo>
                  <a:pt x="52947" y="580126"/>
                </a:lnTo>
                <a:lnTo>
                  <a:pt x="65055" y="571961"/>
                </a:lnTo>
                <a:lnTo>
                  <a:pt x="73211" y="559851"/>
                </a:lnTo>
                <a:lnTo>
                  <a:pt x="76200" y="545020"/>
                </a:lnTo>
                <a:lnTo>
                  <a:pt x="31750" y="545020"/>
                </a:lnTo>
                <a:lnTo>
                  <a:pt x="31750" y="508205"/>
                </a:lnTo>
                <a:close/>
              </a:path>
              <a:path w="76200" h="583564">
                <a:moveTo>
                  <a:pt x="38100" y="506920"/>
                </a:moveTo>
                <a:lnTo>
                  <a:pt x="31772" y="508200"/>
                </a:lnTo>
                <a:lnTo>
                  <a:pt x="31750" y="545020"/>
                </a:lnTo>
                <a:lnTo>
                  <a:pt x="44450" y="545020"/>
                </a:lnTo>
                <a:lnTo>
                  <a:pt x="44450" y="508200"/>
                </a:lnTo>
                <a:lnTo>
                  <a:pt x="38100" y="506920"/>
                </a:lnTo>
                <a:close/>
              </a:path>
              <a:path w="76200" h="583564">
                <a:moveTo>
                  <a:pt x="44450" y="508200"/>
                </a:moveTo>
                <a:lnTo>
                  <a:pt x="44450" y="545020"/>
                </a:lnTo>
                <a:lnTo>
                  <a:pt x="76200" y="545020"/>
                </a:lnTo>
                <a:lnTo>
                  <a:pt x="73211" y="530189"/>
                </a:lnTo>
                <a:lnTo>
                  <a:pt x="65055" y="518079"/>
                </a:lnTo>
                <a:lnTo>
                  <a:pt x="52947" y="509914"/>
                </a:lnTo>
                <a:lnTo>
                  <a:pt x="44450" y="508200"/>
                </a:lnTo>
                <a:close/>
              </a:path>
              <a:path w="76200" h="583564">
                <a:moveTo>
                  <a:pt x="44450" y="63500"/>
                </a:moveTo>
                <a:lnTo>
                  <a:pt x="31750" y="63500"/>
                </a:lnTo>
                <a:lnTo>
                  <a:pt x="31750" y="508205"/>
                </a:lnTo>
                <a:lnTo>
                  <a:pt x="38100" y="506920"/>
                </a:lnTo>
                <a:lnTo>
                  <a:pt x="44450" y="506920"/>
                </a:lnTo>
                <a:lnTo>
                  <a:pt x="44450" y="63500"/>
                </a:lnTo>
                <a:close/>
              </a:path>
              <a:path w="76200" h="583564">
                <a:moveTo>
                  <a:pt x="44450" y="506920"/>
                </a:moveTo>
                <a:lnTo>
                  <a:pt x="38100" y="506920"/>
                </a:lnTo>
                <a:lnTo>
                  <a:pt x="44450" y="508200"/>
                </a:lnTo>
                <a:lnTo>
                  <a:pt x="44450" y="506920"/>
                </a:lnTo>
                <a:close/>
              </a:path>
              <a:path w="76200" h="58356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8356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6816852" y="5765291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686042" y="4573270"/>
            <a:ext cx="3536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marR="5080" indent="-88265">
              <a:lnSpc>
                <a:spcPct val="113799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 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294626" y="6148832"/>
            <a:ext cx="1724660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4: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NIL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0952" y="315975"/>
            <a:ext cx="65512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FF0000"/>
                </a:solidFill>
              </a:rPr>
              <a:t>Sutherland-Hodgman</a:t>
            </a:r>
            <a:r>
              <a:rPr sz="3200" spc="3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0" y="393306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5207" y="4365116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30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4091" y="4624070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824" y="4624070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667" y="5368544"/>
            <a:ext cx="869950" cy="403225"/>
          </a:xfrm>
          <a:custGeom>
            <a:avLst/>
            <a:gdLst/>
            <a:ahLst/>
            <a:cxnLst/>
            <a:rect l="l" t="t" r="r" b="b"/>
            <a:pathLst>
              <a:path w="869950" h="403225">
                <a:moveTo>
                  <a:pt x="37769" y="326600"/>
                </a:moveTo>
                <a:lnTo>
                  <a:pt x="22967" y="329742"/>
                </a:lnTo>
                <a:lnTo>
                  <a:pt x="10550" y="338387"/>
                </a:lnTo>
                <a:lnTo>
                  <a:pt x="2682" y="350693"/>
                </a:lnTo>
                <a:lnTo>
                  <a:pt x="0" y="365048"/>
                </a:lnTo>
                <a:lnTo>
                  <a:pt x="3142" y="379844"/>
                </a:lnTo>
                <a:lnTo>
                  <a:pt x="11779" y="392268"/>
                </a:lnTo>
                <a:lnTo>
                  <a:pt x="24083" y="400140"/>
                </a:lnTo>
                <a:lnTo>
                  <a:pt x="38441" y="402823"/>
                </a:lnTo>
                <a:lnTo>
                  <a:pt x="53243" y="399681"/>
                </a:lnTo>
                <a:lnTo>
                  <a:pt x="65660" y="391037"/>
                </a:lnTo>
                <a:lnTo>
                  <a:pt x="73529" y="378731"/>
                </a:lnTo>
                <a:lnTo>
                  <a:pt x="75060" y="370535"/>
                </a:lnTo>
                <a:lnTo>
                  <a:pt x="40632" y="370535"/>
                </a:lnTo>
                <a:lnTo>
                  <a:pt x="35578" y="358889"/>
                </a:lnTo>
                <a:lnTo>
                  <a:pt x="69372" y="344263"/>
                </a:lnTo>
                <a:lnTo>
                  <a:pt x="64431" y="337156"/>
                </a:lnTo>
                <a:lnTo>
                  <a:pt x="52127" y="329284"/>
                </a:lnTo>
                <a:lnTo>
                  <a:pt x="37769" y="326600"/>
                </a:lnTo>
                <a:close/>
              </a:path>
              <a:path w="869950" h="403225">
                <a:moveTo>
                  <a:pt x="69372" y="344263"/>
                </a:moveTo>
                <a:lnTo>
                  <a:pt x="35578" y="358889"/>
                </a:lnTo>
                <a:lnTo>
                  <a:pt x="40632" y="370535"/>
                </a:lnTo>
                <a:lnTo>
                  <a:pt x="74413" y="355910"/>
                </a:lnTo>
                <a:lnTo>
                  <a:pt x="73068" y="349580"/>
                </a:lnTo>
                <a:lnTo>
                  <a:pt x="69372" y="344263"/>
                </a:lnTo>
                <a:close/>
              </a:path>
              <a:path w="869950" h="403225">
                <a:moveTo>
                  <a:pt x="74413" y="355910"/>
                </a:moveTo>
                <a:lnTo>
                  <a:pt x="40632" y="370535"/>
                </a:lnTo>
                <a:lnTo>
                  <a:pt x="75060" y="370535"/>
                </a:lnTo>
                <a:lnTo>
                  <a:pt x="76211" y="364375"/>
                </a:lnTo>
                <a:lnTo>
                  <a:pt x="74413" y="355910"/>
                </a:lnTo>
                <a:close/>
              </a:path>
              <a:path w="869950" h="403225">
                <a:moveTo>
                  <a:pt x="797400" y="29165"/>
                </a:moveTo>
                <a:lnTo>
                  <a:pt x="69372" y="344263"/>
                </a:lnTo>
                <a:lnTo>
                  <a:pt x="73068" y="349580"/>
                </a:lnTo>
                <a:lnTo>
                  <a:pt x="74413" y="355910"/>
                </a:lnTo>
                <a:lnTo>
                  <a:pt x="802413" y="40735"/>
                </a:lnTo>
                <a:lnTo>
                  <a:pt x="797400" y="29165"/>
                </a:lnTo>
                <a:close/>
              </a:path>
              <a:path w="869950" h="403225">
                <a:moveTo>
                  <a:pt x="853484" y="24129"/>
                </a:moveTo>
                <a:lnTo>
                  <a:pt x="809033" y="24129"/>
                </a:lnTo>
                <a:lnTo>
                  <a:pt x="814075" y="35686"/>
                </a:lnTo>
                <a:lnTo>
                  <a:pt x="802413" y="40735"/>
                </a:lnTo>
                <a:lnTo>
                  <a:pt x="815028" y="69849"/>
                </a:lnTo>
                <a:lnTo>
                  <a:pt x="853484" y="24129"/>
                </a:lnTo>
                <a:close/>
              </a:path>
              <a:path w="869950" h="403225">
                <a:moveTo>
                  <a:pt x="809033" y="24129"/>
                </a:moveTo>
                <a:lnTo>
                  <a:pt x="797400" y="29165"/>
                </a:lnTo>
                <a:lnTo>
                  <a:pt x="802413" y="40735"/>
                </a:lnTo>
                <a:lnTo>
                  <a:pt x="814075" y="35686"/>
                </a:lnTo>
                <a:lnTo>
                  <a:pt x="809033" y="24129"/>
                </a:lnTo>
                <a:close/>
              </a:path>
              <a:path w="869950" h="403225">
                <a:moveTo>
                  <a:pt x="784763" y="0"/>
                </a:moveTo>
                <a:lnTo>
                  <a:pt x="797400" y="29165"/>
                </a:lnTo>
                <a:lnTo>
                  <a:pt x="809033" y="24129"/>
                </a:lnTo>
                <a:lnTo>
                  <a:pt x="853484" y="24129"/>
                </a:lnTo>
                <a:lnTo>
                  <a:pt x="869828" y="4698"/>
                </a:lnTo>
                <a:lnTo>
                  <a:pt x="7847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1365" y="5796534"/>
            <a:ext cx="263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969" y="5292597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622" y="52204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8408" y="6161785"/>
            <a:ext cx="175069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1: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v1’v2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43885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38551" y="4611116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63114" y="5360338"/>
            <a:ext cx="990600" cy="436245"/>
          </a:xfrm>
          <a:custGeom>
            <a:avLst/>
            <a:gdLst/>
            <a:ahLst/>
            <a:cxnLst/>
            <a:rect l="l" t="t" r="r" b="b"/>
            <a:pathLst>
              <a:path w="990600" h="436245">
                <a:moveTo>
                  <a:pt x="56006" y="365303"/>
                </a:moveTo>
                <a:lnTo>
                  <a:pt x="0" y="429515"/>
                </a:lnTo>
                <a:lnTo>
                  <a:pt x="84962" y="435788"/>
                </a:lnTo>
                <a:lnTo>
                  <a:pt x="74883" y="411252"/>
                </a:lnTo>
                <a:lnTo>
                  <a:pt x="61087" y="411252"/>
                </a:lnTo>
                <a:lnTo>
                  <a:pt x="56261" y="399505"/>
                </a:lnTo>
                <a:lnTo>
                  <a:pt x="68063" y="394652"/>
                </a:lnTo>
                <a:lnTo>
                  <a:pt x="56006" y="365303"/>
                </a:lnTo>
                <a:close/>
              </a:path>
              <a:path w="990600" h="436245">
                <a:moveTo>
                  <a:pt x="68063" y="394652"/>
                </a:moveTo>
                <a:lnTo>
                  <a:pt x="56261" y="399505"/>
                </a:lnTo>
                <a:lnTo>
                  <a:pt x="61087" y="411252"/>
                </a:lnTo>
                <a:lnTo>
                  <a:pt x="72890" y="406401"/>
                </a:lnTo>
                <a:lnTo>
                  <a:pt x="68063" y="394652"/>
                </a:lnTo>
                <a:close/>
              </a:path>
              <a:path w="990600" h="436245">
                <a:moveTo>
                  <a:pt x="72890" y="406401"/>
                </a:moveTo>
                <a:lnTo>
                  <a:pt x="61087" y="411252"/>
                </a:lnTo>
                <a:lnTo>
                  <a:pt x="74883" y="411252"/>
                </a:lnTo>
                <a:lnTo>
                  <a:pt x="72890" y="406401"/>
                </a:lnTo>
                <a:close/>
              </a:path>
              <a:path w="990600" h="436245">
                <a:moveTo>
                  <a:pt x="915693" y="46190"/>
                </a:moveTo>
                <a:lnTo>
                  <a:pt x="68063" y="394652"/>
                </a:lnTo>
                <a:lnTo>
                  <a:pt x="72890" y="406401"/>
                </a:lnTo>
                <a:lnTo>
                  <a:pt x="920516" y="58000"/>
                </a:lnTo>
                <a:lnTo>
                  <a:pt x="916939" y="52655"/>
                </a:lnTo>
                <a:lnTo>
                  <a:pt x="915693" y="46190"/>
                </a:lnTo>
                <a:close/>
              </a:path>
              <a:path w="990600" h="436245">
                <a:moveTo>
                  <a:pt x="989072" y="32208"/>
                </a:moveTo>
                <a:lnTo>
                  <a:pt x="949706" y="32208"/>
                </a:lnTo>
                <a:lnTo>
                  <a:pt x="954532" y="44019"/>
                </a:lnTo>
                <a:lnTo>
                  <a:pt x="920516" y="58000"/>
                </a:lnTo>
                <a:lnTo>
                  <a:pt x="925341" y="65212"/>
                </a:lnTo>
                <a:lnTo>
                  <a:pt x="937482" y="73292"/>
                </a:lnTo>
                <a:lnTo>
                  <a:pt x="951765" y="76229"/>
                </a:lnTo>
                <a:lnTo>
                  <a:pt x="966597" y="73356"/>
                </a:lnTo>
                <a:lnTo>
                  <a:pt x="979227" y="64954"/>
                </a:lnTo>
                <a:lnTo>
                  <a:pt x="987345" y="52814"/>
                </a:lnTo>
                <a:lnTo>
                  <a:pt x="990296" y="38530"/>
                </a:lnTo>
                <a:lnTo>
                  <a:pt x="989072" y="32208"/>
                </a:lnTo>
                <a:close/>
              </a:path>
              <a:path w="990600" h="436245">
                <a:moveTo>
                  <a:pt x="949706" y="32208"/>
                </a:moveTo>
                <a:lnTo>
                  <a:pt x="915693" y="46190"/>
                </a:lnTo>
                <a:lnTo>
                  <a:pt x="916939" y="52655"/>
                </a:lnTo>
                <a:lnTo>
                  <a:pt x="920516" y="58000"/>
                </a:lnTo>
                <a:lnTo>
                  <a:pt x="954532" y="44019"/>
                </a:lnTo>
                <a:lnTo>
                  <a:pt x="949706" y="32208"/>
                </a:lnTo>
                <a:close/>
              </a:path>
              <a:path w="990600" h="436245">
                <a:moveTo>
                  <a:pt x="952492" y="0"/>
                </a:moveTo>
                <a:lnTo>
                  <a:pt x="937640" y="2871"/>
                </a:lnTo>
                <a:lnTo>
                  <a:pt x="925083" y="11275"/>
                </a:lnTo>
                <a:lnTo>
                  <a:pt x="917003" y="23429"/>
                </a:lnTo>
                <a:lnTo>
                  <a:pt x="914066" y="37750"/>
                </a:lnTo>
                <a:lnTo>
                  <a:pt x="915693" y="46190"/>
                </a:lnTo>
                <a:lnTo>
                  <a:pt x="949706" y="32208"/>
                </a:lnTo>
                <a:lnTo>
                  <a:pt x="989072" y="32208"/>
                </a:lnTo>
                <a:lnTo>
                  <a:pt x="987425" y="23699"/>
                </a:lnTo>
                <a:lnTo>
                  <a:pt x="979003" y="11068"/>
                </a:lnTo>
                <a:lnTo>
                  <a:pt x="966819" y="2950"/>
                </a:lnTo>
                <a:lnTo>
                  <a:pt x="952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30348" y="578383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69634" y="5279644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00350" y="52077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7135" y="6148832"/>
            <a:ext cx="163258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2: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02478" y="4610861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91991" y="3832899"/>
            <a:ext cx="1590040" cy="107823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800" b="1" dirty="0">
                <a:latin typeface="Tahoma"/>
                <a:cs typeface="Tahoma"/>
              </a:rPr>
              <a:t>4</a:t>
            </a:r>
            <a:r>
              <a:rPr sz="2800" b="1" spc="-3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Cases</a:t>
            </a:r>
            <a:endParaRPr sz="2800">
              <a:latin typeface="Tahoma"/>
              <a:cs typeface="Tahoma"/>
            </a:endParaRPr>
          </a:p>
          <a:p>
            <a:pPr marL="33655">
              <a:lnSpc>
                <a:spcPct val="100000"/>
              </a:lnSpc>
              <a:spcBef>
                <a:spcPts val="1080"/>
              </a:spcBef>
              <a:tabLst>
                <a:tab pos="1248410" algn="l"/>
              </a:tabLst>
            </a:pPr>
            <a:r>
              <a:rPr sz="1800" dirty="0">
                <a:latin typeface="Tahoma"/>
                <a:cs typeface="Tahoma"/>
              </a:rPr>
              <a:t>in	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99532" y="5513323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6794" y="6148578"/>
            <a:ext cx="163258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3: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423969" y="5234178"/>
            <a:ext cx="641350" cy="348615"/>
          </a:xfrm>
          <a:custGeom>
            <a:avLst/>
            <a:gdLst/>
            <a:ahLst/>
            <a:cxnLst/>
            <a:rect l="l" t="t" r="r" b="b"/>
            <a:pathLst>
              <a:path w="641350" h="348614">
                <a:moveTo>
                  <a:pt x="35055" y="272595"/>
                </a:moveTo>
                <a:lnTo>
                  <a:pt x="20520" y="276733"/>
                </a:lnTo>
                <a:lnTo>
                  <a:pt x="8727" y="286125"/>
                </a:lnTo>
                <a:lnTo>
                  <a:pt x="1708" y="298910"/>
                </a:lnTo>
                <a:lnTo>
                  <a:pt x="0" y="313434"/>
                </a:lnTo>
                <a:lnTo>
                  <a:pt x="4137" y="328041"/>
                </a:lnTo>
                <a:lnTo>
                  <a:pt x="13583" y="339830"/>
                </a:lnTo>
                <a:lnTo>
                  <a:pt x="26362" y="346843"/>
                </a:lnTo>
                <a:lnTo>
                  <a:pt x="40856" y="348550"/>
                </a:lnTo>
                <a:lnTo>
                  <a:pt x="55445" y="344424"/>
                </a:lnTo>
                <a:lnTo>
                  <a:pt x="67238" y="334960"/>
                </a:lnTo>
                <a:lnTo>
                  <a:pt x="74257" y="322151"/>
                </a:lnTo>
                <a:lnTo>
                  <a:pt x="74955" y="316230"/>
                </a:lnTo>
                <a:lnTo>
                  <a:pt x="40840" y="316230"/>
                </a:lnTo>
                <a:lnTo>
                  <a:pt x="34998" y="304927"/>
                </a:lnTo>
                <a:lnTo>
                  <a:pt x="67763" y="288049"/>
                </a:lnTo>
                <a:lnTo>
                  <a:pt x="62364" y="281322"/>
                </a:lnTo>
                <a:lnTo>
                  <a:pt x="49555" y="274304"/>
                </a:lnTo>
                <a:lnTo>
                  <a:pt x="35055" y="272595"/>
                </a:lnTo>
                <a:close/>
              </a:path>
              <a:path w="641350" h="348614">
                <a:moveTo>
                  <a:pt x="67763" y="288049"/>
                </a:moveTo>
                <a:lnTo>
                  <a:pt x="34998" y="304927"/>
                </a:lnTo>
                <a:lnTo>
                  <a:pt x="40840" y="316230"/>
                </a:lnTo>
                <a:lnTo>
                  <a:pt x="73603" y="299353"/>
                </a:lnTo>
                <a:lnTo>
                  <a:pt x="71828" y="293116"/>
                </a:lnTo>
                <a:lnTo>
                  <a:pt x="67763" y="288049"/>
                </a:lnTo>
                <a:close/>
              </a:path>
              <a:path w="641350" h="348614">
                <a:moveTo>
                  <a:pt x="73603" y="299353"/>
                </a:moveTo>
                <a:lnTo>
                  <a:pt x="40840" y="316230"/>
                </a:lnTo>
                <a:lnTo>
                  <a:pt x="74955" y="316230"/>
                </a:lnTo>
                <a:lnTo>
                  <a:pt x="75965" y="307651"/>
                </a:lnTo>
                <a:lnTo>
                  <a:pt x="73603" y="299353"/>
                </a:lnTo>
                <a:close/>
              </a:path>
              <a:path w="641350" h="348614">
                <a:moveTo>
                  <a:pt x="570249" y="29218"/>
                </a:moveTo>
                <a:lnTo>
                  <a:pt x="67763" y="288049"/>
                </a:lnTo>
                <a:lnTo>
                  <a:pt x="71828" y="293116"/>
                </a:lnTo>
                <a:lnTo>
                  <a:pt x="73603" y="299353"/>
                </a:lnTo>
                <a:lnTo>
                  <a:pt x="576083" y="40525"/>
                </a:lnTo>
                <a:lnTo>
                  <a:pt x="570249" y="29218"/>
                </a:lnTo>
                <a:close/>
              </a:path>
              <a:path w="641350" h="348614">
                <a:moveTo>
                  <a:pt x="623810" y="23368"/>
                </a:moveTo>
                <a:lnTo>
                  <a:pt x="581606" y="23368"/>
                </a:lnTo>
                <a:lnTo>
                  <a:pt x="587448" y="34671"/>
                </a:lnTo>
                <a:lnTo>
                  <a:pt x="576083" y="40525"/>
                </a:lnTo>
                <a:lnTo>
                  <a:pt x="590623" y="68707"/>
                </a:lnTo>
                <a:lnTo>
                  <a:pt x="623810" y="23368"/>
                </a:lnTo>
                <a:close/>
              </a:path>
              <a:path w="641350" h="348614">
                <a:moveTo>
                  <a:pt x="581606" y="23368"/>
                </a:moveTo>
                <a:lnTo>
                  <a:pt x="570249" y="29218"/>
                </a:lnTo>
                <a:lnTo>
                  <a:pt x="576083" y="40525"/>
                </a:lnTo>
                <a:lnTo>
                  <a:pt x="587448" y="34671"/>
                </a:lnTo>
                <a:lnTo>
                  <a:pt x="581606" y="23368"/>
                </a:lnTo>
                <a:close/>
              </a:path>
              <a:path w="641350" h="348614">
                <a:moveTo>
                  <a:pt x="640915" y="0"/>
                </a:moveTo>
                <a:lnTo>
                  <a:pt x="555698" y="1016"/>
                </a:lnTo>
                <a:lnTo>
                  <a:pt x="570249" y="29218"/>
                </a:lnTo>
                <a:lnTo>
                  <a:pt x="581606" y="23368"/>
                </a:lnTo>
                <a:lnTo>
                  <a:pt x="623810" y="23368"/>
                </a:lnTo>
                <a:lnTo>
                  <a:pt x="64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33947" y="5267705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23255" y="4477765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8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90867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560309" y="4611116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86956" y="5175377"/>
            <a:ext cx="76200" cy="583565"/>
          </a:xfrm>
          <a:custGeom>
            <a:avLst/>
            <a:gdLst/>
            <a:ahLst/>
            <a:cxnLst/>
            <a:rect l="l" t="t" r="r" b="b"/>
            <a:pathLst>
              <a:path w="76200" h="583564">
                <a:moveTo>
                  <a:pt x="31750" y="508205"/>
                </a:moveTo>
                <a:lnTo>
                  <a:pt x="23306" y="509914"/>
                </a:lnTo>
                <a:lnTo>
                  <a:pt x="11191" y="518079"/>
                </a:lnTo>
                <a:lnTo>
                  <a:pt x="3006" y="530189"/>
                </a:lnTo>
                <a:lnTo>
                  <a:pt x="0" y="545020"/>
                </a:lnTo>
                <a:lnTo>
                  <a:pt x="3006" y="559851"/>
                </a:lnTo>
                <a:lnTo>
                  <a:pt x="11191" y="571961"/>
                </a:lnTo>
                <a:lnTo>
                  <a:pt x="23306" y="580126"/>
                </a:lnTo>
                <a:lnTo>
                  <a:pt x="38100" y="583120"/>
                </a:lnTo>
                <a:lnTo>
                  <a:pt x="52947" y="580126"/>
                </a:lnTo>
                <a:lnTo>
                  <a:pt x="65055" y="571961"/>
                </a:lnTo>
                <a:lnTo>
                  <a:pt x="73211" y="559851"/>
                </a:lnTo>
                <a:lnTo>
                  <a:pt x="76200" y="545020"/>
                </a:lnTo>
                <a:lnTo>
                  <a:pt x="31750" y="545020"/>
                </a:lnTo>
                <a:lnTo>
                  <a:pt x="31750" y="508205"/>
                </a:lnTo>
                <a:close/>
              </a:path>
              <a:path w="76200" h="583564">
                <a:moveTo>
                  <a:pt x="38100" y="506920"/>
                </a:moveTo>
                <a:lnTo>
                  <a:pt x="31772" y="508200"/>
                </a:lnTo>
                <a:lnTo>
                  <a:pt x="31750" y="545020"/>
                </a:lnTo>
                <a:lnTo>
                  <a:pt x="44450" y="545020"/>
                </a:lnTo>
                <a:lnTo>
                  <a:pt x="44450" y="508200"/>
                </a:lnTo>
                <a:lnTo>
                  <a:pt x="38100" y="506920"/>
                </a:lnTo>
                <a:close/>
              </a:path>
              <a:path w="76200" h="583564">
                <a:moveTo>
                  <a:pt x="44450" y="508200"/>
                </a:moveTo>
                <a:lnTo>
                  <a:pt x="44450" y="545020"/>
                </a:lnTo>
                <a:lnTo>
                  <a:pt x="76200" y="545020"/>
                </a:lnTo>
                <a:lnTo>
                  <a:pt x="73211" y="530189"/>
                </a:lnTo>
                <a:lnTo>
                  <a:pt x="65055" y="518079"/>
                </a:lnTo>
                <a:lnTo>
                  <a:pt x="52947" y="509914"/>
                </a:lnTo>
                <a:lnTo>
                  <a:pt x="44450" y="508200"/>
                </a:lnTo>
                <a:close/>
              </a:path>
              <a:path w="76200" h="583564">
                <a:moveTo>
                  <a:pt x="44450" y="63500"/>
                </a:moveTo>
                <a:lnTo>
                  <a:pt x="31750" y="63500"/>
                </a:lnTo>
                <a:lnTo>
                  <a:pt x="31750" y="508205"/>
                </a:lnTo>
                <a:lnTo>
                  <a:pt x="38100" y="506920"/>
                </a:lnTo>
                <a:lnTo>
                  <a:pt x="44450" y="506920"/>
                </a:lnTo>
                <a:lnTo>
                  <a:pt x="44450" y="63500"/>
                </a:lnTo>
                <a:close/>
              </a:path>
              <a:path w="76200" h="583564">
                <a:moveTo>
                  <a:pt x="44450" y="506920"/>
                </a:moveTo>
                <a:lnTo>
                  <a:pt x="38100" y="506920"/>
                </a:lnTo>
                <a:lnTo>
                  <a:pt x="44450" y="508200"/>
                </a:lnTo>
                <a:lnTo>
                  <a:pt x="44450" y="506920"/>
                </a:lnTo>
                <a:close/>
              </a:path>
              <a:path w="76200" h="58356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8356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816852" y="5765291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86042" y="4573270"/>
            <a:ext cx="3536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marR="5080" indent="-88265">
              <a:lnSpc>
                <a:spcPct val="113799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 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94626" y="6148832"/>
            <a:ext cx="1724660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4: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NIL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14597" y="992378"/>
            <a:ext cx="1554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Tahoma"/>
                <a:cs typeface="Tahoma"/>
              </a:rPr>
              <a:t>Example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22821" y="2274951"/>
            <a:ext cx="1190625" cy="1266190"/>
          </a:xfrm>
          <a:custGeom>
            <a:avLst/>
            <a:gdLst/>
            <a:ahLst/>
            <a:cxnLst/>
            <a:rect l="l" t="t" r="r" b="b"/>
            <a:pathLst>
              <a:path w="1190625" h="1266189">
                <a:moveTo>
                  <a:pt x="0" y="483615"/>
                </a:moveTo>
                <a:lnTo>
                  <a:pt x="1190332" y="0"/>
                </a:lnTo>
                <a:lnTo>
                  <a:pt x="969733" y="1265809"/>
                </a:lnTo>
                <a:lnTo>
                  <a:pt x="0" y="48361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122222" y="1746389"/>
            <a:ext cx="1577975" cy="1106805"/>
          </a:xfrm>
          <a:custGeom>
            <a:avLst/>
            <a:gdLst/>
            <a:ahLst/>
            <a:cxnLst/>
            <a:rect l="l" t="t" r="r" b="b"/>
            <a:pathLst>
              <a:path w="1577975" h="1106805">
                <a:moveTo>
                  <a:pt x="0" y="1106538"/>
                </a:moveTo>
                <a:lnTo>
                  <a:pt x="1577594" y="1106538"/>
                </a:lnTo>
                <a:lnTo>
                  <a:pt x="1577594" y="0"/>
                </a:lnTo>
                <a:lnTo>
                  <a:pt x="0" y="0"/>
                </a:lnTo>
                <a:lnTo>
                  <a:pt x="0" y="1106538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723135" y="2090928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3652" y="2380487"/>
            <a:ext cx="263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84375" y="3387852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55720" y="1870455"/>
            <a:ext cx="975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Left</a:t>
            </a:r>
            <a:r>
              <a:rPr sz="1800" b="1" spc="-85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47288" y="2176359"/>
            <a:ext cx="2349500" cy="110109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Tahoma"/>
                <a:cs typeface="Tahoma"/>
              </a:rPr>
              <a:t>v1-v2 </a:t>
            </a:r>
            <a:r>
              <a:rPr sz="1800" dirty="0">
                <a:latin typeface="Tahoma"/>
                <a:cs typeface="Tahoma"/>
              </a:rPr>
              <a:t>– (in-in) –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v1v2</a:t>
            </a:r>
            <a:endParaRPr sz="18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620"/>
              </a:spcBef>
            </a:pPr>
            <a:r>
              <a:rPr sz="1800" spc="-10" dirty="0">
                <a:latin typeface="Tahoma"/>
                <a:cs typeface="Tahoma"/>
              </a:rPr>
              <a:t>v2-v3– </a:t>
            </a:r>
            <a:r>
              <a:rPr sz="1800" spc="-5" dirty="0">
                <a:latin typeface="Tahoma"/>
                <a:cs typeface="Tahoma"/>
              </a:rPr>
              <a:t>(in-out)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v2v2’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-10" dirty="0">
                <a:latin typeface="Tahoma"/>
                <a:cs typeface="Tahoma"/>
              </a:rPr>
              <a:t>v3-v1– (out-in)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v3’v1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59529" y="2208022"/>
            <a:ext cx="971550" cy="15240"/>
          </a:xfrm>
          <a:custGeom>
            <a:avLst/>
            <a:gdLst/>
            <a:ahLst/>
            <a:cxnLst/>
            <a:rect l="l" t="t" r="r" b="b"/>
            <a:pathLst>
              <a:path w="971550" h="15239">
                <a:moveTo>
                  <a:pt x="0" y="0"/>
                </a:moveTo>
                <a:lnTo>
                  <a:pt x="971423" y="1498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71651" y="2110740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19809" y="1223136"/>
            <a:ext cx="0" cy="2502535"/>
          </a:xfrm>
          <a:custGeom>
            <a:avLst/>
            <a:gdLst/>
            <a:ahLst/>
            <a:cxnLst/>
            <a:rect l="l" t="t" r="r" b="b"/>
            <a:pathLst>
              <a:path h="2502535">
                <a:moveTo>
                  <a:pt x="0" y="0"/>
                </a:moveTo>
                <a:lnTo>
                  <a:pt x="0" y="250228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48791" y="3248405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3’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53896" y="1283208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0455" y="1331721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859651" y="1746389"/>
            <a:ext cx="1577975" cy="1106805"/>
          </a:xfrm>
          <a:custGeom>
            <a:avLst/>
            <a:gdLst/>
            <a:ahLst/>
            <a:cxnLst/>
            <a:rect l="l" t="t" r="r" b="b"/>
            <a:pathLst>
              <a:path w="1577975" h="1106805">
                <a:moveTo>
                  <a:pt x="0" y="1106538"/>
                </a:moveTo>
                <a:lnTo>
                  <a:pt x="1577594" y="1106538"/>
                </a:lnTo>
                <a:lnTo>
                  <a:pt x="1577594" y="0"/>
                </a:lnTo>
                <a:lnTo>
                  <a:pt x="0" y="0"/>
                </a:lnTo>
                <a:lnTo>
                  <a:pt x="0" y="1106538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460742" y="2090928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21981" y="3387852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509511" y="2110740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852666" y="1223136"/>
            <a:ext cx="0" cy="2502535"/>
          </a:xfrm>
          <a:custGeom>
            <a:avLst/>
            <a:gdLst/>
            <a:ahLst/>
            <a:cxnLst/>
            <a:rect l="l" t="t" r="r" b="b"/>
            <a:pathLst>
              <a:path h="2502535">
                <a:moveTo>
                  <a:pt x="0" y="0"/>
                </a:moveTo>
                <a:lnTo>
                  <a:pt x="0" y="250228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486652" y="3248405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3’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191502" y="1283208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338315" y="1331721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52666" y="2274951"/>
            <a:ext cx="498475" cy="208915"/>
          </a:xfrm>
          <a:custGeom>
            <a:avLst/>
            <a:gdLst/>
            <a:ahLst/>
            <a:cxnLst/>
            <a:rect l="l" t="t" r="r" b="b"/>
            <a:pathLst>
              <a:path w="498475" h="208914">
                <a:moveTo>
                  <a:pt x="0" y="208661"/>
                </a:moveTo>
                <a:lnTo>
                  <a:pt x="49796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142860" y="2274951"/>
            <a:ext cx="208279" cy="1266190"/>
          </a:xfrm>
          <a:custGeom>
            <a:avLst/>
            <a:gdLst/>
            <a:ahLst/>
            <a:cxnLst/>
            <a:rect l="l" t="t" r="r" b="b"/>
            <a:pathLst>
              <a:path w="208279" h="1266189">
                <a:moveTo>
                  <a:pt x="0" y="1265809"/>
                </a:moveTo>
                <a:lnTo>
                  <a:pt x="207772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895592" y="3381502"/>
            <a:ext cx="234950" cy="153035"/>
          </a:xfrm>
          <a:custGeom>
            <a:avLst/>
            <a:gdLst/>
            <a:ahLst/>
            <a:cxnLst/>
            <a:rect l="l" t="t" r="r" b="b"/>
            <a:pathLst>
              <a:path w="234950" h="153035">
                <a:moveTo>
                  <a:pt x="0" y="0"/>
                </a:moveTo>
                <a:lnTo>
                  <a:pt x="234568" y="15303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739138" y="3050540"/>
            <a:ext cx="781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Before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597902" y="3028950"/>
            <a:ext cx="600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After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0952" y="315975"/>
            <a:ext cx="65512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FF0000"/>
                </a:solidFill>
              </a:rPr>
              <a:t>Sutherland-Hodgman</a:t>
            </a:r>
            <a:r>
              <a:rPr sz="3200" spc="3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0" y="393306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5207" y="4365116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30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4091" y="4624070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824" y="4624070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667" y="5368544"/>
            <a:ext cx="869950" cy="403225"/>
          </a:xfrm>
          <a:custGeom>
            <a:avLst/>
            <a:gdLst/>
            <a:ahLst/>
            <a:cxnLst/>
            <a:rect l="l" t="t" r="r" b="b"/>
            <a:pathLst>
              <a:path w="869950" h="403225">
                <a:moveTo>
                  <a:pt x="37769" y="326600"/>
                </a:moveTo>
                <a:lnTo>
                  <a:pt x="22967" y="329742"/>
                </a:lnTo>
                <a:lnTo>
                  <a:pt x="10550" y="338387"/>
                </a:lnTo>
                <a:lnTo>
                  <a:pt x="2682" y="350693"/>
                </a:lnTo>
                <a:lnTo>
                  <a:pt x="0" y="365048"/>
                </a:lnTo>
                <a:lnTo>
                  <a:pt x="3142" y="379844"/>
                </a:lnTo>
                <a:lnTo>
                  <a:pt x="11779" y="392268"/>
                </a:lnTo>
                <a:lnTo>
                  <a:pt x="24083" y="400140"/>
                </a:lnTo>
                <a:lnTo>
                  <a:pt x="38441" y="402823"/>
                </a:lnTo>
                <a:lnTo>
                  <a:pt x="53243" y="399681"/>
                </a:lnTo>
                <a:lnTo>
                  <a:pt x="65660" y="391037"/>
                </a:lnTo>
                <a:lnTo>
                  <a:pt x="73529" y="378731"/>
                </a:lnTo>
                <a:lnTo>
                  <a:pt x="75060" y="370535"/>
                </a:lnTo>
                <a:lnTo>
                  <a:pt x="40632" y="370535"/>
                </a:lnTo>
                <a:lnTo>
                  <a:pt x="35578" y="358889"/>
                </a:lnTo>
                <a:lnTo>
                  <a:pt x="69372" y="344263"/>
                </a:lnTo>
                <a:lnTo>
                  <a:pt x="64431" y="337156"/>
                </a:lnTo>
                <a:lnTo>
                  <a:pt x="52127" y="329284"/>
                </a:lnTo>
                <a:lnTo>
                  <a:pt x="37769" y="326600"/>
                </a:lnTo>
                <a:close/>
              </a:path>
              <a:path w="869950" h="403225">
                <a:moveTo>
                  <a:pt x="69372" y="344263"/>
                </a:moveTo>
                <a:lnTo>
                  <a:pt x="35578" y="358889"/>
                </a:lnTo>
                <a:lnTo>
                  <a:pt x="40632" y="370535"/>
                </a:lnTo>
                <a:lnTo>
                  <a:pt x="74413" y="355910"/>
                </a:lnTo>
                <a:lnTo>
                  <a:pt x="73068" y="349580"/>
                </a:lnTo>
                <a:lnTo>
                  <a:pt x="69372" y="344263"/>
                </a:lnTo>
                <a:close/>
              </a:path>
              <a:path w="869950" h="403225">
                <a:moveTo>
                  <a:pt x="74413" y="355910"/>
                </a:moveTo>
                <a:lnTo>
                  <a:pt x="40632" y="370535"/>
                </a:lnTo>
                <a:lnTo>
                  <a:pt x="75060" y="370535"/>
                </a:lnTo>
                <a:lnTo>
                  <a:pt x="76211" y="364375"/>
                </a:lnTo>
                <a:lnTo>
                  <a:pt x="74413" y="355910"/>
                </a:lnTo>
                <a:close/>
              </a:path>
              <a:path w="869950" h="403225">
                <a:moveTo>
                  <a:pt x="797400" y="29165"/>
                </a:moveTo>
                <a:lnTo>
                  <a:pt x="69372" y="344263"/>
                </a:lnTo>
                <a:lnTo>
                  <a:pt x="73068" y="349580"/>
                </a:lnTo>
                <a:lnTo>
                  <a:pt x="74413" y="355910"/>
                </a:lnTo>
                <a:lnTo>
                  <a:pt x="802413" y="40735"/>
                </a:lnTo>
                <a:lnTo>
                  <a:pt x="797400" y="29165"/>
                </a:lnTo>
                <a:close/>
              </a:path>
              <a:path w="869950" h="403225">
                <a:moveTo>
                  <a:pt x="853484" y="24129"/>
                </a:moveTo>
                <a:lnTo>
                  <a:pt x="809033" y="24129"/>
                </a:lnTo>
                <a:lnTo>
                  <a:pt x="814075" y="35686"/>
                </a:lnTo>
                <a:lnTo>
                  <a:pt x="802413" y="40735"/>
                </a:lnTo>
                <a:lnTo>
                  <a:pt x="815028" y="69849"/>
                </a:lnTo>
                <a:lnTo>
                  <a:pt x="853484" y="24129"/>
                </a:lnTo>
                <a:close/>
              </a:path>
              <a:path w="869950" h="403225">
                <a:moveTo>
                  <a:pt x="809033" y="24129"/>
                </a:moveTo>
                <a:lnTo>
                  <a:pt x="797400" y="29165"/>
                </a:lnTo>
                <a:lnTo>
                  <a:pt x="802413" y="40735"/>
                </a:lnTo>
                <a:lnTo>
                  <a:pt x="814075" y="35686"/>
                </a:lnTo>
                <a:lnTo>
                  <a:pt x="809033" y="24129"/>
                </a:lnTo>
                <a:close/>
              </a:path>
              <a:path w="869950" h="403225">
                <a:moveTo>
                  <a:pt x="784763" y="0"/>
                </a:moveTo>
                <a:lnTo>
                  <a:pt x="797400" y="29165"/>
                </a:lnTo>
                <a:lnTo>
                  <a:pt x="809033" y="24129"/>
                </a:lnTo>
                <a:lnTo>
                  <a:pt x="853484" y="24129"/>
                </a:lnTo>
                <a:lnTo>
                  <a:pt x="869828" y="4698"/>
                </a:lnTo>
                <a:lnTo>
                  <a:pt x="7847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1365" y="5796534"/>
            <a:ext cx="263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969" y="5292597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622" y="52204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8408" y="6161785"/>
            <a:ext cx="175069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1: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v1’v2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43885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38551" y="4611116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63114" y="5360338"/>
            <a:ext cx="990600" cy="436245"/>
          </a:xfrm>
          <a:custGeom>
            <a:avLst/>
            <a:gdLst/>
            <a:ahLst/>
            <a:cxnLst/>
            <a:rect l="l" t="t" r="r" b="b"/>
            <a:pathLst>
              <a:path w="990600" h="436245">
                <a:moveTo>
                  <a:pt x="56006" y="365303"/>
                </a:moveTo>
                <a:lnTo>
                  <a:pt x="0" y="429515"/>
                </a:lnTo>
                <a:lnTo>
                  <a:pt x="84962" y="435788"/>
                </a:lnTo>
                <a:lnTo>
                  <a:pt x="74883" y="411252"/>
                </a:lnTo>
                <a:lnTo>
                  <a:pt x="61087" y="411252"/>
                </a:lnTo>
                <a:lnTo>
                  <a:pt x="56261" y="399505"/>
                </a:lnTo>
                <a:lnTo>
                  <a:pt x="68063" y="394652"/>
                </a:lnTo>
                <a:lnTo>
                  <a:pt x="56006" y="365303"/>
                </a:lnTo>
                <a:close/>
              </a:path>
              <a:path w="990600" h="436245">
                <a:moveTo>
                  <a:pt x="68063" y="394652"/>
                </a:moveTo>
                <a:lnTo>
                  <a:pt x="56261" y="399505"/>
                </a:lnTo>
                <a:lnTo>
                  <a:pt x="61087" y="411252"/>
                </a:lnTo>
                <a:lnTo>
                  <a:pt x="72890" y="406401"/>
                </a:lnTo>
                <a:lnTo>
                  <a:pt x="68063" y="394652"/>
                </a:lnTo>
                <a:close/>
              </a:path>
              <a:path w="990600" h="436245">
                <a:moveTo>
                  <a:pt x="72890" y="406401"/>
                </a:moveTo>
                <a:lnTo>
                  <a:pt x="61087" y="411252"/>
                </a:lnTo>
                <a:lnTo>
                  <a:pt x="74883" y="411252"/>
                </a:lnTo>
                <a:lnTo>
                  <a:pt x="72890" y="406401"/>
                </a:lnTo>
                <a:close/>
              </a:path>
              <a:path w="990600" h="436245">
                <a:moveTo>
                  <a:pt x="915693" y="46190"/>
                </a:moveTo>
                <a:lnTo>
                  <a:pt x="68063" y="394652"/>
                </a:lnTo>
                <a:lnTo>
                  <a:pt x="72890" y="406401"/>
                </a:lnTo>
                <a:lnTo>
                  <a:pt x="920516" y="58000"/>
                </a:lnTo>
                <a:lnTo>
                  <a:pt x="916939" y="52655"/>
                </a:lnTo>
                <a:lnTo>
                  <a:pt x="915693" y="46190"/>
                </a:lnTo>
                <a:close/>
              </a:path>
              <a:path w="990600" h="436245">
                <a:moveTo>
                  <a:pt x="989072" y="32208"/>
                </a:moveTo>
                <a:lnTo>
                  <a:pt x="949706" y="32208"/>
                </a:lnTo>
                <a:lnTo>
                  <a:pt x="954532" y="44019"/>
                </a:lnTo>
                <a:lnTo>
                  <a:pt x="920516" y="58000"/>
                </a:lnTo>
                <a:lnTo>
                  <a:pt x="925341" y="65212"/>
                </a:lnTo>
                <a:lnTo>
                  <a:pt x="937482" y="73292"/>
                </a:lnTo>
                <a:lnTo>
                  <a:pt x="951765" y="76229"/>
                </a:lnTo>
                <a:lnTo>
                  <a:pt x="966597" y="73356"/>
                </a:lnTo>
                <a:lnTo>
                  <a:pt x="979227" y="64954"/>
                </a:lnTo>
                <a:lnTo>
                  <a:pt x="987345" y="52814"/>
                </a:lnTo>
                <a:lnTo>
                  <a:pt x="990296" y="38530"/>
                </a:lnTo>
                <a:lnTo>
                  <a:pt x="989072" y="32208"/>
                </a:lnTo>
                <a:close/>
              </a:path>
              <a:path w="990600" h="436245">
                <a:moveTo>
                  <a:pt x="949706" y="32208"/>
                </a:moveTo>
                <a:lnTo>
                  <a:pt x="915693" y="46190"/>
                </a:lnTo>
                <a:lnTo>
                  <a:pt x="916939" y="52655"/>
                </a:lnTo>
                <a:lnTo>
                  <a:pt x="920516" y="58000"/>
                </a:lnTo>
                <a:lnTo>
                  <a:pt x="954532" y="44019"/>
                </a:lnTo>
                <a:lnTo>
                  <a:pt x="949706" y="32208"/>
                </a:lnTo>
                <a:close/>
              </a:path>
              <a:path w="990600" h="436245">
                <a:moveTo>
                  <a:pt x="952492" y="0"/>
                </a:moveTo>
                <a:lnTo>
                  <a:pt x="937640" y="2871"/>
                </a:lnTo>
                <a:lnTo>
                  <a:pt x="925083" y="11275"/>
                </a:lnTo>
                <a:lnTo>
                  <a:pt x="917003" y="23429"/>
                </a:lnTo>
                <a:lnTo>
                  <a:pt x="914066" y="37750"/>
                </a:lnTo>
                <a:lnTo>
                  <a:pt x="915693" y="46190"/>
                </a:lnTo>
                <a:lnTo>
                  <a:pt x="949706" y="32208"/>
                </a:lnTo>
                <a:lnTo>
                  <a:pt x="989072" y="32208"/>
                </a:lnTo>
                <a:lnTo>
                  <a:pt x="987425" y="23699"/>
                </a:lnTo>
                <a:lnTo>
                  <a:pt x="979003" y="11068"/>
                </a:lnTo>
                <a:lnTo>
                  <a:pt x="966819" y="2950"/>
                </a:lnTo>
                <a:lnTo>
                  <a:pt x="952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30348" y="578383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69634" y="5279644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00350" y="52077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7135" y="6148832"/>
            <a:ext cx="163258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2: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02478" y="4610861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91991" y="3832899"/>
            <a:ext cx="1590040" cy="107823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800" b="1" dirty="0">
                <a:latin typeface="Tahoma"/>
                <a:cs typeface="Tahoma"/>
              </a:rPr>
              <a:t>4</a:t>
            </a:r>
            <a:r>
              <a:rPr sz="2800" b="1" spc="-3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Cases</a:t>
            </a:r>
            <a:endParaRPr sz="2800">
              <a:latin typeface="Tahoma"/>
              <a:cs typeface="Tahoma"/>
            </a:endParaRPr>
          </a:p>
          <a:p>
            <a:pPr marL="33655">
              <a:lnSpc>
                <a:spcPct val="100000"/>
              </a:lnSpc>
              <a:spcBef>
                <a:spcPts val="1080"/>
              </a:spcBef>
              <a:tabLst>
                <a:tab pos="1248410" algn="l"/>
              </a:tabLst>
            </a:pPr>
            <a:r>
              <a:rPr sz="1800" dirty="0">
                <a:latin typeface="Tahoma"/>
                <a:cs typeface="Tahoma"/>
              </a:rPr>
              <a:t>in	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99532" y="5513323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6794" y="6148578"/>
            <a:ext cx="163258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3: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423969" y="5234178"/>
            <a:ext cx="641350" cy="348615"/>
          </a:xfrm>
          <a:custGeom>
            <a:avLst/>
            <a:gdLst/>
            <a:ahLst/>
            <a:cxnLst/>
            <a:rect l="l" t="t" r="r" b="b"/>
            <a:pathLst>
              <a:path w="641350" h="348614">
                <a:moveTo>
                  <a:pt x="35055" y="272595"/>
                </a:moveTo>
                <a:lnTo>
                  <a:pt x="20520" y="276733"/>
                </a:lnTo>
                <a:lnTo>
                  <a:pt x="8727" y="286125"/>
                </a:lnTo>
                <a:lnTo>
                  <a:pt x="1708" y="298910"/>
                </a:lnTo>
                <a:lnTo>
                  <a:pt x="0" y="313434"/>
                </a:lnTo>
                <a:lnTo>
                  <a:pt x="4137" y="328041"/>
                </a:lnTo>
                <a:lnTo>
                  <a:pt x="13583" y="339830"/>
                </a:lnTo>
                <a:lnTo>
                  <a:pt x="26362" y="346843"/>
                </a:lnTo>
                <a:lnTo>
                  <a:pt x="40856" y="348550"/>
                </a:lnTo>
                <a:lnTo>
                  <a:pt x="55445" y="344424"/>
                </a:lnTo>
                <a:lnTo>
                  <a:pt x="67238" y="334960"/>
                </a:lnTo>
                <a:lnTo>
                  <a:pt x="74257" y="322151"/>
                </a:lnTo>
                <a:lnTo>
                  <a:pt x="74955" y="316230"/>
                </a:lnTo>
                <a:lnTo>
                  <a:pt x="40840" y="316230"/>
                </a:lnTo>
                <a:lnTo>
                  <a:pt x="34998" y="304927"/>
                </a:lnTo>
                <a:lnTo>
                  <a:pt x="67763" y="288049"/>
                </a:lnTo>
                <a:lnTo>
                  <a:pt x="62364" y="281322"/>
                </a:lnTo>
                <a:lnTo>
                  <a:pt x="49555" y="274304"/>
                </a:lnTo>
                <a:lnTo>
                  <a:pt x="35055" y="272595"/>
                </a:lnTo>
                <a:close/>
              </a:path>
              <a:path w="641350" h="348614">
                <a:moveTo>
                  <a:pt x="67763" y="288049"/>
                </a:moveTo>
                <a:lnTo>
                  <a:pt x="34998" y="304927"/>
                </a:lnTo>
                <a:lnTo>
                  <a:pt x="40840" y="316230"/>
                </a:lnTo>
                <a:lnTo>
                  <a:pt x="73603" y="299353"/>
                </a:lnTo>
                <a:lnTo>
                  <a:pt x="71828" y="293116"/>
                </a:lnTo>
                <a:lnTo>
                  <a:pt x="67763" y="288049"/>
                </a:lnTo>
                <a:close/>
              </a:path>
              <a:path w="641350" h="348614">
                <a:moveTo>
                  <a:pt x="73603" y="299353"/>
                </a:moveTo>
                <a:lnTo>
                  <a:pt x="40840" y="316230"/>
                </a:lnTo>
                <a:lnTo>
                  <a:pt x="74955" y="316230"/>
                </a:lnTo>
                <a:lnTo>
                  <a:pt x="75965" y="307651"/>
                </a:lnTo>
                <a:lnTo>
                  <a:pt x="73603" y="299353"/>
                </a:lnTo>
                <a:close/>
              </a:path>
              <a:path w="641350" h="348614">
                <a:moveTo>
                  <a:pt x="570249" y="29218"/>
                </a:moveTo>
                <a:lnTo>
                  <a:pt x="67763" y="288049"/>
                </a:lnTo>
                <a:lnTo>
                  <a:pt x="71828" y="293116"/>
                </a:lnTo>
                <a:lnTo>
                  <a:pt x="73603" y="299353"/>
                </a:lnTo>
                <a:lnTo>
                  <a:pt x="576083" y="40525"/>
                </a:lnTo>
                <a:lnTo>
                  <a:pt x="570249" y="29218"/>
                </a:lnTo>
                <a:close/>
              </a:path>
              <a:path w="641350" h="348614">
                <a:moveTo>
                  <a:pt x="623810" y="23368"/>
                </a:moveTo>
                <a:lnTo>
                  <a:pt x="581606" y="23368"/>
                </a:lnTo>
                <a:lnTo>
                  <a:pt x="587448" y="34671"/>
                </a:lnTo>
                <a:lnTo>
                  <a:pt x="576083" y="40525"/>
                </a:lnTo>
                <a:lnTo>
                  <a:pt x="590623" y="68707"/>
                </a:lnTo>
                <a:lnTo>
                  <a:pt x="623810" y="23368"/>
                </a:lnTo>
                <a:close/>
              </a:path>
              <a:path w="641350" h="348614">
                <a:moveTo>
                  <a:pt x="581606" y="23368"/>
                </a:moveTo>
                <a:lnTo>
                  <a:pt x="570249" y="29218"/>
                </a:lnTo>
                <a:lnTo>
                  <a:pt x="576083" y="40525"/>
                </a:lnTo>
                <a:lnTo>
                  <a:pt x="587448" y="34671"/>
                </a:lnTo>
                <a:lnTo>
                  <a:pt x="581606" y="23368"/>
                </a:lnTo>
                <a:close/>
              </a:path>
              <a:path w="641350" h="348614">
                <a:moveTo>
                  <a:pt x="640915" y="0"/>
                </a:moveTo>
                <a:lnTo>
                  <a:pt x="555698" y="1016"/>
                </a:lnTo>
                <a:lnTo>
                  <a:pt x="570249" y="29218"/>
                </a:lnTo>
                <a:lnTo>
                  <a:pt x="581606" y="23368"/>
                </a:lnTo>
                <a:lnTo>
                  <a:pt x="623810" y="23368"/>
                </a:lnTo>
                <a:lnTo>
                  <a:pt x="64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33947" y="5267705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23255" y="4477765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8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90867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560309" y="4611116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86956" y="5175377"/>
            <a:ext cx="76200" cy="583565"/>
          </a:xfrm>
          <a:custGeom>
            <a:avLst/>
            <a:gdLst/>
            <a:ahLst/>
            <a:cxnLst/>
            <a:rect l="l" t="t" r="r" b="b"/>
            <a:pathLst>
              <a:path w="76200" h="583564">
                <a:moveTo>
                  <a:pt x="31750" y="508205"/>
                </a:moveTo>
                <a:lnTo>
                  <a:pt x="23306" y="509914"/>
                </a:lnTo>
                <a:lnTo>
                  <a:pt x="11191" y="518079"/>
                </a:lnTo>
                <a:lnTo>
                  <a:pt x="3006" y="530189"/>
                </a:lnTo>
                <a:lnTo>
                  <a:pt x="0" y="545020"/>
                </a:lnTo>
                <a:lnTo>
                  <a:pt x="3006" y="559851"/>
                </a:lnTo>
                <a:lnTo>
                  <a:pt x="11191" y="571961"/>
                </a:lnTo>
                <a:lnTo>
                  <a:pt x="23306" y="580126"/>
                </a:lnTo>
                <a:lnTo>
                  <a:pt x="38100" y="583120"/>
                </a:lnTo>
                <a:lnTo>
                  <a:pt x="52947" y="580126"/>
                </a:lnTo>
                <a:lnTo>
                  <a:pt x="65055" y="571961"/>
                </a:lnTo>
                <a:lnTo>
                  <a:pt x="73211" y="559851"/>
                </a:lnTo>
                <a:lnTo>
                  <a:pt x="76200" y="545020"/>
                </a:lnTo>
                <a:lnTo>
                  <a:pt x="31750" y="545020"/>
                </a:lnTo>
                <a:lnTo>
                  <a:pt x="31750" y="508205"/>
                </a:lnTo>
                <a:close/>
              </a:path>
              <a:path w="76200" h="583564">
                <a:moveTo>
                  <a:pt x="38100" y="506920"/>
                </a:moveTo>
                <a:lnTo>
                  <a:pt x="31772" y="508200"/>
                </a:lnTo>
                <a:lnTo>
                  <a:pt x="31750" y="545020"/>
                </a:lnTo>
                <a:lnTo>
                  <a:pt x="44450" y="545020"/>
                </a:lnTo>
                <a:lnTo>
                  <a:pt x="44450" y="508200"/>
                </a:lnTo>
                <a:lnTo>
                  <a:pt x="38100" y="506920"/>
                </a:lnTo>
                <a:close/>
              </a:path>
              <a:path w="76200" h="583564">
                <a:moveTo>
                  <a:pt x="44450" y="508200"/>
                </a:moveTo>
                <a:lnTo>
                  <a:pt x="44450" y="545020"/>
                </a:lnTo>
                <a:lnTo>
                  <a:pt x="76200" y="545020"/>
                </a:lnTo>
                <a:lnTo>
                  <a:pt x="73211" y="530189"/>
                </a:lnTo>
                <a:lnTo>
                  <a:pt x="65055" y="518079"/>
                </a:lnTo>
                <a:lnTo>
                  <a:pt x="52947" y="509914"/>
                </a:lnTo>
                <a:lnTo>
                  <a:pt x="44450" y="508200"/>
                </a:lnTo>
                <a:close/>
              </a:path>
              <a:path w="76200" h="583564">
                <a:moveTo>
                  <a:pt x="44450" y="63500"/>
                </a:moveTo>
                <a:lnTo>
                  <a:pt x="31750" y="63500"/>
                </a:lnTo>
                <a:lnTo>
                  <a:pt x="31750" y="508205"/>
                </a:lnTo>
                <a:lnTo>
                  <a:pt x="38100" y="506920"/>
                </a:lnTo>
                <a:lnTo>
                  <a:pt x="44450" y="506920"/>
                </a:lnTo>
                <a:lnTo>
                  <a:pt x="44450" y="63500"/>
                </a:lnTo>
                <a:close/>
              </a:path>
              <a:path w="76200" h="583564">
                <a:moveTo>
                  <a:pt x="44450" y="506920"/>
                </a:moveTo>
                <a:lnTo>
                  <a:pt x="38100" y="506920"/>
                </a:lnTo>
                <a:lnTo>
                  <a:pt x="44450" y="508200"/>
                </a:lnTo>
                <a:lnTo>
                  <a:pt x="44450" y="506920"/>
                </a:lnTo>
                <a:close/>
              </a:path>
              <a:path w="76200" h="58356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8356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816852" y="5765291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86042" y="4573270"/>
            <a:ext cx="3536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marR="5080" indent="-88265">
              <a:lnSpc>
                <a:spcPct val="113799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 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94626" y="6148832"/>
            <a:ext cx="1724660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4: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NIL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14597" y="992378"/>
            <a:ext cx="1554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Tahoma"/>
                <a:cs typeface="Tahoma"/>
              </a:rPr>
              <a:t>Example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55720" y="1870455"/>
            <a:ext cx="1147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Right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859529" y="2208022"/>
            <a:ext cx="971550" cy="15240"/>
          </a:xfrm>
          <a:custGeom>
            <a:avLst/>
            <a:gdLst/>
            <a:ahLst/>
            <a:cxnLst/>
            <a:rect l="l" t="t" r="r" b="b"/>
            <a:pathLst>
              <a:path w="971550" h="15239">
                <a:moveTo>
                  <a:pt x="0" y="0"/>
                </a:moveTo>
                <a:lnTo>
                  <a:pt x="971423" y="1498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61580" y="1803031"/>
            <a:ext cx="1577975" cy="1106805"/>
          </a:xfrm>
          <a:custGeom>
            <a:avLst/>
            <a:gdLst/>
            <a:ahLst/>
            <a:cxnLst/>
            <a:rect l="l" t="t" r="r" b="b"/>
            <a:pathLst>
              <a:path w="1577975" h="1106805">
                <a:moveTo>
                  <a:pt x="0" y="1106538"/>
                </a:moveTo>
                <a:lnTo>
                  <a:pt x="1577594" y="1106538"/>
                </a:lnTo>
                <a:lnTo>
                  <a:pt x="1577594" y="0"/>
                </a:lnTo>
                <a:lnTo>
                  <a:pt x="0" y="0"/>
                </a:lnTo>
                <a:lnTo>
                  <a:pt x="0" y="1106538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662429" y="2147823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23669" y="3444494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0945" y="2167635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639186" y="1356741"/>
            <a:ext cx="0" cy="2502535"/>
          </a:xfrm>
          <a:custGeom>
            <a:avLst/>
            <a:gdLst/>
            <a:ahLst/>
            <a:cxnLst/>
            <a:rect l="l" t="t" r="r" b="b"/>
            <a:pathLst>
              <a:path h="2502535">
                <a:moveTo>
                  <a:pt x="0" y="0"/>
                </a:moveTo>
                <a:lnTo>
                  <a:pt x="0" y="250228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88340" y="3305048"/>
            <a:ext cx="312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3’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93189" y="1339850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60801" y="1388364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054684" y="2331592"/>
            <a:ext cx="498475" cy="208915"/>
          </a:xfrm>
          <a:custGeom>
            <a:avLst/>
            <a:gdLst/>
            <a:ahLst/>
            <a:cxnLst/>
            <a:rect l="l" t="t" r="r" b="b"/>
            <a:pathLst>
              <a:path w="498475" h="208914">
                <a:moveTo>
                  <a:pt x="0" y="208661"/>
                </a:moveTo>
                <a:lnTo>
                  <a:pt x="49789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44802" y="2331592"/>
            <a:ext cx="208279" cy="1266190"/>
          </a:xfrm>
          <a:custGeom>
            <a:avLst/>
            <a:gdLst/>
            <a:ahLst/>
            <a:cxnLst/>
            <a:rect l="l" t="t" r="r" b="b"/>
            <a:pathLst>
              <a:path w="208280" h="1266189">
                <a:moveTo>
                  <a:pt x="0" y="1265809"/>
                </a:moveTo>
                <a:lnTo>
                  <a:pt x="207772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84237" y="3458083"/>
            <a:ext cx="248285" cy="133350"/>
          </a:xfrm>
          <a:custGeom>
            <a:avLst/>
            <a:gdLst/>
            <a:ahLst/>
            <a:cxnLst/>
            <a:rect l="l" t="t" r="r" b="b"/>
            <a:pathLst>
              <a:path w="248284" h="133350">
                <a:moveTo>
                  <a:pt x="0" y="0"/>
                </a:moveTo>
                <a:lnTo>
                  <a:pt x="247865" y="133222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799589" y="3085591"/>
            <a:ext cx="781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Before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47288" y="2176359"/>
            <a:ext cx="2046605" cy="14700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Tahoma"/>
                <a:cs typeface="Tahoma"/>
              </a:rPr>
              <a:t>v1-v2 </a:t>
            </a:r>
            <a:r>
              <a:rPr sz="1800" dirty="0">
                <a:latin typeface="Tahoma"/>
                <a:cs typeface="Tahoma"/>
              </a:rPr>
              <a:t>– (in-in) –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620"/>
              </a:spcBef>
            </a:pPr>
            <a:r>
              <a:rPr sz="1800" spc="-10" dirty="0">
                <a:latin typeface="Tahoma"/>
                <a:cs typeface="Tahoma"/>
              </a:rPr>
              <a:t>v2-v2’– </a:t>
            </a:r>
            <a:r>
              <a:rPr sz="1800" spc="-5" dirty="0">
                <a:latin typeface="Tahoma"/>
                <a:cs typeface="Tahoma"/>
              </a:rPr>
              <a:t>(in-in)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v2’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-10" dirty="0">
                <a:latin typeface="Tahoma"/>
                <a:cs typeface="Tahoma"/>
              </a:rPr>
              <a:t>v2’-v3’– </a:t>
            </a:r>
            <a:r>
              <a:rPr sz="1800" spc="-5" dirty="0">
                <a:latin typeface="Tahoma"/>
                <a:cs typeface="Tahoma"/>
              </a:rPr>
              <a:t>(in-in)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v3’</a:t>
            </a:r>
            <a:endParaRPr sz="18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745"/>
              </a:spcBef>
            </a:pPr>
            <a:r>
              <a:rPr sz="1800" spc="-10" dirty="0">
                <a:latin typeface="Tahoma"/>
                <a:cs typeface="Tahoma"/>
              </a:rPr>
              <a:t>v3’-v1– </a:t>
            </a:r>
            <a:r>
              <a:rPr sz="1800" spc="-5" dirty="0">
                <a:latin typeface="Tahoma"/>
                <a:cs typeface="Tahoma"/>
              </a:rPr>
              <a:t>(in-in)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058837" y="2540254"/>
            <a:ext cx="22860" cy="918210"/>
          </a:xfrm>
          <a:custGeom>
            <a:avLst/>
            <a:gdLst/>
            <a:ahLst/>
            <a:cxnLst/>
            <a:rect l="l" t="t" r="r" b="b"/>
            <a:pathLst>
              <a:path w="22859" h="918210">
                <a:moveTo>
                  <a:pt x="22821" y="0"/>
                </a:moveTo>
                <a:lnTo>
                  <a:pt x="0" y="91782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950964" y="1792617"/>
            <a:ext cx="1577975" cy="1106805"/>
          </a:xfrm>
          <a:custGeom>
            <a:avLst/>
            <a:gdLst/>
            <a:ahLst/>
            <a:cxnLst/>
            <a:rect l="l" t="t" r="r" b="b"/>
            <a:pathLst>
              <a:path w="1577975" h="1106805">
                <a:moveTo>
                  <a:pt x="0" y="1106538"/>
                </a:moveTo>
                <a:lnTo>
                  <a:pt x="1577594" y="1106538"/>
                </a:lnTo>
                <a:lnTo>
                  <a:pt x="1577594" y="0"/>
                </a:lnTo>
                <a:lnTo>
                  <a:pt x="0" y="0"/>
                </a:lnTo>
                <a:lnTo>
                  <a:pt x="0" y="1106538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552181" y="2137155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313421" y="3434079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600697" y="2156967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528431" y="1346327"/>
            <a:ext cx="0" cy="2502535"/>
          </a:xfrm>
          <a:custGeom>
            <a:avLst/>
            <a:gdLst/>
            <a:ahLst/>
            <a:cxnLst/>
            <a:rect l="l" t="t" r="r" b="b"/>
            <a:pathLst>
              <a:path h="2502535">
                <a:moveTo>
                  <a:pt x="0" y="0"/>
                </a:moveTo>
                <a:lnTo>
                  <a:pt x="0" y="2502154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6578092" y="3294634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3’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879588" y="1339850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681211" y="1329435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943979" y="2321051"/>
            <a:ext cx="498475" cy="208915"/>
          </a:xfrm>
          <a:custGeom>
            <a:avLst/>
            <a:gdLst/>
            <a:ahLst/>
            <a:cxnLst/>
            <a:rect l="l" t="t" r="r" b="b"/>
            <a:pathLst>
              <a:path w="498475" h="208914">
                <a:moveTo>
                  <a:pt x="0" y="208661"/>
                </a:moveTo>
                <a:lnTo>
                  <a:pt x="49796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234173" y="2321051"/>
            <a:ext cx="208279" cy="1266190"/>
          </a:xfrm>
          <a:custGeom>
            <a:avLst/>
            <a:gdLst/>
            <a:ahLst/>
            <a:cxnLst/>
            <a:rect l="l" t="t" r="r" b="b"/>
            <a:pathLst>
              <a:path w="208279" h="1266189">
                <a:moveTo>
                  <a:pt x="0" y="1265809"/>
                </a:moveTo>
                <a:lnTo>
                  <a:pt x="207772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973569" y="3447541"/>
            <a:ext cx="248285" cy="133350"/>
          </a:xfrm>
          <a:custGeom>
            <a:avLst/>
            <a:gdLst/>
            <a:ahLst/>
            <a:cxnLst/>
            <a:rect l="l" t="t" r="r" b="b"/>
            <a:pathLst>
              <a:path w="248284" h="133350">
                <a:moveTo>
                  <a:pt x="0" y="0"/>
                </a:moveTo>
                <a:lnTo>
                  <a:pt x="247903" y="1332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689342" y="3075178"/>
            <a:ext cx="600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After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948169" y="2529713"/>
            <a:ext cx="22860" cy="918210"/>
          </a:xfrm>
          <a:custGeom>
            <a:avLst/>
            <a:gdLst/>
            <a:ahLst/>
            <a:cxnLst/>
            <a:rect l="l" t="t" r="r" b="b"/>
            <a:pathLst>
              <a:path w="22859" h="918210">
                <a:moveTo>
                  <a:pt x="22859" y="0"/>
                </a:moveTo>
                <a:lnTo>
                  <a:pt x="0" y="9178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0952" y="315975"/>
            <a:ext cx="65512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FF0000"/>
                </a:solidFill>
              </a:rPr>
              <a:t>Sutherland-Hodgman</a:t>
            </a:r>
            <a:r>
              <a:rPr sz="3200" spc="3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0" y="393306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5207" y="4365116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30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4091" y="4624070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824" y="4624070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667" y="5368544"/>
            <a:ext cx="869950" cy="403225"/>
          </a:xfrm>
          <a:custGeom>
            <a:avLst/>
            <a:gdLst/>
            <a:ahLst/>
            <a:cxnLst/>
            <a:rect l="l" t="t" r="r" b="b"/>
            <a:pathLst>
              <a:path w="869950" h="403225">
                <a:moveTo>
                  <a:pt x="37769" y="326600"/>
                </a:moveTo>
                <a:lnTo>
                  <a:pt x="22967" y="329742"/>
                </a:lnTo>
                <a:lnTo>
                  <a:pt x="10550" y="338387"/>
                </a:lnTo>
                <a:lnTo>
                  <a:pt x="2682" y="350693"/>
                </a:lnTo>
                <a:lnTo>
                  <a:pt x="0" y="365048"/>
                </a:lnTo>
                <a:lnTo>
                  <a:pt x="3142" y="379844"/>
                </a:lnTo>
                <a:lnTo>
                  <a:pt x="11779" y="392268"/>
                </a:lnTo>
                <a:lnTo>
                  <a:pt x="24083" y="400140"/>
                </a:lnTo>
                <a:lnTo>
                  <a:pt x="38441" y="402823"/>
                </a:lnTo>
                <a:lnTo>
                  <a:pt x="53243" y="399681"/>
                </a:lnTo>
                <a:lnTo>
                  <a:pt x="65660" y="391037"/>
                </a:lnTo>
                <a:lnTo>
                  <a:pt x="73529" y="378731"/>
                </a:lnTo>
                <a:lnTo>
                  <a:pt x="75060" y="370535"/>
                </a:lnTo>
                <a:lnTo>
                  <a:pt x="40632" y="370535"/>
                </a:lnTo>
                <a:lnTo>
                  <a:pt x="35578" y="358889"/>
                </a:lnTo>
                <a:lnTo>
                  <a:pt x="69372" y="344263"/>
                </a:lnTo>
                <a:lnTo>
                  <a:pt x="64431" y="337156"/>
                </a:lnTo>
                <a:lnTo>
                  <a:pt x="52127" y="329284"/>
                </a:lnTo>
                <a:lnTo>
                  <a:pt x="37769" y="326600"/>
                </a:lnTo>
                <a:close/>
              </a:path>
              <a:path w="869950" h="403225">
                <a:moveTo>
                  <a:pt x="69372" y="344263"/>
                </a:moveTo>
                <a:lnTo>
                  <a:pt x="35578" y="358889"/>
                </a:lnTo>
                <a:lnTo>
                  <a:pt x="40632" y="370535"/>
                </a:lnTo>
                <a:lnTo>
                  <a:pt x="74413" y="355910"/>
                </a:lnTo>
                <a:lnTo>
                  <a:pt x="73068" y="349580"/>
                </a:lnTo>
                <a:lnTo>
                  <a:pt x="69372" y="344263"/>
                </a:lnTo>
                <a:close/>
              </a:path>
              <a:path w="869950" h="403225">
                <a:moveTo>
                  <a:pt x="74413" y="355910"/>
                </a:moveTo>
                <a:lnTo>
                  <a:pt x="40632" y="370535"/>
                </a:lnTo>
                <a:lnTo>
                  <a:pt x="75060" y="370535"/>
                </a:lnTo>
                <a:lnTo>
                  <a:pt x="76211" y="364375"/>
                </a:lnTo>
                <a:lnTo>
                  <a:pt x="74413" y="355910"/>
                </a:lnTo>
                <a:close/>
              </a:path>
              <a:path w="869950" h="403225">
                <a:moveTo>
                  <a:pt x="797400" y="29165"/>
                </a:moveTo>
                <a:lnTo>
                  <a:pt x="69372" y="344263"/>
                </a:lnTo>
                <a:lnTo>
                  <a:pt x="73068" y="349580"/>
                </a:lnTo>
                <a:lnTo>
                  <a:pt x="74413" y="355910"/>
                </a:lnTo>
                <a:lnTo>
                  <a:pt x="802413" y="40735"/>
                </a:lnTo>
                <a:lnTo>
                  <a:pt x="797400" y="29165"/>
                </a:lnTo>
                <a:close/>
              </a:path>
              <a:path w="869950" h="403225">
                <a:moveTo>
                  <a:pt x="853484" y="24129"/>
                </a:moveTo>
                <a:lnTo>
                  <a:pt x="809033" y="24129"/>
                </a:lnTo>
                <a:lnTo>
                  <a:pt x="814075" y="35686"/>
                </a:lnTo>
                <a:lnTo>
                  <a:pt x="802413" y="40735"/>
                </a:lnTo>
                <a:lnTo>
                  <a:pt x="815028" y="69849"/>
                </a:lnTo>
                <a:lnTo>
                  <a:pt x="853484" y="24129"/>
                </a:lnTo>
                <a:close/>
              </a:path>
              <a:path w="869950" h="403225">
                <a:moveTo>
                  <a:pt x="809033" y="24129"/>
                </a:moveTo>
                <a:lnTo>
                  <a:pt x="797400" y="29165"/>
                </a:lnTo>
                <a:lnTo>
                  <a:pt x="802413" y="40735"/>
                </a:lnTo>
                <a:lnTo>
                  <a:pt x="814075" y="35686"/>
                </a:lnTo>
                <a:lnTo>
                  <a:pt x="809033" y="24129"/>
                </a:lnTo>
                <a:close/>
              </a:path>
              <a:path w="869950" h="403225">
                <a:moveTo>
                  <a:pt x="784763" y="0"/>
                </a:moveTo>
                <a:lnTo>
                  <a:pt x="797400" y="29165"/>
                </a:lnTo>
                <a:lnTo>
                  <a:pt x="809033" y="24129"/>
                </a:lnTo>
                <a:lnTo>
                  <a:pt x="853484" y="24129"/>
                </a:lnTo>
                <a:lnTo>
                  <a:pt x="869828" y="4698"/>
                </a:lnTo>
                <a:lnTo>
                  <a:pt x="7847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1365" y="5796534"/>
            <a:ext cx="263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969" y="5292597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622" y="52204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8408" y="6161785"/>
            <a:ext cx="175069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1: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v1’v2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43885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38551" y="4611116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63114" y="5360338"/>
            <a:ext cx="990600" cy="436245"/>
          </a:xfrm>
          <a:custGeom>
            <a:avLst/>
            <a:gdLst/>
            <a:ahLst/>
            <a:cxnLst/>
            <a:rect l="l" t="t" r="r" b="b"/>
            <a:pathLst>
              <a:path w="990600" h="436245">
                <a:moveTo>
                  <a:pt x="56006" y="365303"/>
                </a:moveTo>
                <a:lnTo>
                  <a:pt x="0" y="429515"/>
                </a:lnTo>
                <a:lnTo>
                  <a:pt x="84962" y="435788"/>
                </a:lnTo>
                <a:lnTo>
                  <a:pt x="74883" y="411252"/>
                </a:lnTo>
                <a:lnTo>
                  <a:pt x="61087" y="411252"/>
                </a:lnTo>
                <a:lnTo>
                  <a:pt x="56261" y="399505"/>
                </a:lnTo>
                <a:lnTo>
                  <a:pt x="68063" y="394652"/>
                </a:lnTo>
                <a:lnTo>
                  <a:pt x="56006" y="365303"/>
                </a:lnTo>
                <a:close/>
              </a:path>
              <a:path w="990600" h="436245">
                <a:moveTo>
                  <a:pt x="68063" y="394652"/>
                </a:moveTo>
                <a:lnTo>
                  <a:pt x="56261" y="399505"/>
                </a:lnTo>
                <a:lnTo>
                  <a:pt x="61087" y="411252"/>
                </a:lnTo>
                <a:lnTo>
                  <a:pt x="72890" y="406401"/>
                </a:lnTo>
                <a:lnTo>
                  <a:pt x="68063" y="394652"/>
                </a:lnTo>
                <a:close/>
              </a:path>
              <a:path w="990600" h="436245">
                <a:moveTo>
                  <a:pt x="72890" y="406401"/>
                </a:moveTo>
                <a:lnTo>
                  <a:pt x="61087" y="411252"/>
                </a:lnTo>
                <a:lnTo>
                  <a:pt x="74883" y="411252"/>
                </a:lnTo>
                <a:lnTo>
                  <a:pt x="72890" y="406401"/>
                </a:lnTo>
                <a:close/>
              </a:path>
              <a:path w="990600" h="436245">
                <a:moveTo>
                  <a:pt x="915693" y="46190"/>
                </a:moveTo>
                <a:lnTo>
                  <a:pt x="68063" y="394652"/>
                </a:lnTo>
                <a:lnTo>
                  <a:pt x="72890" y="406401"/>
                </a:lnTo>
                <a:lnTo>
                  <a:pt x="920516" y="58000"/>
                </a:lnTo>
                <a:lnTo>
                  <a:pt x="916939" y="52655"/>
                </a:lnTo>
                <a:lnTo>
                  <a:pt x="915693" y="46190"/>
                </a:lnTo>
                <a:close/>
              </a:path>
              <a:path w="990600" h="436245">
                <a:moveTo>
                  <a:pt x="989072" y="32208"/>
                </a:moveTo>
                <a:lnTo>
                  <a:pt x="949706" y="32208"/>
                </a:lnTo>
                <a:lnTo>
                  <a:pt x="954532" y="44019"/>
                </a:lnTo>
                <a:lnTo>
                  <a:pt x="920516" y="58000"/>
                </a:lnTo>
                <a:lnTo>
                  <a:pt x="925341" y="65212"/>
                </a:lnTo>
                <a:lnTo>
                  <a:pt x="937482" y="73292"/>
                </a:lnTo>
                <a:lnTo>
                  <a:pt x="951765" y="76229"/>
                </a:lnTo>
                <a:lnTo>
                  <a:pt x="966597" y="73356"/>
                </a:lnTo>
                <a:lnTo>
                  <a:pt x="979227" y="64954"/>
                </a:lnTo>
                <a:lnTo>
                  <a:pt x="987345" y="52814"/>
                </a:lnTo>
                <a:lnTo>
                  <a:pt x="990296" y="38530"/>
                </a:lnTo>
                <a:lnTo>
                  <a:pt x="989072" y="32208"/>
                </a:lnTo>
                <a:close/>
              </a:path>
              <a:path w="990600" h="436245">
                <a:moveTo>
                  <a:pt x="949706" y="32208"/>
                </a:moveTo>
                <a:lnTo>
                  <a:pt x="915693" y="46190"/>
                </a:lnTo>
                <a:lnTo>
                  <a:pt x="916939" y="52655"/>
                </a:lnTo>
                <a:lnTo>
                  <a:pt x="920516" y="58000"/>
                </a:lnTo>
                <a:lnTo>
                  <a:pt x="954532" y="44019"/>
                </a:lnTo>
                <a:lnTo>
                  <a:pt x="949706" y="32208"/>
                </a:lnTo>
                <a:close/>
              </a:path>
              <a:path w="990600" h="436245">
                <a:moveTo>
                  <a:pt x="952492" y="0"/>
                </a:moveTo>
                <a:lnTo>
                  <a:pt x="937640" y="2871"/>
                </a:lnTo>
                <a:lnTo>
                  <a:pt x="925083" y="11275"/>
                </a:lnTo>
                <a:lnTo>
                  <a:pt x="917003" y="23429"/>
                </a:lnTo>
                <a:lnTo>
                  <a:pt x="914066" y="37750"/>
                </a:lnTo>
                <a:lnTo>
                  <a:pt x="915693" y="46190"/>
                </a:lnTo>
                <a:lnTo>
                  <a:pt x="949706" y="32208"/>
                </a:lnTo>
                <a:lnTo>
                  <a:pt x="989072" y="32208"/>
                </a:lnTo>
                <a:lnTo>
                  <a:pt x="987425" y="23699"/>
                </a:lnTo>
                <a:lnTo>
                  <a:pt x="979003" y="11068"/>
                </a:lnTo>
                <a:lnTo>
                  <a:pt x="966819" y="2950"/>
                </a:lnTo>
                <a:lnTo>
                  <a:pt x="952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30348" y="578383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69634" y="5279644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00350" y="52077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7135" y="6148832"/>
            <a:ext cx="163258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2: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02478" y="4610861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91991" y="3832899"/>
            <a:ext cx="1590040" cy="107823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800" b="1" dirty="0">
                <a:latin typeface="Tahoma"/>
                <a:cs typeface="Tahoma"/>
              </a:rPr>
              <a:t>4</a:t>
            </a:r>
            <a:r>
              <a:rPr sz="2800" b="1" spc="-3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Cases</a:t>
            </a:r>
            <a:endParaRPr sz="2800">
              <a:latin typeface="Tahoma"/>
              <a:cs typeface="Tahoma"/>
            </a:endParaRPr>
          </a:p>
          <a:p>
            <a:pPr marL="33655">
              <a:lnSpc>
                <a:spcPct val="100000"/>
              </a:lnSpc>
              <a:spcBef>
                <a:spcPts val="1080"/>
              </a:spcBef>
              <a:tabLst>
                <a:tab pos="1248410" algn="l"/>
              </a:tabLst>
            </a:pPr>
            <a:r>
              <a:rPr sz="1800" dirty="0">
                <a:latin typeface="Tahoma"/>
                <a:cs typeface="Tahoma"/>
              </a:rPr>
              <a:t>in	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99532" y="5513323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6794" y="6148578"/>
            <a:ext cx="163258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3: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423969" y="5234178"/>
            <a:ext cx="641350" cy="348615"/>
          </a:xfrm>
          <a:custGeom>
            <a:avLst/>
            <a:gdLst/>
            <a:ahLst/>
            <a:cxnLst/>
            <a:rect l="l" t="t" r="r" b="b"/>
            <a:pathLst>
              <a:path w="641350" h="348614">
                <a:moveTo>
                  <a:pt x="35055" y="272595"/>
                </a:moveTo>
                <a:lnTo>
                  <a:pt x="20520" y="276733"/>
                </a:lnTo>
                <a:lnTo>
                  <a:pt x="8727" y="286125"/>
                </a:lnTo>
                <a:lnTo>
                  <a:pt x="1708" y="298910"/>
                </a:lnTo>
                <a:lnTo>
                  <a:pt x="0" y="313434"/>
                </a:lnTo>
                <a:lnTo>
                  <a:pt x="4137" y="328041"/>
                </a:lnTo>
                <a:lnTo>
                  <a:pt x="13583" y="339830"/>
                </a:lnTo>
                <a:lnTo>
                  <a:pt x="26362" y="346843"/>
                </a:lnTo>
                <a:lnTo>
                  <a:pt x="40856" y="348550"/>
                </a:lnTo>
                <a:lnTo>
                  <a:pt x="55445" y="344424"/>
                </a:lnTo>
                <a:lnTo>
                  <a:pt x="67238" y="334960"/>
                </a:lnTo>
                <a:lnTo>
                  <a:pt x="74257" y="322151"/>
                </a:lnTo>
                <a:lnTo>
                  <a:pt x="74955" y="316230"/>
                </a:lnTo>
                <a:lnTo>
                  <a:pt x="40840" y="316230"/>
                </a:lnTo>
                <a:lnTo>
                  <a:pt x="34998" y="304927"/>
                </a:lnTo>
                <a:lnTo>
                  <a:pt x="67763" y="288049"/>
                </a:lnTo>
                <a:lnTo>
                  <a:pt x="62364" y="281322"/>
                </a:lnTo>
                <a:lnTo>
                  <a:pt x="49555" y="274304"/>
                </a:lnTo>
                <a:lnTo>
                  <a:pt x="35055" y="272595"/>
                </a:lnTo>
                <a:close/>
              </a:path>
              <a:path w="641350" h="348614">
                <a:moveTo>
                  <a:pt x="67763" y="288049"/>
                </a:moveTo>
                <a:lnTo>
                  <a:pt x="34998" y="304927"/>
                </a:lnTo>
                <a:lnTo>
                  <a:pt x="40840" y="316230"/>
                </a:lnTo>
                <a:lnTo>
                  <a:pt x="73603" y="299353"/>
                </a:lnTo>
                <a:lnTo>
                  <a:pt x="71828" y="293116"/>
                </a:lnTo>
                <a:lnTo>
                  <a:pt x="67763" y="288049"/>
                </a:lnTo>
                <a:close/>
              </a:path>
              <a:path w="641350" h="348614">
                <a:moveTo>
                  <a:pt x="73603" y="299353"/>
                </a:moveTo>
                <a:lnTo>
                  <a:pt x="40840" y="316230"/>
                </a:lnTo>
                <a:lnTo>
                  <a:pt x="74955" y="316230"/>
                </a:lnTo>
                <a:lnTo>
                  <a:pt x="75965" y="307651"/>
                </a:lnTo>
                <a:lnTo>
                  <a:pt x="73603" y="299353"/>
                </a:lnTo>
                <a:close/>
              </a:path>
              <a:path w="641350" h="348614">
                <a:moveTo>
                  <a:pt x="570249" y="29218"/>
                </a:moveTo>
                <a:lnTo>
                  <a:pt x="67763" y="288049"/>
                </a:lnTo>
                <a:lnTo>
                  <a:pt x="71828" y="293116"/>
                </a:lnTo>
                <a:lnTo>
                  <a:pt x="73603" y="299353"/>
                </a:lnTo>
                <a:lnTo>
                  <a:pt x="576083" y="40525"/>
                </a:lnTo>
                <a:lnTo>
                  <a:pt x="570249" y="29218"/>
                </a:lnTo>
                <a:close/>
              </a:path>
              <a:path w="641350" h="348614">
                <a:moveTo>
                  <a:pt x="623810" y="23368"/>
                </a:moveTo>
                <a:lnTo>
                  <a:pt x="581606" y="23368"/>
                </a:lnTo>
                <a:lnTo>
                  <a:pt x="587448" y="34671"/>
                </a:lnTo>
                <a:lnTo>
                  <a:pt x="576083" y="40525"/>
                </a:lnTo>
                <a:lnTo>
                  <a:pt x="590623" y="68707"/>
                </a:lnTo>
                <a:lnTo>
                  <a:pt x="623810" y="23368"/>
                </a:lnTo>
                <a:close/>
              </a:path>
              <a:path w="641350" h="348614">
                <a:moveTo>
                  <a:pt x="581606" y="23368"/>
                </a:moveTo>
                <a:lnTo>
                  <a:pt x="570249" y="29218"/>
                </a:lnTo>
                <a:lnTo>
                  <a:pt x="576083" y="40525"/>
                </a:lnTo>
                <a:lnTo>
                  <a:pt x="587448" y="34671"/>
                </a:lnTo>
                <a:lnTo>
                  <a:pt x="581606" y="23368"/>
                </a:lnTo>
                <a:close/>
              </a:path>
              <a:path w="641350" h="348614">
                <a:moveTo>
                  <a:pt x="640915" y="0"/>
                </a:moveTo>
                <a:lnTo>
                  <a:pt x="555698" y="1016"/>
                </a:lnTo>
                <a:lnTo>
                  <a:pt x="570249" y="29218"/>
                </a:lnTo>
                <a:lnTo>
                  <a:pt x="581606" y="23368"/>
                </a:lnTo>
                <a:lnTo>
                  <a:pt x="623810" y="23368"/>
                </a:lnTo>
                <a:lnTo>
                  <a:pt x="64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33947" y="5267705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23255" y="4477765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8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90867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560309" y="4611116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86956" y="5175377"/>
            <a:ext cx="76200" cy="583565"/>
          </a:xfrm>
          <a:custGeom>
            <a:avLst/>
            <a:gdLst/>
            <a:ahLst/>
            <a:cxnLst/>
            <a:rect l="l" t="t" r="r" b="b"/>
            <a:pathLst>
              <a:path w="76200" h="583564">
                <a:moveTo>
                  <a:pt x="31750" y="508205"/>
                </a:moveTo>
                <a:lnTo>
                  <a:pt x="23306" y="509914"/>
                </a:lnTo>
                <a:lnTo>
                  <a:pt x="11191" y="518079"/>
                </a:lnTo>
                <a:lnTo>
                  <a:pt x="3006" y="530189"/>
                </a:lnTo>
                <a:lnTo>
                  <a:pt x="0" y="545020"/>
                </a:lnTo>
                <a:lnTo>
                  <a:pt x="3006" y="559851"/>
                </a:lnTo>
                <a:lnTo>
                  <a:pt x="11191" y="571961"/>
                </a:lnTo>
                <a:lnTo>
                  <a:pt x="23306" y="580126"/>
                </a:lnTo>
                <a:lnTo>
                  <a:pt x="38100" y="583120"/>
                </a:lnTo>
                <a:lnTo>
                  <a:pt x="52947" y="580126"/>
                </a:lnTo>
                <a:lnTo>
                  <a:pt x="65055" y="571961"/>
                </a:lnTo>
                <a:lnTo>
                  <a:pt x="73211" y="559851"/>
                </a:lnTo>
                <a:lnTo>
                  <a:pt x="76200" y="545020"/>
                </a:lnTo>
                <a:lnTo>
                  <a:pt x="31750" y="545020"/>
                </a:lnTo>
                <a:lnTo>
                  <a:pt x="31750" y="508205"/>
                </a:lnTo>
                <a:close/>
              </a:path>
              <a:path w="76200" h="583564">
                <a:moveTo>
                  <a:pt x="38100" y="506920"/>
                </a:moveTo>
                <a:lnTo>
                  <a:pt x="31772" y="508200"/>
                </a:lnTo>
                <a:lnTo>
                  <a:pt x="31750" y="545020"/>
                </a:lnTo>
                <a:lnTo>
                  <a:pt x="44450" y="545020"/>
                </a:lnTo>
                <a:lnTo>
                  <a:pt x="44450" y="508200"/>
                </a:lnTo>
                <a:lnTo>
                  <a:pt x="38100" y="506920"/>
                </a:lnTo>
                <a:close/>
              </a:path>
              <a:path w="76200" h="583564">
                <a:moveTo>
                  <a:pt x="44450" y="508200"/>
                </a:moveTo>
                <a:lnTo>
                  <a:pt x="44450" y="545020"/>
                </a:lnTo>
                <a:lnTo>
                  <a:pt x="76200" y="545020"/>
                </a:lnTo>
                <a:lnTo>
                  <a:pt x="73211" y="530189"/>
                </a:lnTo>
                <a:lnTo>
                  <a:pt x="65055" y="518079"/>
                </a:lnTo>
                <a:lnTo>
                  <a:pt x="52947" y="509914"/>
                </a:lnTo>
                <a:lnTo>
                  <a:pt x="44450" y="508200"/>
                </a:lnTo>
                <a:close/>
              </a:path>
              <a:path w="76200" h="583564">
                <a:moveTo>
                  <a:pt x="44450" y="63500"/>
                </a:moveTo>
                <a:lnTo>
                  <a:pt x="31750" y="63500"/>
                </a:lnTo>
                <a:lnTo>
                  <a:pt x="31750" y="508205"/>
                </a:lnTo>
                <a:lnTo>
                  <a:pt x="38100" y="506920"/>
                </a:lnTo>
                <a:lnTo>
                  <a:pt x="44450" y="506920"/>
                </a:lnTo>
                <a:lnTo>
                  <a:pt x="44450" y="63500"/>
                </a:lnTo>
                <a:close/>
              </a:path>
              <a:path w="76200" h="583564">
                <a:moveTo>
                  <a:pt x="44450" y="506920"/>
                </a:moveTo>
                <a:lnTo>
                  <a:pt x="38100" y="506920"/>
                </a:lnTo>
                <a:lnTo>
                  <a:pt x="44450" y="508200"/>
                </a:lnTo>
                <a:lnTo>
                  <a:pt x="44450" y="506920"/>
                </a:lnTo>
                <a:close/>
              </a:path>
              <a:path w="76200" h="58356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8356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816852" y="5765291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86042" y="4573270"/>
            <a:ext cx="3536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marR="5080" indent="-88265">
              <a:lnSpc>
                <a:spcPct val="113799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 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94626" y="6148832"/>
            <a:ext cx="1724660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4: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NIL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55720" y="1870455"/>
            <a:ext cx="951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Top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859529" y="2208022"/>
            <a:ext cx="971550" cy="15240"/>
          </a:xfrm>
          <a:custGeom>
            <a:avLst/>
            <a:gdLst/>
            <a:ahLst/>
            <a:cxnLst/>
            <a:rect l="l" t="t" r="r" b="b"/>
            <a:pathLst>
              <a:path w="971550" h="15239">
                <a:moveTo>
                  <a:pt x="0" y="0"/>
                </a:moveTo>
                <a:lnTo>
                  <a:pt x="971423" y="1498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61580" y="1803031"/>
            <a:ext cx="1577975" cy="1106805"/>
          </a:xfrm>
          <a:custGeom>
            <a:avLst/>
            <a:gdLst/>
            <a:ahLst/>
            <a:cxnLst/>
            <a:rect l="l" t="t" r="r" b="b"/>
            <a:pathLst>
              <a:path w="1577975" h="1106805">
                <a:moveTo>
                  <a:pt x="0" y="1106538"/>
                </a:moveTo>
                <a:lnTo>
                  <a:pt x="1577594" y="1106538"/>
                </a:lnTo>
                <a:lnTo>
                  <a:pt x="1577594" y="0"/>
                </a:lnTo>
                <a:lnTo>
                  <a:pt x="0" y="0"/>
                </a:lnTo>
                <a:lnTo>
                  <a:pt x="0" y="1106538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662429" y="2147823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23669" y="3444494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0945" y="2167635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92772" y="1772792"/>
            <a:ext cx="2682240" cy="0"/>
          </a:xfrm>
          <a:custGeom>
            <a:avLst/>
            <a:gdLst/>
            <a:ahLst/>
            <a:cxnLst/>
            <a:rect l="l" t="t" r="r" b="b"/>
            <a:pathLst>
              <a:path w="2682240">
                <a:moveTo>
                  <a:pt x="268177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88340" y="3305048"/>
            <a:ext cx="312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3’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8922" y="1919223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9750" y="1388364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54684" y="2331592"/>
            <a:ext cx="498475" cy="208915"/>
          </a:xfrm>
          <a:custGeom>
            <a:avLst/>
            <a:gdLst/>
            <a:ahLst/>
            <a:cxnLst/>
            <a:rect l="l" t="t" r="r" b="b"/>
            <a:pathLst>
              <a:path w="498475" h="208914">
                <a:moveTo>
                  <a:pt x="0" y="208661"/>
                </a:moveTo>
                <a:lnTo>
                  <a:pt x="49789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344802" y="2331592"/>
            <a:ext cx="208279" cy="1266190"/>
          </a:xfrm>
          <a:custGeom>
            <a:avLst/>
            <a:gdLst/>
            <a:ahLst/>
            <a:cxnLst/>
            <a:rect l="l" t="t" r="r" b="b"/>
            <a:pathLst>
              <a:path w="208280" h="1266189">
                <a:moveTo>
                  <a:pt x="0" y="1265809"/>
                </a:moveTo>
                <a:lnTo>
                  <a:pt x="207772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84237" y="3458083"/>
            <a:ext cx="248285" cy="133350"/>
          </a:xfrm>
          <a:custGeom>
            <a:avLst/>
            <a:gdLst/>
            <a:ahLst/>
            <a:cxnLst/>
            <a:rect l="l" t="t" r="r" b="b"/>
            <a:pathLst>
              <a:path w="248284" h="133350">
                <a:moveTo>
                  <a:pt x="0" y="0"/>
                </a:moveTo>
                <a:lnTo>
                  <a:pt x="247865" y="133222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799589" y="3085591"/>
            <a:ext cx="781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Before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447288" y="2176359"/>
            <a:ext cx="2046605" cy="14700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Tahoma"/>
                <a:cs typeface="Tahoma"/>
              </a:rPr>
              <a:t>v1-v2 </a:t>
            </a:r>
            <a:r>
              <a:rPr sz="1800" dirty="0">
                <a:latin typeface="Tahoma"/>
                <a:cs typeface="Tahoma"/>
              </a:rPr>
              <a:t>– (in-in) –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620"/>
              </a:spcBef>
            </a:pPr>
            <a:r>
              <a:rPr sz="1800" spc="-10" dirty="0">
                <a:latin typeface="Tahoma"/>
                <a:cs typeface="Tahoma"/>
              </a:rPr>
              <a:t>v2-v2’– </a:t>
            </a:r>
            <a:r>
              <a:rPr sz="1800" spc="-5" dirty="0">
                <a:latin typeface="Tahoma"/>
                <a:cs typeface="Tahoma"/>
              </a:rPr>
              <a:t>(in-in)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v2’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-10" dirty="0">
                <a:latin typeface="Tahoma"/>
                <a:cs typeface="Tahoma"/>
              </a:rPr>
              <a:t>v2’-v3’– </a:t>
            </a:r>
            <a:r>
              <a:rPr sz="1800" spc="-5" dirty="0">
                <a:latin typeface="Tahoma"/>
                <a:cs typeface="Tahoma"/>
              </a:rPr>
              <a:t>(in-in)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v3’</a:t>
            </a:r>
            <a:endParaRPr sz="18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745"/>
              </a:spcBef>
            </a:pPr>
            <a:r>
              <a:rPr sz="1800" spc="-10" dirty="0">
                <a:latin typeface="Tahoma"/>
                <a:cs typeface="Tahoma"/>
              </a:rPr>
              <a:t>v3’-v1– </a:t>
            </a:r>
            <a:r>
              <a:rPr sz="1800" spc="-5" dirty="0">
                <a:latin typeface="Tahoma"/>
                <a:cs typeface="Tahoma"/>
              </a:rPr>
              <a:t>(in-in)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58837" y="2540254"/>
            <a:ext cx="22860" cy="918210"/>
          </a:xfrm>
          <a:custGeom>
            <a:avLst/>
            <a:gdLst/>
            <a:ahLst/>
            <a:cxnLst/>
            <a:rect l="l" t="t" r="r" b="b"/>
            <a:pathLst>
              <a:path w="22859" h="918210">
                <a:moveTo>
                  <a:pt x="22821" y="0"/>
                </a:moveTo>
                <a:lnTo>
                  <a:pt x="0" y="91782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950964" y="1792617"/>
            <a:ext cx="1577975" cy="1106805"/>
          </a:xfrm>
          <a:custGeom>
            <a:avLst/>
            <a:gdLst/>
            <a:ahLst/>
            <a:cxnLst/>
            <a:rect l="l" t="t" r="r" b="b"/>
            <a:pathLst>
              <a:path w="1577975" h="1106805">
                <a:moveTo>
                  <a:pt x="0" y="1106538"/>
                </a:moveTo>
                <a:lnTo>
                  <a:pt x="1577594" y="1106538"/>
                </a:lnTo>
                <a:lnTo>
                  <a:pt x="1577594" y="0"/>
                </a:lnTo>
                <a:lnTo>
                  <a:pt x="0" y="0"/>
                </a:lnTo>
                <a:lnTo>
                  <a:pt x="0" y="1106538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7552181" y="2137155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13421" y="3434079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00697" y="2156967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578092" y="3294634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3’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943979" y="2321051"/>
            <a:ext cx="498475" cy="208915"/>
          </a:xfrm>
          <a:custGeom>
            <a:avLst/>
            <a:gdLst/>
            <a:ahLst/>
            <a:cxnLst/>
            <a:rect l="l" t="t" r="r" b="b"/>
            <a:pathLst>
              <a:path w="498475" h="208914">
                <a:moveTo>
                  <a:pt x="0" y="208661"/>
                </a:moveTo>
                <a:lnTo>
                  <a:pt x="49796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234173" y="2321051"/>
            <a:ext cx="208279" cy="1266190"/>
          </a:xfrm>
          <a:custGeom>
            <a:avLst/>
            <a:gdLst/>
            <a:ahLst/>
            <a:cxnLst/>
            <a:rect l="l" t="t" r="r" b="b"/>
            <a:pathLst>
              <a:path w="208279" h="1266189">
                <a:moveTo>
                  <a:pt x="0" y="1265809"/>
                </a:moveTo>
                <a:lnTo>
                  <a:pt x="207772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973569" y="3447541"/>
            <a:ext cx="248285" cy="133350"/>
          </a:xfrm>
          <a:custGeom>
            <a:avLst/>
            <a:gdLst/>
            <a:ahLst/>
            <a:cxnLst/>
            <a:rect l="l" t="t" r="r" b="b"/>
            <a:pathLst>
              <a:path w="248284" h="133350">
                <a:moveTo>
                  <a:pt x="0" y="0"/>
                </a:moveTo>
                <a:lnTo>
                  <a:pt x="247903" y="1332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7689342" y="3075178"/>
            <a:ext cx="600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After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948169" y="2529713"/>
            <a:ext cx="22860" cy="918210"/>
          </a:xfrm>
          <a:custGeom>
            <a:avLst/>
            <a:gdLst/>
            <a:ahLst/>
            <a:cxnLst/>
            <a:rect l="l" t="t" r="r" b="b"/>
            <a:pathLst>
              <a:path w="22859" h="918210">
                <a:moveTo>
                  <a:pt x="22859" y="0"/>
                </a:moveTo>
                <a:lnTo>
                  <a:pt x="0" y="9178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154420" y="1780285"/>
            <a:ext cx="2682240" cy="0"/>
          </a:xfrm>
          <a:custGeom>
            <a:avLst/>
            <a:gdLst/>
            <a:ahLst/>
            <a:cxnLst/>
            <a:rect l="l" t="t" r="r" b="b"/>
            <a:pathLst>
              <a:path w="2682240">
                <a:moveTo>
                  <a:pt x="2681858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6280911" y="1926590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514597" y="992378"/>
            <a:ext cx="3141345" cy="70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70"/>
              </a:lnSpc>
              <a:spcBef>
                <a:spcPts val="100"/>
              </a:spcBef>
            </a:pPr>
            <a:r>
              <a:rPr sz="2800" b="1" spc="-5" dirty="0">
                <a:latin typeface="Tahoma"/>
                <a:cs typeface="Tahoma"/>
              </a:rPr>
              <a:t>Example</a:t>
            </a:r>
            <a:endParaRPr sz="2800">
              <a:latin typeface="Tahoma"/>
              <a:cs typeface="Tahoma"/>
            </a:endParaRPr>
          </a:p>
          <a:p>
            <a:pPr marR="5080" algn="r">
              <a:lnSpc>
                <a:spcPts val="2070"/>
              </a:lnSpc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0952" y="315975"/>
            <a:ext cx="65512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FF0000"/>
                </a:solidFill>
              </a:rPr>
              <a:t>Sutherland-Hodgman</a:t>
            </a:r>
            <a:r>
              <a:rPr sz="3200" spc="3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Algorithm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0" y="393306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5207" y="5013172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69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5207" y="4365116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30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4091" y="4624070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824" y="4624070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667" y="5368544"/>
            <a:ext cx="869950" cy="403225"/>
          </a:xfrm>
          <a:custGeom>
            <a:avLst/>
            <a:gdLst/>
            <a:ahLst/>
            <a:cxnLst/>
            <a:rect l="l" t="t" r="r" b="b"/>
            <a:pathLst>
              <a:path w="869950" h="403225">
                <a:moveTo>
                  <a:pt x="37769" y="326600"/>
                </a:moveTo>
                <a:lnTo>
                  <a:pt x="22967" y="329742"/>
                </a:lnTo>
                <a:lnTo>
                  <a:pt x="10550" y="338387"/>
                </a:lnTo>
                <a:lnTo>
                  <a:pt x="2682" y="350693"/>
                </a:lnTo>
                <a:lnTo>
                  <a:pt x="0" y="365048"/>
                </a:lnTo>
                <a:lnTo>
                  <a:pt x="3142" y="379844"/>
                </a:lnTo>
                <a:lnTo>
                  <a:pt x="11779" y="392268"/>
                </a:lnTo>
                <a:lnTo>
                  <a:pt x="24083" y="400140"/>
                </a:lnTo>
                <a:lnTo>
                  <a:pt x="38441" y="402823"/>
                </a:lnTo>
                <a:lnTo>
                  <a:pt x="53243" y="399681"/>
                </a:lnTo>
                <a:lnTo>
                  <a:pt x="65660" y="391037"/>
                </a:lnTo>
                <a:lnTo>
                  <a:pt x="73529" y="378731"/>
                </a:lnTo>
                <a:lnTo>
                  <a:pt x="75060" y="370535"/>
                </a:lnTo>
                <a:lnTo>
                  <a:pt x="40632" y="370535"/>
                </a:lnTo>
                <a:lnTo>
                  <a:pt x="35578" y="358889"/>
                </a:lnTo>
                <a:lnTo>
                  <a:pt x="69372" y="344263"/>
                </a:lnTo>
                <a:lnTo>
                  <a:pt x="64431" y="337156"/>
                </a:lnTo>
                <a:lnTo>
                  <a:pt x="52127" y="329284"/>
                </a:lnTo>
                <a:lnTo>
                  <a:pt x="37769" y="326600"/>
                </a:lnTo>
                <a:close/>
              </a:path>
              <a:path w="869950" h="403225">
                <a:moveTo>
                  <a:pt x="69372" y="344263"/>
                </a:moveTo>
                <a:lnTo>
                  <a:pt x="35578" y="358889"/>
                </a:lnTo>
                <a:lnTo>
                  <a:pt x="40632" y="370535"/>
                </a:lnTo>
                <a:lnTo>
                  <a:pt x="74413" y="355910"/>
                </a:lnTo>
                <a:lnTo>
                  <a:pt x="73068" y="349580"/>
                </a:lnTo>
                <a:lnTo>
                  <a:pt x="69372" y="344263"/>
                </a:lnTo>
                <a:close/>
              </a:path>
              <a:path w="869950" h="403225">
                <a:moveTo>
                  <a:pt x="74413" y="355910"/>
                </a:moveTo>
                <a:lnTo>
                  <a:pt x="40632" y="370535"/>
                </a:lnTo>
                <a:lnTo>
                  <a:pt x="75060" y="370535"/>
                </a:lnTo>
                <a:lnTo>
                  <a:pt x="76211" y="364375"/>
                </a:lnTo>
                <a:lnTo>
                  <a:pt x="74413" y="355910"/>
                </a:lnTo>
                <a:close/>
              </a:path>
              <a:path w="869950" h="403225">
                <a:moveTo>
                  <a:pt x="797400" y="29165"/>
                </a:moveTo>
                <a:lnTo>
                  <a:pt x="69372" y="344263"/>
                </a:lnTo>
                <a:lnTo>
                  <a:pt x="73068" y="349580"/>
                </a:lnTo>
                <a:lnTo>
                  <a:pt x="74413" y="355910"/>
                </a:lnTo>
                <a:lnTo>
                  <a:pt x="802413" y="40735"/>
                </a:lnTo>
                <a:lnTo>
                  <a:pt x="797400" y="29165"/>
                </a:lnTo>
                <a:close/>
              </a:path>
              <a:path w="869950" h="403225">
                <a:moveTo>
                  <a:pt x="853484" y="24129"/>
                </a:moveTo>
                <a:lnTo>
                  <a:pt x="809033" y="24129"/>
                </a:lnTo>
                <a:lnTo>
                  <a:pt x="814075" y="35686"/>
                </a:lnTo>
                <a:lnTo>
                  <a:pt x="802413" y="40735"/>
                </a:lnTo>
                <a:lnTo>
                  <a:pt x="815028" y="69849"/>
                </a:lnTo>
                <a:lnTo>
                  <a:pt x="853484" y="24129"/>
                </a:lnTo>
                <a:close/>
              </a:path>
              <a:path w="869950" h="403225">
                <a:moveTo>
                  <a:pt x="809033" y="24129"/>
                </a:moveTo>
                <a:lnTo>
                  <a:pt x="797400" y="29165"/>
                </a:lnTo>
                <a:lnTo>
                  <a:pt x="802413" y="40735"/>
                </a:lnTo>
                <a:lnTo>
                  <a:pt x="814075" y="35686"/>
                </a:lnTo>
                <a:lnTo>
                  <a:pt x="809033" y="24129"/>
                </a:lnTo>
                <a:close/>
              </a:path>
              <a:path w="869950" h="403225">
                <a:moveTo>
                  <a:pt x="784763" y="0"/>
                </a:moveTo>
                <a:lnTo>
                  <a:pt x="797400" y="29165"/>
                </a:lnTo>
                <a:lnTo>
                  <a:pt x="809033" y="24129"/>
                </a:lnTo>
                <a:lnTo>
                  <a:pt x="853484" y="24129"/>
                </a:lnTo>
                <a:lnTo>
                  <a:pt x="869828" y="4698"/>
                </a:lnTo>
                <a:lnTo>
                  <a:pt x="7847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1365" y="5796534"/>
            <a:ext cx="263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969" y="5292597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622" y="52204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8408" y="6161785"/>
            <a:ext cx="175069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1: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v1’v2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43885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43885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4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38551" y="4611116"/>
            <a:ext cx="35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63114" y="5360338"/>
            <a:ext cx="990600" cy="436245"/>
          </a:xfrm>
          <a:custGeom>
            <a:avLst/>
            <a:gdLst/>
            <a:ahLst/>
            <a:cxnLst/>
            <a:rect l="l" t="t" r="r" b="b"/>
            <a:pathLst>
              <a:path w="990600" h="436245">
                <a:moveTo>
                  <a:pt x="56006" y="365303"/>
                </a:moveTo>
                <a:lnTo>
                  <a:pt x="0" y="429515"/>
                </a:lnTo>
                <a:lnTo>
                  <a:pt x="84962" y="435788"/>
                </a:lnTo>
                <a:lnTo>
                  <a:pt x="74883" y="411252"/>
                </a:lnTo>
                <a:lnTo>
                  <a:pt x="61087" y="411252"/>
                </a:lnTo>
                <a:lnTo>
                  <a:pt x="56261" y="399505"/>
                </a:lnTo>
                <a:lnTo>
                  <a:pt x="68063" y="394652"/>
                </a:lnTo>
                <a:lnTo>
                  <a:pt x="56006" y="365303"/>
                </a:lnTo>
                <a:close/>
              </a:path>
              <a:path w="990600" h="436245">
                <a:moveTo>
                  <a:pt x="68063" y="394652"/>
                </a:moveTo>
                <a:lnTo>
                  <a:pt x="56261" y="399505"/>
                </a:lnTo>
                <a:lnTo>
                  <a:pt x="61087" y="411252"/>
                </a:lnTo>
                <a:lnTo>
                  <a:pt x="72890" y="406401"/>
                </a:lnTo>
                <a:lnTo>
                  <a:pt x="68063" y="394652"/>
                </a:lnTo>
                <a:close/>
              </a:path>
              <a:path w="990600" h="436245">
                <a:moveTo>
                  <a:pt x="72890" y="406401"/>
                </a:moveTo>
                <a:lnTo>
                  <a:pt x="61087" y="411252"/>
                </a:lnTo>
                <a:lnTo>
                  <a:pt x="74883" y="411252"/>
                </a:lnTo>
                <a:lnTo>
                  <a:pt x="72890" y="406401"/>
                </a:lnTo>
                <a:close/>
              </a:path>
              <a:path w="990600" h="436245">
                <a:moveTo>
                  <a:pt x="915693" y="46190"/>
                </a:moveTo>
                <a:lnTo>
                  <a:pt x="68063" y="394652"/>
                </a:lnTo>
                <a:lnTo>
                  <a:pt x="72890" y="406401"/>
                </a:lnTo>
                <a:lnTo>
                  <a:pt x="920516" y="58000"/>
                </a:lnTo>
                <a:lnTo>
                  <a:pt x="916939" y="52655"/>
                </a:lnTo>
                <a:lnTo>
                  <a:pt x="915693" y="46190"/>
                </a:lnTo>
                <a:close/>
              </a:path>
              <a:path w="990600" h="436245">
                <a:moveTo>
                  <a:pt x="989072" y="32208"/>
                </a:moveTo>
                <a:lnTo>
                  <a:pt x="949706" y="32208"/>
                </a:lnTo>
                <a:lnTo>
                  <a:pt x="954532" y="44019"/>
                </a:lnTo>
                <a:lnTo>
                  <a:pt x="920516" y="58000"/>
                </a:lnTo>
                <a:lnTo>
                  <a:pt x="925341" y="65212"/>
                </a:lnTo>
                <a:lnTo>
                  <a:pt x="937482" y="73292"/>
                </a:lnTo>
                <a:lnTo>
                  <a:pt x="951765" y="76229"/>
                </a:lnTo>
                <a:lnTo>
                  <a:pt x="966597" y="73356"/>
                </a:lnTo>
                <a:lnTo>
                  <a:pt x="979227" y="64954"/>
                </a:lnTo>
                <a:lnTo>
                  <a:pt x="987345" y="52814"/>
                </a:lnTo>
                <a:lnTo>
                  <a:pt x="990296" y="38530"/>
                </a:lnTo>
                <a:lnTo>
                  <a:pt x="989072" y="32208"/>
                </a:lnTo>
                <a:close/>
              </a:path>
              <a:path w="990600" h="436245">
                <a:moveTo>
                  <a:pt x="949706" y="32208"/>
                </a:moveTo>
                <a:lnTo>
                  <a:pt x="915693" y="46190"/>
                </a:lnTo>
                <a:lnTo>
                  <a:pt x="916939" y="52655"/>
                </a:lnTo>
                <a:lnTo>
                  <a:pt x="920516" y="58000"/>
                </a:lnTo>
                <a:lnTo>
                  <a:pt x="954532" y="44019"/>
                </a:lnTo>
                <a:lnTo>
                  <a:pt x="949706" y="32208"/>
                </a:lnTo>
                <a:close/>
              </a:path>
              <a:path w="990600" h="436245">
                <a:moveTo>
                  <a:pt x="952492" y="0"/>
                </a:moveTo>
                <a:lnTo>
                  <a:pt x="937640" y="2871"/>
                </a:lnTo>
                <a:lnTo>
                  <a:pt x="925083" y="11275"/>
                </a:lnTo>
                <a:lnTo>
                  <a:pt x="917003" y="23429"/>
                </a:lnTo>
                <a:lnTo>
                  <a:pt x="914066" y="37750"/>
                </a:lnTo>
                <a:lnTo>
                  <a:pt x="915693" y="46190"/>
                </a:lnTo>
                <a:lnTo>
                  <a:pt x="949706" y="32208"/>
                </a:lnTo>
                <a:lnTo>
                  <a:pt x="989072" y="32208"/>
                </a:lnTo>
                <a:lnTo>
                  <a:pt x="987425" y="23699"/>
                </a:lnTo>
                <a:lnTo>
                  <a:pt x="979003" y="11068"/>
                </a:lnTo>
                <a:lnTo>
                  <a:pt x="966819" y="2950"/>
                </a:lnTo>
                <a:lnTo>
                  <a:pt x="952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30348" y="578383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69634" y="5279644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00350" y="5207761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7135" y="6148832"/>
            <a:ext cx="163258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2: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23255" y="4977168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02478" y="4610861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91991" y="3832899"/>
            <a:ext cx="1590040" cy="107823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800" b="1" dirty="0">
                <a:latin typeface="Tahoma"/>
                <a:cs typeface="Tahoma"/>
              </a:rPr>
              <a:t>4</a:t>
            </a:r>
            <a:r>
              <a:rPr sz="2800" b="1" spc="-3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Cases</a:t>
            </a:r>
            <a:endParaRPr sz="2800">
              <a:latin typeface="Tahoma"/>
              <a:cs typeface="Tahoma"/>
            </a:endParaRPr>
          </a:p>
          <a:p>
            <a:pPr marL="33655">
              <a:lnSpc>
                <a:spcPct val="100000"/>
              </a:lnSpc>
              <a:spcBef>
                <a:spcPts val="1080"/>
              </a:spcBef>
              <a:tabLst>
                <a:tab pos="1248410" algn="l"/>
              </a:tabLst>
            </a:pPr>
            <a:r>
              <a:rPr sz="1800" dirty="0">
                <a:latin typeface="Tahoma"/>
                <a:cs typeface="Tahoma"/>
              </a:rPr>
              <a:t>in	out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99532" y="5513323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6794" y="6148578"/>
            <a:ext cx="1632585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3: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Output:  </a:t>
            </a:r>
            <a:r>
              <a:rPr sz="1800" spc="-5" dirty="0">
                <a:latin typeface="Tahoma"/>
                <a:cs typeface="Tahoma"/>
              </a:rPr>
              <a:t>(in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in)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423969" y="5234178"/>
            <a:ext cx="641350" cy="348615"/>
          </a:xfrm>
          <a:custGeom>
            <a:avLst/>
            <a:gdLst/>
            <a:ahLst/>
            <a:cxnLst/>
            <a:rect l="l" t="t" r="r" b="b"/>
            <a:pathLst>
              <a:path w="641350" h="348614">
                <a:moveTo>
                  <a:pt x="35055" y="272595"/>
                </a:moveTo>
                <a:lnTo>
                  <a:pt x="20520" y="276733"/>
                </a:lnTo>
                <a:lnTo>
                  <a:pt x="8727" y="286125"/>
                </a:lnTo>
                <a:lnTo>
                  <a:pt x="1708" y="298910"/>
                </a:lnTo>
                <a:lnTo>
                  <a:pt x="0" y="313434"/>
                </a:lnTo>
                <a:lnTo>
                  <a:pt x="4137" y="328041"/>
                </a:lnTo>
                <a:lnTo>
                  <a:pt x="13583" y="339830"/>
                </a:lnTo>
                <a:lnTo>
                  <a:pt x="26362" y="346843"/>
                </a:lnTo>
                <a:lnTo>
                  <a:pt x="40856" y="348550"/>
                </a:lnTo>
                <a:lnTo>
                  <a:pt x="55445" y="344424"/>
                </a:lnTo>
                <a:lnTo>
                  <a:pt x="67238" y="334960"/>
                </a:lnTo>
                <a:lnTo>
                  <a:pt x="74257" y="322151"/>
                </a:lnTo>
                <a:lnTo>
                  <a:pt x="74955" y="316230"/>
                </a:lnTo>
                <a:lnTo>
                  <a:pt x="40840" y="316230"/>
                </a:lnTo>
                <a:lnTo>
                  <a:pt x="34998" y="304927"/>
                </a:lnTo>
                <a:lnTo>
                  <a:pt x="67763" y="288049"/>
                </a:lnTo>
                <a:lnTo>
                  <a:pt x="62364" y="281322"/>
                </a:lnTo>
                <a:lnTo>
                  <a:pt x="49555" y="274304"/>
                </a:lnTo>
                <a:lnTo>
                  <a:pt x="35055" y="272595"/>
                </a:lnTo>
                <a:close/>
              </a:path>
              <a:path w="641350" h="348614">
                <a:moveTo>
                  <a:pt x="67763" y="288049"/>
                </a:moveTo>
                <a:lnTo>
                  <a:pt x="34998" y="304927"/>
                </a:lnTo>
                <a:lnTo>
                  <a:pt x="40840" y="316230"/>
                </a:lnTo>
                <a:lnTo>
                  <a:pt x="73603" y="299353"/>
                </a:lnTo>
                <a:lnTo>
                  <a:pt x="71828" y="293116"/>
                </a:lnTo>
                <a:lnTo>
                  <a:pt x="67763" y="288049"/>
                </a:lnTo>
                <a:close/>
              </a:path>
              <a:path w="641350" h="348614">
                <a:moveTo>
                  <a:pt x="73603" y="299353"/>
                </a:moveTo>
                <a:lnTo>
                  <a:pt x="40840" y="316230"/>
                </a:lnTo>
                <a:lnTo>
                  <a:pt x="74955" y="316230"/>
                </a:lnTo>
                <a:lnTo>
                  <a:pt x="75965" y="307651"/>
                </a:lnTo>
                <a:lnTo>
                  <a:pt x="73603" y="299353"/>
                </a:lnTo>
                <a:close/>
              </a:path>
              <a:path w="641350" h="348614">
                <a:moveTo>
                  <a:pt x="570249" y="29218"/>
                </a:moveTo>
                <a:lnTo>
                  <a:pt x="67763" y="288049"/>
                </a:lnTo>
                <a:lnTo>
                  <a:pt x="71828" y="293116"/>
                </a:lnTo>
                <a:lnTo>
                  <a:pt x="73603" y="299353"/>
                </a:lnTo>
                <a:lnTo>
                  <a:pt x="576083" y="40525"/>
                </a:lnTo>
                <a:lnTo>
                  <a:pt x="570249" y="29218"/>
                </a:lnTo>
                <a:close/>
              </a:path>
              <a:path w="641350" h="348614">
                <a:moveTo>
                  <a:pt x="623810" y="23368"/>
                </a:moveTo>
                <a:lnTo>
                  <a:pt x="581606" y="23368"/>
                </a:lnTo>
                <a:lnTo>
                  <a:pt x="587448" y="34671"/>
                </a:lnTo>
                <a:lnTo>
                  <a:pt x="576083" y="40525"/>
                </a:lnTo>
                <a:lnTo>
                  <a:pt x="590623" y="68707"/>
                </a:lnTo>
                <a:lnTo>
                  <a:pt x="623810" y="23368"/>
                </a:lnTo>
                <a:close/>
              </a:path>
              <a:path w="641350" h="348614">
                <a:moveTo>
                  <a:pt x="581606" y="23368"/>
                </a:moveTo>
                <a:lnTo>
                  <a:pt x="570249" y="29218"/>
                </a:lnTo>
                <a:lnTo>
                  <a:pt x="576083" y="40525"/>
                </a:lnTo>
                <a:lnTo>
                  <a:pt x="587448" y="34671"/>
                </a:lnTo>
                <a:lnTo>
                  <a:pt x="581606" y="23368"/>
                </a:lnTo>
                <a:close/>
              </a:path>
              <a:path w="641350" h="348614">
                <a:moveTo>
                  <a:pt x="640915" y="0"/>
                </a:moveTo>
                <a:lnTo>
                  <a:pt x="555698" y="1016"/>
                </a:lnTo>
                <a:lnTo>
                  <a:pt x="570249" y="29218"/>
                </a:lnTo>
                <a:lnTo>
                  <a:pt x="581606" y="23368"/>
                </a:lnTo>
                <a:lnTo>
                  <a:pt x="623810" y="23368"/>
                </a:lnTo>
                <a:lnTo>
                  <a:pt x="64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33947" y="5267705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23255" y="4477765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8" y="216023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90867" y="5000320"/>
            <a:ext cx="1029969" cy="936625"/>
          </a:xfrm>
          <a:custGeom>
            <a:avLst/>
            <a:gdLst/>
            <a:ahLst/>
            <a:cxnLst/>
            <a:rect l="l" t="t" r="r" b="b"/>
            <a:pathLst>
              <a:path w="1029970" h="936625">
                <a:moveTo>
                  <a:pt x="0" y="936104"/>
                </a:moveTo>
                <a:lnTo>
                  <a:pt x="1029728" y="936104"/>
                </a:lnTo>
                <a:lnTo>
                  <a:pt x="1029728" y="0"/>
                </a:lnTo>
                <a:lnTo>
                  <a:pt x="0" y="0"/>
                </a:lnTo>
                <a:lnTo>
                  <a:pt x="0" y="936104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90867" y="4352290"/>
            <a:ext cx="17145" cy="2160270"/>
          </a:xfrm>
          <a:custGeom>
            <a:avLst/>
            <a:gdLst/>
            <a:ahLst/>
            <a:cxnLst/>
            <a:rect l="l" t="t" r="r" b="b"/>
            <a:pathLst>
              <a:path w="17145" h="2160270">
                <a:moveTo>
                  <a:pt x="0" y="0"/>
                </a:moveTo>
                <a:lnTo>
                  <a:pt x="17017" y="2160193"/>
                </a:lnTo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560309" y="4611116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86956" y="5175377"/>
            <a:ext cx="76200" cy="583565"/>
          </a:xfrm>
          <a:custGeom>
            <a:avLst/>
            <a:gdLst/>
            <a:ahLst/>
            <a:cxnLst/>
            <a:rect l="l" t="t" r="r" b="b"/>
            <a:pathLst>
              <a:path w="76200" h="583564">
                <a:moveTo>
                  <a:pt x="31750" y="508205"/>
                </a:moveTo>
                <a:lnTo>
                  <a:pt x="23306" y="509914"/>
                </a:lnTo>
                <a:lnTo>
                  <a:pt x="11191" y="518079"/>
                </a:lnTo>
                <a:lnTo>
                  <a:pt x="3006" y="530189"/>
                </a:lnTo>
                <a:lnTo>
                  <a:pt x="0" y="545020"/>
                </a:lnTo>
                <a:lnTo>
                  <a:pt x="3006" y="559851"/>
                </a:lnTo>
                <a:lnTo>
                  <a:pt x="11191" y="571961"/>
                </a:lnTo>
                <a:lnTo>
                  <a:pt x="23306" y="580126"/>
                </a:lnTo>
                <a:lnTo>
                  <a:pt x="38100" y="583120"/>
                </a:lnTo>
                <a:lnTo>
                  <a:pt x="52947" y="580126"/>
                </a:lnTo>
                <a:lnTo>
                  <a:pt x="65055" y="571961"/>
                </a:lnTo>
                <a:lnTo>
                  <a:pt x="73211" y="559851"/>
                </a:lnTo>
                <a:lnTo>
                  <a:pt x="76200" y="545020"/>
                </a:lnTo>
                <a:lnTo>
                  <a:pt x="31750" y="545020"/>
                </a:lnTo>
                <a:lnTo>
                  <a:pt x="31750" y="508205"/>
                </a:lnTo>
                <a:close/>
              </a:path>
              <a:path w="76200" h="583564">
                <a:moveTo>
                  <a:pt x="38100" y="506920"/>
                </a:moveTo>
                <a:lnTo>
                  <a:pt x="31772" y="508200"/>
                </a:lnTo>
                <a:lnTo>
                  <a:pt x="31750" y="545020"/>
                </a:lnTo>
                <a:lnTo>
                  <a:pt x="44450" y="545020"/>
                </a:lnTo>
                <a:lnTo>
                  <a:pt x="44450" y="508200"/>
                </a:lnTo>
                <a:lnTo>
                  <a:pt x="38100" y="506920"/>
                </a:lnTo>
                <a:close/>
              </a:path>
              <a:path w="76200" h="583564">
                <a:moveTo>
                  <a:pt x="44450" y="508200"/>
                </a:moveTo>
                <a:lnTo>
                  <a:pt x="44450" y="545020"/>
                </a:lnTo>
                <a:lnTo>
                  <a:pt x="76200" y="545020"/>
                </a:lnTo>
                <a:lnTo>
                  <a:pt x="73211" y="530189"/>
                </a:lnTo>
                <a:lnTo>
                  <a:pt x="65055" y="518079"/>
                </a:lnTo>
                <a:lnTo>
                  <a:pt x="52947" y="509914"/>
                </a:lnTo>
                <a:lnTo>
                  <a:pt x="44450" y="508200"/>
                </a:lnTo>
                <a:close/>
              </a:path>
              <a:path w="76200" h="583564">
                <a:moveTo>
                  <a:pt x="44450" y="63500"/>
                </a:moveTo>
                <a:lnTo>
                  <a:pt x="31750" y="63500"/>
                </a:lnTo>
                <a:lnTo>
                  <a:pt x="31750" y="508205"/>
                </a:lnTo>
                <a:lnTo>
                  <a:pt x="38100" y="506920"/>
                </a:lnTo>
                <a:lnTo>
                  <a:pt x="44450" y="506920"/>
                </a:lnTo>
                <a:lnTo>
                  <a:pt x="44450" y="63500"/>
                </a:lnTo>
                <a:close/>
              </a:path>
              <a:path w="76200" h="583564">
                <a:moveTo>
                  <a:pt x="44450" y="506920"/>
                </a:moveTo>
                <a:lnTo>
                  <a:pt x="38100" y="506920"/>
                </a:lnTo>
                <a:lnTo>
                  <a:pt x="44450" y="508200"/>
                </a:lnTo>
                <a:lnTo>
                  <a:pt x="44450" y="506920"/>
                </a:lnTo>
                <a:close/>
              </a:path>
              <a:path w="76200" h="58356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8356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816852" y="5765291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86042" y="4573270"/>
            <a:ext cx="3536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marR="5080" indent="-88265">
              <a:lnSpc>
                <a:spcPct val="113799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out  </a:t>
            </a: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94626" y="6148832"/>
            <a:ext cx="1724660" cy="57023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dirty="0">
                <a:latin typeface="Tahoma"/>
                <a:cs typeface="Tahoma"/>
              </a:rPr>
              <a:t>Case 4: Output:  </a:t>
            </a:r>
            <a:r>
              <a:rPr sz="1800" spc="-5" dirty="0">
                <a:latin typeface="Tahoma"/>
                <a:cs typeface="Tahoma"/>
              </a:rPr>
              <a:t>(out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-5" dirty="0">
                <a:latin typeface="Tahoma"/>
                <a:cs typeface="Tahoma"/>
              </a:rPr>
              <a:t>out)</a:t>
            </a:r>
            <a:r>
              <a:rPr sz="1800" spc="-5" dirty="0">
                <a:latin typeface="Wingdings"/>
                <a:cs typeface="Wingdings"/>
              </a:rPr>
              <a:t>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ahoma"/>
                <a:cs typeface="Tahoma"/>
              </a:rPr>
              <a:t>NIL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14597" y="992378"/>
            <a:ext cx="1554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Tahoma"/>
                <a:cs typeface="Tahoma"/>
              </a:rPr>
              <a:t>Example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715003" y="1876552"/>
            <a:ext cx="1374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Bottom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b="1" spc="-5" dirty="0">
                <a:latin typeface="Tahoma"/>
                <a:cs typeface="Tahoma"/>
              </a:rPr>
              <a:t>Clip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616833" y="2223007"/>
            <a:ext cx="1640839" cy="0"/>
          </a:xfrm>
          <a:custGeom>
            <a:avLst/>
            <a:gdLst/>
            <a:ahLst/>
            <a:cxnLst/>
            <a:rect l="l" t="t" r="r" b="b"/>
            <a:pathLst>
              <a:path w="1640839">
                <a:moveTo>
                  <a:pt x="0" y="0"/>
                </a:moveTo>
                <a:lnTo>
                  <a:pt x="164071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61580" y="1803031"/>
            <a:ext cx="1577975" cy="1106805"/>
          </a:xfrm>
          <a:custGeom>
            <a:avLst/>
            <a:gdLst/>
            <a:ahLst/>
            <a:cxnLst/>
            <a:rect l="l" t="t" r="r" b="b"/>
            <a:pathLst>
              <a:path w="1577975" h="1106805">
                <a:moveTo>
                  <a:pt x="0" y="1106538"/>
                </a:moveTo>
                <a:lnTo>
                  <a:pt x="1577594" y="1106538"/>
                </a:lnTo>
                <a:lnTo>
                  <a:pt x="1577594" y="0"/>
                </a:lnTo>
                <a:lnTo>
                  <a:pt x="0" y="0"/>
                </a:lnTo>
                <a:lnTo>
                  <a:pt x="0" y="1106538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662429" y="2147823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23669" y="3444494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0945" y="2167635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51523" y="2908045"/>
            <a:ext cx="2682240" cy="0"/>
          </a:xfrm>
          <a:custGeom>
            <a:avLst/>
            <a:gdLst/>
            <a:ahLst/>
            <a:cxnLst/>
            <a:rect l="l" t="t" r="r" b="b"/>
            <a:pathLst>
              <a:path w="2682240">
                <a:moveTo>
                  <a:pt x="2681795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30200" y="2467609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7669" y="2965739"/>
            <a:ext cx="593090" cy="63944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  <a:p>
            <a:pPr marL="29337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3’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54684" y="2331592"/>
            <a:ext cx="498475" cy="208915"/>
          </a:xfrm>
          <a:custGeom>
            <a:avLst/>
            <a:gdLst/>
            <a:ahLst/>
            <a:cxnLst/>
            <a:rect l="l" t="t" r="r" b="b"/>
            <a:pathLst>
              <a:path w="498475" h="208914">
                <a:moveTo>
                  <a:pt x="0" y="208661"/>
                </a:moveTo>
                <a:lnTo>
                  <a:pt x="49789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344802" y="2331592"/>
            <a:ext cx="208279" cy="1266190"/>
          </a:xfrm>
          <a:custGeom>
            <a:avLst/>
            <a:gdLst/>
            <a:ahLst/>
            <a:cxnLst/>
            <a:rect l="l" t="t" r="r" b="b"/>
            <a:pathLst>
              <a:path w="208280" h="1266189">
                <a:moveTo>
                  <a:pt x="0" y="1265809"/>
                </a:moveTo>
                <a:lnTo>
                  <a:pt x="207772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84237" y="3458083"/>
            <a:ext cx="248285" cy="133350"/>
          </a:xfrm>
          <a:custGeom>
            <a:avLst/>
            <a:gdLst/>
            <a:ahLst/>
            <a:cxnLst/>
            <a:rect l="l" t="t" r="r" b="b"/>
            <a:pathLst>
              <a:path w="248284" h="133350">
                <a:moveTo>
                  <a:pt x="0" y="0"/>
                </a:moveTo>
                <a:lnTo>
                  <a:pt x="247865" y="133222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799589" y="3085591"/>
            <a:ext cx="781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Before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447288" y="2176359"/>
            <a:ext cx="2499360" cy="14700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Tahoma"/>
                <a:cs typeface="Tahoma"/>
              </a:rPr>
              <a:t>v1-v2 </a:t>
            </a:r>
            <a:r>
              <a:rPr sz="1800" dirty="0">
                <a:latin typeface="Tahoma"/>
                <a:cs typeface="Tahoma"/>
              </a:rPr>
              <a:t>– </a:t>
            </a:r>
            <a:r>
              <a:rPr sz="1800" spc="-5" dirty="0">
                <a:latin typeface="Tahoma"/>
                <a:cs typeface="Tahoma"/>
              </a:rPr>
              <a:t>(out-in)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v1’v2</a:t>
            </a:r>
            <a:endParaRPr sz="18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620"/>
              </a:spcBef>
            </a:pPr>
            <a:r>
              <a:rPr sz="1800" spc="-10" dirty="0">
                <a:latin typeface="Tahoma"/>
                <a:cs typeface="Tahoma"/>
              </a:rPr>
              <a:t>v2-v2’– </a:t>
            </a:r>
            <a:r>
              <a:rPr sz="1800" spc="-5" dirty="0">
                <a:latin typeface="Tahoma"/>
                <a:cs typeface="Tahoma"/>
              </a:rPr>
              <a:t>(in-in)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v2’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-10" dirty="0">
                <a:latin typeface="Tahoma"/>
                <a:cs typeface="Tahoma"/>
              </a:rPr>
              <a:t>v2’-v3’– </a:t>
            </a:r>
            <a:r>
              <a:rPr sz="1800" dirty="0">
                <a:latin typeface="Tahoma"/>
                <a:cs typeface="Tahoma"/>
              </a:rPr>
              <a:t>(in-out) –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v2’’</a:t>
            </a:r>
            <a:endParaRPr sz="18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745"/>
              </a:spcBef>
            </a:pPr>
            <a:r>
              <a:rPr sz="1800" spc="-10" dirty="0">
                <a:latin typeface="Tahoma"/>
                <a:cs typeface="Tahoma"/>
              </a:rPr>
              <a:t>v3’-v1– (out-out)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NILL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58837" y="2540254"/>
            <a:ext cx="22860" cy="918210"/>
          </a:xfrm>
          <a:custGeom>
            <a:avLst/>
            <a:gdLst/>
            <a:ahLst/>
            <a:cxnLst/>
            <a:rect l="l" t="t" r="r" b="b"/>
            <a:pathLst>
              <a:path w="22859" h="918210">
                <a:moveTo>
                  <a:pt x="22821" y="0"/>
                </a:moveTo>
                <a:lnTo>
                  <a:pt x="0" y="91782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33551" y="2607563"/>
            <a:ext cx="360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510030" y="2886964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1’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187692" y="1713750"/>
            <a:ext cx="1577975" cy="1106805"/>
          </a:xfrm>
          <a:custGeom>
            <a:avLst/>
            <a:gdLst/>
            <a:ahLst/>
            <a:cxnLst/>
            <a:rect l="l" t="t" r="r" b="b"/>
            <a:pathLst>
              <a:path w="1577975" h="1106805">
                <a:moveTo>
                  <a:pt x="0" y="1106538"/>
                </a:moveTo>
                <a:lnTo>
                  <a:pt x="1577594" y="1106538"/>
                </a:lnTo>
                <a:lnTo>
                  <a:pt x="1577594" y="0"/>
                </a:lnTo>
                <a:lnTo>
                  <a:pt x="0" y="0"/>
                </a:lnTo>
                <a:lnTo>
                  <a:pt x="0" y="1106538"/>
                </a:lnTo>
                <a:close/>
              </a:path>
            </a:pathLst>
          </a:custGeom>
          <a:ln w="25400">
            <a:solidFill>
              <a:srgbClr val="00A7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7776209" y="2058415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837680" y="2078228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377685" y="2818764"/>
            <a:ext cx="2682240" cy="0"/>
          </a:xfrm>
          <a:custGeom>
            <a:avLst/>
            <a:gdLst/>
            <a:ahLst/>
            <a:cxnLst/>
            <a:rect l="l" t="t" r="r" b="b"/>
            <a:pathLst>
              <a:path w="2682240">
                <a:moveTo>
                  <a:pt x="2681859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6456934" y="2378455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34150" y="2876042"/>
            <a:ext cx="593090" cy="64008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800" dirty="0">
                <a:latin typeface="Tahoma"/>
                <a:cs typeface="Tahoma"/>
              </a:rPr>
              <a:t>out</a:t>
            </a:r>
            <a:endParaRPr sz="1800">
              <a:latin typeface="Tahoma"/>
              <a:cs typeface="Tahoma"/>
            </a:endParaRPr>
          </a:p>
          <a:p>
            <a:pPr marL="293370">
              <a:lnSpc>
                <a:spcPct val="100000"/>
              </a:lnSpc>
              <a:spcBef>
                <a:spcPts val="26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3’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168133" y="2224023"/>
            <a:ext cx="516255" cy="240029"/>
          </a:xfrm>
          <a:custGeom>
            <a:avLst/>
            <a:gdLst/>
            <a:ahLst/>
            <a:cxnLst/>
            <a:rect l="l" t="t" r="r" b="b"/>
            <a:pathLst>
              <a:path w="516254" h="240030">
                <a:moveTo>
                  <a:pt x="0" y="239649"/>
                </a:moveTo>
                <a:lnTo>
                  <a:pt x="51612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860285" y="2518409"/>
            <a:ext cx="360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</a:t>
            </a:r>
            <a:r>
              <a:rPr sz="1800" dirty="0">
                <a:latin typeface="Tahoma"/>
                <a:cs typeface="Tahoma"/>
              </a:rPr>
              <a:t>2’’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550150" y="2797809"/>
            <a:ext cx="976630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>
              <a:lnSpc>
                <a:spcPts val="186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v1’</a:t>
            </a:r>
            <a:endParaRPr sz="1800">
              <a:latin typeface="Tahoma"/>
              <a:cs typeface="Tahoma"/>
            </a:endParaRPr>
          </a:p>
          <a:p>
            <a:pPr marL="388620">
              <a:lnSpc>
                <a:spcPts val="1860"/>
              </a:lnSpc>
            </a:pPr>
            <a:r>
              <a:rPr sz="1800" b="1" dirty="0">
                <a:latin typeface="Tahoma"/>
                <a:cs typeface="Tahoma"/>
              </a:rPr>
              <a:t>After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800" spc="-5" dirty="0">
                <a:latin typeface="Tahoma"/>
                <a:cs typeface="Tahoma"/>
              </a:rPr>
              <a:t>v1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639050" y="2266950"/>
            <a:ext cx="0" cy="538480"/>
          </a:xfrm>
          <a:custGeom>
            <a:avLst/>
            <a:gdLst/>
            <a:ahLst/>
            <a:cxnLst/>
            <a:rect l="l" t="t" r="r" b="b"/>
            <a:pathLst>
              <a:path h="538480">
                <a:moveTo>
                  <a:pt x="0" y="53835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195057" y="2408682"/>
            <a:ext cx="4445" cy="447675"/>
          </a:xfrm>
          <a:custGeom>
            <a:avLst/>
            <a:gdLst/>
            <a:ahLst/>
            <a:cxnLst/>
            <a:rect l="l" t="t" r="r" b="b"/>
            <a:pathLst>
              <a:path w="4445" h="447675">
                <a:moveTo>
                  <a:pt x="4318" y="44729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233157" y="2818764"/>
            <a:ext cx="341630" cy="1905"/>
          </a:xfrm>
          <a:custGeom>
            <a:avLst/>
            <a:gdLst/>
            <a:ahLst/>
            <a:cxnLst/>
            <a:rect l="l" t="t" r="r" b="b"/>
            <a:pathLst>
              <a:path w="341629" h="1905">
                <a:moveTo>
                  <a:pt x="0" y="0"/>
                </a:moveTo>
                <a:lnTo>
                  <a:pt x="341630" y="152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1617" y="2045716"/>
            <a:ext cx="443039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995" indent="-45593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750"/>
              <a:buFont typeface="Wingdings"/>
              <a:buChar char=""/>
              <a:tabLst>
                <a:tab pos="468630" algn="l"/>
              </a:tabLst>
            </a:pPr>
            <a:r>
              <a:rPr sz="8000" spc="-5" dirty="0">
                <a:latin typeface="Tahoma"/>
                <a:cs typeface="Tahoma"/>
              </a:rPr>
              <a:t>The</a:t>
            </a:r>
            <a:r>
              <a:rPr sz="8000" spc="-75" dirty="0">
                <a:latin typeface="Tahoma"/>
                <a:cs typeface="Tahoma"/>
              </a:rPr>
              <a:t> </a:t>
            </a:r>
            <a:r>
              <a:rPr sz="8000" spc="-10" dirty="0">
                <a:latin typeface="Tahoma"/>
                <a:cs typeface="Tahoma"/>
              </a:rPr>
              <a:t>END</a:t>
            </a:r>
            <a:endParaRPr sz="8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2408</Words>
  <Application>Microsoft Office PowerPoint</Application>
  <PresentationFormat>On-screen Show (4:3)</PresentationFormat>
  <Paragraphs>815</Paragraphs>
  <Slides>35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PowerPoint Presentation</vt:lpstr>
      <vt:lpstr>Topics</vt:lpstr>
      <vt:lpstr>Viewing Pipeline</vt:lpstr>
      <vt:lpstr>Viewing Transformation</vt:lpstr>
      <vt:lpstr>Viewing Transformation</vt:lpstr>
      <vt:lpstr>Transformation  Process</vt:lpstr>
      <vt:lpstr>Viewing Transformation</vt:lpstr>
      <vt:lpstr>Window to Viewport Mapping</vt:lpstr>
      <vt:lpstr>Window to Viewport Mapping</vt:lpstr>
      <vt:lpstr>Example on Workstation Transformation</vt:lpstr>
      <vt:lpstr>Example on Workstation Transformation</vt:lpstr>
      <vt:lpstr>Window &amp; Clipping</vt:lpstr>
      <vt:lpstr>Point Clipping</vt:lpstr>
      <vt:lpstr>Line Clipping</vt:lpstr>
      <vt:lpstr>Line Clipping</vt:lpstr>
      <vt:lpstr>Cohen-Sutherland Algorithm</vt:lpstr>
      <vt:lpstr>Cohen-Sutherland Clipping</vt:lpstr>
      <vt:lpstr>Cohen-Sutherland Clipping p5</vt:lpstr>
      <vt:lpstr>Cohen-Sutherland Clipping p5</vt:lpstr>
      <vt:lpstr>Cohen-Sutherland Clipping p5</vt:lpstr>
      <vt:lpstr>Cohen-Sutherland Clipping p5</vt:lpstr>
      <vt:lpstr>Cohen-Sutherland Clipping</vt:lpstr>
      <vt:lpstr>Clipping Lines not  Accepted or Rejected</vt:lpstr>
      <vt:lpstr>Polygon Clipping Sutherland-Hodgman  Algorithm</vt:lpstr>
      <vt:lpstr>Polygon Clipping Sutherland-Hodgman Algorithm</vt:lpstr>
      <vt:lpstr>Polygon Clipping Sutherland-Hodgman Algorithm</vt:lpstr>
      <vt:lpstr>Polygon Clipping Sutherland-Hodgman Algorithm</vt:lpstr>
      <vt:lpstr>Polygon Clipping Sutherland-Hodgman Algorithm</vt:lpstr>
      <vt:lpstr>Polygon Clipping Sutherland-Hodgman Algorithm</vt:lpstr>
      <vt:lpstr>Polygon Clipping Sutherland-Hodgman Algorithm</vt:lpstr>
      <vt:lpstr>Sutherland-Hodgman Algorithm</vt:lpstr>
      <vt:lpstr>Sutherland-Hodgman Algorithm</vt:lpstr>
      <vt:lpstr>Sutherland-Hodgman Algorithm</vt:lpstr>
      <vt:lpstr>Sutherland-Hodgman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bk2dean</dc:creator>
  <cp:lastModifiedBy>Ayesha Lima</cp:lastModifiedBy>
  <cp:revision>30</cp:revision>
  <dcterms:created xsi:type="dcterms:W3CDTF">2020-10-04T17:13:26Z</dcterms:created>
  <dcterms:modified xsi:type="dcterms:W3CDTF">2025-11-10T13:55:45Z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2020-10-04T00:00:00Z</vt:filetime>
  </property>
</Properties>
</file>