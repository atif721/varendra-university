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33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93" r:id="rId2"/>
  </p:sldMasterIdLst>
  <p:notesMasterIdLst>
    <p:notesMasterId r:id="rId24"/>
  </p:notesMasterIdLst>
  <p:handoutMasterIdLst>
    <p:handoutMasterId r:id="rId25"/>
  </p:handoutMasterIdLst>
  <p:sldIdLst>
    <p:sldId id="337" r:id="rId3"/>
    <p:sldId id="256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336" r:id="rId12"/>
    <p:sldId id="257" r:id="rId13"/>
    <p:sldId id="297" r:id="rId14"/>
    <p:sldId id="298" r:id="rId15"/>
    <p:sldId id="299" r:id="rId16"/>
    <p:sldId id="300" r:id="rId17"/>
    <p:sldId id="301" r:id="rId18"/>
    <p:sldId id="302" r:id="rId19"/>
    <p:sldId id="330" r:id="rId20"/>
    <p:sldId id="333" r:id="rId21"/>
    <p:sldId id="303" r:id="rId22"/>
    <p:sldId id="258" r:id="rId23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68" autoAdjust="0"/>
    <p:restoredTop sz="91294" autoAdjust="0"/>
  </p:normalViewPr>
  <p:slideViewPr>
    <p:cSldViewPr snapToGrid="0">
      <p:cViewPr varScale="1">
        <p:scale>
          <a:sx n="63" d="100"/>
          <a:sy n="63" d="100"/>
        </p:scale>
        <p:origin x="124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E7B9068D-BA9E-43FF-A368-093BCE3D4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3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C4D715CB-083A-4111-8E48-C9405A80A1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048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FAFE4323-D18E-4815-B6BC-96B14154688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AB370774-9B87-4886-A4B8-2ECD677AF1C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974134DA-C306-4F41-B761-50CCB423686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F49F8F6E-39EE-4B87-B531-7FDE8F30AED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DD00A835-36E6-4BE2-A3D9-1A5ACD3997C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F5D16A5A-D960-4EAA-8780-EB972DBCEAF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13D8C421-677D-4A3F-8726-1D7D5A91960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539889-FF9A-4117-A531-C4F1CF4D66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08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D1626D12-195F-443C-B96E-9ADF94C62D5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77539889-FF9A-4117-A531-C4F1CF4D662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2F940C62-E964-4ED3-B0B9-AF1C6BC74A9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B6A85D6A-0B61-4868-94DE-D49D8CE35C1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E7D40E1A-E3DA-4A6D-BE58-3C8819C7528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1A4853BB-12CC-453C-994E-6984A5D2948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7F3EE569-E30F-431D-B8BE-8C415086F6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6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560286192 w 4128"/>
              <a:gd name="T1" fmla="*/ 205697824 h 479"/>
              <a:gd name="T2" fmla="*/ 2147483647 w 4128"/>
              <a:gd name="T3" fmla="*/ 205697824 h 479"/>
              <a:gd name="T4" fmla="*/ 2147483647 w 4128"/>
              <a:gd name="T5" fmla="*/ 441221624 h 479"/>
              <a:gd name="T6" fmla="*/ 0 w 4128"/>
              <a:gd name="T7" fmla="*/ 453563757 h 479"/>
              <a:gd name="T8" fmla="*/ 560286192 w 4128"/>
              <a:gd name="T9" fmla="*/ 205697824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CEF57BA-0CA4-497A-83EA-0DD3451F22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3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841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348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76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82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691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86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895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094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591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47625"/>
            <a:ext cx="20383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47625"/>
            <a:ext cx="59626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5787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4762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36290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801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4762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1500" y="11144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36290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0236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1224447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7117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8547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8443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72867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7048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2402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842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31835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4106083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491240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20492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9773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81100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02137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35897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7466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71037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85617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995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3759200" y="6613525"/>
            <a:ext cx="137001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l">
              <a:spcBef>
                <a:spcPct val="50000"/>
              </a:spcBef>
              <a:defRPr/>
            </a:pPr>
            <a:r>
              <a:rPr lang="en-US" sz="1100" b="1"/>
              <a:t>www.ru.ac.bd/cse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950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050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Introduction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447800"/>
            <a:ext cx="7029450" cy="2324100"/>
          </a:xfrm>
        </p:spPr>
        <p:txBody>
          <a:bodyPr/>
          <a:lstStyle/>
          <a:p>
            <a:r>
              <a:rPr lang="en-US"/>
              <a:t>Purpose of Database Systems</a:t>
            </a:r>
          </a:p>
          <a:p>
            <a:r>
              <a:rPr lang="en-US"/>
              <a:t>View of Data</a:t>
            </a:r>
          </a:p>
          <a:p>
            <a:r>
              <a:rPr lang="en-US"/>
              <a:t>Data Models </a:t>
            </a:r>
          </a:p>
          <a:p>
            <a:r>
              <a:rPr lang="en-US"/>
              <a:t>Data Definition Language </a:t>
            </a:r>
          </a:p>
          <a:p>
            <a:r>
              <a:rPr lang="en-US"/>
              <a:t>Data Manipulation Language</a:t>
            </a:r>
          </a:p>
          <a:p>
            <a:pPr>
              <a:buFont typeface="Monotype Sorts" pitchFamily="2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vs. Information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Data:</a:t>
            </a:r>
          </a:p>
          <a:p>
            <a:pPr lvl="1"/>
            <a:r>
              <a:rPr lang="en-US" sz="1600"/>
              <a:t>Raw facts; building blocks of information</a:t>
            </a:r>
          </a:p>
          <a:p>
            <a:pPr lvl="1"/>
            <a:r>
              <a:rPr lang="en-US" sz="1600"/>
              <a:t>Unprocessed information</a:t>
            </a:r>
          </a:p>
          <a:p>
            <a:r>
              <a:rPr lang="en-US" sz="1800"/>
              <a:t>Information:</a:t>
            </a:r>
          </a:p>
          <a:p>
            <a:pPr lvl="1"/>
            <a:r>
              <a:rPr lang="en-US" sz="1600"/>
              <a:t>Data processed to reveal meaning</a:t>
            </a:r>
          </a:p>
          <a:p>
            <a:r>
              <a:rPr lang="en-US" sz="1800"/>
              <a:t>Accurate, relevant, and timely information is key for good decision making</a:t>
            </a:r>
          </a:p>
          <a:p>
            <a:r>
              <a:rPr lang="en-US" sz="1800"/>
              <a:t>Good decision making is the key for survival in a global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Transforming Raw Data into Information</a:t>
            </a:r>
          </a:p>
        </p:txBody>
      </p:sp>
      <p:pic>
        <p:nvPicPr>
          <p:cNvPr id="5123" name="Picture 3" descr="Fig01-0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80" r="59184" b="49986"/>
          <a:stretch>
            <a:fillRect/>
          </a:stretch>
        </p:blipFill>
        <p:spPr>
          <a:xfrm>
            <a:off x="0" y="831533"/>
            <a:ext cx="9144000" cy="5978842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3667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Transforming Raw Data into Information (continued)</a:t>
            </a:r>
          </a:p>
        </p:txBody>
      </p:sp>
      <p:pic>
        <p:nvPicPr>
          <p:cNvPr id="6147" name="Picture 3" descr="Fig01-0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4" t="10880" b="49986"/>
          <a:stretch>
            <a:fillRect/>
          </a:stretch>
        </p:blipFill>
        <p:spPr>
          <a:xfrm>
            <a:off x="0" y="976313"/>
            <a:ext cx="9144000" cy="5881687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4838" y="4683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Transforming Raw Data into Information (continued)</a:t>
            </a:r>
          </a:p>
        </p:txBody>
      </p:sp>
      <p:pic>
        <p:nvPicPr>
          <p:cNvPr id="7171" name="Picture 3" descr="Fig01-0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14" r="56557" b="1405"/>
          <a:stretch>
            <a:fillRect/>
          </a:stretch>
        </p:blipFill>
        <p:spPr>
          <a:xfrm>
            <a:off x="0" y="1077912"/>
            <a:ext cx="9265920" cy="5780087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6969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Transforming Raw Data into Information (continued)</a:t>
            </a:r>
          </a:p>
        </p:txBody>
      </p:sp>
      <p:pic>
        <p:nvPicPr>
          <p:cNvPr id="8195" name="Picture 3" descr="Fig01-0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41" t="50014"/>
          <a:stretch>
            <a:fillRect/>
          </a:stretch>
        </p:blipFill>
        <p:spPr>
          <a:xfrm>
            <a:off x="0" y="1513522"/>
            <a:ext cx="9144000" cy="5344477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33413" y="7143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Introducing the Database </a:t>
            </a:r>
            <a:br>
              <a:rPr lang="en-US"/>
            </a:br>
            <a:r>
              <a:rPr lang="en-US"/>
              <a:t>and the DBMS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0238" y="2478088"/>
            <a:ext cx="7848600" cy="1336675"/>
          </a:xfrm>
        </p:spPr>
        <p:txBody>
          <a:bodyPr/>
          <a:lstStyle/>
          <a:p>
            <a:r>
              <a:rPr lang="en-US" sz="2400"/>
              <a:t>Database—shared, integrated computer structure that stores:</a:t>
            </a:r>
          </a:p>
          <a:p>
            <a:pPr lvl="1"/>
            <a:r>
              <a:rPr lang="en-US" sz="2000"/>
              <a:t>End user data (raw facts)</a:t>
            </a:r>
          </a:p>
          <a:p>
            <a:pPr lvl="1"/>
            <a:r>
              <a:rPr lang="en-US" sz="2000"/>
              <a:t>Metadata (data about data)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61988" y="3524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Introducing the Database and the DBMS (continued)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DBMS (database management system):</a:t>
            </a:r>
          </a:p>
          <a:p>
            <a:pPr lvl="1"/>
            <a:r>
              <a:rPr lang="en-US" sz="2400"/>
              <a:t>Collection of programs that manages database structure and controls access to data</a:t>
            </a:r>
          </a:p>
          <a:p>
            <a:pPr lvl="1"/>
            <a:r>
              <a:rPr lang="en-US" sz="2400"/>
              <a:t>Possible to share data among multiple applications or users</a:t>
            </a:r>
          </a:p>
          <a:p>
            <a:pPr lvl="1"/>
            <a:r>
              <a:rPr lang="en-US" sz="2400"/>
              <a:t>Makes data management more efficient and effective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542925"/>
            <a:ext cx="7997825" cy="487363"/>
          </a:xfrm>
        </p:spPr>
        <p:txBody>
          <a:bodyPr/>
          <a:lstStyle/>
          <a:p>
            <a:pPr>
              <a:defRPr/>
            </a:pPr>
            <a:r>
              <a:rPr lang="en-US"/>
              <a:t>Role and Advantages of the DBMS (continued)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3B4C83-5412-4F87-AE32-FF8FAE299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070722"/>
            <a:ext cx="7429500" cy="524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46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666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Database Management System (DBMS)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endParaRPr lang="en-US"/>
          </a:p>
          <a:p>
            <a:r>
              <a:rPr lang="en-US"/>
              <a:t>Database Applications:</a:t>
            </a:r>
          </a:p>
          <a:p>
            <a:pPr lvl="1"/>
            <a:r>
              <a:rPr lang="en-US"/>
              <a:t>Banking: all transactions</a:t>
            </a:r>
          </a:p>
          <a:p>
            <a:pPr lvl="1"/>
            <a:r>
              <a:rPr lang="en-US"/>
              <a:t>Airlines: reservations, schedules</a:t>
            </a:r>
          </a:p>
          <a:p>
            <a:pPr lvl="1"/>
            <a:r>
              <a:rPr lang="en-US"/>
              <a:t>Universities:  registration, grades</a:t>
            </a:r>
          </a:p>
          <a:p>
            <a:pPr lvl="1"/>
            <a:r>
              <a:rPr lang="en-US"/>
              <a:t>Sales: customers, products, purchases</a:t>
            </a:r>
          </a:p>
          <a:p>
            <a:pPr lvl="1"/>
            <a:r>
              <a:rPr lang="en-US"/>
              <a:t>Manufacturing: production, inventory, orders, supply chain</a:t>
            </a:r>
          </a:p>
          <a:p>
            <a:pPr lvl="1"/>
            <a:r>
              <a:rPr lang="en-US"/>
              <a:t>Human resources:  employee records, salaries, tax deductions</a:t>
            </a:r>
          </a:p>
          <a:p>
            <a:r>
              <a:rPr lang="en-US"/>
              <a:t>Databases touch all aspects of our lives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371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Role and Advantages of the DBMS (continued)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End users have better access to more and better-managed data</a:t>
            </a:r>
          </a:p>
          <a:p>
            <a:pPr lvl="1"/>
            <a:r>
              <a:rPr lang="en-US" sz="2400"/>
              <a:t>Promotes integrated view of organization’s operations</a:t>
            </a:r>
          </a:p>
          <a:p>
            <a:pPr lvl="1"/>
            <a:r>
              <a:rPr lang="en-US" sz="2400"/>
              <a:t>Probability of data inconsistency is greatly reduced</a:t>
            </a:r>
          </a:p>
          <a:p>
            <a:pPr lvl="1"/>
            <a:r>
              <a:rPr lang="en-US" sz="2400"/>
              <a:t>Possible to produce quick answers to ad hoc queries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542925"/>
            <a:ext cx="7997825" cy="487363"/>
          </a:xfrm>
        </p:spPr>
        <p:txBody>
          <a:bodyPr/>
          <a:lstStyle/>
          <a:p>
            <a:pPr>
              <a:defRPr/>
            </a:pPr>
            <a:r>
              <a:rPr lang="en-US"/>
              <a:t>Role and Advantages of the DBMS (continued)</a:t>
            </a:r>
          </a:p>
        </p:txBody>
      </p:sp>
      <p:pic>
        <p:nvPicPr>
          <p:cNvPr id="13315" name="Picture 3" descr="Fig01-0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173480"/>
            <a:ext cx="9144000" cy="531876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Types of Databases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/>
              <a:t>Single-user:</a:t>
            </a:r>
          </a:p>
          <a:p>
            <a:pPr lvl="1"/>
            <a:r>
              <a:rPr lang="en-US" sz="2800"/>
              <a:t>Supports only one user at a time</a:t>
            </a:r>
          </a:p>
          <a:p>
            <a:r>
              <a:rPr lang="en-US" sz="3200"/>
              <a:t>Desktop:</a:t>
            </a:r>
          </a:p>
          <a:p>
            <a:pPr lvl="1"/>
            <a:r>
              <a:rPr lang="en-US" sz="2800"/>
              <a:t>Single-user database running on a personal computer</a:t>
            </a:r>
          </a:p>
          <a:p>
            <a:r>
              <a:rPr lang="en-US" sz="3200"/>
              <a:t>Multi-user:</a:t>
            </a:r>
          </a:p>
          <a:p>
            <a:pPr lvl="1"/>
            <a:r>
              <a:rPr lang="en-US" sz="2800"/>
              <a:t>Supports multiple users at the same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Types of Databases (continued)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/>
              <a:t>Workgroup:</a:t>
            </a:r>
          </a:p>
          <a:p>
            <a:pPr lvl="1"/>
            <a:r>
              <a:rPr lang="en-US" sz="3200"/>
              <a:t>Multi-user database that supports a small group of users or a single department</a:t>
            </a:r>
          </a:p>
          <a:p>
            <a:r>
              <a:rPr lang="en-US" sz="3600"/>
              <a:t>Enterprise:</a:t>
            </a:r>
          </a:p>
          <a:p>
            <a:pPr lvl="1"/>
            <a:r>
              <a:rPr lang="en-US" sz="3200"/>
              <a:t>Multi-user database that supports a large group of users or an entire organization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Types of Databases (continued)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3600"/>
              <a:t>Can be classified by location:</a:t>
            </a:r>
          </a:p>
          <a:p>
            <a:r>
              <a:rPr lang="en-US" sz="3600"/>
              <a:t>Centralized:</a:t>
            </a:r>
          </a:p>
          <a:p>
            <a:pPr lvl="1"/>
            <a:r>
              <a:rPr lang="en-US" sz="3200"/>
              <a:t>Supports data located at a single site</a:t>
            </a:r>
          </a:p>
          <a:p>
            <a:r>
              <a:rPr lang="en-US" sz="3600"/>
              <a:t>Distributed:</a:t>
            </a:r>
          </a:p>
          <a:p>
            <a:pPr lvl="1"/>
            <a:r>
              <a:rPr lang="en-US" sz="3200"/>
              <a:t>Supports data distributed across several sites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Types of Databases (continued)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1148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800" dirty="0"/>
              <a:t>Can be classified by use:</a:t>
            </a:r>
          </a:p>
          <a:p>
            <a:r>
              <a:rPr lang="en-US" sz="2800" dirty="0"/>
              <a:t>Transactional (or production):</a:t>
            </a:r>
          </a:p>
          <a:p>
            <a:pPr lvl="1"/>
            <a:r>
              <a:rPr lang="en-US" sz="2400" dirty="0"/>
              <a:t>Supports a company’s day-to-day operations</a:t>
            </a:r>
          </a:p>
          <a:p>
            <a:r>
              <a:rPr lang="en-US" sz="2800" dirty="0"/>
              <a:t>Data warehouse:</a:t>
            </a:r>
          </a:p>
          <a:p>
            <a:pPr lvl="1"/>
            <a:r>
              <a:rPr lang="en-US" sz="2400" dirty="0"/>
              <a:t>Stores data used to generate information required to make tactical or strategic decisions</a:t>
            </a:r>
          </a:p>
          <a:p>
            <a:pPr lvl="1"/>
            <a:r>
              <a:rPr lang="en-US" sz="2400" dirty="0"/>
              <a:t>Often used to store historical data</a:t>
            </a:r>
          </a:p>
          <a:p>
            <a:pPr lvl="1"/>
            <a:r>
              <a:rPr lang="en-US" sz="2400" dirty="0"/>
              <a:t>Structure is quite different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3388"/>
            <a:ext cx="9144000" cy="4124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5" name="Rectangle 1"/>
          <p:cNvSpPr>
            <a:spLocks noChangeArrowheads="1"/>
          </p:cNvSpPr>
          <p:nvPr/>
        </p:nvSpPr>
        <p:spPr bwMode="auto">
          <a:xfrm>
            <a:off x="2595563" y="4800600"/>
            <a:ext cx="4610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The basic architecture of a data warehouse</a:t>
            </a:r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2499519" y="5413058"/>
            <a:ext cx="48021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/>
              <a:t>Extract, transform, load (ETL)</a:t>
            </a:r>
          </a:p>
          <a:p>
            <a:r>
              <a:rPr lang="en-US" dirty="0"/>
              <a:t>Extract, load, transform (E-LT)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Purpose of Database System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143" y="840423"/>
            <a:ext cx="7580313" cy="609601"/>
          </a:xfrm>
        </p:spPr>
        <p:txBody>
          <a:bodyPr/>
          <a:lstStyle/>
          <a:p>
            <a:r>
              <a:rPr lang="en-US" dirty="0"/>
              <a:t>Office Records ort File Systems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AEBE9-B797-4C34-ADB8-D0E81CF41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077"/>
            <a:ext cx="9144000" cy="504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98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Why Database Design is Important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/>
              <a:t>Defines the database’s expected use</a:t>
            </a:r>
          </a:p>
          <a:p>
            <a:r>
              <a:rPr lang="en-US" sz="3200"/>
              <a:t>Different approach needed for different types of databases</a:t>
            </a:r>
          </a:p>
          <a:p>
            <a:r>
              <a:rPr lang="en-US" sz="3200"/>
              <a:t>Avoid redundant data</a:t>
            </a:r>
          </a:p>
          <a:p>
            <a:r>
              <a:rPr lang="en-US" sz="3200"/>
              <a:t>Poorly designed database generates errors </a:t>
            </a:r>
            <a:r>
              <a:rPr lang="en-US" sz="3200">
                <a:sym typeface="Wingdings" pitchFamily="2" charset="2"/>
              </a:rPr>
              <a:t> leads to </a:t>
            </a:r>
            <a:r>
              <a:rPr lang="en-US" sz="3200"/>
              <a:t>bad decisions </a:t>
            </a:r>
            <a:r>
              <a:rPr lang="en-US" sz="3200">
                <a:sym typeface="Wingdings" pitchFamily="2" charset="2"/>
              </a:rPr>
              <a:t> </a:t>
            </a:r>
            <a:r>
              <a:rPr lang="en-US" sz="3200"/>
              <a:t>can lead to failure of organization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Purpose of Database System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2090103"/>
            <a:ext cx="7580313" cy="153701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In the early days, database applications were built on top of file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MS_Template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MS_Templat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MS_Template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07E0A197365045BAADC1BA69E208F6" ma:contentTypeVersion="7" ma:contentTypeDescription="Create a new document." ma:contentTypeScope="" ma:versionID="50e3b56ed0b5328d7e479d584526dd68">
  <xsd:schema xmlns:xsd="http://www.w3.org/2001/XMLSchema" xmlns:xs="http://www.w3.org/2001/XMLSchema" xmlns:p="http://schemas.microsoft.com/office/2006/metadata/properties" xmlns:ns2="ddefad68-299a-45a1-aeb7-e6ae0d2d3333" targetNamespace="http://schemas.microsoft.com/office/2006/metadata/properties" ma:root="true" ma:fieldsID="673c24554e710447af16be272b637f7f" ns2:_="">
    <xsd:import namespace="ddefad68-299a-45a1-aeb7-e6ae0d2d33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efad68-299a-45a1-aeb7-e6ae0d2d3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89F3EF1-5386-4B63-BA1C-C76560D93BDF}"/>
</file>

<file path=customXml/itemProps2.xml><?xml version="1.0" encoding="utf-8"?>
<ds:datastoreItem xmlns:ds="http://schemas.openxmlformats.org/officeDocument/2006/customXml" ds:itemID="{6E224707-F57C-458A-83D1-167BF6DCA583}"/>
</file>

<file path=customXml/itemProps3.xml><?xml version="1.0" encoding="utf-8"?>
<ds:datastoreItem xmlns:ds="http://schemas.openxmlformats.org/officeDocument/2006/customXml" ds:itemID="{B283B73D-1E81-40E4-9DD8-39261610672C}"/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Settings\shamim\Application Data\Microsoft\Templates\DBMS_Template.pot</Template>
  <TotalTime>7268</TotalTime>
  <Words>533</Words>
  <Application>Microsoft Office PowerPoint</Application>
  <PresentationFormat>On-screen Show (4:3)</PresentationFormat>
  <Paragraphs>100</Paragraphs>
  <Slides>21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Helvetica</vt:lpstr>
      <vt:lpstr>Lucida Grande</vt:lpstr>
      <vt:lpstr>Monotype Sorts</vt:lpstr>
      <vt:lpstr>Times New Roman</vt:lpstr>
      <vt:lpstr>Verdana</vt:lpstr>
      <vt:lpstr>Wingdings</vt:lpstr>
      <vt:lpstr>DBMS_Template</vt:lpstr>
      <vt:lpstr>Office Theme</vt:lpstr>
      <vt:lpstr>Clip</vt:lpstr>
      <vt:lpstr>Database Management Systems</vt:lpstr>
      <vt:lpstr> Introduction</vt:lpstr>
      <vt:lpstr>Data vs. Information</vt:lpstr>
      <vt:lpstr>Transforming Raw Data into Information</vt:lpstr>
      <vt:lpstr>Transforming Raw Data into Information (continued)</vt:lpstr>
      <vt:lpstr>Transforming Raw Data into Information (continued)</vt:lpstr>
      <vt:lpstr>Transforming Raw Data into Information (continued)</vt:lpstr>
      <vt:lpstr>Introducing the Database  and the DBMS</vt:lpstr>
      <vt:lpstr>Introducing the Database and the DBMS (continued)</vt:lpstr>
      <vt:lpstr>Role and Advantages of the DBMS (continued)</vt:lpstr>
      <vt:lpstr>Database Management System (DBMS)</vt:lpstr>
      <vt:lpstr>Role and Advantages of the DBMS (continued)</vt:lpstr>
      <vt:lpstr>Role and Advantages of the DBMS (continued)</vt:lpstr>
      <vt:lpstr>Types of Databases</vt:lpstr>
      <vt:lpstr>Types of Databases (continued)</vt:lpstr>
      <vt:lpstr>Types of Databases (continued)</vt:lpstr>
      <vt:lpstr>Types of Databases (continued)</vt:lpstr>
      <vt:lpstr>PowerPoint Presentation</vt:lpstr>
      <vt:lpstr>Purpose of Database System</vt:lpstr>
      <vt:lpstr>Why Database Design is Important</vt:lpstr>
      <vt:lpstr>Purpose of Database System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CSE Head</cp:lastModifiedBy>
  <cp:revision>133</cp:revision>
  <cp:lastPrinted>2001-02-09T15:35:27Z</cp:lastPrinted>
  <dcterms:created xsi:type="dcterms:W3CDTF">1999-11-04T20:50:09Z</dcterms:created>
  <dcterms:modified xsi:type="dcterms:W3CDTF">2026-02-08T07:11:16Z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0x010100FB07E0A197365045BAADC1BA69E208F6</vt:lpwstr>
  </property>
</Properties>
</file>