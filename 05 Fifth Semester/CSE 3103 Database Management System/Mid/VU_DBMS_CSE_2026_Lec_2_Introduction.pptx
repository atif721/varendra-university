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27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93" r:id="rId2"/>
  </p:sldMasterIdLst>
  <p:notesMasterIdLst>
    <p:notesMasterId r:id="rId22"/>
  </p:notesMasterIdLst>
  <p:handoutMasterIdLst>
    <p:handoutMasterId r:id="rId23"/>
  </p:handoutMasterIdLst>
  <p:sldIdLst>
    <p:sldId id="256" r:id="rId3"/>
    <p:sldId id="315" r:id="rId4"/>
    <p:sldId id="316" r:id="rId5"/>
    <p:sldId id="324" r:id="rId6"/>
    <p:sldId id="325" r:id="rId7"/>
    <p:sldId id="326" r:id="rId8"/>
    <p:sldId id="327" r:id="rId9"/>
    <p:sldId id="328" r:id="rId10"/>
    <p:sldId id="329" r:id="rId11"/>
    <p:sldId id="338" r:id="rId12"/>
    <p:sldId id="280" r:id="rId13"/>
    <p:sldId id="260" r:id="rId14"/>
    <p:sldId id="339" r:id="rId15"/>
    <p:sldId id="281" r:id="rId16"/>
    <p:sldId id="283" r:id="rId17"/>
    <p:sldId id="289" r:id="rId18"/>
    <p:sldId id="284" r:id="rId19"/>
    <p:sldId id="287" r:id="rId20"/>
    <p:sldId id="263" r:id="rId21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68" autoAdjust="0"/>
    <p:restoredTop sz="91294" autoAdjust="0"/>
  </p:normalViewPr>
  <p:slideViewPr>
    <p:cSldViewPr snapToGrid="0">
      <p:cViewPr varScale="1">
        <p:scale>
          <a:sx n="63" d="100"/>
          <a:sy n="63" d="100"/>
        </p:scale>
        <p:origin x="124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E7B9068D-BA9E-43FF-A368-093BCE3D4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C4D715CB-083A-4111-8E48-C9405A80A1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048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300EB33C-4FB7-4143-9B43-97AA5E75AD7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AC000637-81A2-47AB-A8C4-1B81B6BEBF97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7044E921-6665-4F61-86E0-49963C25DE2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3323AE02-5681-4FF6-810E-B53A1C67957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302AF436-FA1D-48C4-9DCC-72FEF7181435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32337478-39C2-48A1-B9A4-A3A387BD914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B87D6AB2-4B1C-4AAA-9AF7-FCBB0B07975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1F749A80-9E94-47FD-8415-94762E58B5F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D793672B-C27C-40BA-9F19-794EDF600B2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13667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68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/>
            <a:r>
              <a:rPr lang="en-US" sz="1000" i="1">
                <a:latin typeface="Times New Roman" pitchFamily="18" charset="0"/>
              </a:rPr>
              <a:t>7</a:t>
            </a:r>
          </a:p>
        </p:txBody>
      </p:sp>
      <p:sp>
        <p:nvSpPr>
          <p:cNvPr id="113669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0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1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noFill/>
          <a:ln w="12700" cap="flat">
            <a:solidFill>
              <a:schemeClr val="tx1"/>
            </a:solidFill>
          </a:ln>
        </p:spPr>
      </p:sp>
      <p:sp>
        <p:nvSpPr>
          <p:cNvPr id="113672" name="Rectangle 7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560286192 w 4128"/>
              <a:gd name="T1" fmla="*/ 205697824 h 479"/>
              <a:gd name="T2" fmla="*/ 2147483647 w 4128"/>
              <a:gd name="T3" fmla="*/ 205697824 h 479"/>
              <a:gd name="T4" fmla="*/ 2147483647 w 4128"/>
              <a:gd name="T5" fmla="*/ 441221624 h 479"/>
              <a:gd name="T6" fmla="*/ 0 w 4128"/>
              <a:gd name="T7" fmla="*/ 453563757 h 479"/>
              <a:gd name="T8" fmla="*/ 560286192 w 4128"/>
              <a:gd name="T9" fmla="*/ 205697824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CEF57BA-0CA4-497A-83EA-0DD3451F22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3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841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348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76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82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691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86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895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094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591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5787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801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0236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3028798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85415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5592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1050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7537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3699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128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407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853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2227313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176627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0250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9188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87200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193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58977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78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08278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74197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502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3759200" y="6613525"/>
            <a:ext cx="137001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l">
              <a:spcBef>
                <a:spcPct val="50000"/>
              </a:spcBef>
              <a:defRPr/>
            </a:pPr>
            <a:r>
              <a:rPr lang="en-US" sz="1100" b="1"/>
              <a:t>www.ru.ac.bd/cse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211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cid:string,fname:stri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524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/>
              <a:t>Languages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Every task requires extensive programming in a third-generation language (3GL)</a:t>
            </a:r>
          </a:p>
          <a:p>
            <a:pPr lvl="1"/>
            <a:r>
              <a:rPr lang="en-US" sz="2400" dirty="0"/>
              <a:t>Programmer must </a:t>
            </a:r>
            <a:r>
              <a:rPr lang="en-US" sz="2400" b="1" dirty="0">
                <a:solidFill>
                  <a:srgbClr val="FF0000"/>
                </a:solidFill>
              </a:rPr>
              <a:t>specify task and how it must be done</a:t>
            </a:r>
          </a:p>
          <a:p>
            <a:r>
              <a:rPr lang="en-US" sz="2800" dirty="0"/>
              <a:t>Modern databases use fourth-generation languages (4GL)</a:t>
            </a:r>
          </a:p>
          <a:p>
            <a:pPr lvl="1"/>
            <a:r>
              <a:rPr lang="en-US" sz="2400" dirty="0"/>
              <a:t>Allow users to </a:t>
            </a:r>
            <a:r>
              <a:rPr lang="en-US" sz="2400" b="1" dirty="0">
                <a:solidFill>
                  <a:srgbClr val="FF0000"/>
                </a:solidFill>
              </a:rPr>
              <a:t>specify what must be done </a:t>
            </a:r>
            <a:r>
              <a:rPr lang="en-US" sz="2400" dirty="0"/>
              <a:t>without specifying </a:t>
            </a:r>
            <a:r>
              <a:rPr lang="en-US" sz="2400" b="1" dirty="0">
                <a:solidFill>
                  <a:srgbClr val="FF0000"/>
                </a:solidFill>
              </a:rPr>
              <a:t>how it is to be done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6762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Problems with File System </a:t>
            </a:r>
            <a:br>
              <a:rPr lang="en-US"/>
            </a:br>
            <a:r>
              <a:rPr lang="en-US"/>
              <a:t>Data Management</a:t>
            </a:r>
          </a:p>
        </p:txBody>
      </p:sp>
      <p:pic>
        <p:nvPicPr>
          <p:cNvPr id="34819" name="Picture 3" descr="Tbl01-0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524000"/>
            <a:ext cx="9144000" cy="533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990600" y="1905000"/>
            <a:ext cx="7239000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>
              <a:spcBef>
                <a:spcPct val="20000"/>
              </a:spcBef>
              <a:buClr>
                <a:srgbClr val="FF6600"/>
              </a:buClr>
              <a:buSzPct val="75000"/>
              <a:buFont typeface="Monotype Sorts" pitchFamily="2" charset="2"/>
              <a:buNone/>
            </a:pPr>
            <a:br>
              <a:rPr lang="en-US" sz="2800">
                <a:solidFill>
                  <a:srgbClr val="00009C"/>
                </a:solidFill>
                <a:latin typeface="Arial" pitchFamily="34" charset="0"/>
              </a:rPr>
            </a:br>
            <a:endParaRPr lang="en-US" sz="2800">
              <a:solidFill>
                <a:srgbClr val="00009C"/>
              </a:solidFill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Database System Environment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4850" y="1485900"/>
            <a:ext cx="7772400" cy="4114800"/>
          </a:xfrm>
        </p:spPr>
        <p:txBody>
          <a:bodyPr/>
          <a:lstStyle/>
          <a:p>
            <a:r>
              <a:rPr lang="en-US" sz="2800"/>
              <a:t>Database system is composed of five      main parts:</a:t>
            </a:r>
          </a:p>
          <a:p>
            <a:pPr lvl="1"/>
            <a:r>
              <a:rPr lang="en-US" sz="2000"/>
              <a:t>Hardware</a:t>
            </a:r>
          </a:p>
          <a:p>
            <a:pPr lvl="1"/>
            <a:r>
              <a:rPr lang="en-US" sz="2000"/>
              <a:t>Software</a:t>
            </a:r>
          </a:p>
          <a:p>
            <a:pPr marL="1143000" lvl="2"/>
            <a:r>
              <a:rPr lang="en-US" sz="2000"/>
              <a:t>Operating system software</a:t>
            </a:r>
          </a:p>
          <a:p>
            <a:pPr marL="1143000" lvl="2"/>
            <a:r>
              <a:rPr lang="en-US" sz="2000"/>
              <a:t>DBMS software</a:t>
            </a:r>
          </a:p>
          <a:p>
            <a:pPr marL="1143000" lvl="2"/>
            <a:r>
              <a:rPr lang="en-US" sz="2000"/>
              <a:t>Application programs and utility software</a:t>
            </a:r>
          </a:p>
          <a:p>
            <a:pPr lvl="1"/>
            <a:r>
              <a:rPr lang="en-US" sz="2000"/>
              <a:t>People</a:t>
            </a:r>
          </a:p>
          <a:p>
            <a:pPr lvl="1"/>
            <a:r>
              <a:rPr lang="en-US" sz="2000"/>
              <a:t>Procedures</a:t>
            </a:r>
          </a:p>
          <a:p>
            <a:pPr lvl="1"/>
            <a:r>
              <a:rPr lang="en-US" sz="2000"/>
              <a:t>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504825"/>
            <a:ext cx="8077200" cy="487363"/>
          </a:xfrm>
        </p:spPr>
        <p:txBody>
          <a:bodyPr/>
          <a:lstStyle/>
          <a:p>
            <a:pPr>
              <a:defRPr/>
            </a:pPr>
            <a:r>
              <a:rPr lang="en-US" sz="2800"/>
              <a:t>The Database System Environment (</a:t>
            </a:r>
            <a:r>
              <a:rPr lang="en-US" sz="2400"/>
              <a:t>continued</a:t>
            </a:r>
            <a:r>
              <a:rPr lang="en-US" sz="2800"/>
              <a:t>)</a:t>
            </a:r>
          </a:p>
        </p:txBody>
      </p:sp>
      <p:pic>
        <p:nvPicPr>
          <p:cNvPr id="44035" name="Picture 3" descr="Fig01-07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219200"/>
            <a:ext cx="9144000" cy="56388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DBMS Functions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/>
              <a:t>DBMS performs functions that guarantee integrity and consistency of data</a:t>
            </a:r>
          </a:p>
          <a:p>
            <a:pPr lvl="1"/>
            <a:r>
              <a:rPr lang="en-US" sz="2800" dirty="0"/>
              <a:t>Data </a:t>
            </a:r>
            <a:r>
              <a:rPr lang="en-US" sz="2800" b="1" dirty="0">
                <a:solidFill>
                  <a:srgbClr val="FF0000"/>
                </a:solidFill>
              </a:rPr>
              <a:t>dictionary</a:t>
            </a:r>
            <a:r>
              <a:rPr lang="en-US" sz="2800" dirty="0"/>
              <a:t> management</a:t>
            </a:r>
          </a:p>
          <a:p>
            <a:pPr marL="1143000" lvl="2"/>
            <a:r>
              <a:rPr lang="en-US" sz="2800" dirty="0"/>
              <a:t>defines data elements and their relationships</a:t>
            </a:r>
          </a:p>
          <a:p>
            <a:pPr lvl="1"/>
            <a:r>
              <a:rPr lang="en-US" sz="2800" dirty="0"/>
              <a:t>Data </a:t>
            </a:r>
            <a:r>
              <a:rPr lang="en-US" sz="2800" b="1" dirty="0">
                <a:solidFill>
                  <a:srgbClr val="FF0000"/>
                </a:solidFill>
              </a:rPr>
              <a:t>storage</a:t>
            </a:r>
            <a:r>
              <a:rPr lang="en-US" sz="2800" dirty="0"/>
              <a:t> management</a:t>
            </a:r>
          </a:p>
          <a:p>
            <a:pPr marL="1143000" lvl="2"/>
            <a:r>
              <a:rPr lang="en-US" sz="2800" dirty="0"/>
              <a:t>stores data and related data entry forms, report definitions,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DBMS Functions (continued)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2800" dirty="0"/>
              <a:t>Data transformation and presentation</a:t>
            </a:r>
          </a:p>
          <a:p>
            <a:pPr marL="1143000" lvl="2"/>
            <a:r>
              <a:rPr lang="en-US" sz="2800" dirty="0"/>
              <a:t>translates </a:t>
            </a:r>
            <a:r>
              <a:rPr lang="en-US" sz="2800" b="1" dirty="0">
                <a:solidFill>
                  <a:srgbClr val="FF0000"/>
                </a:solidFill>
              </a:rPr>
              <a:t>logical requests </a:t>
            </a:r>
            <a:r>
              <a:rPr lang="en-US" sz="2800" dirty="0"/>
              <a:t>into commands </a:t>
            </a:r>
            <a:r>
              <a:rPr lang="en-US" sz="2800" b="1" dirty="0">
                <a:solidFill>
                  <a:srgbClr val="002060"/>
                </a:solidFill>
              </a:rPr>
              <a:t>to physically locate </a:t>
            </a:r>
            <a:r>
              <a:rPr lang="en-US" sz="2800" dirty="0"/>
              <a:t>and retrieve the requested data</a:t>
            </a:r>
          </a:p>
          <a:p>
            <a:pPr lvl="1"/>
            <a:r>
              <a:rPr lang="en-US" sz="2800" dirty="0"/>
              <a:t>Security management</a:t>
            </a:r>
          </a:p>
          <a:p>
            <a:pPr marL="1143000" lvl="2"/>
            <a:r>
              <a:rPr lang="en-US" sz="2800" dirty="0"/>
              <a:t>enforces </a:t>
            </a:r>
            <a:r>
              <a:rPr lang="en-US" sz="2800" b="1" dirty="0">
                <a:solidFill>
                  <a:srgbClr val="FF0000"/>
                </a:solidFill>
              </a:rPr>
              <a:t>user security and data privacy </a:t>
            </a:r>
            <a:r>
              <a:rPr lang="en-US" sz="2800" dirty="0"/>
              <a:t>within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DBMS Functions (continued)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2400" dirty="0"/>
              <a:t>Multiuser access control</a:t>
            </a:r>
          </a:p>
          <a:p>
            <a:pPr marL="1143000" lvl="2"/>
            <a:r>
              <a:rPr lang="en-US" sz="2400" dirty="0"/>
              <a:t>uses sophisticated algorithms to ensure multiple users can access the database </a:t>
            </a:r>
            <a:r>
              <a:rPr lang="en-US" sz="2400" b="1" dirty="0">
                <a:solidFill>
                  <a:srgbClr val="FF0000"/>
                </a:solidFill>
              </a:rPr>
              <a:t>concurrently</a:t>
            </a:r>
            <a:r>
              <a:rPr lang="en-US" sz="2400" dirty="0"/>
              <a:t> without compromising the integrity of the database </a:t>
            </a:r>
          </a:p>
          <a:p>
            <a:pPr lvl="1"/>
            <a:r>
              <a:rPr lang="en-US" sz="2400" dirty="0"/>
              <a:t>Backup and recovery management</a:t>
            </a:r>
          </a:p>
          <a:p>
            <a:pPr marL="1143000" lvl="2"/>
            <a:r>
              <a:rPr lang="en-US" sz="2400" dirty="0"/>
              <a:t>provides </a:t>
            </a:r>
            <a:r>
              <a:rPr lang="en-US" sz="2400" b="1" dirty="0">
                <a:solidFill>
                  <a:srgbClr val="FF0000"/>
                </a:solidFill>
              </a:rPr>
              <a:t>backup and data recovery </a:t>
            </a:r>
            <a:r>
              <a:rPr lang="en-US" sz="2400" dirty="0"/>
              <a:t>procedures </a:t>
            </a:r>
          </a:p>
          <a:p>
            <a:pPr lvl="1"/>
            <a:r>
              <a:rPr lang="en-US" sz="2400" dirty="0"/>
              <a:t>Data integrity management</a:t>
            </a:r>
          </a:p>
          <a:p>
            <a:pPr marL="1143000" lvl="2"/>
            <a:r>
              <a:rPr lang="en-US" sz="2400" dirty="0"/>
              <a:t>promotes and enforces </a:t>
            </a:r>
            <a:r>
              <a:rPr lang="en-US" sz="2400" b="1" dirty="0">
                <a:solidFill>
                  <a:srgbClr val="FF0000"/>
                </a:solidFill>
              </a:rPr>
              <a:t>integrity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DBMS Functions (continued)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2800" dirty="0"/>
              <a:t>Database access languages and application programming interfaces</a:t>
            </a:r>
          </a:p>
          <a:p>
            <a:pPr marL="1143000" lvl="2"/>
            <a:r>
              <a:rPr lang="en-US" sz="2800" dirty="0"/>
              <a:t>provide data access through a </a:t>
            </a:r>
            <a:r>
              <a:rPr lang="en-US" sz="2800" b="1" dirty="0"/>
              <a:t>query language</a:t>
            </a:r>
          </a:p>
          <a:p>
            <a:pPr lvl="1"/>
            <a:r>
              <a:rPr lang="en-US" sz="2800" dirty="0"/>
              <a:t>Database communication interfaces</a:t>
            </a:r>
          </a:p>
          <a:p>
            <a:pPr marL="1143000" lvl="2"/>
            <a:r>
              <a:rPr lang="en-US" sz="2800" dirty="0"/>
              <a:t>allow database to accept end-user requests via </a:t>
            </a:r>
            <a:r>
              <a:rPr lang="en-US" sz="2800" b="1" dirty="0">
                <a:solidFill>
                  <a:srgbClr val="FF0000"/>
                </a:solidFill>
              </a:rPr>
              <a:t>multiple, different network environments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5D17-E055-47EE-8995-77BC2FD1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Abstraction</a:t>
            </a:r>
          </a:p>
        </p:txBody>
      </p:sp>
    </p:spTree>
    <p:extLst>
      <p:ext uri="{BB962C8B-B14F-4D97-AF65-F5344CB8AC3E}">
        <p14:creationId xmlns:p14="http://schemas.microsoft.com/office/powerpoint/2010/main" val="1582145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Data Abstraction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931545"/>
            <a:ext cx="7848600" cy="3257550"/>
          </a:xfrm>
        </p:spPr>
        <p:txBody>
          <a:bodyPr/>
          <a:lstStyle/>
          <a:p>
            <a:r>
              <a:rPr lang="en-US" sz="2400" dirty="0"/>
              <a:t>Major aim of a DBMS is to provide users with an abstract view of data</a:t>
            </a:r>
          </a:p>
          <a:p>
            <a:r>
              <a:rPr lang="en-US" sz="2400" dirty="0"/>
              <a:t>Hides certain details of how the data are stored &amp; maintained</a:t>
            </a:r>
          </a:p>
          <a:p>
            <a:pPr algn="just">
              <a:lnSpc>
                <a:spcPct val="80000"/>
              </a:lnSpc>
            </a:pPr>
            <a:r>
              <a:rPr lang="en-US" sz="2400" dirty="0"/>
              <a:t>DBMS must retrieve data efficiently</a:t>
            </a:r>
          </a:p>
          <a:p>
            <a:pPr algn="just">
              <a:lnSpc>
                <a:spcPct val="80000"/>
              </a:lnSpc>
            </a:pPr>
            <a:r>
              <a:rPr lang="en-US" sz="2400" dirty="0"/>
              <a:t>Need for efficiency has led designers to use complex data structures to represent the data in the database</a:t>
            </a:r>
          </a:p>
          <a:p>
            <a:pPr algn="just">
              <a:lnSpc>
                <a:spcPct val="80000"/>
              </a:lnSpc>
            </a:pPr>
            <a:r>
              <a:rPr lang="en-US" sz="2400" dirty="0"/>
              <a:t>Most DB users are not computer trained, developers hide complexity through several levels of abstraction to simplify user’s interaction with the systems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Levels of Abstraction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/>
              <a:t>Physical level describes how a record (e.g., customer) is stored.</a:t>
            </a:r>
          </a:p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/>
              <a:t>Logical level: describes data stored in database, and the relationships among the data.</a:t>
            </a:r>
          </a:p>
          <a:p>
            <a:pPr>
              <a:buFont typeface="Monotype Sorts" pitchFamily="2" charset="2"/>
              <a:buNone/>
              <a:tabLst>
                <a:tab pos="1820863" algn="l"/>
                <a:tab pos="3659188" algn="l"/>
                <a:tab pos="3943350" algn="l"/>
              </a:tabLst>
            </a:pPr>
            <a:r>
              <a:rPr lang="en-US"/>
              <a:t>		</a:t>
            </a:r>
            <a:r>
              <a:rPr lang="en-US" b="1"/>
              <a:t>type</a:t>
            </a:r>
            <a:r>
              <a:rPr lang="en-US"/>
              <a:t> customer = </a:t>
            </a:r>
            <a:r>
              <a:rPr lang="en-US" b="1"/>
              <a:t>record</a:t>
            </a:r>
            <a:br>
              <a:rPr lang="en-US"/>
            </a:br>
            <a:r>
              <a:rPr lang="en-US"/>
              <a:t>			</a:t>
            </a:r>
            <a:r>
              <a:rPr lang="en-US" i="1"/>
              <a:t>name</a:t>
            </a:r>
            <a:r>
              <a:rPr lang="en-US"/>
              <a:t> : string;</a:t>
            </a:r>
            <a:br>
              <a:rPr lang="en-US"/>
            </a:br>
            <a:r>
              <a:rPr lang="en-US"/>
              <a:t>			</a:t>
            </a:r>
            <a:r>
              <a:rPr lang="en-US" i="1"/>
              <a:t>street</a:t>
            </a:r>
            <a:r>
              <a:rPr lang="en-US"/>
              <a:t> : string;</a:t>
            </a:r>
            <a:br>
              <a:rPr lang="en-US"/>
            </a:br>
            <a:r>
              <a:rPr lang="en-US"/>
              <a:t>			</a:t>
            </a:r>
            <a:r>
              <a:rPr lang="en-US" i="1"/>
              <a:t>city</a:t>
            </a:r>
            <a:r>
              <a:rPr lang="en-US"/>
              <a:t> : integer;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end</a:t>
            </a:r>
            <a:r>
              <a:rPr lang="en-US"/>
              <a:t>;</a:t>
            </a:r>
          </a:p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/>
              <a:t>View level: application programs hide details of data types.  Views can also hide information (e.g., salary) for security purposes.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Levels of Abstraction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/>
              <a:t>Physical level describes how a record (e.g., customer) is stored.</a:t>
            </a:r>
          </a:p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/>
              <a:t>Logical level: describes data stored in database, and the relationships among the data.</a:t>
            </a:r>
          </a:p>
          <a:p>
            <a:pPr>
              <a:buFont typeface="Monotype Sorts" pitchFamily="2" charset="2"/>
              <a:buNone/>
              <a:tabLst>
                <a:tab pos="1820863" algn="l"/>
                <a:tab pos="3659188" algn="l"/>
                <a:tab pos="3943350" algn="l"/>
              </a:tabLst>
            </a:pPr>
            <a:r>
              <a:rPr lang="en-US"/>
              <a:t>		</a:t>
            </a:r>
            <a:r>
              <a:rPr lang="en-US" b="1"/>
              <a:t>type</a:t>
            </a:r>
            <a:r>
              <a:rPr lang="en-US"/>
              <a:t> customer = </a:t>
            </a:r>
            <a:r>
              <a:rPr lang="en-US" b="1"/>
              <a:t>record</a:t>
            </a:r>
            <a:br>
              <a:rPr lang="en-US"/>
            </a:br>
            <a:r>
              <a:rPr lang="en-US"/>
              <a:t>			</a:t>
            </a:r>
            <a:r>
              <a:rPr lang="en-US" i="1"/>
              <a:t>name</a:t>
            </a:r>
            <a:r>
              <a:rPr lang="en-US"/>
              <a:t> : string;</a:t>
            </a:r>
            <a:br>
              <a:rPr lang="en-US"/>
            </a:br>
            <a:r>
              <a:rPr lang="en-US"/>
              <a:t>			</a:t>
            </a:r>
            <a:r>
              <a:rPr lang="en-US" i="1"/>
              <a:t>street</a:t>
            </a:r>
            <a:r>
              <a:rPr lang="en-US"/>
              <a:t> : string;</a:t>
            </a:r>
            <a:br>
              <a:rPr lang="en-US"/>
            </a:br>
            <a:r>
              <a:rPr lang="en-US"/>
              <a:t>			</a:t>
            </a:r>
            <a:r>
              <a:rPr lang="en-US" i="1"/>
              <a:t>city</a:t>
            </a:r>
            <a:r>
              <a:rPr lang="en-US"/>
              <a:t> : integer;</a:t>
            </a:r>
            <a:br>
              <a:rPr lang="en-US"/>
            </a:br>
            <a:r>
              <a:rPr lang="en-US"/>
              <a:t>		</a:t>
            </a:r>
            <a:r>
              <a:rPr lang="en-US" b="1"/>
              <a:t>end</a:t>
            </a:r>
            <a:r>
              <a:rPr lang="en-US"/>
              <a:t>;</a:t>
            </a:r>
          </a:p>
          <a:p>
            <a:pPr>
              <a:tabLst>
                <a:tab pos="1820863" algn="l"/>
                <a:tab pos="3659188" algn="l"/>
                <a:tab pos="3943350" algn="l"/>
              </a:tabLst>
            </a:pPr>
            <a:r>
              <a:rPr lang="en-US"/>
              <a:t>View level: application programs hide details of data types.  Views can also hide information (e.g., salary) for security purposes.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64B63F-EBBE-484C-BD61-2C58AB833BE5}"/>
              </a:ext>
            </a:extLst>
          </p:cNvPr>
          <p:cNvSpPr/>
          <p:nvPr/>
        </p:nvSpPr>
        <p:spPr bwMode="auto">
          <a:xfrm>
            <a:off x="552450" y="1600200"/>
            <a:ext cx="8020050" cy="231648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269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47700" y="306388"/>
            <a:ext cx="8077200" cy="350837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3 </a:t>
            </a:r>
            <a:r>
              <a:rPr lang="en-US"/>
              <a:t>Levels of Abstraction</a:t>
            </a:r>
            <a:r>
              <a:rPr lang="en-US" sz="3600" b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</a:p>
        </p:txBody>
      </p:sp>
      <p:sp>
        <p:nvSpPr>
          <p:cNvPr id="512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09600" y="1123950"/>
            <a:ext cx="8110538" cy="44577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800" b="1" dirty="0"/>
              <a:t>Logical or Conceptual Level</a:t>
            </a:r>
          </a:p>
          <a:p>
            <a:pPr lvl="1" algn="just">
              <a:lnSpc>
                <a:spcPct val="90000"/>
              </a:lnSpc>
            </a:pPr>
            <a:r>
              <a:rPr lang="en-US" sz="2400" dirty="0"/>
              <a:t>Describes what data are stored in the DB &amp; what relationships exist among those data</a:t>
            </a:r>
          </a:p>
          <a:p>
            <a:pPr lvl="1" algn="just">
              <a:lnSpc>
                <a:spcPct val="90000"/>
              </a:lnSpc>
            </a:pPr>
            <a:r>
              <a:rPr lang="en-US" sz="2400" dirty="0"/>
              <a:t>Describes the entire DB in terms of relatively simpler structures </a:t>
            </a:r>
          </a:p>
          <a:p>
            <a:pPr lvl="1" algn="just">
              <a:lnSpc>
                <a:spcPct val="90000"/>
              </a:lnSpc>
            </a:pPr>
            <a:r>
              <a:rPr lang="en-US" sz="2400" dirty="0"/>
              <a:t>Implementation of these simple structures at this level may involve complex physical-level structures</a:t>
            </a:r>
          </a:p>
          <a:p>
            <a:pPr lvl="1" algn="just">
              <a:lnSpc>
                <a:spcPct val="90000"/>
              </a:lnSpc>
            </a:pPr>
            <a:r>
              <a:rPr lang="en-US" sz="2400" dirty="0"/>
              <a:t>Users of the logical level need not be aware of this complexity</a:t>
            </a:r>
          </a:p>
          <a:p>
            <a:pPr lvl="1" algn="just">
              <a:lnSpc>
                <a:spcPct val="90000"/>
              </a:lnSpc>
            </a:pPr>
            <a:r>
              <a:rPr lang="en-US" sz="2400" dirty="0"/>
              <a:t>DBAs, who decide what information to keep in DB, use the logical level of abstraction</a:t>
            </a:r>
          </a:p>
          <a:p>
            <a:pPr algn="just">
              <a:lnSpc>
                <a:spcPct val="90000"/>
              </a:lnSpc>
            </a:pPr>
            <a:endParaRPr lang="en-US" sz="2800" dirty="0"/>
          </a:p>
          <a:p>
            <a:pPr algn="just">
              <a:lnSpc>
                <a:spcPct val="90000"/>
              </a:lnSpc>
              <a:buFont typeface="Monotype Sorts" pitchFamily="2" charset="2"/>
              <a:buNone/>
            </a:pPr>
            <a:endParaRPr lang="en-US" sz="140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050"/>
          <p:cNvSpPr>
            <a:spLocks noChangeArrowheads="1"/>
          </p:cNvSpPr>
          <p:nvPr/>
        </p:nvSpPr>
        <p:spPr bwMode="auto">
          <a:xfrm>
            <a:off x="838200" y="57150"/>
            <a:ext cx="77724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l"/>
            <a:r>
              <a:rPr lang="en-US" sz="2400" b="1">
                <a:latin typeface="Times New Roman" pitchFamily="18" charset="0"/>
              </a:rPr>
              <a:t>Levels of Abstraction</a:t>
            </a:r>
          </a:p>
        </p:txBody>
      </p:sp>
      <p:sp>
        <p:nvSpPr>
          <p:cNvPr id="53251" name="Rectangle 2051"/>
          <p:cNvSpPr>
            <a:spLocks noChangeArrowheads="1"/>
          </p:cNvSpPr>
          <p:nvPr/>
        </p:nvSpPr>
        <p:spPr bwMode="auto">
          <a:xfrm>
            <a:off x="457200" y="1905000"/>
            <a:ext cx="4648200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sz="2400" b="1">
                <a:latin typeface="Times New Roman" pitchFamily="18" charset="0"/>
              </a:rPr>
              <a:t>Many </a:t>
            </a:r>
            <a:r>
              <a:rPr lang="en-US" sz="2400" b="1" i="1" u="sng">
                <a:latin typeface="Times New Roman" pitchFamily="18" charset="0"/>
              </a:rPr>
              <a:t>views</a:t>
            </a:r>
            <a:r>
              <a:rPr lang="en-US" sz="2400" b="1">
                <a:latin typeface="Times New Roman" pitchFamily="18" charset="0"/>
              </a:rPr>
              <a:t>, single </a:t>
            </a:r>
            <a:r>
              <a:rPr lang="en-US" sz="2400" b="1" i="1" u="sng">
                <a:latin typeface="Times New Roman" pitchFamily="18" charset="0"/>
              </a:rPr>
              <a:t>conceptual (logical) schema</a:t>
            </a:r>
            <a:r>
              <a:rPr lang="en-US" sz="2400" b="1" i="1">
                <a:latin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</a:rPr>
              <a:t>and </a:t>
            </a:r>
            <a:r>
              <a:rPr lang="en-US" sz="2400" b="1" i="1" u="sng">
                <a:latin typeface="Times New Roman" pitchFamily="18" charset="0"/>
              </a:rPr>
              <a:t>physical schema</a:t>
            </a:r>
            <a:r>
              <a:rPr lang="en-US" sz="2400" b="1">
                <a:latin typeface="Times New Roman" pitchFamily="18" charset="0"/>
              </a:rPr>
              <a:t>.</a:t>
            </a:r>
          </a:p>
          <a:p>
            <a:pPr lvl="1" algn="l"/>
            <a:r>
              <a:rPr lang="en-US" b="1">
                <a:latin typeface="Times New Roman" pitchFamily="18" charset="0"/>
              </a:rPr>
              <a:t>Views describe how users see the data.                                        </a:t>
            </a:r>
          </a:p>
          <a:p>
            <a:pPr lvl="1" algn="l"/>
            <a:r>
              <a:rPr lang="en-US" b="1">
                <a:latin typeface="Times New Roman" pitchFamily="18" charset="0"/>
              </a:rPr>
              <a:t>Conceptual schema defines logical structure</a:t>
            </a:r>
          </a:p>
          <a:p>
            <a:pPr lvl="1" algn="l"/>
            <a:r>
              <a:rPr lang="en-US" b="1">
                <a:latin typeface="Times New Roman" pitchFamily="18" charset="0"/>
              </a:rPr>
              <a:t>Physical schema describes the files and indexes used.</a:t>
            </a:r>
          </a:p>
        </p:txBody>
      </p:sp>
      <p:sp>
        <p:nvSpPr>
          <p:cNvPr id="53252" name="Rectangle 2052"/>
          <p:cNvSpPr>
            <a:spLocks noChangeArrowheads="1"/>
          </p:cNvSpPr>
          <p:nvPr/>
        </p:nvSpPr>
        <p:spPr bwMode="auto">
          <a:xfrm>
            <a:off x="284163" y="5646738"/>
            <a:ext cx="553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3" name="Rectangle 2053"/>
          <p:cNvSpPr>
            <a:spLocks noChangeArrowheads="1"/>
          </p:cNvSpPr>
          <p:nvPr/>
        </p:nvSpPr>
        <p:spPr bwMode="auto">
          <a:xfrm>
            <a:off x="720725" y="5794375"/>
            <a:ext cx="5605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4" name="Rectangle 2054"/>
          <p:cNvSpPr>
            <a:spLocks noChangeArrowheads="1"/>
          </p:cNvSpPr>
          <p:nvPr/>
        </p:nvSpPr>
        <p:spPr bwMode="auto">
          <a:xfrm>
            <a:off x="838200" y="5715000"/>
            <a:ext cx="8310563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>
              <a:buFont typeface="Monotype Sorts" pitchFamily="2" charset="2"/>
              <a:buChar char="*"/>
            </a:pPr>
            <a:r>
              <a:rPr lang="en-US" sz="2000" i="1">
                <a:latin typeface="Book Antiqua" pitchFamily="18" charset="0"/>
              </a:rPr>
              <a:t> </a:t>
            </a:r>
            <a:r>
              <a:rPr lang="en-US" sz="2000" b="1" i="1">
                <a:latin typeface="Book Antiqua" pitchFamily="18" charset="0"/>
              </a:rPr>
              <a:t>Schemas are defined using DDL; data is modified/queried</a:t>
            </a:r>
            <a:r>
              <a:rPr lang="en-US" sz="2000" i="1">
                <a:latin typeface="Book Antiqua" pitchFamily="18" charset="0"/>
              </a:rPr>
              <a:t> using DML</a:t>
            </a:r>
            <a:r>
              <a:rPr lang="en-US" sz="2000">
                <a:latin typeface="Book Antiqua" pitchFamily="18" charset="0"/>
              </a:rPr>
              <a:t>.</a:t>
            </a:r>
          </a:p>
        </p:txBody>
      </p:sp>
      <p:sp>
        <p:nvSpPr>
          <p:cNvPr id="53255" name="Oval 2055"/>
          <p:cNvSpPr>
            <a:spLocks noChangeArrowheads="1"/>
          </p:cNvSpPr>
          <p:nvPr/>
        </p:nvSpPr>
        <p:spPr bwMode="auto">
          <a:xfrm>
            <a:off x="6337300" y="3975100"/>
            <a:ext cx="1041400" cy="203200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6" name="Line 2056"/>
          <p:cNvSpPr>
            <a:spLocks noChangeShapeType="1"/>
          </p:cNvSpPr>
          <p:nvPr/>
        </p:nvSpPr>
        <p:spPr bwMode="auto">
          <a:xfrm>
            <a:off x="6321425" y="4071938"/>
            <a:ext cx="3175" cy="957262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7" name="Oval 2057"/>
          <p:cNvSpPr>
            <a:spLocks noChangeArrowheads="1"/>
          </p:cNvSpPr>
          <p:nvPr/>
        </p:nvSpPr>
        <p:spPr bwMode="auto">
          <a:xfrm>
            <a:off x="6337300" y="4889500"/>
            <a:ext cx="1041400" cy="203200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8" name="Line 2058"/>
          <p:cNvSpPr>
            <a:spLocks noChangeShapeType="1"/>
          </p:cNvSpPr>
          <p:nvPr/>
        </p:nvSpPr>
        <p:spPr bwMode="auto">
          <a:xfrm>
            <a:off x="7391400" y="4114800"/>
            <a:ext cx="0" cy="838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9" name="Rectangle 2059"/>
          <p:cNvSpPr>
            <a:spLocks noChangeArrowheads="1"/>
          </p:cNvSpPr>
          <p:nvPr/>
        </p:nvSpPr>
        <p:spPr bwMode="auto">
          <a:xfrm>
            <a:off x="5699125" y="3338513"/>
            <a:ext cx="24225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Physical Schema</a:t>
            </a:r>
          </a:p>
        </p:txBody>
      </p:sp>
      <p:sp>
        <p:nvSpPr>
          <p:cNvPr id="53260" name="Rectangle 2060"/>
          <p:cNvSpPr>
            <a:spLocks noChangeArrowheads="1"/>
          </p:cNvSpPr>
          <p:nvPr/>
        </p:nvSpPr>
        <p:spPr bwMode="auto">
          <a:xfrm>
            <a:off x="5464175" y="2652713"/>
            <a:ext cx="28463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Conceptual Schema</a:t>
            </a:r>
          </a:p>
        </p:txBody>
      </p:sp>
      <p:sp>
        <p:nvSpPr>
          <p:cNvPr id="53261" name="Rectangle 2061"/>
          <p:cNvSpPr>
            <a:spLocks noChangeArrowheads="1"/>
          </p:cNvSpPr>
          <p:nvPr/>
        </p:nvSpPr>
        <p:spPr bwMode="auto">
          <a:xfrm>
            <a:off x="5013325" y="1814513"/>
            <a:ext cx="11191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View 1</a:t>
            </a:r>
          </a:p>
        </p:txBody>
      </p:sp>
      <p:sp>
        <p:nvSpPr>
          <p:cNvPr id="53262" name="Rectangle 2062"/>
          <p:cNvSpPr>
            <a:spLocks noChangeArrowheads="1"/>
          </p:cNvSpPr>
          <p:nvPr/>
        </p:nvSpPr>
        <p:spPr bwMode="auto">
          <a:xfrm>
            <a:off x="6308725" y="1814513"/>
            <a:ext cx="11191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View 2</a:t>
            </a:r>
          </a:p>
        </p:txBody>
      </p:sp>
      <p:sp>
        <p:nvSpPr>
          <p:cNvPr id="53263" name="Rectangle 2063"/>
          <p:cNvSpPr>
            <a:spLocks noChangeArrowheads="1"/>
          </p:cNvSpPr>
          <p:nvPr/>
        </p:nvSpPr>
        <p:spPr bwMode="auto">
          <a:xfrm>
            <a:off x="7605713" y="1814513"/>
            <a:ext cx="111918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View 3</a:t>
            </a:r>
          </a:p>
        </p:txBody>
      </p:sp>
      <p:sp>
        <p:nvSpPr>
          <p:cNvPr id="53264" name="Rectangle 2064"/>
          <p:cNvSpPr>
            <a:spLocks noChangeArrowheads="1"/>
          </p:cNvSpPr>
          <p:nvPr/>
        </p:nvSpPr>
        <p:spPr bwMode="auto">
          <a:xfrm>
            <a:off x="5041900" y="1841500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5" name="Rectangle 2065"/>
          <p:cNvSpPr>
            <a:spLocks noChangeArrowheads="1"/>
          </p:cNvSpPr>
          <p:nvPr/>
        </p:nvSpPr>
        <p:spPr bwMode="auto">
          <a:xfrm>
            <a:off x="6337300" y="1841500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6" name="Rectangle 2066"/>
          <p:cNvSpPr>
            <a:spLocks noChangeArrowheads="1"/>
          </p:cNvSpPr>
          <p:nvPr/>
        </p:nvSpPr>
        <p:spPr bwMode="auto">
          <a:xfrm>
            <a:off x="7632700" y="1841500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7" name="Rectangle 2067"/>
          <p:cNvSpPr>
            <a:spLocks noChangeArrowheads="1"/>
          </p:cNvSpPr>
          <p:nvPr/>
        </p:nvSpPr>
        <p:spPr bwMode="auto">
          <a:xfrm>
            <a:off x="5499100" y="2679700"/>
            <a:ext cx="27940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8" name="Rectangle 2068"/>
          <p:cNvSpPr>
            <a:spLocks noChangeArrowheads="1"/>
          </p:cNvSpPr>
          <p:nvPr/>
        </p:nvSpPr>
        <p:spPr bwMode="auto">
          <a:xfrm>
            <a:off x="5727700" y="3365500"/>
            <a:ext cx="23368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9" name="Line 2069"/>
          <p:cNvSpPr>
            <a:spLocks noChangeShapeType="1"/>
          </p:cNvSpPr>
          <p:nvPr/>
        </p:nvSpPr>
        <p:spPr bwMode="auto">
          <a:xfrm>
            <a:off x="5562600" y="2209800"/>
            <a:ext cx="53340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0" name="Line 2070"/>
          <p:cNvSpPr>
            <a:spLocks noChangeShapeType="1"/>
          </p:cNvSpPr>
          <p:nvPr/>
        </p:nvSpPr>
        <p:spPr bwMode="auto">
          <a:xfrm>
            <a:off x="6858000" y="2209800"/>
            <a:ext cx="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1" name="Line 2071"/>
          <p:cNvSpPr>
            <a:spLocks noChangeShapeType="1"/>
          </p:cNvSpPr>
          <p:nvPr/>
        </p:nvSpPr>
        <p:spPr bwMode="auto">
          <a:xfrm flipH="1">
            <a:off x="7620000" y="2209800"/>
            <a:ext cx="53340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2" name="Line 2072"/>
          <p:cNvSpPr>
            <a:spLocks noChangeShapeType="1"/>
          </p:cNvSpPr>
          <p:nvPr/>
        </p:nvSpPr>
        <p:spPr bwMode="auto">
          <a:xfrm>
            <a:off x="6858000" y="3048000"/>
            <a:ext cx="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3" name="Line 2073"/>
          <p:cNvSpPr>
            <a:spLocks noChangeShapeType="1"/>
          </p:cNvSpPr>
          <p:nvPr/>
        </p:nvSpPr>
        <p:spPr bwMode="auto">
          <a:xfrm>
            <a:off x="6858000" y="3733800"/>
            <a:ext cx="0" cy="381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685800" y="457200"/>
            <a:ext cx="77724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l"/>
            <a:r>
              <a:rPr lang="en-US" sz="3600" b="1">
                <a:latin typeface="Times New Roman" pitchFamily="18" charset="0"/>
              </a:rPr>
              <a:t>ANSI/SPARC 3-Tier Architecture</a:t>
            </a:r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284163" y="5646738"/>
            <a:ext cx="55372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720725" y="5794375"/>
            <a:ext cx="5605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5" name="Oval 5"/>
          <p:cNvSpPr>
            <a:spLocks noChangeArrowheads="1"/>
          </p:cNvSpPr>
          <p:nvPr/>
        </p:nvSpPr>
        <p:spPr bwMode="auto">
          <a:xfrm>
            <a:off x="4294188" y="4598988"/>
            <a:ext cx="1041400" cy="203200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6" name="Line 6"/>
          <p:cNvSpPr>
            <a:spLocks noChangeShapeType="1"/>
          </p:cNvSpPr>
          <p:nvPr/>
        </p:nvSpPr>
        <p:spPr bwMode="auto">
          <a:xfrm>
            <a:off x="4278313" y="4695825"/>
            <a:ext cx="3175" cy="957263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7" name="Oval 7"/>
          <p:cNvSpPr>
            <a:spLocks noChangeArrowheads="1"/>
          </p:cNvSpPr>
          <p:nvPr/>
        </p:nvSpPr>
        <p:spPr bwMode="auto">
          <a:xfrm>
            <a:off x="4294188" y="5513388"/>
            <a:ext cx="1041400" cy="203200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8" name="Line 8"/>
          <p:cNvSpPr>
            <a:spLocks noChangeShapeType="1"/>
          </p:cNvSpPr>
          <p:nvPr/>
        </p:nvSpPr>
        <p:spPr bwMode="auto">
          <a:xfrm>
            <a:off x="5348288" y="4738688"/>
            <a:ext cx="0" cy="838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29" name="Rectangle 9"/>
          <p:cNvSpPr>
            <a:spLocks noChangeArrowheads="1"/>
          </p:cNvSpPr>
          <p:nvPr/>
        </p:nvSpPr>
        <p:spPr bwMode="auto">
          <a:xfrm>
            <a:off x="3656013" y="3962400"/>
            <a:ext cx="24225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Physical Schema</a:t>
            </a:r>
          </a:p>
        </p:txBody>
      </p:sp>
      <p:sp>
        <p:nvSpPr>
          <p:cNvPr id="56330" name="Rectangle 10"/>
          <p:cNvSpPr>
            <a:spLocks noChangeArrowheads="1"/>
          </p:cNvSpPr>
          <p:nvPr/>
        </p:nvSpPr>
        <p:spPr bwMode="auto">
          <a:xfrm>
            <a:off x="3421063" y="3276600"/>
            <a:ext cx="284638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Conceptual Schema</a:t>
            </a:r>
          </a:p>
        </p:txBody>
      </p:sp>
      <p:sp>
        <p:nvSpPr>
          <p:cNvPr id="56331" name="Rectangle 11"/>
          <p:cNvSpPr>
            <a:spLocks noChangeArrowheads="1"/>
          </p:cNvSpPr>
          <p:nvPr/>
        </p:nvSpPr>
        <p:spPr bwMode="auto">
          <a:xfrm>
            <a:off x="2970213" y="2438400"/>
            <a:ext cx="111918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View 1</a:t>
            </a:r>
          </a:p>
        </p:txBody>
      </p:sp>
      <p:sp>
        <p:nvSpPr>
          <p:cNvPr id="56332" name="Rectangle 12"/>
          <p:cNvSpPr>
            <a:spLocks noChangeArrowheads="1"/>
          </p:cNvSpPr>
          <p:nvPr/>
        </p:nvSpPr>
        <p:spPr bwMode="auto">
          <a:xfrm>
            <a:off x="4265613" y="2438400"/>
            <a:ext cx="1119187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l"/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View 2</a:t>
            </a:r>
          </a:p>
        </p:txBody>
      </p:sp>
      <p:sp>
        <p:nvSpPr>
          <p:cNvPr id="56333" name="Rectangle 13"/>
          <p:cNvSpPr>
            <a:spLocks noChangeArrowheads="1"/>
          </p:cNvSpPr>
          <p:nvPr/>
        </p:nvSpPr>
        <p:spPr bwMode="auto">
          <a:xfrm>
            <a:off x="6096000" y="2438400"/>
            <a:ext cx="12954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l"/>
            <a:r>
              <a:rPr lang="en-US" sz="2400">
                <a:solidFill>
                  <a:schemeClr val="tx2"/>
                </a:solidFill>
                <a:latin typeface="Book Antiqua" pitchFamily="18" charset="0"/>
              </a:rPr>
              <a:t>View n</a:t>
            </a:r>
          </a:p>
        </p:txBody>
      </p:sp>
      <p:sp>
        <p:nvSpPr>
          <p:cNvPr id="56334" name="Rectangle 14"/>
          <p:cNvSpPr>
            <a:spLocks noChangeArrowheads="1"/>
          </p:cNvSpPr>
          <p:nvPr/>
        </p:nvSpPr>
        <p:spPr bwMode="auto">
          <a:xfrm>
            <a:off x="2998788" y="2465388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5" name="Rectangle 15"/>
          <p:cNvSpPr>
            <a:spLocks noChangeArrowheads="1"/>
          </p:cNvSpPr>
          <p:nvPr/>
        </p:nvSpPr>
        <p:spPr bwMode="auto">
          <a:xfrm>
            <a:off x="4294188" y="2465388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6" name="Rectangle 16"/>
          <p:cNvSpPr>
            <a:spLocks noChangeArrowheads="1"/>
          </p:cNvSpPr>
          <p:nvPr/>
        </p:nvSpPr>
        <p:spPr bwMode="auto">
          <a:xfrm>
            <a:off x="6172200" y="2438400"/>
            <a:ext cx="10414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7" name="Rectangle 17"/>
          <p:cNvSpPr>
            <a:spLocks noChangeArrowheads="1"/>
          </p:cNvSpPr>
          <p:nvPr/>
        </p:nvSpPr>
        <p:spPr bwMode="auto">
          <a:xfrm>
            <a:off x="3455988" y="3303588"/>
            <a:ext cx="27940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8" name="Rectangle 18"/>
          <p:cNvSpPr>
            <a:spLocks noChangeArrowheads="1"/>
          </p:cNvSpPr>
          <p:nvPr/>
        </p:nvSpPr>
        <p:spPr bwMode="auto">
          <a:xfrm>
            <a:off x="3684588" y="3989388"/>
            <a:ext cx="2336800" cy="355600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9" name="Line 19"/>
          <p:cNvSpPr>
            <a:spLocks noChangeShapeType="1"/>
          </p:cNvSpPr>
          <p:nvPr/>
        </p:nvSpPr>
        <p:spPr bwMode="auto">
          <a:xfrm>
            <a:off x="3519488" y="2833688"/>
            <a:ext cx="53340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40" name="Line 20"/>
          <p:cNvSpPr>
            <a:spLocks noChangeShapeType="1"/>
          </p:cNvSpPr>
          <p:nvPr/>
        </p:nvSpPr>
        <p:spPr bwMode="auto">
          <a:xfrm>
            <a:off x="4814888" y="2833688"/>
            <a:ext cx="0" cy="4572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41" name="Line 21"/>
          <p:cNvSpPr>
            <a:spLocks noChangeShapeType="1"/>
          </p:cNvSpPr>
          <p:nvPr/>
        </p:nvSpPr>
        <p:spPr bwMode="auto">
          <a:xfrm flipH="1">
            <a:off x="5576888" y="2819400"/>
            <a:ext cx="595312" cy="471488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42" name="Line 22"/>
          <p:cNvSpPr>
            <a:spLocks noChangeShapeType="1"/>
          </p:cNvSpPr>
          <p:nvPr/>
        </p:nvSpPr>
        <p:spPr bwMode="auto">
          <a:xfrm>
            <a:off x="4814888" y="3671888"/>
            <a:ext cx="0" cy="3048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43" name="Line 23"/>
          <p:cNvSpPr>
            <a:spLocks noChangeShapeType="1"/>
          </p:cNvSpPr>
          <p:nvPr/>
        </p:nvSpPr>
        <p:spPr bwMode="auto">
          <a:xfrm>
            <a:off x="4814888" y="4357688"/>
            <a:ext cx="0" cy="3810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44" name="Text Box 24"/>
          <p:cNvSpPr txBox="1">
            <a:spLocks noChangeArrowheads="1"/>
          </p:cNvSpPr>
          <p:nvPr/>
        </p:nvSpPr>
        <p:spPr bwMode="auto">
          <a:xfrm>
            <a:off x="990600" y="2514600"/>
            <a:ext cx="160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400">
                <a:latin typeface="Verdana" pitchFamily="34" charset="0"/>
              </a:rPr>
              <a:t>External Level</a:t>
            </a:r>
          </a:p>
        </p:txBody>
      </p:sp>
      <p:sp>
        <p:nvSpPr>
          <p:cNvPr id="56345" name="Text Box 25"/>
          <p:cNvSpPr txBox="1">
            <a:spLocks noChangeArrowheads="1"/>
          </p:cNvSpPr>
          <p:nvPr/>
        </p:nvSpPr>
        <p:spPr bwMode="auto">
          <a:xfrm>
            <a:off x="990600" y="3352800"/>
            <a:ext cx="20574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400">
                <a:latin typeface="Verdana" pitchFamily="34" charset="0"/>
              </a:rPr>
              <a:t>Conceptual/Logical Level</a:t>
            </a:r>
          </a:p>
        </p:txBody>
      </p:sp>
      <p:sp>
        <p:nvSpPr>
          <p:cNvPr id="56346" name="Text Box 26"/>
          <p:cNvSpPr txBox="1">
            <a:spLocks noChangeArrowheads="1"/>
          </p:cNvSpPr>
          <p:nvPr/>
        </p:nvSpPr>
        <p:spPr bwMode="auto">
          <a:xfrm>
            <a:off x="990600" y="4038600"/>
            <a:ext cx="160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400">
                <a:latin typeface="Verdana" pitchFamily="34" charset="0"/>
              </a:rPr>
              <a:t>Internal Level</a:t>
            </a:r>
          </a:p>
        </p:txBody>
      </p:sp>
      <p:sp>
        <p:nvSpPr>
          <p:cNvPr id="56347" name="Text Box 27"/>
          <p:cNvSpPr txBox="1">
            <a:spLocks noChangeArrowheads="1"/>
          </p:cNvSpPr>
          <p:nvPr/>
        </p:nvSpPr>
        <p:spPr bwMode="auto">
          <a:xfrm>
            <a:off x="5562600" y="2514600"/>
            <a:ext cx="3810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600">
                <a:latin typeface="Verdana" pitchFamily="34" charset="0"/>
              </a:rPr>
              <a:t>…</a:t>
            </a:r>
          </a:p>
        </p:txBody>
      </p:sp>
      <p:sp>
        <p:nvSpPr>
          <p:cNvPr id="56348" name="Text Box 28"/>
          <p:cNvSpPr txBox="1">
            <a:spLocks noChangeArrowheads="1"/>
          </p:cNvSpPr>
          <p:nvPr/>
        </p:nvSpPr>
        <p:spPr bwMode="auto">
          <a:xfrm>
            <a:off x="5410200" y="4953000"/>
            <a:ext cx="160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400">
                <a:latin typeface="Verdana" pitchFamily="34" charset="0"/>
              </a:rPr>
              <a:t>Database</a:t>
            </a:r>
          </a:p>
        </p:txBody>
      </p:sp>
      <p:sp>
        <p:nvSpPr>
          <p:cNvPr id="56349" name="Text Box 29"/>
          <p:cNvSpPr txBox="1">
            <a:spLocks noChangeArrowheads="1"/>
          </p:cNvSpPr>
          <p:nvPr/>
        </p:nvSpPr>
        <p:spPr bwMode="auto">
          <a:xfrm>
            <a:off x="3111500" y="2120900"/>
            <a:ext cx="838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400">
                <a:latin typeface="Verdana" pitchFamily="34" charset="0"/>
              </a:rPr>
              <a:t>User 1</a:t>
            </a:r>
          </a:p>
        </p:txBody>
      </p:sp>
      <p:sp>
        <p:nvSpPr>
          <p:cNvPr id="56350" name="Text Box 30"/>
          <p:cNvSpPr txBox="1">
            <a:spLocks noChangeArrowheads="1"/>
          </p:cNvSpPr>
          <p:nvPr/>
        </p:nvSpPr>
        <p:spPr bwMode="auto">
          <a:xfrm>
            <a:off x="4419600" y="2133600"/>
            <a:ext cx="838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400">
                <a:latin typeface="Verdana" pitchFamily="34" charset="0"/>
              </a:rPr>
              <a:t>User 2</a:t>
            </a:r>
          </a:p>
        </p:txBody>
      </p:sp>
      <p:sp>
        <p:nvSpPr>
          <p:cNvPr id="56351" name="Text Box 31"/>
          <p:cNvSpPr txBox="1">
            <a:spLocks noChangeArrowheads="1"/>
          </p:cNvSpPr>
          <p:nvPr/>
        </p:nvSpPr>
        <p:spPr bwMode="auto">
          <a:xfrm>
            <a:off x="6350000" y="2133600"/>
            <a:ext cx="838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400">
                <a:latin typeface="Verdana" pitchFamily="34" charset="0"/>
              </a:rPr>
              <a:t>User n</a:t>
            </a:r>
          </a:p>
        </p:txBody>
      </p:sp>
      <p:sp>
        <p:nvSpPr>
          <p:cNvPr id="56352" name="Line 32"/>
          <p:cNvSpPr>
            <a:spLocks noChangeShapeType="1"/>
          </p:cNvSpPr>
          <p:nvPr/>
        </p:nvSpPr>
        <p:spPr bwMode="auto">
          <a:xfrm>
            <a:off x="152400" y="3048000"/>
            <a:ext cx="8763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6353" name="Line 33"/>
          <p:cNvSpPr>
            <a:spLocks noChangeShapeType="1"/>
          </p:cNvSpPr>
          <p:nvPr/>
        </p:nvSpPr>
        <p:spPr bwMode="auto">
          <a:xfrm>
            <a:off x="152400" y="3810000"/>
            <a:ext cx="8763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6354" name="Text Box 34"/>
          <p:cNvSpPr txBox="1">
            <a:spLocks noChangeArrowheads="1"/>
          </p:cNvSpPr>
          <p:nvPr/>
        </p:nvSpPr>
        <p:spPr bwMode="auto">
          <a:xfrm>
            <a:off x="7239000" y="2743200"/>
            <a:ext cx="160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400">
                <a:latin typeface="Verdana" pitchFamily="34" charset="0"/>
              </a:rPr>
              <a:t>Logical DI</a:t>
            </a:r>
          </a:p>
        </p:txBody>
      </p:sp>
      <p:sp>
        <p:nvSpPr>
          <p:cNvPr id="56355" name="Text Box 35"/>
          <p:cNvSpPr txBox="1">
            <a:spLocks noChangeArrowheads="1"/>
          </p:cNvSpPr>
          <p:nvPr/>
        </p:nvSpPr>
        <p:spPr bwMode="auto">
          <a:xfrm>
            <a:off x="7239000" y="3505200"/>
            <a:ext cx="1600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400">
                <a:latin typeface="Verdana" pitchFamily="34" charset="0"/>
              </a:rPr>
              <a:t>Physical DI</a:t>
            </a:r>
          </a:p>
        </p:txBody>
      </p:sp>
      <p:sp>
        <p:nvSpPr>
          <p:cNvPr id="56356" name="AutoShape 36"/>
          <p:cNvSpPr>
            <a:spLocks/>
          </p:cNvSpPr>
          <p:nvPr/>
        </p:nvSpPr>
        <p:spPr bwMode="auto">
          <a:xfrm>
            <a:off x="838200" y="2667000"/>
            <a:ext cx="76200" cy="838200"/>
          </a:xfrm>
          <a:prstGeom prst="lef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7" name="AutoShape 37"/>
          <p:cNvSpPr>
            <a:spLocks/>
          </p:cNvSpPr>
          <p:nvPr/>
        </p:nvSpPr>
        <p:spPr bwMode="auto">
          <a:xfrm>
            <a:off x="838200" y="3581400"/>
            <a:ext cx="76200" cy="838200"/>
          </a:xfrm>
          <a:prstGeom prst="lef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8" name="Text Box 38"/>
          <p:cNvSpPr txBox="1">
            <a:spLocks noChangeArrowheads="1"/>
          </p:cNvSpPr>
          <p:nvPr/>
        </p:nvSpPr>
        <p:spPr bwMode="auto">
          <a:xfrm>
            <a:off x="0" y="2768600"/>
            <a:ext cx="1143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400">
                <a:latin typeface="Verdana" pitchFamily="34" charset="0"/>
              </a:rPr>
              <a:t>E/C Mapping</a:t>
            </a:r>
          </a:p>
        </p:txBody>
      </p:sp>
      <p:sp>
        <p:nvSpPr>
          <p:cNvPr id="56359" name="Text Box 39"/>
          <p:cNvSpPr txBox="1">
            <a:spLocks noChangeArrowheads="1"/>
          </p:cNvSpPr>
          <p:nvPr/>
        </p:nvSpPr>
        <p:spPr bwMode="auto">
          <a:xfrm>
            <a:off x="0" y="3810000"/>
            <a:ext cx="1143000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sz="1400">
                <a:latin typeface="Verdana" pitchFamily="34" charset="0"/>
              </a:rPr>
              <a:t>C/I Mapping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685800" y="457200"/>
            <a:ext cx="77724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l"/>
            <a:r>
              <a:rPr lang="en-US" sz="4000" b="1">
                <a:latin typeface="Times New Roman" pitchFamily="18" charset="0"/>
              </a:rPr>
              <a:t>Instances &amp; Schemas</a:t>
            </a:r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438150" y="1619250"/>
            <a:ext cx="8382000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algn="l"/>
            <a:r>
              <a:rPr lang="en-US" sz="2400" b="1">
                <a:latin typeface="Times New Roman" pitchFamily="18" charset="0"/>
              </a:rPr>
              <a:t>Collection of information stored in the DB at a particular moment is called an INSTANCE</a:t>
            </a:r>
          </a:p>
          <a:p>
            <a:pPr algn="l"/>
            <a:r>
              <a:rPr lang="en-US" sz="2400" b="1">
                <a:latin typeface="Times New Roman" pitchFamily="18" charset="0"/>
              </a:rPr>
              <a:t>The overall design of the DB is called a SCHEMA</a:t>
            </a:r>
          </a:p>
          <a:p>
            <a:pPr algn="l"/>
            <a:r>
              <a:rPr lang="en-US" sz="2400" b="1">
                <a:latin typeface="Times New Roman" pitchFamily="18" charset="0"/>
              </a:rPr>
              <a:t>A  DB has many schemas</a:t>
            </a:r>
          </a:p>
          <a:p>
            <a:pPr lvl="1" algn="l"/>
            <a:r>
              <a:rPr lang="en-US" b="1">
                <a:latin typeface="Times New Roman" pitchFamily="18" charset="0"/>
              </a:rPr>
              <a:t>Physical</a:t>
            </a:r>
          </a:p>
          <a:p>
            <a:pPr lvl="1" algn="l"/>
            <a:r>
              <a:rPr lang="en-US" b="1">
                <a:latin typeface="Times New Roman" pitchFamily="18" charset="0"/>
              </a:rPr>
              <a:t>Conceptual/Logical</a:t>
            </a:r>
          </a:p>
          <a:p>
            <a:pPr lvl="1" algn="l"/>
            <a:r>
              <a:rPr lang="en-US" b="1">
                <a:latin typeface="Times New Roman" pitchFamily="18" charset="0"/>
              </a:rPr>
              <a:t>Sub-schemas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title"/>
          </p:nvPr>
        </p:nvSpPr>
        <p:spPr>
          <a:xfrm>
            <a:off x="350520" y="-98425"/>
            <a:ext cx="8162925" cy="1431925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>
              <a:defRPr/>
            </a:pPr>
            <a:r>
              <a:rPr lang="en-US" sz="2400" b="0" dirty="0"/>
              <a:t>Example: University Database</a:t>
            </a:r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30555" y="1333500"/>
            <a:ext cx="8458200" cy="40767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b="1" dirty="0"/>
              <a:t>Logical schema:                  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en-US" b="1" dirty="0"/>
              <a:t> </a:t>
            </a:r>
            <a:r>
              <a:rPr lang="en-US" b="1" i="1" dirty="0"/>
              <a:t>Students(</a:t>
            </a:r>
            <a:r>
              <a:rPr lang="en-US" b="1" i="1" dirty="0" err="1"/>
              <a:t>sid</a:t>
            </a:r>
            <a:r>
              <a:rPr lang="en-US" b="1" i="1" dirty="0"/>
              <a:t>: string, name: string, login: string, age: integer, </a:t>
            </a:r>
            <a:r>
              <a:rPr lang="en-US" b="1" i="1" dirty="0" err="1"/>
              <a:t>gpa:real</a:t>
            </a:r>
            <a:r>
              <a:rPr lang="en-US" b="1" i="1" dirty="0"/>
              <a:t>)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en-US" b="1" i="1" dirty="0"/>
              <a:t>Faculty(</a:t>
            </a:r>
            <a:r>
              <a:rPr lang="en-US" b="1" i="1" dirty="0" err="1"/>
              <a:t>fid:string</a:t>
            </a:r>
            <a:r>
              <a:rPr lang="en-US" b="1" i="1" dirty="0"/>
              <a:t>, </a:t>
            </a:r>
            <a:r>
              <a:rPr lang="en-US" b="1" i="1" dirty="0" err="1"/>
              <a:t>fname:string</a:t>
            </a:r>
            <a:r>
              <a:rPr lang="en-US" b="1" i="1" dirty="0"/>
              <a:t>, </a:t>
            </a:r>
            <a:r>
              <a:rPr lang="en-US" b="1" i="1" dirty="0" err="1"/>
              <a:t>sal:real</a:t>
            </a:r>
            <a:r>
              <a:rPr lang="en-US" b="1" i="1" dirty="0"/>
              <a:t>)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en-US" b="1" i="1" dirty="0"/>
              <a:t> Courses(cid: string, </a:t>
            </a:r>
            <a:r>
              <a:rPr lang="en-US" b="1" i="1" dirty="0" err="1"/>
              <a:t>cname:string</a:t>
            </a:r>
            <a:r>
              <a:rPr lang="en-US" b="1" i="1" dirty="0"/>
              <a:t>, </a:t>
            </a:r>
            <a:r>
              <a:rPr lang="en-US" b="1" i="1" dirty="0" err="1"/>
              <a:t>credits:integer</a:t>
            </a:r>
            <a:r>
              <a:rPr lang="en-US" b="1" i="1" dirty="0"/>
              <a:t>) 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en-US" b="1" i="1" dirty="0"/>
              <a:t> Enrolled(</a:t>
            </a:r>
            <a:r>
              <a:rPr lang="en-US" b="1" i="1" dirty="0" err="1"/>
              <a:t>sid:string</a:t>
            </a:r>
            <a:r>
              <a:rPr lang="en-US" b="1" i="1" dirty="0"/>
              <a:t>, cid:string, </a:t>
            </a:r>
            <a:r>
              <a:rPr lang="en-US" b="1" i="1" dirty="0" err="1"/>
              <a:t>grade:string</a:t>
            </a:r>
            <a:r>
              <a:rPr lang="en-US" b="1" i="1" dirty="0"/>
              <a:t>)</a:t>
            </a:r>
          </a:p>
          <a:p>
            <a:pPr>
              <a:lnSpc>
                <a:spcPct val="90000"/>
              </a:lnSpc>
            </a:pPr>
            <a:r>
              <a:rPr lang="en-US" b="1" dirty="0"/>
              <a:t>Physical schema: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en-US" b="1" dirty="0"/>
              <a:t>Relations stored as unordered files. 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en-US" b="1" dirty="0"/>
              <a:t>Index on first column of Students.</a:t>
            </a:r>
          </a:p>
          <a:p>
            <a:pPr>
              <a:lnSpc>
                <a:spcPct val="90000"/>
              </a:lnSpc>
            </a:pPr>
            <a:r>
              <a:rPr lang="en-US" b="1" dirty="0"/>
              <a:t>External Schema (View): </a:t>
            </a:r>
          </a:p>
          <a:p>
            <a:pPr lvl="1">
              <a:lnSpc>
                <a:spcPct val="90000"/>
              </a:lnSpc>
              <a:buSzPct val="75000"/>
            </a:pPr>
            <a:r>
              <a:rPr lang="en-US" b="1" i="1" dirty="0" err="1"/>
              <a:t>Course_info</a:t>
            </a:r>
            <a:r>
              <a:rPr lang="en-US" b="1" i="1" dirty="0"/>
              <a:t>(</a:t>
            </a:r>
            <a:r>
              <a:rPr lang="en-US" b="1" i="1" u="sng" dirty="0">
                <a:hlinkClick r:id="rId3"/>
              </a:rPr>
              <a:t>cid:string,fname:string</a:t>
            </a:r>
            <a:r>
              <a:rPr lang="en-US" b="1" i="1" dirty="0"/>
              <a:t>, </a:t>
            </a:r>
            <a:r>
              <a:rPr lang="en-US" b="1" i="1" dirty="0" err="1"/>
              <a:t>enrollment:integer</a:t>
            </a:r>
            <a:r>
              <a:rPr lang="en-US" b="1" i="1" dirty="0"/>
              <a:t>)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Models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2500" y="1355725"/>
            <a:ext cx="7029450" cy="4114800"/>
          </a:xfrm>
        </p:spPr>
        <p:txBody>
          <a:bodyPr/>
          <a:lstStyle/>
          <a:p>
            <a:r>
              <a:rPr lang="en-US"/>
              <a:t>A collection of tools for describing </a:t>
            </a:r>
          </a:p>
          <a:p>
            <a:pPr lvl="1">
              <a:lnSpc>
                <a:spcPct val="80000"/>
              </a:lnSpc>
            </a:pPr>
            <a:r>
              <a:rPr lang="en-US"/>
              <a:t>data </a:t>
            </a:r>
          </a:p>
          <a:p>
            <a:pPr lvl="1">
              <a:lnSpc>
                <a:spcPct val="80000"/>
              </a:lnSpc>
            </a:pPr>
            <a:r>
              <a:rPr lang="en-US"/>
              <a:t>data relationships</a:t>
            </a:r>
          </a:p>
          <a:p>
            <a:pPr lvl="1">
              <a:lnSpc>
                <a:spcPct val="80000"/>
              </a:lnSpc>
            </a:pPr>
            <a:r>
              <a:rPr lang="en-US"/>
              <a:t>data semantics</a:t>
            </a:r>
          </a:p>
          <a:p>
            <a:pPr lvl="1">
              <a:lnSpc>
                <a:spcPct val="80000"/>
              </a:lnSpc>
            </a:pPr>
            <a:r>
              <a:rPr lang="en-US"/>
              <a:t>data constraints</a:t>
            </a:r>
          </a:p>
          <a:p>
            <a:r>
              <a:rPr lang="en-US"/>
              <a:t>Entity-Relationship model</a:t>
            </a:r>
          </a:p>
          <a:p>
            <a:r>
              <a:rPr lang="en-US"/>
              <a:t>Relational model</a:t>
            </a:r>
          </a:p>
          <a:p>
            <a:r>
              <a:rPr lang="en-US"/>
              <a:t>Other models: </a:t>
            </a:r>
          </a:p>
          <a:p>
            <a:pPr lvl="1"/>
            <a:r>
              <a:rPr lang="en-US"/>
              <a:t>object-oriented model</a:t>
            </a:r>
          </a:p>
          <a:p>
            <a:pPr lvl="1">
              <a:lnSpc>
                <a:spcPct val="70000"/>
              </a:lnSpc>
            </a:pPr>
            <a:r>
              <a:rPr lang="en-US"/>
              <a:t>semi-structured data models</a:t>
            </a:r>
          </a:p>
          <a:p>
            <a:pPr lvl="1">
              <a:lnSpc>
                <a:spcPct val="60000"/>
              </a:lnSpc>
            </a:pPr>
            <a:r>
              <a:rPr lang="en-US"/>
              <a:t>Older models: network model and hierarchical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MS_Template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MS_Templat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MS_Template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07E0A197365045BAADC1BA69E208F6" ma:contentTypeVersion="7" ma:contentTypeDescription="Create a new document." ma:contentTypeScope="" ma:versionID="50e3b56ed0b5328d7e479d584526dd68">
  <xsd:schema xmlns:xsd="http://www.w3.org/2001/XMLSchema" xmlns:xs="http://www.w3.org/2001/XMLSchema" xmlns:p="http://schemas.microsoft.com/office/2006/metadata/properties" xmlns:ns2="ddefad68-299a-45a1-aeb7-e6ae0d2d3333" targetNamespace="http://schemas.microsoft.com/office/2006/metadata/properties" ma:root="true" ma:fieldsID="673c24554e710447af16be272b637f7f" ns2:_="">
    <xsd:import namespace="ddefad68-299a-45a1-aeb7-e6ae0d2d33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fad68-299a-45a1-aeb7-e6ae0d2d33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890451-7100-4993-A25F-DF8DB27342F6}"/>
</file>

<file path=customXml/itemProps2.xml><?xml version="1.0" encoding="utf-8"?>
<ds:datastoreItem xmlns:ds="http://schemas.openxmlformats.org/officeDocument/2006/customXml" ds:itemID="{50FAAE8D-06E0-4831-A075-69C7CEBD90C1}"/>
</file>

<file path=customXml/itemProps3.xml><?xml version="1.0" encoding="utf-8"?>
<ds:datastoreItem xmlns:ds="http://schemas.openxmlformats.org/officeDocument/2006/customXml" ds:itemID="{C3625990-80B8-4204-A7ED-F76BF03381C9}"/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Settings\shamim\Application Data\Microsoft\Templates\DBMS_Template.pot</Template>
  <TotalTime>8267</TotalTime>
  <Words>888</Words>
  <Application>Microsoft Office PowerPoint</Application>
  <PresentationFormat>On-screen Show (4:3)</PresentationFormat>
  <Paragraphs>136</Paragraphs>
  <Slides>19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Book Antiqua</vt:lpstr>
      <vt:lpstr>Helvetica</vt:lpstr>
      <vt:lpstr>Lucida Grande</vt:lpstr>
      <vt:lpstr>Monotype Sorts</vt:lpstr>
      <vt:lpstr>Times New Roman</vt:lpstr>
      <vt:lpstr>Verdana</vt:lpstr>
      <vt:lpstr>Wingdings</vt:lpstr>
      <vt:lpstr>DBMS_Template</vt:lpstr>
      <vt:lpstr>Office Theme</vt:lpstr>
      <vt:lpstr>Clip</vt:lpstr>
      <vt:lpstr>Database Management Systems</vt:lpstr>
      <vt:lpstr>Languages</vt:lpstr>
      <vt:lpstr>Problems with File System  Data Management</vt:lpstr>
      <vt:lpstr>The Database System Environment</vt:lpstr>
      <vt:lpstr>The Database System Environment (continued)</vt:lpstr>
      <vt:lpstr>DBMS Functions</vt:lpstr>
      <vt:lpstr>DBMS Functions (continued)</vt:lpstr>
      <vt:lpstr>DBMS Functions (continued)</vt:lpstr>
      <vt:lpstr>DBMS Functions (continued)</vt:lpstr>
      <vt:lpstr>Data Abstraction</vt:lpstr>
      <vt:lpstr>Data Abstraction</vt:lpstr>
      <vt:lpstr>Levels of Abstraction</vt:lpstr>
      <vt:lpstr>Levels of Abstraction</vt:lpstr>
      <vt:lpstr>3 Levels of Abstraction </vt:lpstr>
      <vt:lpstr>PowerPoint Presentation</vt:lpstr>
      <vt:lpstr>PowerPoint Presentation</vt:lpstr>
      <vt:lpstr>PowerPoint Presentation</vt:lpstr>
      <vt:lpstr>Example: University Database</vt:lpstr>
      <vt:lpstr>Data Models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CSE Head</cp:lastModifiedBy>
  <cp:revision>148</cp:revision>
  <cp:lastPrinted>2001-02-09T15:35:27Z</cp:lastPrinted>
  <dcterms:created xsi:type="dcterms:W3CDTF">1999-11-04T20:50:09Z</dcterms:created>
  <dcterms:modified xsi:type="dcterms:W3CDTF">2026-02-08T05:32:24Z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0x010100FB07E0A197365045BAADC1BA69E208F6</vt:lpwstr>
  </property>
</Properties>
</file>