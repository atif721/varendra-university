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3" r:id="rId1"/>
    <p:sldMasterId id="2147483714" r:id="rId2"/>
    <p:sldMasterId id="2147483726" r:id="rId3"/>
  </p:sldMasterIdLst>
  <p:notesMasterIdLst>
    <p:notesMasterId r:id="rId39"/>
  </p:notesMasterIdLst>
  <p:handoutMasterIdLst>
    <p:handoutMasterId r:id="rId40"/>
  </p:handoutMasterIdLst>
  <p:sldIdLst>
    <p:sldId id="256" r:id="rId4"/>
    <p:sldId id="475" r:id="rId5"/>
    <p:sldId id="299" r:id="rId6"/>
    <p:sldId id="426" r:id="rId7"/>
    <p:sldId id="259" r:id="rId8"/>
    <p:sldId id="417" r:id="rId9"/>
    <p:sldId id="425" r:id="rId10"/>
    <p:sldId id="418" r:id="rId11"/>
    <p:sldId id="301" r:id="rId12"/>
    <p:sldId id="260" r:id="rId13"/>
    <p:sldId id="399" r:id="rId14"/>
    <p:sldId id="261" r:id="rId15"/>
    <p:sldId id="457" r:id="rId16"/>
    <p:sldId id="264" r:id="rId17"/>
    <p:sldId id="302" r:id="rId18"/>
    <p:sldId id="303" r:id="rId19"/>
    <p:sldId id="363" r:id="rId20"/>
    <p:sldId id="360" r:id="rId21"/>
    <p:sldId id="424" r:id="rId22"/>
    <p:sldId id="434" r:id="rId23"/>
    <p:sldId id="384" r:id="rId24"/>
    <p:sldId id="385" r:id="rId25"/>
    <p:sldId id="387" r:id="rId26"/>
    <p:sldId id="389" r:id="rId27"/>
    <p:sldId id="306" r:id="rId28"/>
    <p:sldId id="333" r:id="rId29"/>
    <p:sldId id="334" r:id="rId30"/>
    <p:sldId id="390" r:id="rId31"/>
    <p:sldId id="460" r:id="rId32"/>
    <p:sldId id="391" r:id="rId33"/>
    <p:sldId id="461" r:id="rId34"/>
    <p:sldId id="392" r:id="rId35"/>
    <p:sldId id="462" r:id="rId36"/>
    <p:sldId id="393" r:id="rId37"/>
    <p:sldId id="396" r:id="rId38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68" autoAdjust="0"/>
    <p:restoredTop sz="91294" autoAdjust="0"/>
  </p:normalViewPr>
  <p:slideViewPr>
    <p:cSldViewPr snapToGrid="0">
      <p:cViewPr varScale="1">
        <p:scale>
          <a:sx n="63" d="100"/>
          <a:sy n="63" d="100"/>
        </p:scale>
        <p:origin x="124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45" Type="http://schemas.openxmlformats.org/officeDocument/2006/relationships/customXml" Target="../customXml/item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customXml" Target="../customXml/item2.xml"/><Relationship Id="rId20" Type="http://schemas.openxmlformats.org/officeDocument/2006/relationships/slide" Target="slides/slide17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E7B9068D-BA9E-43FF-A368-093BCE3D4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2-08T07:05:29.3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17692 9472 0,'0'-18'62,"17"18"-62,54 0 16,0-17-16,52-1 15,230-35 1,-177 53-16,-17-17 16,141 17-1,-71-18 1,-158-17 0,-36 17-1,18-17 1,-35 35 15</inkml:trace>
  <inkml:trace contextRef="#ctx0" brushRef="#br0" timeOffset="2139.94">17462 9437 0,'0'35'79,"18"71"-79,-18 17 15,35 54 1,-35-1-16,0 248 15,18-1 1,-18 18 0,18-35 15,-18-89-31,17-88 31,-17-158-31,0-54 16,36-17 78,-19 0-48,19 0-46,-19 0 16,54 0 0,17 0-16,141-52 15,71-1 1,18-18 15,-213 53-31,195-34 16,-194 34-16,71-17 31,-160 17-31,71 0 16,-70 18-1,0 0 32,17-17-16,0-19-31,0 19 32,-17-1-1,-18 1-31,0-19 31,35 1-31,-17-88 16,0-36-16,-18-35 31,35 17-31,-35 19 31,0 69-15,0-34 0,0-1-1,0-34 1,0-19-1,-71-105 1,54 247 0,-19-124 15,19 71-31,-18 0 31,-18-71-31,53 124 16,-18-18 15,18 35 32</inkml:trace>
  <inkml:trace contextRef="#ctx0" brushRef="#br0" timeOffset="3440.02">18274 9313 0,'0'-17'78,"18"17"-47,17 17-31,0 19 16,18 87-1,35 89 1,0 88 0,-35-36-1,53 18 1,-71-35-1,-17-158-15,0-19 16,17-17 0,-17 35-16,-18-35 31,0 0-31,0 35 31,17 0-31,-17 1 16,0 16 15,0-16-15,0 34-1,0 1 1,0 34 0,0-105-1,0 71 1,0-107-1,0 1 1,0 0 0,0-1 15,0 19-31,0-19 31,0 18-15,0-17 78,0-36-16,0-17-63</inkml:trace>
  <inkml:trace contextRef="#ctx0" brushRef="#br0" timeOffset="4479.97">17533 10619 0,'18'-18'0,"52"-17"15,18-18 1,71 0-1,0-18 1,35 36 0,0-36 15,18 54-31,70-36 31,-18 35-15,1 18-16,-124 0 31,-106 0-31,18 0 16,0 0-1,-35 0 1,17 0 0,-17 0 62,-1 0-78</inkml:trace>
  <inkml:trace contextRef="#ctx0" brushRef="#br0" timeOffset="5809.6">17868 11395 0,'-17'0'47,"17"-18"0,0-17-31,35 35-1,71-18-15,0 1 16,158-1 0,36 18-1,-53 0 1,-53 0-1,-71-18 1,19-17 0,-19 17 15,-70 18-31,53 0 16,17 0-1,-17 0 1,-35 0-1,-19 0 1,37 0 0,17 0-1,52 0 1,89 0 0,-211 0-1,-19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2-08T06:50:13.2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16616 8731 0</inkml:trace>
  <inkml:trace contextRef="#ctx0" brushRef="#br0" timeOffset="762.43">19562 8749 0,'17'0'31</inkml:trace>
  <inkml:trace contextRef="#ctx0" brushRef="#br0" timeOffset="-11635.7">3810 10724 0,'0'-17'0,"18"-1"47,-1 18-47,71-35 15,18 17 1,106-17 15,0 17-31,35-35 32,35 53-17,-141 0-15,18 0 0,105 0 31,-52 0-15,-18 0 0,-18 0-1,-35 0 1,89 36 0,34 52-1,-105-35 1,17 0-1,-34-18 1,-54 0 15,-71-35-31,1 0 32,35 18-17,-35 0-15,17-18 16,-17 35-1,17 18 1,71 105 0,-36 19-1,18 35 1,-52-71 15,-1 17-31,-17 1 16,-1 35-1,54 0 1,35 247 15,-53-194-15,-36-70 0,-17-36-1,0-18 1,-17-52-1,-36 34 1,17 1 0,-34 18-1,70-54 1,-35-34 0,17-54 46,0-17-46,-52-53-16</inkml:trace>
  <inkml:trace contextRef="#ctx0" brushRef="#br0" timeOffset="-9916.05">3810 10760 0,'0'53'62,"0"35"-62,0 18 0,35-1 16,-17 160 0,17 53 15,36-124-31,-54 17 0,36 142 31,-17 0-15,17 53-1,-36-301 1,1 72 0,35-1-1,-53-88 1,0-17 0,0 17-1,0 18 1,0-36-1,0 1 1,0 17 0,0 0 15,35 1-31,-17 16 31,-1-52-15,1-35 15,0-18-15,34 0-1,37 18 1,16-18 0,1 0-1,88 0 1,-35 0-1,-53 0-15,-18 0 16,124 0 0,-18 0 15,212 0-15,-142 0-1,-17 0 1,53 0-1,70 0 1,1 0 0,-89 0-1,-88-36 1,-88-17 0,-89 36 15,1-1-16,0 18 95,-18-17-110,0-19 15,0 1-15</inkml:trace>
  <inkml:trace contextRef="#ctx0" brushRef="#br0" timeOffset="-8685.84">3845 12065 0,'18'-18'16,"17"18"-1,-17 0 1,176-53 0,70 36-1,160 17 1,-19 0-1,54 0 1,-53 0 0,123 0 15,-335 0-15,-123 0-1,-1 0-15,54 0 0,-54 0 16,1 17 15,70 1-15,106 17-1,0 1 1,-106-19 0,-88 1-1,-36-18 48,1 0-63,17 0 15,-17 0-15,17 0 16,-17 0 15</inkml:trace>
  <inkml:trace contextRef="#ctx0" brushRef="#br0" timeOffset="-7505.87">4216 13388 0,'-18'0'0,"36"-35"93,52 35-77,36 0 0,35 0-16,-17 0 15,87 0-15,19 0 16,228 0-1,459 0 1,-405 0 0,-142 0-1,-158 0 1,-124-18 15,-17 0-31,35 1 16,52 17 15,36 0-31,-35 0 31,-88 0-15,-36 0 0,36 0-1,-54 0 1,1-18 31,-18-17-47</inkml:trace>
  <inkml:trace contextRef="#ctx0" brushRef="#br0" timeOffset="-6105.38">5891 10495 0,'-17'0'109,"17"18"-93,0 52 0,0 19-16,0 140 15,0 53 1,17 53-1,19 0 1,34 18 0,-34-18 15,-19-17-31,36-36 31,-18-17-31,18-36 16,-35-35 15,0-124-31,17 107 16,-35-89-1,17 0 1,1 18 0,-18-18-1,18-35 1,-1-18 15,1 1-15,-18 17 15,35 17-31,-17-35 0,-18-17 31</inkml:trace>
  <inkml:trace contextRef="#ctx0" brushRef="#br0" timeOffset="-4725.56">8255 11606 0,'0'-17'31,"18"-19"1,35 19-17,-1 17 1,-16-18-16,140 1 15,71 17 1,-53-18 0,-17-17 15,-19 17-31,-17 18 31,-17 0-15,-36 0-16,-53-18 31,-17 18-15,0 0-1,17 0 1,71 0 0,17 0-1,-105 0 1</inkml:trace>
  <inkml:trace contextRef="#ctx0" brushRef="#br0" timeOffset="-3345.7">8661 11289 0,'17'0'110,"-34"18"-95,-19-1-15,19-17 16,-36 35-1,0-17 1,0 17 0,-35 1-1,35-19 17,-18 19-32,36-19 15,17 1 16,1-18-31,-1 17 16,1-17 0,-1 18 15,18 0 78,0-1-93,0 1 0,0 17-16,0 18 15,18-17 1,52 16-1,89 19-15,-36-53 32,-35 17-32,-70-35 78</inkml:trace>
  <inkml:trace contextRef="#ctx0" brushRef="#br0" timeOffset="-1585.53">4674 7038 0,'-17'0'31,"-1"0"-15,-17 0-1,-36 0-15,18 0 16,-70 53-1,-54 53 1,107-36-16,-89 36 16,71-35-1,-88 52 1,-36 71 0,124-53 15,-1-17-31,1 52 15,0-17 17,-35-18-32,34-35 31,37-18-15,16 0-1,-70 71 1,106-89-1,-88 54 1,18 176 0,17-106-1,0 35 1,18-17 0,35-1 15,-18-16-31,18 34 31,0-53-15,18 1-1,70 52 1,70 53 0,-69-176-1,-72-35 1,54-19-1,-18 1 1,-18-35 0,18-18-1,0 0 1,35 0 0,-17 0-1,52 0 16,106 0-15,18 0 0,0 0-1,-194 0 1,-35 0 0,17 0-1,-17 0 16</inkml:trace>
  <inkml:trace contextRef="#ctx0" brushRef="#br0" timeOffset="-75.73">3316 11536 0,'18'0'78,"17"17"-62,18-17 0,17 53-16,1-17 15,-18-19 1,70 36 0,-105-35-1,0-18-15,-1 0 16,1 18-1,0-18 32,-18 17-15,17 1-32,-17-1 46,0 1-30,0 0 0,0-1-16,0 1 31,0 17-15,-17-17-1,17 0 1,-36 34-1,19-16 1,-19-1 0,19-17-1,-1 17 1,-17 0 0,17 0-1,1-17 48,-1-18-63,0 18 15,18-1 1,-35 19 0,35-19 296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2-08T07:07:06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19667 6579 0,'-17'-17'0,"-1"17"0,0-18 31,1 0-15,17 1 15,-18-1-31,18 0 0,-17 18 31,17-35-15,0 18 0,0-36-1,0 17 1,0 1 0,0 0-1,0-18 1,0 18-1,0-1 1,0-17 15,0-17-15,35 17 0,18-18-1,0 1-15,0 17 31,-1-18-15,37 1 0,-19 17-1,1 0 1,-18 35 0,35-35-1,0 53 1,0-17-1,53 17 1,-52 0 15,-1 0-31,18 0 32,-18 0-32,0 0 15,-35 17 16,-35 1-15,87 17 0,1 18-1,-71-35 1,1 52 0,-36-34-1,0-19 1,0 1-1,0 17 1,0 36 0,-36 35-1,-69-1 17,-36-16-32,-1-1 15,-122-18 16,158-70-15,-123 0 0,-142 0-1,107-35 1,123 18 0,70 17-1,71-18 1</inkml:trace>
  <inkml:trace contextRef="#ctx0" brushRef="#br0" timeOffset="2190.26">18962 12559 0,'-18'0'62,"1"0"-31,-1 0-15,-17 0 0,17 0-1,18-18 1,0 1-16,0-19 16,-18 1-1,18-18 1,0 18-1,0 17 1,0 1-16,0-72 31,18 36-31,53-35 32,34 0-17,1 35-15,0 0 31,35 18-15,0 0 0,71-18-1,-159 35 1,106-17 0,-1 35-1,1 0 1,35 0-1,0 0 1,-53 0 15,-17 0-31,-71 0 32,35 0-17,-18 18-15,1 17 31,-18-18-15,-36 19 0,19-19-1,-19 54 1,36 17 0,-17 18-1,-1-53 1,-17 53-1,17-71 1,-18 35 15,19-17-31,-19 18 32,1 35-17,-18-89-15,0 36 31,0-35-31,0 17 16,-35 18 0,-18-35-1,-18 17 1,-52-17 0,-18-1-1,-71-17 1,-53 0-1,-211 0 17,317 0-17,-158 0-15,-124 0 32,212-35-17,176 35-15,35 0 31,18-18-15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4D715CB-083A-4111-8E48-C9405A80A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04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028798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8541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5592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105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75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6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1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4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853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22731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17662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025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918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720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193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897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787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827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4197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0209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B8426CCB-D730-4957-A314-CCFBCBD4B0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28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98081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41130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55653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3874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486282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1819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79370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1545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46088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7255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5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rgbClr val="578963"/>
                </a:solidFill>
                <a:latin typeface="Times New Roman" pitchFamily="18" charset="0"/>
                <a:ea typeface="SimSun" pitchFamily="2" charset="-122"/>
              </a:defRPr>
            </a:lvl1pPr>
          </a:lstStyle>
          <a:p>
            <a:pPr>
              <a:defRPr/>
            </a:pPr>
            <a:fld id="{950BDB86-0594-46E6-AF61-CDFB45A3EC8B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4661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26862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9592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34518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56340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20250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6204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3879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8050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243990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899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11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3759200" y="6613525"/>
            <a:ext cx="123666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sz="1100" b="1" dirty="0">
                <a:solidFill>
                  <a:srgbClr val="000000"/>
                </a:solidFill>
              </a:rPr>
              <a:t>www.ru.ac.bd/cse</a:t>
            </a:r>
          </a:p>
        </p:txBody>
      </p:sp>
    </p:spTree>
    <p:extLst>
      <p:ext uri="{BB962C8B-B14F-4D97-AF65-F5344CB8AC3E}">
        <p14:creationId xmlns:p14="http://schemas.microsoft.com/office/powerpoint/2010/main" val="1273565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Text Box 41"/>
          <p:cNvSpPr txBox="1">
            <a:spLocks noChangeArrowheads="1"/>
          </p:cNvSpPr>
          <p:nvPr/>
        </p:nvSpPr>
        <p:spPr bwMode="auto">
          <a:xfrm>
            <a:off x="4559300" y="6613525"/>
            <a:ext cx="2889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000" b="1" dirty="0">
                <a:solidFill>
                  <a:schemeClr val="tx2"/>
                </a:solidFill>
                <a:ea typeface="SimSun" pitchFamily="2" charset="-122"/>
              </a:rPr>
              <a:t>2.</a:t>
            </a:r>
          </a:p>
        </p:txBody>
      </p:sp>
      <p:sp>
        <p:nvSpPr>
          <p:cNvPr id="75818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186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6.emf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09FF-FBCD-48E9-9C14-6EF6F813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Entity and Attribute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69D17-17D2-48E8-B3DE-4852C46DF0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317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Entity Sets </a:t>
            </a:r>
            <a:r>
              <a:rPr lang="en-US" altLang="zh-CN" i="1">
                <a:ea typeface="SimSun" pitchFamily="2" charset="-122"/>
              </a:rPr>
              <a:t>customer</a:t>
            </a:r>
            <a:r>
              <a:rPr lang="en-US" altLang="zh-CN">
                <a:ea typeface="SimSun" pitchFamily="2" charset="-122"/>
              </a:rPr>
              <a:t> and </a:t>
            </a:r>
            <a:r>
              <a:rPr lang="en-US" altLang="zh-CN" i="1">
                <a:ea typeface="SimSun" pitchFamily="2" charset="-122"/>
              </a:rPr>
              <a:t>loan</a:t>
            </a:r>
            <a:endParaRPr lang="en-US" altLang="zh-CN">
              <a:ea typeface="SimSun" pitchFamily="2" charset="-122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" t="7512" r="1233" b="9859"/>
          <a:stretch>
            <a:fillRect/>
          </a:stretch>
        </p:blipFill>
        <p:spPr bwMode="auto">
          <a:xfrm>
            <a:off x="317500" y="1549400"/>
            <a:ext cx="8572500" cy="48133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252413" y="849313"/>
            <a:ext cx="87058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customer-id      customer-  customer-  customer-         loan-      amount</a:t>
            </a:r>
            <a:b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</a:b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                          name          street          city                    number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74562" y="2882096"/>
            <a:ext cx="5544273" cy="578734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D0AB05-A35A-4EB4-85B0-B9DF3BB50A18}"/>
                  </a:ext>
                </a:extLst>
              </p14:cNvPr>
              <p14:cNvContentPartPr/>
              <p14:nvPr/>
            </p14:nvContentPartPr>
            <p14:xfrm>
              <a:off x="6286320" y="3327480"/>
              <a:ext cx="1149840" cy="1136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D0AB05-A35A-4EB4-85B0-B9DF3BB50A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76960" y="3318120"/>
                <a:ext cx="1168560" cy="115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80" y="668819"/>
            <a:ext cx="57150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767" y="3470061"/>
            <a:ext cx="2816225" cy="2249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6739D2-3917-4635-8BB7-0C54BC21A0E9}"/>
                  </a:ext>
                </a:extLst>
              </p14:cNvPr>
              <p14:cNvContentPartPr/>
              <p14:nvPr/>
            </p14:nvContentPartPr>
            <p14:xfrm>
              <a:off x="863640" y="2533680"/>
              <a:ext cx="6185160" cy="2775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6739D2-3917-4635-8BB7-0C54BC21A0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4280" y="2524320"/>
                <a:ext cx="6203880" cy="279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4604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Basic Concepts 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836613"/>
            <a:ext cx="8547100" cy="5626100"/>
          </a:xfrm>
        </p:spPr>
        <p:txBody>
          <a:bodyPr/>
          <a:lstStyle/>
          <a:p>
            <a:pPr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</a:rPr>
              <a:t>Relationship Sets</a:t>
            </a:r>
          </a:p>
          <a:p>
            <a:pPr lvl="1"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</a:rPr>
              <a:t>A </a:t>
            </a:r>
            <a:r>
              <a:rPr lang="en-US" altLang="zh-CN" sz="2400" b="1" dirty="0">
                <a:solidFill>
                  <a:schemeClr val="tx2"/>
                </a:solidFill>
                <a:ea typeface="SimSun" pitchFamily="2" charset="-122"/>
              </a:rPr>
              <a:t>relationship</a:t>
            </a:r>
            <a:r>
              <a:rPr lang="en-US" altLang="zh-CN" sz="2400" b="1" dirty="0">
                <a:ea typeface="SimSun" pitchFamily="2" charset="-122"/>
              </a:rPr>
              <a:t> is an association among several entities</a:t>
            </a:r>
          </a:p>
          <a:p>
            <a:pPr>
              <a:buFont typeface="Monotype Sorts" pitchFamily="2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</a:rPr>
              <a:t>	Example:</a:t>
            </a:r>
            <a:br>
              <a:rPr lang="en-US" altLang="zh-CN" sz="2400" b="1" dirty="0">
                <a:ea typeface="SimSun" pitchFamily="2" charset="-122"/>
              </a:rPr>
            </a:br>
            <a:r>
              <a:rPr lang="en-US" altLang="zh-CN" sz="2400" b="1" dirty="0">
                <a:ea typeface="SimSun" pitchFamily="2" charset="-122"/>
              </a:rPr>
              <a:t>	</a:t>
            </a:r>
            <a:r>
              <a:rPr lang="en-US" altLang="zh-CN" sz="2400" b="1" u="sng" dirty="0">
                <a:ea typeface="SimSun" pitchFamily="2" charset="-122"/>
              </a:rPr>
              <a:t>Hayes</a:t>
            </a:r>
            <a:r>
              <a:rPr lang="en-US" altLang="zh-CN" sz="2400" b="1" dirty="0">
                <a:ea typeface="SimSun" pitchFamily="2" charset="-122"/>
              </a:rPr>
              <a:t>	</a:t>
            </a:r>
            <a:r>
              <a:rPr lang="en-US" altLang="zh-CN" sz="2400" b="1" i="1" u="sng" dirty="0">
                <a:ea typeface="SimSun" pitchFamily="2" charset="-122"/>
              </a:rPr>
              <a:t>depositor</a:t>
            </a:r>
            <a:r>
              <a:rPr lang="en-US" altLang="zh-CN" sz="2400" b="1" dirty="0">
                <a:ea typeface="SimSun" pitchFamily="2" charset="-122"/>
              </a:rPr>
              <a:t>	         </a:t>
            </a:r>
            <a:r>
              <a:rPr lang="en-US" altLang="zh-CN" sz="2400" b="1" u="sng" dirty="0">
                <a:ea typeface="SimSun" pitchFamily="2" charset="-122"/>
              </a:rPr>
              <a:t>A-102</a:t>
            </a:r>
            <a:br>
              <a:rPr lang="en-US" altLang="zh-CN" sz="2400" b="1" dirty="0">
                <a:ea typeface="SimSun" pitchFamily="2" charset="-122"/>
              </a:rPr>
            </a:br>
            <a:r>
              <a:rPr lang="en-US" altLang="zh-CN" sz="2400" b="1" dirty="0">
                <a:ea typeface="SimSun" pitchFamily="2" charset="-122"/>
              </a:rPr>
              <a:t>	</a:t>
            </a:r>
            <a:r>
              <a:rPr lang="en-US" altLang="zh-CN" sz="2400" b="1" i="1" dirty="0">
                <a:ea typeface="SimSun" pitchFamily="2" charset="-122"/>
              </a:rPr>
              <a:t>customer</a:t>
            </a:r>
            <a:r>
              <a:rPr lang="en-US" altLang="zh-CN" sz="2400" b="1" dirty="0">
                <a:ea typeface="SimSun" pitchFamily="2" charset="-122"/>
              </a:rPr>
              <a:t> entity	 relationship set	 </a:t>
            </a:r>
            <a:r>
              <a:rPr lang="en-US" altLang="zh-CN" sz="2400" b="1" i="1" dirty="0">
                <a:ea typeface="SimSun" pitchFamily="2" charset="-122"/>
              </a:rPr>
              <a:t>account</a:t>
            </a:r>
            <a:r>
              <a:rPr lang="en-US" altLang="zh-CN" sz="2400" b="1" dirty="0">
                <a:ea typeface="SimSun" pitchFamily="2" charset="-122"/>
              </a:rPr>
              <a:t> entity</a:t>
            </a:r>
          </a:p>
          <a:p>
            <a:pPr lvl="1"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</a:rPr>
              <a:t>A </a:t>
            </a:r>
            <a:r>
              <a:rPr lang="en-US" altLang="zh-CN" sz="2400" b="1" i="1" dirty="0">
                <a:solidFill>
                  <a:schemeClr val="tx2"/>
                </a:solidFill>
                <a:ea typeface="SimSun" pitchFamily="2" charset="-122"/>
              </a:rPr>
              <a:t>relationship </a:t>
            </a:r>
            <a:r>
              <a:rPr lang="en-US" altLang="zh-CN" sz="2400" b="1" dirty="0">
                <a:solidFill>
                  <a:schemeClr val="tx2"/>
                </a:solidFill>
                <a:ea typeface="SimSun" pitchFamily="2" charset="-122"/>
              </a:rPr>
              <a:t>set</a:t>
            </a:r>
            <a:r>
              <a:rPr lang="en-US" altLang="zh-CN" sz="2400" b="1" dirty="0">
                <a:ea typeface="SimSun" pitchFamily="2" charset="-122"/>
              </a:rPr>
              <a:t> is a mathematical relation among </a:t>
            </a:r>
            <a:r>
              <a:rPr lang="en-US" altLang="zh-CN" sz="2400" b="1" i="1" dirty="0">
                <a:ea typeface="SimSun" pitchFamily="2" charset="-122"/>
              </a:rPr>
              <a:t>n</a:t>
            </a:r>
            <a:r>
              <a:rPr lang="en-US" altLang="zh-CN" sz="2400" b="1" dirty="0">
                <a:ea typeface="SimSun" pitchFamily="2" charset="-122"/>
              </a:rPr>
              <a:t> 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 2 entities, each taken from entity sets</a:t>
            </a:r>
          </a:p>
          <a:p>
            <a:pPr>
              <a:buFont typeface="Monotype Sorts" pitchFamily="2" charset="2"/>
              <a:buNone/>
              <a:tabLst>
                <a:tab pos="1536700" algn="ctr"/>
                <a:tab pos="3543300" algn="ctr"/>
                <a:tab pos="5481638" algn="ctr"/>
              </a:tabLst>
            </a:pP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		{(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…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i="1" baseline="-25000" dirty="0">
                <a:ea typeface="SimSun" pitchFamily="2" charset="-122"/>
                <a:sym typeface="Symbol" pitchFamily="18" charset="2"/>
              </a:rPr>
              <a:t>n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) |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  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  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…,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i="1" baseline="-25000" dirty="0">
                <a:ea typeface="SimSun" pitchFamily="2" charset="-122"/>
                <a:sym typeface="Symbol" pitchFamily="18" charset="2"/>
              </a:rPr>
              <a:t>n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  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i="1" baseline="-25000" dirty="0">
                <a:ea typeface="SimSun" pitchFamily="2" charset="-122"/>
                <a:sym typeface="Symbol" pitchFamily="18" charset="2"/>
              </a:rPr>
              <a:t>n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}</a:t>
            </a:r>
            <a:br>
              <a:rPr lang="en-US" altLang="zh-CN" sz="2400" b="1" dirty="0">
                <a:ea typeface="SimSun" pitchFamily="2" charset="-122"/>
                <a:sym typeface="Symbol" pitchFamily="18" charset="2"/>
              </a:rPr>
            </a:br>
            <a:br>
              <a:rPr lang="en-US" altLang="zh-CN" sz="2400" b="1" dirty="0">
                <a:ea typeface="SimSun" pitchFamily="2" charset="-122"/>
                <a:sym typeface="Symbol" pitchFamily="18" charset="2"/>
              </a:rPr>
            </a:b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where (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1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baseline="-25000" dirty="0">
                <a:ea typeface="SimSun" pitchFamily="2" charset="-122"/>
                <a:sym typeface="Symbol" pitchFamily="18" charset="2"/>
              </a:rPr>
              <a:t>2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, …, </a:t>
            </a:r>
            <a:r>
              <a:rPr lang="en-US" altLang="zh-CN" sz="2400" b="1" i="1" dirty="0">
                <a:ea typeface="SimSun" pitchFamily="2" charset="-122"/>
                <a:sym typeface="Symbol" pitchFamily="18" charset="2"/>
              </a:rPr>
              <a:t>e</a:t>
            </a:r>
            <a:r>
              <a:rPr lang="en-US" altLang="zh-CN" sz="2400" b="1" i="1" baseline="-25000" dirty="0">
                <a:ea typeface="SimSun" pitchFamily="2" charset="-122"/>
                <a:sym typeface="Symbol" pitchFamily="18" charset="2"/>
              </a:rPr>
              <a:t>n</a:t>
            </a:r>
            <a:r>
              <a:rPr lang="en-US" altLang="zh-CN" sz="2400" b="1" dirty="0">
                <a:ea typeface="SimSun" pitchFamily="2" charset="-122"/>
                <a:sym typeface="Symbol" pitchFamily="18" charset="2"/>
              </a:rPr>
              <a:t>) is a relationship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" t="11800" r="3009" b="12743"/>
          <a:stretch>
            <a:fillRect/>
          </a:stretch>
        </p:blipFill>
        <p:spPr bwMode="auto">
          <a:xfrm>
            <a:off x="1030287" y="1449316"/>
            <a:ext cx="7273925" cy="409733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16984" y="369205"/>
            <a:ext cx="57005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>
                <a:tab pos="1536700" algn="ctr"/>
                <a:tab pos="3543300" algn="ctr"/>
                <a:tab pos="5481638" algn="ctr"/>
              </a:tabLst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SimSun" pitchFamily="2" charset="-122"/>
                <a:cs typeface="+mn-cs"/>
                <a:sym typeface="Symbol" pitchFamily="18" charset="2"/>
              </a:rPr>
              <a:t>Example:  			(Hayes, A-102) 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SimSun" pitchFamily="2" charset="-122"/>
                <a:cs typeface="+mn-cs"/>
                <a:sym typeface="Symbol" pitchFamily="18" charset="2"/>
              </a:rPr>
              <a:t>depositor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475774" y="3295427"/>
            <a:ext cx="1886672" cy="428264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791679" y="2987798"/>
            <a:ext cx="2772137" cy="542081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96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" t="11800" r="3009" b="12743"/>
          <a:stretch>
            <a:fillRect/>
          </a:stretch>
        </p:blipFill>
        <p:spPr bwMode="auto">
          <a:xfrm>
            <a:off x="1030287" y="1449316"/>
            <a:ext cx="7273925" cy="409733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16984" y="369205"/>
            <a:ext cx="57005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>
                <a:tab pos="1536700" algn="ctr"/>
                <a:tab pos="3543300" algn="ctr"/>
                <a:tab pos="5481638" algn="ctr"/>
              </a:tabLst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SimSun" pitchFamily="2" charset="-122"/>
                <a:cs typeface="+mn-cs"/>
                <a:sym typeface="Symbol" pitchFamily="18" charset="2"/>
              </a:rPr>
              <a:t>Example:  			(Hayes, A-102) 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/>
                <a:ea typeface="SimSun" pitchFamily="2" charset="-122"/>
                <a:cs typeface="+mn-cs"/>
                <a:sym typeface="Symbol" pitchFamily="18" charset="2"/>
              </a:rPr>
              <a:t>depositor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475774" y="2381027"/>
            <a:ext cx="1886672" cy="428264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4811999" y="3902198"/>
            <a:ext cx="2772137" cy="542081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822159" y="2073398"/>
            <a:ext cx="2772137" cy="542081"/>
          </a:xfrm>
          <a:prstGeom prst="rect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 w="57150">
                <a:solidFill>
                  <a:srgbClr val="CC3300">
                    <a:satMod val="155000"/>
                  </a:srgbClr>
                </a:solidFill>
                <a:prstDash val="solid"/>
              </a:ln>
              <a:solidFill>
                <a:srgbClr val="666699">
                  <a:tint val="85000"/>
                  <a:satMod val="155000"/>
                </a:srgb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7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</a:t>
            </a:r>
            <a:r>
              <a:rPr lang="en-US" i="1"/>
              <a:t>depositor </a:t>
            </a:r>
            <a:r>
              <a:rPr lang="en-US"/>
              <a:t>Relation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2" t="7622" r="2599" b="6929"/>
          <a:stretch>
            <a:fillRect/>
          </a:stretch>
        </p:blipFill>
        <p:spPr bwMode="auto">
          <a:xfrm>
            <a:off x="1447800" y="1219200"/>
            <a:ext cx="6883400" cy="46355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30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Relationship Set </a:t>
            </a:r>
            <a:r>
              <a:rPr lang="en-US" altLang="zh-CN" i="1">
                <a:ea typeface="SimSun" pitchFamily="2" charset="-122"/>
              </a:rPr>
              <a:t>borrower</a:t>
            </a:r>
            <a:endParaRPr lang="en-US" altLang="zh-CN">
              <a:ea typeface="SimSun" pitchFamily="2" charset="-122"/>
            </a:endParaRPr>
          </a:p>
        </p:txBody>
      </p:sp>
      <p:pic>
        <p:nvPicPr>
          <p:cNvPr id="9219" name="Picture 10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" t="7619" r="1428" b="8809"/>
          <a:stretch>
            <a:fillRect/>
          </a:stretch>
        </p:blipFill>
        <p:spPr bwMode="auto">
          <a:xfrm>
            <a:off x="527050" y="854075"/>
            <a:ext cx="8007350" cy="53435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07D07D-8760-4F77-9611-D2F234DA1502}"/>
                  </a:ext>
                </a:extLst>
              </p14:cNvPr>
              <p14:cNvContentPartPr/>
              <p14:nvPr/>
            </p14:nvContentPartPr>
            <p14:xfrm>
              <a:off x="6781680" y="1955880"/>
              <a:ext cx="991080" cy="2679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07D07D-8760-4F77-9611-D2F234DA15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72320" y="1946520"/>
                <a:ext cx="1009800" cy="269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Basic Concepts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5975" y="828675"/>
            <a:ext cx="7848600" cy="1171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>
                <a:ea typeface="SimSun" pitchFamily="2" charset="-122"/>
              </a:rPr>
              <a:t>An </a:t>
            </a:r>
            <a:r>
              <a:rPr lang="en-US" altLang="zh-CN" b="1" i="1" dirty="0">
                <a:ea typeface="SimSun" pitchFamily="2" charset="-122"/>
              </a:rPr>
              <a:t>attribute</a:t>
            </a:r>
            <a:r>
              <a:rPr lang="en-US" altLang="zh-CN" dirty="0">
                <a:ea typeface="SimSun" pitchFamily="2" charset="-122"/>
              </a:rPr>
              <a:t> can also be property of a </a:t>
            </a:r>
            <a:r>
              <a:rPr lang="en-US" altLang="zh-CN" b="1" dirty="0">
                <a:ea typeface="SimSun" pitchFamily="2" charset="-122"/>
              </a:rPr>
              <a:t>relationship set</a:t>
            </a:r>
            <a:r>
              <a:rPr lang="en-US" altLang="zh-CN" dirty="0">
                <a:ea typeface="SimSun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ea typeface="SimSun" pitchFamily="2" charset="-122"/>
              </a:rPr>
              <a:t>For instance, the </a:t>
            </a:r>
            <a:r>
              <a:rPr lang="en-US" altLang="zh-CN" b="1" i="1" dirty="0">
                <a:ea typeface="SimSun" pitchFamily="2" charset="-122"/>
              </a:rPr>
              <a:t>depositor</a:t>
            </a:r>
            <a:r>
              <a:rPr lang="en-US" altLang="zh-CN" i="1" dirty="0">
                <a:ea typeface="SimSun" pitchFamily="2" charset="-122"/>
              </a:rPr>
              <a:t> </a:t>
            </a:r>
            <a:r>
              <a:rPr lang="en-US" altLang="zh-CN" dirty="0">
                <a:ea typeface="SimSun" pitchFamily="2" charset="-122"/>
              </a:rPr>
              <a:t>relationship set between entity sets </a:t>
            </a:r>
            <a:r>
              <a:rPr lang="en-US" altLang="zh-CN" i="1" dirty="0">
                <a:ea typeface="SimSun" pitchFamily="2" charset="-122"/>
              </a:rPr>
              <a:t>customer </a:t>
            </a:r>
            <a:r>
              <a:rPr lang="en-US" altLang="zh-CN" dirty="0">
                <a:ea typeface="SimSun" pitchFamily="2" charset="-122"/>
              </a:rPr>
              <a:t>and </a:t>
            </a:r>
            <a:r>
              <a:rPr lang="en-US" altLang="zh-CN" i="1" dirty="0">
                <a:ea typeface="SimSun" pitchFamily="2" charset="-122"/>
              </a:rPr>
              <a:t>account </a:t>
            </a:r>
            <a:r>
              <a:rPr lang="en-US" altLang="zh-CN" dirty="0">
                <a:ea typeface="SimSun" pitchFamily="2" charset="-122"/>
              </a:rPr>
              <a:t>may have the attribute </a:t>
            </a:r>
            <a:r>
              <a:rPr lang="en-US" altLang="zh-CN" sz="2400" b="1" i="1" dirty="0">
                <a:ea typeface="SimSun" pitchFamily="2" charset="-122"/>
              </a:rPr>
              <a:t>access-date</a:t>
            </a:r>
            <a:endParaRPr lang="en-US" altLang="zh-CN" sz="2400" b="1" dirty="0">
              <a:ea typeface="SimSun" pitchFamily="2" charset="-122"/>
            </a:endParaRPr>
          </a:p>
        </p:txBody>
      </p:sp>
      <p:pic>
        <p:nvPicPr>
          <p:cNvPr id="1024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7312" r="3548" b="7742"/>
          <a:stretch>
            <a:fillRect/>
          </a:stretch>
        </p:blipFill>
        <p:spPr bwMode="auto">
          <a:xfrm>
            <a:off x="1230313" y="2143023"/>
            <a:ext cx="6907212" cy="4386263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981389" y="279400"/>
            <a:ext cx="613982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Role: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Recursive Relationship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grpSp>
        <p:nvGrpSpPr>
          <p:cNvPr id="11267" name="Group 11"/>
          <p:cNvGrpSpPr>
            <a:grpSpLocks/>
          </p:cNvGrpSpPr>
          <p:nvPr/>
        </p:nvGrpSpPr>
        <p:grpSpPr bwMode="auto">
          <a:xfrm>
            <a:off x="1625136" y="1253259"/>
            <a:ext cx="6002594" cy="3156513"/>
            <a:chOff x="288" y="768"/>
            <a:chExt cx="5232" cy="2592"/>
          </a:xfrm>
        </p:grpSpPr>
        <p:pic>
          <p:nvPicPr>
            <p:cNvPr id="1126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768"/>
              <a:ext cx="5232" cy="25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269" name="Text Box 6"/>
            <p:cNvSpPr txBox="1">
              <a:spLocks noChangeArrowheads="1"/>
            </p:cNvSpPr>
            <p:nvPr/>
          </p:nvSpPr>
          <p:spPr bwMode="auto">
            <a:xfrm>
              <a:off x="3922" y="1943"/>
              <a:ext cx="756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11270" name="Text Box 8"/>
            <p:cNvSpPr txBox="1">
              <a:spLocks noChangeArrowheads="1"/>
            </p:cNvSpPr>
            <p:nvPr/>
          </p:nvSpPr>
          <p:spPr bwMode="auto">
            <a:xfrm>
              <a:off x="1178" y="1935"/>
              <a:ext cx="756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Employee</a:t>
              </a:r>
            </a:p>
          </p:txBody>
        </p:sp>
        <p:sp>
          <p:nvSpPr>
            <p:cNvPr id="11271" name="Text Box 9"/>
            <p:cNvSpPr txBox="1">
              <a:spLocks noChangeArrowheads="1"/>
            </p:cNvSpPr>
            <p:nvPr/>
          </p:nvSpPr>
          <p:spPr bwMode="auto">
            <a:xfrm>
              <a:off x="2552" y="1279"/>
              <a:ext cx="658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11272" name="Text Box 10"/>
            <p:cNvSpPr txBox="1">
              <a:spLocks noChangeArrowheads="1"/>
            </p:cNvSpPr>
            <p:nvPr/>
          </p:nvSpPr>
          <p:spPr bwMode="auto">
            <a:xfrm>
              <a:off x="2581" y="2935"/>
              <a:ext cx="551" cy="1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Helvetica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Helvetica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Helvetica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Helvetica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Helvetica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Helvetica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+mn-ea"/>
                  <a:cs typeface="+mn-cs"/>
                </a:rPr>
                <a:t>Worker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1897992" y="4787153"/>
            <a:ext cx="55941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A relationship Set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works-for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that is modeled by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ordered pair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s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employee entities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Basic Concepts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375" y="650875"/>
            <a:ext cx="8466138" cy="5813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ea typeface="SimSun" pitchFamily="2" charset="-122"/>
              </a:rPr>
              <a:t>Degree of a Relationship Set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Refers to number of </a:t>
            </a:r>
            <a:r>
              <a:rPr lang="en-US" altLang="zh-CN" sz="2400" b="1" dirty="0">
                <a:ea typeface="SimSun" pitchFamily="2" charset="-122"/>
              </a:rPr>
              <a:t>entity sets </a:t>
            </a:r>
            <a:r>
              <a:rPr lang="en-US" altLang="zh-CN" sz="2400" dirty="0">
                <a:ea typeface="SimSun" pitchFamily="2" charset="-122"/>
              </a:rPr>
              <a:t>that participate in a </a:t>
            </a:r>
            <a:r>
              <a:rPr lang="en-US" altLang="zh-CN" sz="2400" b="1" dirty="0">
                <a:ea typeface="SimSun" pitchFamily="2" charset="-122"/>
              </a:rPr>
              <a:t>relationship set.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Relationship sets that </a:t>
            </a:r>
            <a:r>
              <a:rPr lang="en-US" altLang="zh-CN" sz="2400" b="1" dirty="0">
                <a:ea typeface="SimSun" pitchFamily="2" charset="-122"/>
              </a:rPr>
              <a:t>involve two entity sets</a:t>
            </a:r>
            <a:r>
              <a:rPr lang="en-US" altLang="zh-CN" sz="2400" dirty="0">
                <a:ea typeface="SimSun" pitchFamily="2" charset="-122"/>
              </a:rPr>
              <a:t> are </a:t>
            </a:r>
            <a:r>
              <a:rPr lang="en-US" altLang="zh-CN" sz="2400" b="1" i="1" dirty="0">
                <a:solidFill>
                  <a:schemeClr val="tx2"/>
                </a:solidFill>
                <a:ea typeface="SimSun" pitchFamily="2" charset="-122"/>
              </a:rPr>
              <a:t>binary</a:t>
            </a:r>
            <a:r>
              <a:rPr lang="en-US" altLang="zh-CN" sz="2400" b="1" dirty="0">
                <a:ea typeface="SimSun" pitchFamily="2" charset="-122"/>
              </a:rPr>
              <a:t> </a:t>
            </a:r>
            <a:r>
              <a:rPr lang="en-US" altLang="zh-CN" sz="2400" dirty="0">
                <a:ea typeface="SimSun" pitchFamily="2" charset="-122"/>
              </a:rPr>
              <a:t>(or degree two).  Generally, most relationship sets in a database system are binary.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Relationship sets may </a:t>
            </a:r>
            <a:r>
              <a:rPr lang="en-US" altLang="zh-CN" sz="2400" b="1" dirty="0">
                <a:ea typeface="SimSun" pitchFamily="2" charset="-122"/>
              </a:rPr>
              <a:t>involve more than two</a:t>
            </a:r>
            <a:r>
              <a:rPr lang="en-US" altLang="zh-CN" sz="2400" dirty="0">
                <a:ea typeface="SimSun" pitchFamily="2" charset="-122"/>
              </a:rPr>
              <a:t> entity sets.</a:t>
            </a:r>
            <a:r>
              <a:rPr lang="en-US" altLang="zh-CN" sz="2000" dirty="0">
                <a:ea typeface="SimSun" pitchFamily="2" charset="-122"/>
              </a:rPr>
              <a:t> 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SimSun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400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dirty="0">
                <a:ea typeface="SimSun" pitchFamily="2" charset="-122"/>
              </a:rPr>
              <a:t>Relationships between more than two entity sets are rare.  Most relationships are binary. (More on this later.)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82625" y="3757613"/>
            <a:ext cx="82137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Helvetica" charset="0"/>
              </a:defRPr>
            </a:lvl1pPr>
            <a:lvl2pPr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E.g.  Suppose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employee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s of a bank may have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jobs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(responsibilities) at multiple branches,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with different jobs at different branches.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 Then there is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 ternary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relationship set between entity sets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  <a:hlinkClick r:id="" action="ppaction://noaction"/>
              </a:rPr>
              <a:t>employee,  job and branch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100">
                <a:ea typeface="SimSun" pitchFamily="2" charset="-122"/>
              </a:rPr>
              <a:t>E-R</a:t>
            </a:r>
            <a:r>
              <a:rPr lang="en-US" altLang="zh-CN">
                <a:ea typeface="SimSun" pitchFamily="2" charset="-122"/>
              </a:rPr>
              <a:t> Diagram with a Ternary Relationship</a:t>
            </a:r>
          </a:p>
        </p:txBody>
      </p:sp>
      <p:pic>
        <p:nvPicPr>
          <p:cNvPr id="2457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" t="27061" r="774" b="26804"/>
          <a:stretch>
            <a:fillRect/>
          </a:stretch>
        </p:blipFill>
        <p:spPr bwMode="auto">
          <a:xfrm>
            <a:off x="533400" y="1333500"/>
            <a:ext cx="8278813" cy="29210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7108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Constraints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3538" y="1031875"/>
            <a:ext cx="8483600" cy="5207000"/>
          </a:xfrm>
        </p:spPr>
        <p:txBody>
          <a:bodyPr/>
          <a:lstStyle/>
          <a:p>
            <a:r>
              <a:rPr lang="en-US" altLang="zh-CN" sz="2400" b="1" dirty="0">
                <a:ea typeface="SimSun" pitchFamily="2" charset="-122"/>
              </a:rPr>
              <a:t>Mapping Cardinalities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Express the </a:t>
            </a:r>
            <a:r>
              <a:rPr lang="en-US" altLang="zh-CN" sz="2400" b="1" dirty="0">
                <a:ea typeface="SimSun" pitchFamily="2" charset="-122"/>
              </a:rPr>
              <a:t>number of entities </a:t>
            </a:r>
            <a:r>
              <a:rPr lang="en-US" altLang="zh-CN" sz="2400" dirty="0">
                <a:ea typeface="SimSun" pitchFamily="2" charset="-122"/>
              </a:rPr>
              <a:t>to which </a:t>
            </a:r>
            <a:r>
              <a:rPr lang="en-US" altLang="zh-CN" sz="2400" b="1" dirty="0">
                <a:ea typeface="SimSun" pitchFamily="2" charset="-122"/>
              </a:rPr>
              <a:t>another entity </a:t>
            </a:r>
            <a:r>
              <a:rPr lang="en-US" altLang="zh-CN" sz="2400" dirty="0">
                <a:ea typeface="SimSun" pitchFamily="2" charset="-122"/>
              </a:rPr>
              <a:t>can be associated via a </a:t>
            </a:r>
            <a:r>
              <a:rPr lang="en-US" altLang="zh-CN" sz="2400" b="1" dirty="0">
                <a:ea typeface="SimSun" pitchFamily="2" charset="-122"/>
              </a:rPr>
              <a:t>relationship set</a:t>
            </a:r>
            <a:r>
              <a:rPr lang="en-US" altLang="zh-CN" sz="2400" dirty="0">
                <a:ea typeface="SimSun" pitchFamily="2" charset="-122"/>
              </a:rPr>
              <a:t>.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Most useful in </a:t>
            </a:r>
            <a:r>
              <a:rPr lang="en-US" altLang="zh-CN" sz="2400" b="1" dirty="0">
                <a:ea typeface="SimSun" pitchFamily="2" charset="-122"/>
              </a:rPr>
              <a:t>describing binary relationship </a:t>
            </a:r>
            <a:r>
              <a:rPr lang="en-US" altLang="zh-CN" sz="2400" dirty="0">
                <a:ea typeface="SimSun" pitchFamily="2" charset="-122"/>
              </a:rPr>
              <a:t>sets.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For a binary relationship set the mapping cardinality must be one of the following types: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One to one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One to many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Many to one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Many to many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Constraints 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" t="10025" r="1834" b="10269"/>
          <a:stretch>
            <a:fillRect/>
          </a:stretch>
        </p:blipFill>
        <p:spPr bwMode="auto">
          <a:xfrm>
            <a:off x="1155700" y="1016000"/>
            <a:ext cx="6756400" cy="416083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362075" y="5283200"/>
            <a:ext cx="1949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One to one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448300" y="5283200"/>
            <a:ext cx="1928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One to many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454025" y="5691188"/>
            <a:ext cx="83851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Note: Some elements in A and B may not be mapped to any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elements in the other 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3600">
                <a:ea typeface="SimSun" pitchFamily="2" charset="-122"/>
              </a:rPr>
              <a:t>Constraints </a:t>
            </a:r>
            <a:r>
              <a:rPr lang="en-US" altLang="zh-CN">
                <a:ea typeface="SimSun" pitchFamily="2" charset="-122"/>
              </a:rPr>
              <a:t>(Cont.)</a:t>
            </a:r>
          </a:p>
        </p:txBody>
      </p:sp>
      <p:pic>
        <p:nvPicPr>
          <p:cNvPr id="15363" name="Picture 20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" t="10165" r="1236" b="8791"/>
          <a:stretch>
            <a:fillRect/>
          </a:stretch>
        </p:blipFill>
        <p:spPr bwMode="auto">
          <a:xfrm>
            <a:off x="1257300" y="1079500"/>
            <a:ext cx="6494463" cy="40989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4" name="Text Box 2052"/>
          <p:cNvSpPr txBox="1">
            <a:spLocks noChangeArrowheads="1"/>
          </p:cNvSpPr>
          <p:nvPr/>
        </p:nvSpPr>
        <p:spPr bwMode="auto">
          <a:xfrm>
            <a:off x="1779588" y="5321300"/>
            <a:ext cx="1862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Many to one</a:t>
            </a:r>
          </a:p>
        </p:txBody>
      </p:sp>
      <p:sp>
        <p:nvSpPr>
          <p:cNvPr id="15365" name="Text Box 2053"/>
          <p:cNvSpPr txBox="1">
            <a:spLocks noChangeArrowheads="1"/>
          </p:cNvSpPr>
          <p:nvPr/>
        </p:nvSpPr>
        <p:spPr bwMode="auto">
          <a:xfrm>
            <a:off x="5345113" y="5321300"/>
            <a:ext cx="209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Many to many</a:t>
            </a:r>
          </a:p>
        </p:txBody>
      </p:sp>
      <p:sp>
        <p:nvSpPr>
          <p:cNvPr id="15366" name="Text Box 2055"/>
          <p:cNvSpPr txBox="1">
            <a:spLocks noChangeArrowheads="1"/>
          </p:cNvSpPr>
          <p:nvPr/>
        </p:nvSpPr>
        <p:spPr bwMode="auto">
          <a:xfrm>
            <a:off x="454025" y="5700713"/>
            <a:ext cx="83851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Note: Some elements in A and B may not be mapped to any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elements in the other 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Constraints (Cont.)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5888" y="774700"/>
            <a:ext cx="8731250" cy="5721350"/>
          </a:xfrm>
          <a:noFill/>
        </p:spPr>
        <p:txBody>
          <a:bodyPr/>
          <a:lstStyle/>
          <a:p>
            <a:r>
              <a:rPr lang="en-US" altLang="zh-CN" sz="2400" b="1" dirty="0">
                <a:ea typeface="SimSun" pitchFamily="2" charset="-122"/>
              </a:rPr>
              <a:t>Participation Constraints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The participation of an </a:t>
            </a:r>
            <a:r>
              <a:rPr lang="en-US" altLang="zh-CN" sz="2400" b="1" dirty="0">
                <a:ea typeface="SimSun" pitchFamily="2" charset="-122"/>
              </a:rPr>
              <a:t>entity set </a:t>
            </a:r>
            <a:r>
              <a:rPr lang="en-US" altLang="zh-CN" sz="2400" b="1" i="1" dirty="0">
                <a:ea typeface="SimSun" pitchFamily="2" charset="-122"/>
              </a:rPr>
              <a:t>E</a:t>
            </a:r>
            <a:r>
              <a:rPr lang="en-US" altLang="zh-CN" sz="2400" b="1" dirty="0">
                <a:ea typeface="SimSun" pitchFamily="2" charset="-122"/>
              </a:rPr>
              <a:t> </a:t>
            </a:r>
            <a:r>
              <a:rPr lang="en-US" altLang="zh-CN" sz="2400" dirty="0">
                <a:ea typeface="SimSun" pitchFamily="2" charset="-122"/>
              </a:rPr>
              <a:t>in </a:t>
            </a:r>
            <a:r>
              <a:rPr lang="en-US" altLang="zh-CN" sz="2400" b="1" dirty="0">
                <a:ea typeface="SimSun" pitchFamily="2" charset="-122"/>
              </a:rPr>
              <a:t>a relationship set </a:t>
            </a:r>
            <a:r>
              <a:rPr lang="en-US" altLang="zh-CN" sz="2400" b="1" i="1" dirty="0">
                <a:ea typeface="SimSun" pitchFamily="2" charset="-122"/>
              </a:rPr>
              <a:t>R </a:t>
            </a:r>
            <a:r>
              <a:rPr lang="en-US" altLang="zh-CN" sz="2400" dirty="0">
                <a:ea typeface="SimSun" pitchFamily="2" charset="-122"/>
              </a:rPr>
              <a:t>is said to be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total</a:t>
            </a:r>
            <a:r>
              <a:rPr lang="en-US" altLang="zh-CN" sz="2400" dirty="0">
                <a:ea typeface="SimSun" pitchFamily="2" charset="-122"/>
              </a:rPr>
              <a:t> if every </a:t>
            </a:r>
            <a:r>
              <a:rPr lang="en-US" altLang="zh-CN" sz="2400" b="1" dirty="0">
                <a:ea typeface="SimSun" pitchFamily="2" charset="-122"/>
              </a:rPr>
              <a:t>entity in </a:t>
            </a:r>
            <a:r>
              <a:rPr lang="en-US" altLang="zh-CN" sz="2400" b="1" i="1" dirty="0">
                <a:ea typeface="SimSun" pitchFamily="2" charset="-122"/>
              </a:rPr>
              <a:t>E</a:t>
            </a:r>
            <a:r>
              <a:rPr lang="en-US" altLang="zh-CN" sz="2400" b="1" dirty="0">
                <a:ea typeface="SimSun" pitchFamily="2" charset="-122"/>
              </a:rPr>
              <a:t> </a:t>
            </a:r>
            <a:r>
              <a:rPr lang="en-US" altLang="zh-CN" sz="2400" dirty="0">
                <a:ea typeface="SimSun" pitchFamily="2" charset="-122"/>
              </a:rPr>
              <a:t>participates in </a:t>
            </a:r>
            <a:r>
              <a:rPr lang="en-US" altLang="zh-CN" sz="2400" b="1" dirty="0">
                <a:ea typeface="SimSun" pitchFamily="2" charset="-122"/>
              </a:rPr>
              <a:t>at least one relationship in </a:t>
            </a:r>
            <a:r>
              <a:rPr lang="en-US" altLang="zh-CN" sz="2400" b="1" i="1" dirty="0">
                <a:ea typeface="SimSun" pitchFamily="2" charset="-122"/>
              </a:rPr>
              <a:t>R</a:t>
            </a:r>
            <a:r>
              <a:rPr lang="en-US" altLang="zh-CN" sz="2400" b="1" dirty="0">
                <a:ea typeface="SimSun" pitchFamily="2" charset="-122"/>
              </a:rPr>
              <a:t>.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For example, we expect every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loan entity</a:t>
            </a:r>
            <a:r>
              <a:rPr lang="en-US" altLang="zh-CN" sz="2400" dirty="0">
                <a:ea typeface="SimSun" pitchFamily="2" charset="-122"/>
              </a:rPr>
              <a:t> to be related to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at least one customer</a:t>
            </a:r>
            <a:r>
              <a:rPr lang="en-US" altLang="zh-CN" sz="2400" dirty="0">
                <a:ea typeface="SimSun" pitchFamily="2" charset="-122"/>
              </a:rPr>
              <a:t> through the borrower relationship.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If only </a:t>
            </a:r>
            <a:r>
              <a:rPr lang="en-US" altLang="zh-CN" sz="2400" b="1" dirty="0">
                <a:ea typeface="SimSun" pitchFamily="2" charset="-122"/>
              </a:rPr>
              <a:t>some entities in E </a:t>
            </a:r>
            <a:r>
              <a:rPr lang="en-US" altLang="zh-CN" sz="2400" dirty="0">
                <a:ea typeface="SimSun" pitchFamily="2" charset="-122"/>
              </a:rPr>
              <a:t>participate in relationship in R, the participation of </a:t>
            </a:r>
            <a:r>
              <a:rPr lang="en-US" altLang="zh-CN" sz="2400" b="1" dirty="0">
                <a:ea typeface="SimSun" pitchFamily="2" charset="-122"/>
              </a:rPr>
              <a:t>entity set E </a:t>
            </a:r>
            <a:r>
              <a:rPr lang="en-US" altLang="zh-CN" sz="2400" dirty="0">
                <a:ea typeface="SimSun" pitchFamily="2" charset="-122"/>
              </a:rPr>
              <a:t>in </a:t>
            </a:r>
            <a:r>
              <a:rPr lang="en-US" altLang="zh-CN" sz="2400" b="1" dirty="0">
                <a:ea typeface="SimSun" pitchFamily="2" charset="-122"/>
              </a:rPr>
              <a:t>relationship R </a:t>
            </a:r>
            <a:r>
              <a:rPr lang="en-US" altLang="zh-CN" sz="2400" dirty="0">
                <a:ea typeface="SimSun" pitchFamily="2" charset="-122"/>
              </a:rPr>
              <a:t>is said to be </a:t>
            </a:r>
            <a:r>
              <a:rPr lang="en-US" altLang="zh-CN" sz="2400" b="1" dirty="0">
                <a:solidFill>
                  <a:srgbClr val="FF0000"/>
                </a:solidFill>
                <a:ea typeface="SimSun" pitchFamily="2" charset="-122"/>
              </a:rPr>
              <a:t>partial</a:t>
            </a:r>
            <a:r>
              <a:rPr lang="en-US" altLang="zh-CN" sz="2400" b="1" dirty="0">
                <a:ea typeface="SimSun" pitchFamily="2" charset="-122"/>
              </a:rPr>
              <a:t>.</a:t>
            </a:r>
          </a:p>
          <a:p>
            <a:pPr lvl="2"/>
            <a:r>
              <a:rPr lang="en-US" altLang="zh-CN" sz="2400" dirty="0">
                <a:ea typeface="SimSun" pitchFamily="2" charset="-122"/>
              </a:rPr>
              <a:t>For example, the participation of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customer</a:t>
            </a:r>
            <a:r>
              <a:rPr lang="en-US" altLang="zh-CN" sz="2400" dirty="0">
                <a:ea typeface="SimSun" pitchFamily="2" charset="-122"/>
              </a:rPr>
              <a:t> in the </a:t>
            </a:r>
            <a:r>
              <a:rPr lang="en-US" altLang="zh-CN" sz="2400" dirty="0">
                <a:solidFill>
                  <a:srgbClr val="FF0000"/>
                </a:solidFill>
                <a:ea typeface="SimSun" pitchFamily="2" charset="-122"/>
              </a:rPr>
              <a:t>borrower</a:t>
            </a:r>
            <a:r>
              <a:rPr lang="en-US" altLang="zh-CN" sz="2400" dirty="0">
                <a:ea typeface="SimSun" pitchFamily="2" charset="-122"/>
              </a:rPr>
              <a:t> relationship set is therefore set is therefore partial.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CEDDA-58C3-48D8-B09A-A0595F1754A3}"/>
              </a:ext>
            </a:extLst>
          </p:cNvPr>
          <p:cNvSpPr txBox="1"/>
          <p:nvPr/>
        </p:nvSpPr>
        <p:spPr>
          <a:xfrm>
            <a:off x="2286000" y="3242777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laimanLipi" panose="03000609000000000000" pitchFamily="65" charset="0"/>
                <a:ea typeface="Calibri" panose="020F0502020204030204" pitchFamily="34" charset="0"/>
                <a:cs typeface="+mn-cs"/>
              </a:rPr>
              <a:t>চিহ্ণতকরণকে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3C3F2-CB95-4D4D-BC7F-943990255139}"/>
              </a:ext>
            </a:extLst>
          </p:cNvPr>
          <p:cNvSpPr txBox="1"/>
          <p:nvPr/>
        </p:nvSpPr>
        <p:spPr>
          <a:xfrm>
            <a:off x="2286000" y="3242777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laimanLipi" panose="03000609000000000000" pitchFamily="65" charset="0"/>
                <a:ea typeface="Calibri" panose="020F0502020204030204" pitchFamily="34" charset="0"/>
                <a:cs typeface="+mn-cs"/>
              </a:rPr>
              <a:t>চিহ্ণতকরণকে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5" name="Rectangle 10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Keys</a:t>
            </a:r>
          </a:p>
        </p:txBody>
      </p:sp>
      <p:sp>
        <p:nvSpPr>
          <p:cNvPr id="17411" name="Rectangle 1030"/>
          <p:cNvSpPr>
            <a:spLocks noChangeArrowheads="1"/>
          </p:cNvSpPr>
          <p:nvPr/>
        </p:nvSpPr>
        <p:spPr bwMode="auto">
          <a:xfrm>
            <a:off x="355600" y="881063"/>
            <a:ext cx="8451850" cy="551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Entity Sets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super key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of an entity set is a set of one or more attributes whose values uniquely determine each entity.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candidate key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of an entity set is a minimal super key</a:t>
            </a: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Customer-id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is candidate key of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customer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SimSun" pitchFamily="2" charset="-122"/>
              <a:cs typeface="+mn-cs"/>
            </a:endParaRPr>
          </a:p>
          <a:p>
            <a:pPr marL="1085850" marR="0" lvl="2" indent="-2286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05000"/>
              <a:buFont typeface="Monotype Sorts" pitchFamily="2" charset="2"/>
              <a:buChar char="H"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account-number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is candidate key of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account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SimSun" pitchFamily="2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Although several candidate keys may exist, one of the candidate keys is selected to be the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primary key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239556"/>
            <a:ext cx="86156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Italic"/>
                <a:ea typeface="+mn-ea"/>
                <a:cs typeface="+mn-cs"/>
              </a:rPr>
              <a:t>primary-key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)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∪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Italic"/>
                <a:ea typeface="+mn-ea"/>
                <a:cs typeface="+mn-cs"/>
              </a:rPr>
              <a:t>primary-key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E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R7"/>
                <a:ea typeface="+mn-ea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)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SY10"/>
                <a:ea typeface="+mn-ea"/>
                <a:cs typeface="+mn-cs"/>
              </a:rPr>
              <a:t>∪ · · · ∪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Italic"/>
                <a:ea typeface="+mn-ea"/>
                <a:cs typeface="+mn-cs"/>
              </a:rPr>
              <a:t>primary-key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(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E</a:t>
            </a: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7"/>
                <a:ea typeface="+mn-ea"/>
                <a:cs typeface="+mn-cs"/>
              </a:rPr>
              <a:t>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describes an individual relationship in set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MMI10"/>
                <a:ea typeface="+mn-ea"/>
                <a:cs typeface="+mn-cs"/>
              </a:rPr>
              <a:t>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latino-Roman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588194"/>
            <a:ext cx="8087360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Relationship Sets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The combination of primary keys of the participating entity sets forms a super key of a relationship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5440" y="3429000"/>
            <a:ext cx="853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primary-key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1)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∪ primary-key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2)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∪ · · · ∪ primary-key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(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)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∪ {a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1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, 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2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t>, . . . , am}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9335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" t="9653" r="426" b="10504"/>
          <a:stretch>
            <a:fillRect/>
          </a:stretch>
        </p:blipFill>
        <p:spPr bwMode="auto">
          <a:xfrm>
            <a:off x="532374" y="3259904"/>
            <a:ext cx="3955415" cy="2388727"/>
          </a:xfrm>
          <a:prstGeom prst="rect">
            <a:avLst/>
          </a:prstGeom>
          <a:noFill/>
          <a:ln w="38100" cmpd="dbl">
            <a:solidFill>
              <a:srgbClr val="CC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57680" y="5677103"/>
            <a:ext cx="3504801" cy="6096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/>
                <a:ea typeface="+mj-ea"/>
                <a:cs typeface="+mj-cs"/>
              </a:rPr>
              <a:t>The loan  relation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289" y="536082"/>
            <a:ext cx="571500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679" y="3259904"/>
            <a:ext cx="3640650" cy="2383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776" y="5643151"/>
            <a:ext cx="542245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28795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 Binary Relationships</a:t>
            </a:r>
            <a:r>
              <a:rPr lang="en-US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>
                <a:cs typeface="Times New Roman" pitchFamily="18" charset="0"/>
              </a:rPr>
              <a:t>If there are two entity types involved it is a </a:t>
            </a:r>
            <a:r>
              <a:rPr lang="en-US" sz="2400" i="1">
                <a:cs typeface="Times New Roman" pitchFamily="18" charset="0"/>
              </a:rPr>
              <a:t>binary</a:t>
            </a:r>
            <a:r>
              <a:rPr lang="en-US" sz="2400">
                <a:cs typeface="Times New Roman" pitchFamily="18" charset="0"/>
              </a:rPr>
              <a:t> relationship type </a:t>
            </a: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871788"/>
            <a:ext cx="79184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Ternary relationship</a:t>
            </a:r>
            <a:r>
              <a:rPr lang="en-US"/>
              <a:t>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>
                <a:cs typeface="Times New Roman" pitchFamily="18" charset="0"/>
              </a:rPr>
              <a:t>If there are three entity types involved it is a </a:t>
            </a:r>
            <a:r>
              <a:rPr lang="en-US" sz="2400" i="1">
                <a:cs typeface="Times New Roman" pitchFamily="18" charset="0"/>
              </a:rPr>
              <a:t>ternary</a:t>
            </a:r>
            <a:r>
              <a:rPr lang="en-US" sz="2400">
                <a:cs typeface="Times New Roman" pitchFamily="18" charset="0"/>
              </a:rPr>
              <a:t> relationship type 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728913"/>
            <a:ext cx="8024812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Replacing ternary relationships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400" dirty="0">
                <a:cs typeface="Times New Roman" pitchFamily="18" charset="0"/>
              </a:rPr>
              <a:t>When ternary relationships occurs in an ER model they should always be removed before finishing the model. </a:t>
            </a:r>
          </a:p>
          <a:p>
            <a:pPr algn="just"/>
            <a:r>
              <a:rPr lang="en-US" sz="2400" dirty="0">
                <a:cs typeface="Times New Roman" pitchFamily="18" charset="0"/>
              </a:rPr>
              <a:t>Sometimes the relationships can be replaced by a series of </a:t>
            </a:r>
            <a:r>
              <a:rPr lang="en-US" sz="2400" b="1" dirty="0">
                <a:cs typeface="Times New Roman" pitchFamily="18" charset="0"/>
              </a:rPr>
              <a:t>binary relationships that link pairs </a:t>
            </a:r>
            <a:r>
              <a:rPr lang="en-US" sz="2400" dirty="0">
                <a:cs typeface="Times New Roman" pitchFamily="18" charset="0"/>
              </a:rPr>
              <a:t>of the original ternary relationship.</a:t>
            </a:r>
            <a:r>
              <a:rPr lang="en-US" sz="2400" dirty="0"/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Replacing ternary relationships</a:t>
            </a:r>
            <a:r>
              <a:rPr lang="en-US"/>
              <a:t>  (Cont)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Times New Roman" pitchFamily="18" charset="0"/>
              </a:rPr>
              <a:t>Relationships are usually verbs,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so name the new entity type by the relationship verb rewritten as a noun. </a:t>
            </a:r>
          </a:p>
          <a:p>
            <a:r>
              <a:rPr lang="en-US" dirty="0">
                <a:cs typeface="Times New Roman" pitchFamily="18" charset="0"/>
              </a:rPr>
              <a:t>The relationship </a:t>
            </a:r>
            <a:r>
              <a:rPr lang="en-US" i="1" dirty="0">
                <a:cs typeface="Times New Roman" pitchFamily="18" charset="0"/>
              </a:rPr>
              <a:t>sells</a:t>
            </a:r>
            <a:r>
              <a:rPr lang="en-US" dirty="0">
                <a:cs typeface="Times New Roman" pitchFamily="18" charset="0"/>
              </a:rPr>
              <a:t> can become the entity type </a:t>
            </a:r>
            <a:r>
              <a:rPr lang="en-US" i="1" dirty="0">
                <a:cs typeface="Times New Roman" pitchFamily="18" charset="0"/>
              </a:rPr>
              <a:t>sale</a:t>
            </a:r>
            <a:r>
              <a:rPr lang="en-US" dirty="0">
                <a:cs typeface="Times New Roman" pitchFamily="18" charset="0"/>
              </a:rPr>
              <a:t>.</a:t>
            </a:r>
            <a:r>
              <a:rPr lang="en-US" dirty="0"/>
              <a:t> </a:t>
            </a:r>
          </a:p>
          <a:p>
            <a:r>
              <a:rPr lang="en-US" dirty="0">
                <a:cs typeface="Times New Roman" pitchFamily="18" charset="0"/>
              </a:rPr>
              <a:t>So a sales assistant can be linked to a specific customer and both of them to the sale of a particular product. </a:t>
            </a:r>
          </a:p>
          <a:p>
            <a:r>
              <a:rPr lang="en-US" dirty="0">
                <a:cs typeface="Times New Roman" pitchFamily="18" charset="0"/>
              </a:rPr>
              <a:t>This process also works for higher order relationships. 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3714750"/>
            <a:ext cx="8374062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E-R Diagrams</a:t>
            </a:r>
          </a:p>
        </p:txBody>
      </p:sp>
      <p:sp>
        <p:nvSpPr>
          <p:cNvPr id="25604" name="Rectangle 7"/>
          <p:cNvSpPr>
            <a:spLocks noChangeArrowheads="1"/>
          </p:cNvSpPr>
          <p:nvPr/>
        </p:nvSpPr>
        <p:spPr bwMode="auto">
          <a:xfrm>
            <a:off x="190500" y="1113155"/>
            <a:ext cx="8953500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Rectangles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represent entity sets.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Diamonds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represent relationship sets.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Lines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link attributes to entity sets and entity sets to relationship sets.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Ellipses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represent attributes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Double ellipses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represent multivalued attributes.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Dashed ellipses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denote derived attributes.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CC3300"/>
              </a:buClr>
              <a:buSzPct val="90000"/>
              <a:buFont typeface="Monotype Sorts" pitchFamily="2" charset="2"/>
              <a:buChar char="n"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Underline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SimSun" pitchFamily="2" charset="-122"/>
                <a:cs typeface="+mn-cs"/>
              </a:rPr>
              <a:t> indicates primary key attributes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Relationship Sets with Attributes</a:t>
            </a:r>
          </a:p>
        </p:txBody>
      </p:sp>
      <p:pic>
        <p:nvPicPr>
          <p:cNvPr id="2765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" t="28851" r="1651" b="28606"/>
          <a:stretch>
            <a:fillRect/>
          </a:stretch>
        </p:blipFill>
        <p:spPr bwMode="auto">
          <a:xfrm>
            <a:off x="234950" y="1535113"/>
            <a:ext cx="8716963" cy="31623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Cardinality Constraints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936625"/>
            <a:ext cx="8724900" cy="2892425"/>
          </a:xfrm>
        </p:spPr>
        <p:txBody>
          <a:bodyPr/>
          <a:lstStyle/>
          <a:p>
            <a:r>
              <a:rPr lang="en-US" altLang="zh-CN" dirty="0">
                <a:ea typeface="SimSun" pitchFamily="2" charset="-122"/>
              </a:rPr>
              <a:t>We express cardinality constraints by drawing either a </a:t>
            </a:r>
            <a:r>
              <a:rPr lang="en-US" altLang="zh-CN" i="1" dirty="0">
                <a:ea typeface="SimSun" pitchFamily="2" charset="-122"/>
              </a:rPr>
              <a:t>directed line (</a:t>
            </a:r>
            <a:r>
              <a:rPr lang="en-US" altLang="zh-CN" i="1" dirty="0">
                <a:ea typeface="SimSun" pitchFamily="2" charset="-122"/>
                <a:sym typeface="Symbol" pitchFamily="18" charset="2"/>
              </a:rPr>
              <a:t>), signifying “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one,” or an </a:t>
            </a:r>
            <a:r>
              <a:rPr lang="en-US" altLang="zh-CN" b="1" dirty="0">
                <a:ea typeface="SimSun" pitchFamily="2" charset="-122"/>
                <a:sym typeface="Symbol" pitchFamily="18" charset="2"/>
              </a:rPr>
              <a:t>undirected line (—), signifying “many</a:t>
            </a:r>
            <a:r>
              <a:rPr lang="en-US" altLang="zh-CN" dirty="0">
                <a:ea typeface="SimSun" pitchFamily="2" charset="-122"/>
                <a:sym typeface="Symbol" pitchFamily="18" charset="2"/>
              </a:rPr>
              <a:t>,” between the relationship set and the entity set.</a:t>
            </a:r>
          </a:p>
          <a:p>
            <a:r>
              <a:rPr lang="en-US" altLang="zh-CN" b="1" dirty="0">
                <a:ea typeface="SimSun" pitchFamily="2" charset="-122"/>
              </a:rPr>
              <a:t>E.g.: One-to-one relationship:</a:t>
            </a:r>
          </a:p>
          <a:p>
            <a:pPr lvl="1"/>
            <a:r>
              <a:rPr lang="en-US" altLang="zh-CN" sz="2000" b="1" dirty="0">
                <a:ea typeface="SimSun" pitchFamily="2" charset="-122"/>
              </a:rPr>
              <a:t>A customer is associated with at most one loan </a:t>
            </a:r>
            <a:r>
              <a:rPr lang="en-US" altLang="zh-CN" sz="2000" dirty="0">
                <a:ea typeface="SimSun" pitchFamily="2" charset="-122"/>
              </a:rPr>
              <a:t>via the relationship </a:t>
            </a:r>
            <a:r>
              <a:rPr lang="en-US" altLang="zh-CN" sz="2000" i="1" dirty="0">
                <a:ea typeface="SimSun" pitchFamily="2" charset="-122"/>
              </a:rPr>
              <a:t>borrower</a:t>
            </a:r>
          </a:p>
          <a:p>
            <a:pPr lvl="1"/>
            <a:r>
              <a:rPr lang="en-US" altLang="zh-CN" sz="2000" dirty="0">
                <a:ea typeface="SimSun" pitchFamily="2" charset="-122"/>
              </a:rPr>
              <a:t>A loan is associated with </a:t>
            </a:r>
            <a:r>
              <a:rPr lang="en-US" altLang="zh-CN" sz="2000" b="1" dirty="0">
                <a:ea typeface="SimSun" pitchFamily="2" charset="-122"/>
              </a:rPr>
              <a:t>at most one </a:t>
            </a:r>
            <a:r>
              <a:rPr lang="en-US" altLang="zh-CN" sz="2000" dirty="0">
                <a:ea typeface="SimSun" pitchFamily="2" charset="-122"/>
              </a:rPr>
              <a:t>customer via </a:t>
            </a:r>
            <a:r>
              <a:rPr lang="en-US" altLang="zh-CN" sz="2000" i="1" dirty="0">
                <a:ea typeface="SimSun" pitchFamily="2" charset="-122"/>
              </a:rPr>
              <a:t>borrower</a:t>
            </a:r>
            <a:endParaRPr lang="en-US" altLang="zh-CN" sz="2000" dirty="0">
              <a:ea typeface="SimSun" pitchFamily="2" charset="-122"/>
            </a:endParaRP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5" t="63831" r="16737" b="5560"/>
          <a:stretch>
            <a:fillRect/>
          </a:stretch>
        </p:blipFill>
        <p:spPr bwMode="auto">
          <a:xfrm>
            <a:off x="1409700" y="3957638"/>
            <a:ext cx="6623050" cy="2278062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One-To-One Relationship</a:t>
            </a:r>
            <a:endParaRPr lang="en-US">
              <a:ea typeface="SimSun" pitchFamily="2" charset="-122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Times New Roman" pitchFamily="18" charset="0"/>
              </a:rPr>
              <a:t>A</a:t>
            </a:r>
            <a:r>
              <a:rPr lang="en-US" sz="2400">
                <a:cs typeface="Times New Roman" pitchFamily="18" charset="0"/>
              </a:rPr>
              <a:t> man can only marry one woman, and a woman can only marry one man, so it is a one to one (1:1) relationship </a:t>
            </a: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3" y="3214688"/>
            <a:ext cx="84978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One-To-Many Relationship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022350"/>
            <a:ext cx="7848600" cy="2324100"/>
          </a:xfrm>
        </p:spPr>
        <p:txBody>
          <a:bodyPr/>
          <a:lstStyle/>
          <a:p>
            <a:r>
              <a:rPr lang="en-US" altLang="zh-CN" sz="2400" dirty="0">
                <a:ea typeface="SimSun" pitchFamily="2" charset="-122"/>
              </a:rPr>
              <a:t>In the one-to-many relationship a loan is associated with </a:t>
            </a:r>
            <a:r>
              <a:rPr lang="en-US" altLang="zh-CN" sz="2400" b="1" dirty="0">
                <a:ea typeface="SimSun" pitchFamily="2" charset="-122"/>
              </a:rPr>
              <a:t>at most one customer </a:t>
            </a:r>
            <a:r>
              <a:rPr lang="en-US" altLang="zh-CN" sz="2400" dirty="0">
                <a:ea typeface="SimSun" pitchFamily="2" charset="-122"/>
              </a:rPr>
              <a:t>via </a:t>
            </a:r>
            <a:r>
              <a:rPr lang="en-US" altLang="zh-CN" sz="2400" i="1" dirty="0">
                <a:ea typeface="SimSun" pitchFamily="2" charset="-122"/>
              </a:rPr>
              <a:t>borrower</a:t>
            </a:r>
            <a:r>
              <a:rPr lang="en-US" altLang="zh-CN" sz="2400" dirty="0">
                <a:ea typeface="SimSun" pitchFamily="2" charset="-122"/>
              </a:rPr>
              <a:t>, a customer is </a:t>
            </a:r>
            <a:r>
              <a:rPr lang="en-US" altLang="zh-CN" sz="2400" b="1" dirty="0">
                <a:ea typeface="SimSun" pitchFamily="2" charset="-122"/>
              </a:rPr>
              <a:t>associated with several </a:t>
            </a:r>
            <a:r>
              <a:rPr lang="en-US" altLang="zh-CN" sz="2400" dirty="0">
                <a:ea typeface="SimSun" pitchFamily="2" charset="-122"/>
              </a:rPr>
              <a:t>(including 0) loans via </a:t>
            </a:r>
            <a:r>
              <a:rPr lang="en-US" altLang="zh-CN" sz="2400" i="1" dirty="0">
                <a:ea typeface="SimSun" pitchFamily="2" charset="-122"/>
              </a:rPr>
              <a:t>borrower</a:t>
            </a:r>
            <a:endParaRPr lang="en-US" altLang="zh-CN" sz="2400" dirty="0">
              <a:ea typeface="SimSun" pitchFamily="2" charset="-122"/>
            </a:endParaRPr>
          </a:p>
        </p:txBody>
      </p:sp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5" t="847" r="16737" b="72424"/>
          <a:stretch>
            <a:fillRect/>
          </a:stretch>
        </p:blipFill>
        <p:spPr bwMode="auto">
          <a:xfrm>
            <a:off x="669925" y="2847975"/>
            <a:ext cx="8037513" cy="24145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One-To-Many Relationship</a:t>
            </a:r>
            <a:endParaRPr lang="en-US">
              <a:ea typeface="SimSun" pitchFamily="2" charset="-122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400">
                <a:cs typeface="Times New Roman" pitchFamily="18" charset="0"/>
              </a:rPr>
              <a:t>One manager manages many employees, but each employee only has one manager, so it is a one to many (1:n) relationship</a:t>
            </a:r>
            <a:r>
              <a:rPr lang="en-US">
                <a:cs typeface="Times New Roman" pitchFamily="18" charset="0"/>
              </a:rPr>
              <a:t> </a:t>
            </a: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3138488"/>
            <a:ext cx="89820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512763" y="495300"/>
            <a:ext cx="8113712" cy="457200"/>
          </a:xfrm>
        </p:spPr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Many-To-One Relationships</a:t>
            </a:r>
          </a:p>
        </p:txBody>
      </p:sp>
      <p:pic>
        <p:nvPicPr>
          <p:cNvPr id="3481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5" t="31747" r="16737" b="39993"/>
          <a:stretch>
            <a:fillRect/>
          </a:stretch>
        </p:blipFill>
        <p:spPr bwMode="auto">
          <a:xfrm>
            <a:off x="901700" y="3471863"/>
            <a:ext cx="7508875" cy="2384425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2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66750" y="1504950"/>
            <a:ext cx="7848600" cy="1638300"/>
          </a:xfrm>
          <a:noFill/>
        </p:spPr>
        <p:txBody>
          <a:bodyPr/>
          <a:lstStyle/>
          <a:p>
            <a:r>
              <a:rPr lang="en-US" altLang="zh-CN" sz="2400" dirty="0">
                <a:ea typeface="SimSun" pitchFamily="2" charset="-122"/>
              </a:rPr>
              <a:t>In a many-to-one relationship a loan is associated with </a:t>
            </a:r>
            <a:r>
              <a:rPr lang="en-US" altLang="zh-CN" sz="2400" b="1" dirty="0">
                <a:ea typeface="SimSun" pitchFamily="2" charset="-122"/>
              </a:rPr>
              <a:t>several (including 0) customers </a:t>
            </a:r>
            <a:r>
              <a:rPr lang="en-US" altLang="zh-CN" sz="2400" dirty="0">
                <a:ea typeface="SimSun" pitchFamily="2" charset="-122"/>
              </a:rPr>
              <a:t>via </a:t>
            </a:r>
            <a:r>
              <a:rPr lang="en-US" altLang="zh-CN" sz="2400" i="1" dirty="0">
                <a:ea typeface="SimSun" pitchFamily="2" charset="-122"/>
              </a:rPr>
              <a:t>borrower</a:t>
            </a:r>
            <a:r>
              <a:rPr lang="en-US" altLang="zh-CN" sz="2400" dirty="0">
                <a:ea typeface="SimSun" pitchFamily="2" charset="-122"/>
              </a:rPr>
              <a:t>, a customer is associated </a:t>
            </a:r>
            <a:r>
              <a:rPr lang="en-US" altLang="zh-CN" sz="2400" b="1" dirty="0">
                <a:ea typeface="SimSun" pitchFamily="2" charset="-122"/>
              </a:rPr>
              <a:t>with at most one lo</a:t>
            </a:r>
            <a:r>
              <a:rPr lang="en-US" altLang="zh-CN" sz="2400" dirty="0">
                <a:ea typeface="SimSun" pitchFamily="2" charset="-122"/>
              </a:rPr>
              <a:t>an via </a:t>
            </a:r>
            <a:r>
              <a:rPr lang="en-US" altLang="zh-CN" sz="2400" i="1" dirty="0">
                <a:ea typeface="SimSun" pitchFamily="2" charset="-122"/>
              </a:rPr>
              <a:t>borrower</a:t>
            </a:r>
            <a:endParaRPr lang="en-US" altLang="zh-CN" sz="2400" dirty="0"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Many-To-One Relationships</a:t>
            </a:r>
            <a:endParaRPr lang="en-US">
              <a:ea typeface="SimSun" pitchFamily="2" charset="-122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400">
                <a:cs typeface="Times New Roman" pitchFamily="18" charset="0"/>
              </a:rPr>
              <a:t>many students study one course. They do not study more than one course, so it is a many to one (m:1) relationship 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3062288"/>
            <a:ext cx="85359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Many-To-Many Relationship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2038" y="3727450"/>
            <a:ext cx="7029450" cy="1546225"/>
          </a:xfrm>
        </p:spPr>
        <p:txBody>
          <a:bodyPr/>
          <a:lstStyle/>
          <a:p>
            <a:r>
              <a:rPr lang="en-US" altLang="zh-CN" sz="2400">
                <a:ea typeface="SimSun" pitchFamily="2" charset="-122"/>
              </a:rPr>
              <a:t>A customer is associated with several (possibly 0) loans via borrower</a:t>
            </a:r>
          </a:p>
          <a:p>
            <a:r>
              <a:rPr lang="en-US" altLang="zh-CN" sz="2400">
                <a:ea typeface="SimSun" pitchFamily="2" charset="-122"/>
              </a:rPr>
              <a:t>A loan is associated with several (possibly 0) customers via borrower</a:t>
            </a:r>
          </a:p>
        </p:txBody>
      </p:sp>
      <p:pic>
        <p:nvPicPr>
          <p:cNvPr id="3686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" t="30733" r="1064" b="30733"/>
          <a:stretch>
            <a:fillRect/>
          </a:stretch>
        </p:blipFill>
        <p:spPr bwMode="auto">
          <a:xfrm>
            <a:off x="622300" y="1079500"/>
            <a:ext cx="7956550" cy="23495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SimSun" pitchFamily="2" charset="-122"/>
              </a:rPr>
              <a:t>Many-To-Many Relationship</a:t>
            </a:r>
            <a:endParaRPr lang="en-US">
              <a:ea typeface="SimSun" pitchFamily="2" charset="-122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400">
                <a:cs typeface="Times New Roman" pitchFamily="18" charset="0"/>
              </a:rPr>
              <a:t>One lecturer teaches many students and a student is taught by many lecturers, so it is a many to many (m:n) relationship </a:t>
            </a: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3005138"/>
            <a:ext cx="851693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Times New Roman" pitchFamily="18" charset="0"/>
              </a:rPr>
              <a:t>Deriving the relationship parameters 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0" y="1114425"/>
            <a:ext cx="8572500" cy="4876800"/>
          </a:xfrm>
        </p:spPr>
        <p:txBody>
          <a:bodyPr/>
          <a:lstStyle/>
          <a:p>
            <a:r>
              <a:rPr lang="en-US">
                <a:cs typeface="Times New Roman" pitchFamily="18" charset="0"/>
              </a:rPr>
              <a:t>To check we have the correct parameters (sometimes also known as the </a:t>
            </a:r>
            <a:r>
              <a:rPr lang="en-US" b="1">
                <a:cs typeface="Times New Roman" pitchFamily="18" charset="0"/>
              </a:rPr>
              <a:t>degree</a:t>
            </a:r>
            <a:r>
              <a:rPr lang="en-US">
                <a:cs typeface="Times New Roman" pitchFamily="18" charset="0"/>
              </a:rPr>
              <a:t>) of a </a:t>
            </a:r>
            <a:r>
              <a:rPr lang="en-US" b="1">
                <a:cs typeface="Times New Roman" pitchFamily="18" charset="0"/>
              </a:rPr>
              <a:t>relationship</a:t>
            </a:r>
            <a:r>
              <a:rPr lang="en-US">
                <a:cs typeface="Times New Roman" pitchFamily="18" charset="0"/>
              </a:rPr>
              <a:t>, ask two questions:</a:t>
            </a:r>
          </a:p>
          <a:p>
            <a:r>
              <a:rPr lang="en-US" b="1">
                <a:cs typeface="Times New Roman" pitchFamily="18" charset="0"/>
              </a:rPr>
              <a:t>One course</a:t>
            </a:r>
            <a:r>
              <a:rPr lang="en-US">
                <a:cs typeface="Times New Roman" pitchFamily="18" charset="0"/>
              </a:rPr>
              <a:t> is studied by </a:t>
            </a:r>
            <a:r>
              <a:rPr lang="en-US" b="1">
                <a:cs typeface="Times New Roman" pitchFamily="18" charset="0"/>
              </a:rPr>
              <a:t>how many</a:t>
            </a:r>
            <a:r>
              <a:rPr lang="en-US">
                <a:cs typeface="Times New Roman" pitchFamily="18" charset="0"/>
              </a:rPr>
              <a:t> students? </a:t>
            </a:r>
            <a:r>
              <a:rPr lang="en-US" b="1">
                <a:cs typeface="Times New Roman" pitchFamily="18" charset="0"/>
              </a:rPr>
              <a:t>Answer = `zero or more' </a:t>
            </a:r>
          </a:p>
          <a:p>
            <a:pPr lvl="1"/>
            <a:r>
              <a:rPr lang="en-US">
                <a:cs typeface="Times New Roman" pitchFamily="18" charset="0"/>
              </a:rPr>
              <a:t>This gives us the</a:t>
            </a:r>
            <a:r>
              <a:rPr lang="en-US" b="1">
                <a:cs typeface="Times New Roman" pitchFamily="18" charset="0"/>
              </a:rPr>
              <a:t> degree at the `student' end </a:t>
            </a:r>
          </a:p>
          <a:p>
            <a:pPr lvl="1"/>
            <a:r>
              <a:rPr lang="en-US" b="1">
                <a:cs typeface="Times New Roman" pitchFamily="18" charset="0"/>
              </a:rPr>
              <a:t>The `more' </a:t>
            </a:r>
            <a:r>
              <a:rPr lang="en-US">
                <a:cs typeface="Times New Roman" pitchFamily="18" charset="0"/>
              </a:rPr>
              <a:t>part means that the cardinality</a:t>
            </a:r>
            <a:r>
              <a:rPr lang="en-US" b="1">
                <a:cs typeface="Times New Roman" pitchFamily="18" charset="0"/>
              </a:rPr>
              <a:t> is `many </a:t>
            </a:r>
            <a:endParaRPr lang="en-US">
              <a:cs typeface="Times New Roman" pitchFamily="18" charset="0"/>
            </a:endParaRPr>
          </a:p>
          <a:p>
            <a:pPr lvl="1"/>
            <a:r>
              <a:rPr lang="en-US">
                <a:cs typeface="Times New Roman" pitchFamily="18" charset="0"/>
              </a:rPr>
              <a:t>The `</a:t>
            </a:r>
            <a:r>
              <a:rPr lang="en-US" b="1">
                <a:cs typeface="Times New Roman" pitchFamily="18" charset="0"/>
              </a:rPr>
              <a:t>zero' </a:t>
            </a:r>
            <a:r>
              <a:rPr lang="en-US">
                <a:cs typeface="Times New Roman" pitchFamily="18" charset="0"/>
              </a:rPr>
              <a:t>part means that the relationship is `</a:t>
            </a:r>
            <a:r>
              <a:rPr lang="en-US" b="1">
                <a:cs typeface="Times New Roman" pitchFamily="18" charset="0"/>
              </a:rPr>
              <a:t>optional'</a:t>
            </a:r>
            <a:r>
              <a:rPr lang="en-US">
                <a:cs typeface="Times New Roman" pitchFamily="18" charset="0"/>
              </a:rPr>
              <a:t>. (denoted y ‘O”</a:t>
            </a:r>
          </a:p>
          <a:p>
            <a:pPr lvl="1"/>
            <a:r>
              <a:rPr lang="en-US">
                <a:cs typeface="Times New Roman" pitchFamily="18" charset="0"/>
              </a:rPr>
              <a:t>If the answer was `</a:t>
            </a:r>
            <a:r>
              <a:rPr lang="en-US" b="1">
                <a:cs typeface="Times New Roman" pitchFamily="18" charset="0"/>
              </a:rPr>
              <a:t>one or more'</a:t>
            </a:r>
            <a:r>
              <a:rPr lang="en-US">
                <a:cs typeface="Times New Roman" pitchFamily="18" charset="0"/>
              </a:rPr>
              <a:t>, then the relationship would be `</a:t>
            </a:r>
            <a:r>
              <a:rPr lang="en-US" b="1">
                <a:cs typeface="Times New Roman" pitchFamily="18" charset="0"/>
              </a:rPr>
              <a:t>mandatory'. 						</a:t>
            </a:r>
          </a:p>
          <a:p>
            <a:r>
              <a:rPr lang="en-US" b="1">
                <a:cs typeface="Times New Roman" pitchFamily="18" charset="0"/>
              </a:rPr>
              <a:t>One student</a:t>
            </a:r>
            <a:r>
              <a:rPr lang="en-US">
                <a:cs typeface="Times New Roman" pitchFamily="18" charset="0"/>
              </a:rPr>
              <a:t> studies </a:t>
            </a:r>
            <a:r>
              <a:rPr lang="en-US" b="1">
                <a:cs typeface="Times New Roman" pitchFamily="18" charset="0"/>
              </a:rPr>
              <a:t>how many</a:t>
            </a:r>
            <a:r>
              <a:rPr lang="en-US">
                <a:cs typeface="Times New Roman" pitchFamily="18" charset="0"/>
              </a:rPr>
              <a:t> courses?</a:t>
            </a:r>
            <a:r>
              <a:rPr lang="en-US" b="1">
                <a:cs typeface="Times New Roman" pitchFamily="18" charset="0"/>
              </a:rPr>
              <a:t> Answer = `One' </a:t>
            </a:r>
          </a:p>
          <a:p>
            <a:pPr lvl="1"/>
            <a:r>
              <a:rPr lang="en-US">
                <a:cs typeface="Times New Roman" pitchFamily="18" charset="0"/>
              </a:rPr>
              <a:t>This gives us</a:t>
            </a:r>
            <a:r>
              <a:rPr lang="en-US" b="1">
                <a:cs typeface="Times New Roman" pitchFamily="18" charset="0"/>
              </a:rPr>
              <a:t> the degree at the `course' end </a:t>
            </a:r>
            <a:r>
              <a:rPr lang="en-US">
                <a:cs typeface="Times New Roman" pitchFamily="18" charset="0"/>
              </a:rPr>
              <a:t>of the relationship</a:t>
            </a:r>
            <a:r>
              <a:rPr lang="en-US" b="1">
                <a:cs typeface="Times New Roman" pitchFamily="18" charset="0"/>
              </a:rPr>
              <a:t>. </a:t>
            </a:r>
          </a:p>
          <a:p>
            <a:pPr lvl="1"/>
            <a:r>
              <a:rPr lang="en-US">
                <a:cs typeface="Times New Roman" pitchFamily="18" charset="0"/>
              </a:rPr>
              <a:t>The answer `</a:t>
            </a:r>
            <a:r>
              <a:rPr lang="en-US" b="1">
                <a:cs typeface="Times New Roman" pitchFamily="18" charset="0"/>
              </a:rPr>
              <a:t>one'</a:t>
            </a:r>
            <a:r>
              <a:rPr lang="en-US">
                <a:cs typeface="Times New Roman" pitchFamily="18" charset="0"/>
              </a:rPr>
              <a:t> means that the cardinality of this relationship is 1, and is `</a:t>
            </a:r>
            <a:r>
              <a:rPr lang="en-US" b="1">
                <a:cs typeface="Times New Roman" pitchFamily="18" charset="0"/>
              </a:rPr>
              <a:t>mandatory' </a:t>
            </a:r>
          </a:p>
          <a:p>
            <a:pPr lvl="1"/>
            <a:endParaRPr lang="en-US" b="1"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2.xml><?xml version="1.0" encoding="utf-8"?>
<a:theme xmlns:a="http://schemas.openxmlformats.org/drawingml/2006/main" name="1_DBMS_Template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MS_Templat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DBMS_Templat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db-book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-book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db-book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-book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07E0A197365045BAADC1BA69E208F6" ma:contentTypeVersion="7" ma:contentTypeDescription="Create a new document." ma:contentTypeScope="" ma:versionID="50e3b56ed0b5328d7e479d584526dd68">
  <xsd:schema xmlns:xsd="http://www.w3.org/2001/XMLSchema" xmlns:xs="http://www.w3.org/2001/XMLSchema" xmlns:p="http://schemas.microsoft.com/office/2006/metadata/properties" xmlns:ns2="ddefad68-299a-45a1-aeb7-e6ae0d2d3333" targetNamespace="http://schemas.microsoft.com/office/2006/metadata/properties" ma:root="true" ma:fieldsID="673c24554e710447af16be272b637f7f" ns2:_="">
    <xsd:import namespace="ddefad68-299a-45a1-aeb7-e6ae0d2d3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fad68-299a-45a1-aeb7-e6ae0d2d3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C4A54B-85B4-4192-8C31-FD914AAA2F40}"/>
</file>

<file path=customXml/itemProps2.xml><?xml version="1.0" encoding="utf-8"?>
<ds:datastoreItem xmlns:ds="http://schemas.openxmlformats.org/officeDocument/2006/customXml" ds:itemID="{601F5DE1-6F88-40C9-AC89-22A667E7D605}"/>
</file>

<file path=customXml/itemProps3.xml><?xml version="1.0" encoding="utf-8"?>
<ds:datastoreItem xmlns:ds="http://schemas.openxmlformats.org/officeDocument/2006/customXml" ds:itemID="{347F4C22-70D3-429D-A9C3-32FD313CE9E6}"/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Settings\shamim\Application Data\Microsoft\Templates\DBMS_Template.pot</Template>
  <TotalTime>9625</TotalTime>
  <Words>1322</Words>
  <Application>Microsoft Office PowerPoint</Application>
  <PresentationFormat>On-screen Show (4:3)</PresentationFormat>
  <Paragraphs>131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3" baseType="lpstr">
      <vt:lpstr>Arial</vt:lpstr>
      <vt:lpstr>CMMI10</vt:lpstr>
      <vt:lpstr>CMMI7</vt:lpstr>
      <vt:lpstr>CMR7</vt:lpstr>
      <vt:lpstr>CMSY10</vt:lpstr>
      <vt:lpstr>Helvetica</vt:lpstr>
      <vt:lpstr>Lucida Grande</vt:lpstr>
      <vt:lpstr>Monotype Sorts</vt:lpstr>
      <vt:lpstr>Palatino-Italic</vt:lpstr>
      <vt:lpstr>Palatino-Roman</vt:lpstr>
      <vt:lpstr>SolaimanLipi</vt:lpstr>
      <vt:lpstr>Times New Roman</vt:lpstr>
      <vt:lpstr>Verdana</vt:lpstr>
      <vt:lpstr>Wingdings</vt:lpstr>
      <vt:lpstr>Office Theme</vt:lpstr>
      <vt:lpstr>1_DBMS_Template</vt:lpstr>
      <vt:lpstr>db-book</vt:lpstr>
      <vt:lpstr>Clip</vt:lpstr>
      <vt:lpstr>Database Management Systems</vt:lpstr>
      <vt:lpstr>Entity and Attribute</vt:lpstr>
      <vt:lpstr>Entity Sets customer and loan</vt:lpstr>
      <vt:lpstr>PowerPoint Presentation</vt:lpstr>
      <vt:lpstr>Basic Concepts (Cont.)</vt:lpstr>
      <vt:lpstr>PowerPoint Presentation</vt:lpstr>
      <vt:lpstr>PowerPoint Presentation</vt:lpstr>
      <vt:lpstr>The depositor Relation</vt:lpstr>
      <vt:lpstr>Relationship Set borrower</vt:lpstr>
      <vt:lpstr>Basic Concepts(Cont.)</vt:lpstr>
      <vt:lpstr>PowerPoint Presentation</vt:lpstr>
      <vt:lpstr>Basic Concepts(Cont.)</vt:lpstr>
      <vt:lpstr>E-R Diagram with a Ternary Relationship</vt:lpstr>
      <vt:lpstr>Constraints</vt:lpstr>
      <vt:lpstr>Constraints (Cont.)</vt:lpstr>
      <vt:lpstr>Constraints (Cont.)</vt:lpstr>
      <vt:lpstr>Constraints (Cont.)</vt:lpstr>
      <vt:lpstr>Keys</vt:lpstr>
      <vt:lpstr>PowerPoint Presentation</vt:lpstr>
      <vt:lpstr>PowerPoint Presentation</vt:lpstr>
      <vt:lpstr> Binary Relationships </vt:lpstr>
      <vt:lpstr>Ternary relationship </vt:lpstr>
      <vt:lpstr>Replacing ternary relationships </vt:lpstr>
      <vt:lpstr>Replacing ternary relationships  (Cont)</vt:lpstr>
      <vt:lpstr>E-R Diagrams</vt:lpstr>
      <vt:lpstr>Relationship Sets with Attributes</vt:lpstr>
      <vt:lpstr>Cardinality Constraints</vt:lpstr>
      <vt:lpstr>One-To-One Relationship</vt:lpstr>
      <vt:lpstr>One-To-Many Relationship</vt:lpstr>
      <vt:lpstr>One-To-Many Relationship</vt:lpstr>
      <vt:lpstr>Many-To-One Relationships</vt:lpstr>
      <vt:lpstr>Many-To-One Relationships</vt:lpstr>
      <vt:lpstr>Many-To-Many Relationship</vt:lpstr>
      <vt:lpstr>Many-To-Many Relationship</vt:lpstr>
      <vt:lpstr>Deriving the relationship parameters 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CSE Head</cp:lastModifiedBy>
  <cp:revision>158</cp:revision>
  <cp:lastPrinted>2001-02-09T15:35:27Z</cp:lastPrinted>
  <dcterms:created xsi:type="dcterms:W3CDTF">1999-11-04T20:50:09Z</dcterms:created>
  <dcterms:modified xsi:type="dcterms:W3CDTF">2026-02-08T07:15:16Z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0x010100FB07E0A197365045BAADC1BA69E208F6</vt:lpwstr>
  </property>
</Properties>
</file>