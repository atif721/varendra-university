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4"/>
  </p:sldMasterIdLst>
  <p:notesMasterIdLst>
    <p:notesMasterId r:id="rId47"/>
  </p:notesMasterIdLst>
  <p:sldIdLst>
    <p:sldId id="256" r:id="rId5"/>
    <p:sldId id="257" r:id="rId6"/>
    <p:sldId id="296" r:id="rId7"/>
    <p:sldId id="297" r:id="rId8"/>
    <p:sldId id="299" r:id="rId9"/>
    <p:sldId id="258" r:id="rId10"/>
    <p:sldId id="261" r:id="rId11"/>
    <p:sldId id="300" r:id="rId12"/>
    <p:sldId id="260" r:id="rId13"/>
    <p:sldId id="262"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4" r:id="rId44"/>
    <p:sldId id="293" r:id="rId45"/>
    <p:sldId id="295" r:id="rId46"/>
  </p:sldIdLst>
  <p:sldSz cx="9144000" cy="5143500" type="screen16x9"/>
  <p:notesSz cx="6858000" cy="9144000"/>
  <p:embeddedFontLst>
    <p:embeddedFont>
      <p:font typeface="Algerian" panose="020B0604020202020204" charset="0"/>
      <p:regular r:id="rId48"/>
    </p:embeddedFont>
    <p:embeddedFont>
      <p:font typeface="Centaur" panose="020B0604020202020204" charset="0"/>
      <p:regular r:id="rId49"/>
    </p:embeddedFont>
    <p:embeddedFont>
      <p:font typeface="Hanken Grotesk" panose="020B0604020202020204" charset="0"/>
      <p:regular r:id="rId50"/>
      <p:bold r:id="rId51"/>
      <p:italic r:id="rId52"/>
      <p:boldItalic r:id="rId53"/>
    </p:embeddedFont>
    <p:embeddedFont>
      <p:font typeface="Tahoma" panose="020B0604030504040204" pitchFamily="34" charset="0"/>
      <p:regular r:id="rId54"/>
      <p:bold r:id="rId55"/>
    </p:embeddedFont>
    <p:embeddedFont>
      <p:font typeface="Trebuchet MS" panose="020B0603020202020204" pitchFamily="3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D2FA6-8CCE-569E-4DDF-56306F3D1961}" v="6" dt="2026-01-24T15:49:04.950"/>
    <p1510:client id="{64F36F22-87C8-505E-0C7F-2EDD58EA5CE6}" v="2" dt="2026-01-24T11:05:49.247"/>
    <p1510:client id="{9D5AC8A2-EA87-BB0A-7DF1-F3904B1C3FE8}" v="2" dt="2026-01-25T18:01:43.930"/>
  </p1510:revLst>
</p1510:revInfo>
</file>

<file path=ppt/tableStyles.xml><?xml version="1.0" encoding="utf-8"?>
<a:tblStyleLst xmlns:a="http://schemas.openxmlformats.org/drawingml/2006/main" def="{185490FA-C416-4F5C-8893-C94C55B02F34}">
  <a:tblStyle styleId="{185490FA-C416-4F5C-8893-C94C55B02F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1.fntdata"/><Relationship Id="rId56" Type="http://schemas.openxmlformats.org/officeDocument/2006/relationships/font" Target="fonts/font9.fntdata"/><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2.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7.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5.fntdata"/><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LAP SARKAR" userId="S::241311162@vu.edu.bd::ae6c748c-6ed7-4eae-9431-ecb1ca27d2b3" providerId="AD" clId="Web-{9D5AC8A2-EA87-BB0A-7DF1-F3904B1C3FE8}"/>
    <pc:docChg chg="modSld">
      <pc:chgData name="GOLAP SARKAR" userId="S::241311162@vu.edu.bd::ae6c748c-6ed7-4eae-9431-ecb1ca27d2b3" providerId="AD" clId="Web-{9D5AC8A2-EA87-BB0A-7DF1-F3904B1C3FE8}" dt="2026-01-25T18:01:43.930" v="1" actId="14100"/>
      <pc:docMkLst>
        <pc:docMk/>
      </pc:docMkLst>
      <pc:sldChg chg="modSp">
        <pc:chgData name="GOLAP SARKAR" userId="S::241311162@vu.edu.bd::ae6c748c-6ed7-4eae-9431-ecb1ca27d2b3" providerId="AD" clId="Web-{9D5AC8A2-EA87-BB0A-7DF1-F3904B1C3FE8}" dt="2026-01-25T18:01:43.930" v="1" actId="14100"/>
        <pc:sldMkLst>
          <pc:docMk/>
          <pc:sldMk cId="0" sldId="274"/>
        </pc:sldMkLst>
        <pc:picChg chg="mod">
          <ac:chgData name="GOLAP SARKAR" userId="S::241311162@vu.edu.bd::ae6c748c-6ed7-4eae-9431-ecb1ca27d2b3" providerId="AD" clId="Web-{9D5AC8A2-EA87-BB0A-7DF1-F3904B1C3FE8}" dt="2026-01-25T18:01:43.930" v="1" actId="14100"/>
          <ac:picMkLst>
            <pc:docMk/>
            <pc:sldMk cId="0" sldId="274"/>
            <ac:picMk id="3" creationId="{00000000-0000-0000-0000-000000000000}"/>
          </ac:picMkLst>
        </pc:picChg>
      </pc:sldChg>
    </pc:docChg>
  </pc:docChgLst>
  <pc:docChgLst>
    <pc:chgData name="MST. FAHMIDA BINTA KADIR" userId="S::241311043@vu.edu.bd::b1c900bb-6eb5-4a5f-b9f1-545cbe652c4c" providerId="AD" clId="Web-{1C0D2FA6-8CCE-569E-4DDF-56306F3D1961}"/>
    <pc:docChg chg="modSld">
      <pc:chgData name="MST. FAHMIDA BINTA KADIR" userId="S::241311043@vu.edu.bd::b1c900bb-6eb5-4a5f-b9f1-545cbe652c4c" providerId="AD" clId="Web-{1C0D2FA6-8CCE-569E-4DDF-56306F3D1961}" dt="2026-01-24T15:49:04.950" v="5"/>
      <pc:docMkLst>
        <pc:docMk/>
      </pc:docMkLst>
      <pc:sldChg chg="addSp delSp">
        <pc:chgData name="MST. FAHMIDA BINTA KADIR" userId="S::241311043@vu.edu.bd::b1c900bb-6eb5-4a5f-b9f1-545cbe652c4c" providerId="AD" clId="Web-{1C0D2FA6-8CCE-569E-4DDF-56306F3D1961}" dt="2026-01-24T15:49:04.950" v="5"/>
        <pc:sldMkLst>
          <pc:docMk/>
          <pc:sldMk cId="0" sldId="258"/>
        </pc:sldMkLst>
        <pc:inkChg chg="add del">
          <ac:chgData name="MST. FAHMIDA BINTA KADIR" userId="S::241311043@vu.edu.bd::b1c900bb-6eb5-4a5f-b9f1-545cbe652c4c" providerId="AD" clId="Web-{1C0D2FA6-8CCE-569E-4DDF-56306F3D1961}" dt="2026-01-24T15:47:40.853" v="1"/>
          <ac:inkMkLst>
            <pc:docMk/>
            <pc:sldMk cId="0" sldId="258"/>
            <ac:inkMk id="4" creationId="{2223A690-6281-16B9-ADC6-4659A3960117}"/>
          </ac:inkMkLst>
        </pc:inkChg>
        <pc:inkChg chg="add del">
          <ac:chgData name="MST. FAHMIDA BINTA KADIR" userId="S::241311043@vu.edu.bd::b1c900bb-6eb5-4a5f-b9f1-545cbe652c4c" providerId="AD" clId="Web-{1C0D2FA6-8CCE-569E-4DDF-56306F3D1961}" dt="2026-01-24T15:49:04.950" v="5"/>
          <ac:inkMkLst>
            <pc:docMk/>
            <pc:sldMk cId="0" sldId="258"/>
            <ac:inkMk id="5" creationId="{B299C3F1-7923-3E40-5498-5C3DAB043B86}"/>
          </ac:inkMkLst>
        </pc:inkChg>
      </pc:sldChg>
    </pc:docChg>
  </pc:docChgLst>
  <pc:docChgLst>
    <pc:chgData name="MD. ROBAYET JAHAN SHAFA" userId="S::241311170@vu.edu.bd::1c3c3928-aa36-43d8-98e0-c8adb62e9ecf" providerId="AD" clId="Web-{64F36F22-87C8-505E-0C7F-2EDD58EA5CE6}"/>
    <pc:docChg chg="modSld">
      <pc:chgData name="MD. ROBAYET JAHAN SHAFA" userId="S::241311170@vu.edu.bd::1c3c3928-aa36-43d8-98e0-c8adb62e9ecf" providerId="AD" clId="Web-{64F36F22-87C8-505E-0C7F-2EDD58EA5CE6}" dt="2026-01-24T10:53:50.671" v="0" actId="1076"/>
      <pc:docMkLst>
        <pc:docMk/>
      </pc:docMkLst>
      <pc:sldChg chg="modSp">
        <pc:chgData name="MD. ROBAYET JAHAN SHAFA" userId="S::241311170@vu.edu.bd::1c3c3928-aa36-43d8-98e0-c8adb62e9ecf" providerId="AD" clId="Web-{64F36F22-87C8-505E-0C7F-2EDD58EA5CE6}" dt="2026-01-24T10:53:50.671" v="0" actId="1076"/>
        <pc:sldMkLst>
          <pc:docMk/>
          <pc:sldMk cId="0" sldId="269"/>
        </pc:sldMkLst>
        <pc:picChg chg="mod">
          <ac:chgData name="MD. ROBAYET JAHAN SHAFA" userId="S::241311170@vu.edu.bd::1c3c3928-aa36-43d8-98e0-c8adb62e9ecf" providerId="AD" clId="Web-{64F36F22-87C8-505E-0C7F-2EDD58EA5CE6}" dt="2026-01-24T10:53:50.671" v="0" actId="1076"/>
          <ac:picMkLst>
            <pc:docMk/>
            <pc:sldMk cId="0" sldId="269"/>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6891533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665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26889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199718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3A3838"/>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500" b="0" i="0">
                <a:solidFill>
                  <a:srgbClr val="404040"/>
                </a:solidFill>
                <a:latin typeface="Arial Black"/>
                <a:cs typeface="Arial Black"/>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1/25/2026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3A3838"/>
                </a:solidFill>
                <a:latin typeface="Arial"/>
                <a:cs typeface="Arial"/>
              </a:defRPr>
            </a:lvl1pPr>
          </a:lstStyle>
          <a:p>
            <a:endParaRPr/>
          </a:p>
        </p:txBody>
      </p:sp>
      <p:sp>
        <p:nvSpPr>
          <p:cNvPr id="3" name="Holder 3"/>
          <p:cNvSpPr>
            <a:spLocks noGrp="1"/>
          </p:cNvSpPr>
          <p:nvPr>
            <p:ph sz="half" idx="2"/>
          </p:nvPr>
        </p:nvSpPr>
        <p:spPr>
          <a:xfrm>
            <a:off x="340005" y="1421510"/>
            <a:ext cx="3890486" cy="318549"/>
          </a:xfrm>
          <a:prstGeom prst="rect">
            <a:avLst/>
          </a:prstGeom>
        </p:spPr>
        <p:txBody>
          <a:bodyPr wrap="square" lIns="0" tIns="0" rIns="0" bIns="0">
            <a:spAutoFit/>
          </a:bodyPr>
          <a:lstStyle>
            <a:lvl1pPr>
              <a:defRPr sz="1800" b="0" i="0">
                <a:solidFill>
                  <a:srgbClr val="404040"/>
                </a:solidFill>
                <a:latin typeface="Trebuchet MS"/>
                <a:cs typeface="Trebuchet MS"/>
              </a:defRPr>
            </a:lvl1pPr>
          </a:lstStyle>
          <a:p>
            <a:endParaRPr/>
          </a:p>
        </p:txBody>
      </p:sp>
      <p:sp>
        <p:nvSpPr>
          <p:cNvPr id="4" name="Holder 4"/>
          <p:cNvSpPr>
            <a:spLocks noGrp="1"/>
          </p:cNvSpPr>
          <p:nvPr>
            <p:ph sz="half" idx="3"/>
          </p:nvPr>
        </p:nvSpPr>
        <p:spPr>
          <a:xfrm>
            <a:off x="4983576" y="1234534"/>
            <a:ext cx="3754279" cy="318549"/>
          </a:xfrm>
          <a:prstGeom prst="rect">
            <a:avLst/>
          </a:prstGeom>
        </p:spPr>
        <p:txBody>
          <a:bodyPr wrap="square" lIns="0" tIns="0" rIns="0" bIns="0">
            <a:spAutoFit/>
          </a:bodyPr>
          <a:lstStyle>
            <a:lvl1pPr>
              <a:defRPr sz="1800" b="0" i="0">
                <a:solidFill>
                  <a:srgbClr val="404040"/>
                </a:solidFill>
                <a:latin typeface="Trebuchet MS"/>
                <a:cs typeface="Trebuchet MS"/>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1/25/2026</a:t>
            </a:fld>
            <a:endParaRPr lang="en-US"/>
          </a:p>
        </p:txBody>
      </p:sp>
      <p:sp>
        <p:nvSpPr>
          <p:cNvPr id="7" name="Holder 7"/>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74" r:id="rId3"/>
    <p:sldLayoutId id="2147483675" r:id="rId4"/>
    <p:sldLayoutId id="2147483679" r:id="rId5"/>
    <p:sldLayoutId id="2147483680"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7.jpeg"/></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4" y="765049"/>
            <a:ext cx="7798257" cy="1392600"/>
          </a:xfrm>
          <a:prstGeom prst="rect">
            <a:avLst/>
          </a:prstGeom>
        </p:spPr>
        <p:txBody>
          <a:bodyPr spcFirstLastPara="1" wrap="square" lIns="91425" tIns="91425" rIns="91425" bIns="91425" anchor="b" anchorCtr="0">
            <a:noAutofit/>
          </a:bodyPr>
          <a:lstStyle/>
          <a:p>
            <a:r>
              <a:rPr lang="en-US">
                <a:latin typeface="Algerian" pitchFamily="82" charset="0"/>
              </a:rPr>
              <a:t>Computer Architecture</a:t>
            </a:r>
            <a:endParaRPr>
              <a:latin typeface="Algerian" pitchFamily="82" charset="0"/>
            </a:endParaRPr>
          </a:p>
        </p:txBody>
      </p:sp>
      <p:sp>
        <p:nvSpPr>
          <p:cNvPr id="290" name="Google Shape;290;p33"/>
          <p:cNvSpPr txBox="1">
            <a:spLocks noGrp="1"/>
          </p:cNvSpPr>
          <p:nvPr>
            <p:ph type="subTitle" idx="1"/>
          </p:nvPr>
        </p:nvSpPr>
        <p:spPr>
          <a:xfrm>
            <a:off x="1105597" y="2332470"/>
            <a:ext cx="5897400" cy="475800"/>
          </a:xfrm>
          <a:prstGeom prst="rect">
            <a:avLst/>
          </a:prstGeom>
        </p:spPr>
        <p:txBody>
          <a:bodyPr spcFirstLastPara="1" wrap="square" lIns="91425" tIns="91425" rIns="91425" bIns="91425" anchor="t" anchorCtr="0">
            <a:noAutofit/>
          </a:bodyPr>
          <a:lstStyle/>
          <a:p>
            <a:pPr marL="0" lvl="0" indent="0"/>
            <a:r>
              <a:rPr lang="en-US" sz="2000"/>
              <a:t>Introductions and Basics</a:t>
            </a:r>
            <a:br>
              <a:rPr lang="en-US" sz="2000"/>
            </a:br>
            <a:br>
              <a:rPr lang="en-US"/>
            </a:br>
            <a:r>
              <a:rPr lang="en-US"/>
              <a:t>By</a:t>
            </a:r>
          </a:p>
          <a:p>
            <a:pPr marL="0" lvl="0" indent="0"/>
            <a:r>
              <a:rPr lang="en-US" err="1"/>
              <a:t>Protik</a:t>
            </a:r>
            <a:r>
              <a:rPr lang="en-US"/>
              <a:t> </a:t>
            </a:r>
            <a:r>
              <a:rPr lang="en-US" err="1"/>
              <a:t>Chakroborty</a:t>
            </a:r>
            <a:br>
              <a:rPr lang="en-US"/>
            </a:br>
            <a:r>
              <a:rPr lang="en-US"/>
              <a:t>Lecturer, CSE</a:t>
            </a:r>
            <a:br>
              <a:rPr lang="en-US"/>
            </a:br>
            <a:r>
              <a:rPr lang="en-US" err="1"/>
              <a:t>Varendra</a:t>
            </a:r>
            <a:r>
              <a:rPr lang="en-US"/>
              <a:t> University, </a:t>
            </a:r>
            <a:r>
              <a:rPr lang="en-US" err="1"/>
              <a:t>Rajshahi</a:t>
            </a:r>
            <a:endParaRPr>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472" y="554182"/>
            <a:ext cx="8756073" cy="584775"/>
          </a:xfrm>
          <a:prstGeom prst="rect">
            <a:avLst/>
          </a:prstGeom>
          <a:noFill/>
        </p:spPr>
        <p:txBody>
          <a:bodyPr wrap="square" rtlCol="0">
            <a:spAutoFit/>
          </a:bodyPr>
          <a:lstStyle/>
          <a:p>
            <a:pPr algn="ctr"/>
            <a:r>
              <a:rPr lang="en-US" sz="3200">
                <a:latin typeface="Algerian" pitchFamily="82" charset="0"/>
              </a:rPr>
              <a:t>Overview </a:t>
            </a:r>
          </a:p>
        </p:txBody>
      </p:sp>
      <p:sp>
        <p:nvSpPr>
          <p:cNvPr id="4" name="Rectangle 3"/>
          <p:cNvSpPr/>
          <p:nvPr/>
        </p:nvSpPr>
        <p:spPr>
          <a:xfrm>
            <a:off x="1060175" y="1211843"/>
            <a:ext cx="7441095" cy="2785378"/>
          </a:xfrm>
          <a:prstGeom prst="rect">
            <a:avLst/>
          </a:prstGeom>
        </p:spPr>
        <p:txBody>
          <a:bodyPr wrap="square">
            <a:spAutoFit/>
          </a:bodyPr>
          <a:lstStyle/>
          <a:p>
            <a:r>
              <a:rPr lang="en-US" sz="2500"/>
              <a:t>Course Title: Computer Architecture</a:t>
            </a:r>
          </a:p>
          <a:p>
            <a:r>
              <a:rPr lang="en-US" sz="2500"/>
              <a:t>Course Code: CSE 3105</a:t>
            </a:r>
          </a:p>
          <a:p>
            <a:r>
              <a:rPr lang="en-US" sz="2500"/>
              <a:t>Course Type: Theory</a:t>
            </a:r>
          </a:p>
          <a:p>
            <a:r>
              <a:rPr lang="en-US" sz="2500"/>
              <a:t>Credits: 3</a:t>
            </a:r>
          </a:p>
          <a:p>
            <a:r>
              <a:rPr lang="en-US" sz="2500"/>
              <a:t>Prerequisite Knowledge:  Discrete Logic Design</a:t>
            </a:r>
          </a:p>
          <a:p>
            <a:r>
              <a:rPr lang="en-US" sz="2500"/>
              <a:t>Year and Semester: 3rd Year, Summer Semester,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472" y="554182"/>
            <a:ext cx="8756073" cy="584775"/>
          </a:xfrm>
          <a:prstGeom prst="rect">
            <a:avLst/>
          </a:prstGeom>
          <a:noFill/>
        </p:spPr>
        <p:txBody>
          <a:bodyPr wrap="square" rtlCol="0">
            <a:spAutoFit/>
          </a:bodyPr>
          <a:lstStyle/>
          <a:p>
            <a:pPr algn="ctr"/>
            <a:r>
              <a:rPr lang="en-US" sz="3200" err="1">
                <a:latin typeface="Algerian" pitchFamily="82" charset="0"/>
              </a:rPr>
              <a:t>LeaRning</a:t>
            </a:r>
            <a:r>
              <a:rPr lang="en-US" sz="3200">
                <a:latin typeface="Algerian" pitchFamily="82" charset="0"/>
              </a:rPr>
              <a:t> </a:t>
            </a:r>
            <a:r>
              <a:rPr lang="en-US" sz="3200" err="1">
                <a:latin typeface="Algerian" pitchFamily="82" charset="0"/>
              </a:rPr>
              <a:t>OutcoMes</a:t>
            </a:r>
            <a:r>
              <a:rPr lang="en-US" sz="3200">
                <a:latin typeface="Algerian" pitchFamily="82" charset="0"/>
              </a:rPr>
              <a:t>?</a:t>
            </a:r>
          </a:p>
        </p:txBody>
      </p:sp>
      <p:sp>
        <p:nvSpPr>
          <p:cNvPr id="3" name="TextBox 2"/>
          <p:cNvSpPr txBox="1"/>
          <p:nvPr/>
        </p:nvSpPr>
        <p:spPr>
          <a:xfrm>
            <a:off x="489527" y="1459345"/>
            <a:ext cx="7970982" cy="307777"/>
          </a:xfrm>
          <a:prstGeom prst="rect">
            <a:avLst/>
          </a:prstGeom>
          <a:noFill/>
        </p:spPr>
        <p:txBody>
          <a:bodyPr wrap="square" rtlCol="0">
            <a:spAutoFit/>
          </a:bodyPr>
          <a:lstStyle/>
          <a:p>
            <a:endParaRPr lang="en-US"/>
          </a:p>
        </p:txBody>
      </p:sp>
      <p:graphicFrame>
        <p:nvGraphicFramePr>
          <p:cNvPr id="5" name="Table 4">
            <a:extLst>
              <a:ext uri="{FF2B5EF4-FFF2-40B4-BE49-F238E27FC236}">
                <a16:creationId xmlns:a16="http://schemas.microsoft.com/office/drawing/2014/main" id="{7D260036-0EA1-48D8-8AEC-D43399ECA34B}"/>
              </a:ext>
            </a:extLst>
          </p:cNvPr>
          <p:cNvGraphicFramePr>
            <a:graphicFrameLocks noGrp="1"/>
          </p:cNvGraphicFramePr>
          <p:nvPr>
            <p:extLst>
              <p:ext uri="{D42A27DB-BD31-4B8C-83A1-F6EECF244321}">
                <p14:modId xmlns:p14="http://schemas.microsoft.com/office/powerpoint/2010/main" val="3706116441"/>
              </p:ext>
            </p:extLst>
          </p:nvPr>
        </p:nvGraphicFramePr>
        <p:xfrm>
          <a:off x="393593" y="1120962"/>
          <a:ext cx="8140807" cy="3679203"/>
        </p:xfrm>
        <a:graphic>
          <a:graphicData uri="http://schemas.openxmlformats.org/drawingml/2006/table">
            <a:tbl>
              <a:tblPr firstRow="1" firstCol="1" lastRow="1" lastCol="1" bandRow="1" bandCol="1"/>
              <a:tblGrid>
                <a:gridCol w="623586">
                  <a:extLst>
                    <a:ext uri="{9D8B030D-6E8A-4147-A177-3AD203B41FA5}">
                      <a16:colId xmlns:a16="http://schemas.microsoft.com/office/drawing/2014/main" val="3510093018"/>
                    </a:ext>
                  </a:extLst>
                </a:gridCol>
                <a:gridCol w="3034816">
                  <a:extLst>
                    <a:ext uri="{9D8B030D-6E8A-4147-A177-3AD203B41FA5}">
                      <a16:colId xmlns:a16="http://schemas.microsoft.com/office/drawing/2014/main" val="4127139868"/>
                    </a:ext>
                  </a:extLst>
                </a:gridCol>
                <a:gridCol w="2282544">
                  <a:extLst>
                    <a:ext uri="{9D8B030D-6E8A-4147-A177-3AD203B41FA5}">
                      <a16:colId xmlns:a16="http://schemas.microsoft.com/office/drawing/2014/main" val="2489158561"/>
                    </a:ext>
                  </a:extLst>
                </a:gridCol>
                <a:gridCol w="729633">
                  <a:extLst>
                    <a:ext uri="{9D8B030D-6E8A-4147-A177-3AD203B41FA5}">
                      <a16:colId xmlns:a16="http://schemas.microsoft.com/office/drawing/2014/main" val="3875109138"/>
                    </a:ext>
                  </a:extLst>
                </a:gridCol>
                <a:gridCol w="490076">
                  <a:extLst>
                    <a:ext uri="{9D8B030D-6E8A-4147-A177-3AD203B41FA5}">
                      <a16:colId xmlns:a16="http://schemas.microsoft.com/office/drawing/2014/main" val="10093661"/>
                    </a:ext>
                  </a:extLst>
                </a:gridCol>
                <a:gridCol w="490076">
                  <a:extLst>
                    <a:ext uri="{9D8B030D-6E8A-4147-A177-3AD203B41FA5}">
                      <a16:colId xmlns:a16="http://schemas.microsoft.com/office/drawing/2014/main" val="2822592899"/>
                    </a:ext>
                  </a:extLst>
                </a:gridCol>
                <a:gridCol w="490076">
                  <a:extLst>
                    <a:ext uri="{9D8B030D-6E8A-4147-A177-3AD203B41FA5}">
                      <a16:colId xmlns:a16="http://schemas.microsoft.com/office/drawing/2014/main" val="1359845192"/>
                    </a:ext>
                  </a:extLst>
                </a:gridCol>
              </a:tblGrid>
              <a:tr h="655593">
                <a:tc>
                  <a:txBody>
                    <a:bodyPr/>
                    <a:lstStyle/>
                    <a:p>
                      <a:pPr marL="0" marR="0" algn="ctr">
                        <a:lnSpc>
                          <a:spcPct val="115000"/>
                        </a:lnSpc>
                        <a:spcBef>
                          <a:spcPts val="0"/>
                        </a:spcBef>
                        <a:spcAft>
                          <a:spcPts val="0"/>
                        </a:spcAft>
                      </a:pPr>
                      <a:r>
                        <a:rPr lang="en-US" sz="1000" b="1">
                          <a:effectLst/>
                          <a:latin typeface="Arial" panose="020B0604020202020204" pitchFamily="34" charset="0"/>
                          <a:ea typeface="Centaur" panose="02030504050205020304" pitchFamily="18" charset="0"/>
                          <a:cs typeface="Centaur" panose="02030504050205020304" pitchFamily="18" charset="0"/>
                        </a:rPr>
                        <a:t>CO</a:t>
                      </a:r>
                      <a:r>
                        <a:rPr lang="en-US" sz="1000" b="1">
                          <a:solidFill>
                            <a:srgbClr val="000000"/>
                          </a:solidFill>
                          <a:effectLst/>
                          <a:latin typeface="Arial" panose="020B0604020202020204" pitchFamily="34" charset="0"/>
                          <a:ea typeface="Centaur" panose="02030504050205020304" pitchFamily="18" charset="0"/>
                          <a:cs typeface="Centaur" panose="02030504050205020304" pitchFamily="18" charset="0"/>
                        </a:rPr>
                        <a:t>s</a:t>
                      </a:r>
                      <a:endParaRPr lang="en-US" sz="1100">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Description</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indent="6350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Taxonomy domain/level</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POs</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K</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P</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lnSpc>
                          <a:spcPct val="115000"/>
                        </a:lnSpc>
                        <a:spcBef>
                          <a:spcPts val="0"/>
                        </a:spcBef>
                        <a:spcAft>
                          <a:spcPts val="0"/>
                        </a:spcAft>
                      </a:pPr>
                      <a:r>
                        <a:rPr lang="en-US" sz="2000" b="1">
                          <a:solidFill>
                            <a:srgbClr val="000000"/>
                          </a:solidFill>
                          <a:effectLst/>
                          <a:latin typeface="Arial" panose="020B0604020202020204" pitchFamily="34" charset="0"/>
                          <a:ea typeface="Centaur" panose="02030504050205020304" pitchFamily="18" charset="0"/>
                          <a:cs typeface="Centaur" panose="02030504050205020304" pitchFamily="18" charset="0"/>
                        </a:rPr>
                        <a:t>A</a:t>
                      </a:r>
                      <a:endParaRPr lang="en-US" sz="20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EECE1"/>
                    </a:solidFill>
                  </a:tcPr>
                </a:tc>
                <a:extLst>
                  <a:ext uri="{0D108BD9-81ED-4DB2-BD59-A6C34878D82A}">
                    <a16:rowId xmlns:a16="http://schemas.microsoft.com/office/drawing/2014/main" val="809284876"/>
                  </a:ext>
                </a:extLst>
              </a:tr>
              <a:tr h="998076">
                <a:tc>
                  <a:txBody>
                    <a:bodyPr/>
                    <a:lstStyle/>
                    <a:p>
                      <a:pPr marL="0" marR="0" algn="ctr">
                        <a:lnSpc>
                          <a:spcPct val="115000"/>
                        </a:lnSpc>
                        <a:spcBef>
                          <a:spcPts val="0"/>
                        </a:spcBef>
                        <a:spcAft>
                          <a:spcPts val="0"/>
                        </a:spcAft>
                      </a:pPr>
                      <a:r>
                        <a:rPr lang="en-US" sz="1400" b="1">
                          <a:effectLst/>
                          <a:latin typeface="Arial" panose="020B0604020202020204" pitchFamily="34" charset="0"/>
                          <a:ea typeface="Centaur" panose="02030504050205020304" pitchFamily="18" charset="0"/>
                          <a:cs typeface="Centaur" panose="02030504050205020304" pitchFamily="18" charset="0"/>
                        </a:rPr>
                        <a:t>CO1</a:t>
                      </a:r>
                      <a:endParaRPr lang="en-US" sz="14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ctr"/>
                      <a:r>
                        <a:rPr lang="en-US" b="0">
                          <a:effectLst/>
                          <a:latin typeface="Times New Roman" panose="02020603050405020304" pitchFamily="18" charset="0"/>
                        </a:rPr>
                        <a:t> Illustrate hardware-software interaction to run the computer system.</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0">
                          <a:effectLst/>
                          <a:latin typeface="Times New Roman" panose="02020603050405020304" pitchFamily="18" charset="0"/>
                        </a:rPr>
                        <a:t>Cognitive/ Understand</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PO1</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1">
                          <a:effectLst/>
                          <a:latin typeface="Times New Roman" panose="02020603050405020304" pitchFamily="18" charset="0"/>
                        </a:rPr>
                        <a:t>K3, K4</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 </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5498454"/>
                  </a:ext>
                </a:extLst>
              </a:tr>
              <a:tr h="748557">
                <a:tc>
                  <a:txBody>
                    <a:bodyPr/>
                    <a:lstStyle/>
                    <a:p>
                      <a:pPr marL="0" marR="0" algn="ctr">
                        <a:lnSpc>
                          <a:spcPct val="115000"/>
                        </a:lnSpc>
                        <a:spcBef>
                          <a:spcPts val="0"/>
                        </a:spcBef>
                        <a:spcAft>
                          <a:spcPts val="0"/>
                        </a:spcAft>
                      </a:pPr>
                      <a:r>
                        <a:rPr lang="en-US" sz="1400" b="1">
                          <a:effectLst/>
                          <a:latin typeface="Arial" panose="020B0604020202020204" pitchFamily="34" charset="0"/>
                          <a:ea typeface="Centaur" panose="02030504050205020304" pitchFamily="18" charset="0"/>
                          <a:cs typeface="Centaur" panose="02030504050205020304" pitchFamily="18" charset="0"/>
                        </a:rPr>
                        <a:t>CO2</a:t>
                      </a:r>
                      <a:endParaRPr lang="en-US" sz="14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ctr"/>
                      <a:r>
                        <a:rPr lang="en-US" b="0">
                          <a:effectLst/>
                          <a:latin typeface="Times New Roman" panose="02020603050405020304" pitchFamily="18" charset="0"/>
                        </a:rPr>
                        <a:t> Analyze various data communication between different components and processing unit.</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0">
                          <a:effectLst/>
                          <a:latin typeface="Times New Roman" panose="02020603050405020304" pitchFamily="18" charset="0"/>
                        </a:rPr>
                        <a:t>Cognitive/ Understand</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PO2</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1">
                          <a:effectLst/>
                          <a:latin typeface="Times New Roman" panose="02020603050405020304" pitchFamily="18" charset="0"/>
                        </a:rPr>
                        <a:t>K4</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 </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6777465"/>
                  </a:ext>
                </a:extLst>
              </a:tr>
              <a:tr h="1247595">
                <a:tc>
                  <a:txBody>
                    <a:bodyPr/>
                    <a:lstStyle/>
                    <a:p>
                      <a:pPr marL="0" marR="0" algn="ctr">
                        <a:lnSpc>
                          <a:spcPct val="115000"/>
                        </a:lnSpc>
                        <a:spcBef>
                          <a:spcPts val="0"/>
                        </a:spcBef>
                        <a:spcAft>
                          <a:spcPts val="0"/>
                        </a:spcAft>
                      </a:pPr>
                      <a:r>
                        <a:rPr lang="en-US" sz="1400" b="1">
                          <a:effectLst/>
                          <a:latin typeface="Arial" panose="020B0604020202020204" pitchFamily="34" charset="0"/>
                          <a:ea typeface="Centaur" panose="02030504050205020304" pitchFamily="18" charset="0"/>
                          <a:cs typeface="Centaur" panose="02030504050205020304" pitchFamily="18" charset="0"/>
                        </a:rPr>
                        <a:t>CO3</a:t>
                      </a:r>
                      <a:endParaRPr lang="en-US" sz="14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ctr"/>
                      <a:r>
                        <a:rPr lang="en-US" b="0">
                          <a:effectLst/>
                          <a:latin typeface="Times New Roman" panose="02020603050405020304" pitchFamily="18" charset="0"/>
                        </a:rPr>
                        <a:t>Discuss detail functionality and connection architecture of different types of memories leading to high performance computing.</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0">
                          <a:effectLst/>
                          <a:latin typeface="Times New Roman" panose="02020603050405020304" pitchFamily="18" charset="0"/>
                        </a:rPr>
                        <a:t>Cognitive/ Analyze</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Arial" panose="020B0604020202020204" pitchFamily="34" charset="0"/>
                          <a:ea typeface="Centaur" panose="02030504050205020304" pitchFamily="18" charset="0"/>
                          <a:cs typeface="Centaur" panose="02030504050205020304" pitchFamily="18" charset="0"/>
                        </a:rPr>
                        <a:t>PO1</a:t>
                      </a: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en-US" b="1">
                          <a:effectLst/>
                          <a:latin typeface="Times New Roman" panose="02020603050405020304" pitchFamily="18" charset="0"/>
                        </a:rPr>
                        <a:t>K3, K4</a:t>
                      </a:r>
                    </a:p>
                  </a:txBody>
                  <a:tcPr marL="28575" marR="285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600" b="1">
                        <a:effectLst/>
                        <a:latin typeface="Centaur" panose="02030504050205020304" pitchFamily="18" charset="0"/>
                        <a:ea typeface="Centaur" panose="02030504050205020304" pitchFamily="18" charset="0"/>
                        <a:cs typeface="Centaur" panose="020305040502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080303"/>
                  </a:ext>
                </a:extLst>
              </a:tr>
            </a:tbl>
          </a:graphicData>
        </a:graphic>
      </p:graphicFrame>
    </p:spTree>
    <p:extLst>
      <p:ext uri="{BB962C8B-B14F-4D97-AF65-F5344CB8AC3E}">
        <p14:creationId xmlns:p14="http://schemas.microsoft.com/office/powerpoint/2010/main" val="4152593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7930" y="428286"/>
            <a:ext cx="8401878" cy="584775"/>
          </a:xfrm>
          <a:prstGeom prst="rect">
            <a:avLst/>
          </a:prstGeom>
          <a:noFill/>
        </p:spPr>
        <p:txBody>
          <a:bodyPr wrap="square" rtlCol="0">
            <a:spAutoFit/>
          </a:bodyPr>
          <a:lstStyle/>
          <a:p>
            <a:pPr algn="ctr"/>
            <a:r>
              <a:rPr lang="en-US" sz="3200" b="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Knowledge Profile (K1–K8)</a:t>
            </a:r>
            <a:endParaRPr lang="en-US" sz="320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624039576"/>
              </p:ext>
            </p:extLst>
          </p:nvPr>
        </p:nvGraphicFramePr>
        <p:xfrm>
          <a:off x="437322" y="1152526"/>
          <a:ext cx="8354465" cy="3624885"/>
        </p:xfrm>
        <a:graphic>
          <a:graphicData uri="http://schemas.openxmlformats.org/drawingml/2006/table">
            <a:tbl>
              <a:tblPr firstRow="1" firstCol="1" bandRow="1"/>
              <a:tblGrid>
                <a:gridCol w="2009337">
                  <a:extLst>
                    <a:ext uri="{9D8B030D-6E8A-4147-A177-3AD203B41FA5}">
                      <a16:colId xmlns:a16="http://schemas.microsoft.com/office/drawing/2014/main" val="20000"/>
                    </a:ext>
                  </a:extLst>
                </a:gridCol>
                <a:gridCol w="6345128">
                  <a:extLst>
                    <a:ext uri="{9D8B030D-6E8A-4147-A177-3AD203B41FA5}">
                      <a16:colId xmlns:a16="http://schemas.microsoft.com/office/drawing/2014/main" val="20001"/>
                    </a:ext>
                  </a:extLst>
                </a:gridCol>
              </a:tblGrid>
              <a:tr h="402765">
                <a:tc>
                  <a:txBody>
                    <a:bodyPr/>
                    <a:lstStyle/>
                    <a:p>
                      <a:pPr marL="0" marR="0" algn="ctr">
                        <a:lnSpc>
                          <a:spcPct val="107000"/>
                        </a:lnSpc>
                        <a:spcBef>
                          <a:spcPts val="0"/>
                        </a:spcBef>
                        <a:spcAft>
                          <a:spcPts val="0"/>
                        </a:spcAft>
                      </a:pPr>
                      <a:r>
                        <a:rPr lang="en-US" sz="24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Code</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K1</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Mathematics, science, engineering fundamentals</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02765">
                <a:tc>
                  <a:txBody>
                    <a:bodyPr/>
                    <a:lstStyle/>
                    <a:p>
                      <a:pPr marL="0" marR="0" algn="ctr">
                        <a:lnSpc>
                          <a:spcPct val="107000"/>
                        </a:lnSpc>
                        <a:spcBef>
                          <a:spcPts val="0"/>
                        </a:spcBef>
                        <a:spcAft>
                          <a:spcPts val="0"/>
                        </a:spcAft>
                      </a:pPr>
                      <a:r>
                        <a:rPr lang="en-US" sz="24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K2</a:t>
                      </a:r>
                      <a:endParaRPr lang="en-US"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specialization fundamentals</a:t>
                      </a:r>
                      <a:endParaRPr lang="en-US" sz="24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K3</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Advanced engineering knowledge</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K4</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Research literature and methods</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design</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K6</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Engineering practices, tools, and resources</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K7</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Effects of engineering on society and environment</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02765">
                <a:tc>
                  <a:txBody>
                    <a:bodyPr/>
                    <a:lstStyle/>
                    <a:p>
                      <a:pPr marL="0" marR="0" algn="ctr">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K8</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24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Principles of project management and finance</a:t>
                      </a:r>
                      <a:endParaRPr lang="en-US" sz="24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5253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6472" y="554182"/>
            <a:ext cx="8756073" cy="584775"/>
          </a:xfrm>
          <a:prstGeom prst="rect">
            <a:avLst/>
          </a:prstGeom>
          <a:noFill/>
        </p:spPr>
        <p:txBody>
          <a:bodyPr wrap="square" rtlCol="0">
            <a:spAutoFit/>
          </a:bodyPr>
          <a:lstStyle/>
          <a:p>
            <a:pPr algn="ctr"/>
            <a:r>
              <a:rPr lang="en-US" sz="3200">
                <a:latin typeface="Algerian" pitchFamily="82" charset="0"/>
              </a:rPr>
              <a:t>What is A Computer?</a:t>
            </a:r>
          </a:p>
        </p:txBody>
      </p:sp>
      <p:sp>
        <p:nvSpPr>
          <p:cNvPr id="3" name="TextBox 2"/>
          <p:cNvSpPr txBox="1"/>
          <p:nvPr/>
        </p:nvSpPr>
        <p:spPr>
          <a:xfrm>
            <a:off x="489527" y="1459345"/>
            <a:ext cx="7970982" cy="3116238"/>
          </a:xfrm>
          <a:prstGeom prst="rect">
            <a:avLst/>
          </a:prstGeom>
          <a:noFill/>
        </p:spPr>
        <p:txBody>
          <a:bodyPr wrap="square" rtlCol="0">
            <a:spAutoFit/>
          </a:bodyPr>
          <a:lstStyle/>
          <a:p>
            <a:pPr marL="354965" indent="-342265">
              <a:spcBef>
                <a:spcPts val="100"/>
              </a:spcBef>
              <a:buFont typeface="Wingdings"/>
              <a:buChar char=""/>
              <a:tabLst>
                <a:tab pos="354965" algn="l"/>
              </a:tabLst>
            </a:pPr>
            <a:r>
              <a:rPr lang="en-US" sz="1800" spc="80">
                <a:solidFill>
                  <a:srgbClr val="0033CC"/>
                </a:solidFill>
                <a:latin typeface="Calibri" pitchFamily="34" charset="0"/>
                <a:ea typeface="Calibri" pitchFamily="34" charset="0"/>
                <a:cs typeface="Calibri" pitchFamily="34" charset="0"/>
              </a:rPr>
              <a:t>A</a:t>
            </a:r>
            <a:r>
              <a:rPr lang="en-US" sz="1800" spc="-45">
                <a:solidFill>
                  <a:srgbClr val="0033CC"/>
                </a:solidFill>
                <a:latin typeface="Calibri" pitchFamily="34" charset="0"/>
                <a:ea typeface="Calibri" pitchFamily="34" charset="0"/>
                <a:cs typeface="Calibri" pitchFamily="34" charset="0"/>
              </a:rPr>
              <a:t> </a:t>
            </a:r>
            <a:r>
              <a:rPr lang="en-US" sz="1800" spc="-85">
                <a:solidFill>
                  <a:srgbClr val="0033CC"/>
                </a:solidFill>
                <a:latin typeface="Calibri" pitchFamily="34" charset="0"/>
                <a:ea typeface="Calibri" pitchFamily="34" charset="0"/>
                <a:cs typeface="Calibri" pitchFamily="34" charset="0"/>
              </a:rPr>
              <a:t>computer </a:t>
            </a:r>
            <a:r>
              <a:rPr lang="en-US" sz="1800" spc="-125">
                <a:solidFill>
                  <a:srgbClr val="0033CC"/>
                </a:solidFill>
                <a:latin typeface="Calibri" pitchFamily="34" charset="0"/>
                <a:ea typeface="Calibri" pitchFamily="34" charset="0"/>
                <a:cs typeface="Calibri" pitchFamily="34" charset="0"/>
              </a:rPr>
              <a:t>is</a:t>
            </a:r>
            <a:r>
              <a:rPr lang="en-US" sz="1800" spc="-55">
                <a:solidFill>
                  <a:srgbClr val="0033CC"/>
                </a:solidFill>
                <a:latin typeface="Calibri" pitchFamily="34" charset="0"/>
                <a:ea typeface="Calibri" pitchFamily="34" charset="0"/>
                <a:cs typeface="Calibri" pitchFamily="34" charset="0"/>
              </a:rPr>
              <a:t> </a:t>
            </a:r>
            <a:r>
              <a:rPr lang="en-US" sz="1800">
                <a:solidFill>
                  <a:srgbClr val="0033CC"/>
                </a:solidFill>
                <a:latin typeface="Calibri" pitchFamily="34" charset="0"/>
                <a:ea typeface="Calibri" pitchFamily="34" charset="0"/>
                <a:cs typeface="Calibri" pitchFamily="34" charset="0"/>
              </a:rPr>
              <a:t>a</a:t>
            </a:r>
            <a:r>
              <a:rPr lang="en-US" sz="1800" spc="-45">
                <a:solidFill>
                  <a:srgbClr val="0033CC"/>
                </a:solidFill>
                <a:latin typeface="Calibri" pitchFamily="34" charset="0"/>
                <a:ea typeface="Calibri" pitchFamily="34" charset="0"/>
                <a:cs typeface="Calibri" pitchFamily="34" charset="0"/>
              </a:rPr>
              <a:t> </a:t>
            </a:r>
            <a:r>
              <a:rPr lang="en-US" sz="1800" spc="-100">
                <a:solidFill>
                  <a:srgbClr val="0033CC"/>
                </a:solidFill>
                <a:latin typeface="Calibri" pitchFamily="34" charset="0"/>
                <a:ea typeface="Calibri" pitchFamily="34" charset="0"/>
                <a:cs typeface="Calibri" pitchFamily="34" charset="0"/>
              </a:rPr>
              <a:t>sophisticated</a:t>
            </a:r>
            <a:r>
              <a:rPr lang="en-US" sz="1800" spc="-65">
                <a:solidFill>
                  <a:srgbClr val="0033CC"/>
                </a:solidFill>
                <a:latin typeface="Calibri" pitchFamily="34" charset="0"/>
                <a:ea typeface="Calibri" pitchFamily="34" charset="0"/>
                <a:cs typeface="Calibri" pitchFamily="34" charset="0"/>
              </a:rPr>
              <a:t> </a:t>
            </a:r>
            <a:r>
              <a:rPr lang="en-US" sz="1800" spc="-130">
                <a:solidFill>
                  <a:srgbClr val="0033CC"/>
                </a:solidFill>
                <a:latin typeface="Calibri" pitchFamily="34" charset="0"/>
                <a:ea typeface="Calibri" pitchFamily="34" charset="0"/>
                <a:cs typeface="Calibri" pitchFamily="34" charset="0"/>
              </a:rPr>
              <a:t>electronic</a:t>
            </a:r>
            <a:r>
              <a:rPr lang="en-US" sz="1800" spc="-90">
                <a:solidFill>
                  <a:srgbClr val="0033CC"/>
                </a:solidFill>
                <a:latin typeface="Calibri" pitchFamily="34" charset="0"/>
                <a:ea typeface="Calibri" pitchFamily="34" charset="0"/>
                <a:cs typeface="Calibri" pitchFamily="34" charset="0"/>
              </a:rPr>
              <a:t> </a:t>
            </a:r>
            <a:r>
              <a:rPr lang="en-US" sz="1800" spc="-125">
                <a:solidFill>
                  <a:srgbClr val="0033CC"/>
                </a:solidFill>
                <a:latin typeface="Calibri" pitchFamily="34" charset="0"/>
                <a:ea typeface="Calibri" pitchFamily="34" charset="0"/>
                <a:cs typeface="Calibri" pitchFamily="34" charset="0"/>
              </a:rPr>
              <a:t>calculating</a:t>
            </a:r>
            <a:r>
              <a:rPr lang="en-US" sz="1800" spc="-70">
                <a:solidFill>
                  <a:srgbClr val="0033CC"/>
                </a:solidFill>
                <a:latin typeface="Calibri" pitchFamily="34" charset="0"/>
                <a:ea typeface="Calibri" pitchFamily="34" charset="0"/>
                <a:cs typeface="Calibri" pitchFamily="34" charset="0"/>
              </a:rPr>
              <a:t> </a:t>
            </a:r>
            <a:r>
              <a:rPr lang="en-US" sz="1800" spc="-90">
                <a:solidFill>
                  <a:srgbClr val="0033CC"/>
                </a:solidFill>
                <a:latin typeface="Calibri" pitchFamily="34" charset="0"/>
                <a:ea typeface="Calibri" pitchFamily="34" charset="0"/>
                <a:cs typeface="Calibri" pitchFamily="34" charset="0"/>
              </a:rPr>
              <a:t>machine</a:t>
            </a:r>
            <a:r>
              <a:rPr lang="en-US" sz="1800" spc="-80">
                <a:solidFill>
                  <a:srgbClr val="0033CC"/>
                </a:solidFill>
                <a:latin typeface="Calibri" pitchFamily="34" charset="0"/>
                <a:ea typeface="Calibri" pitchFamily="34" charset="0"/>
                <a:cs typeface="Calibri" pitchFamily="34" charset="0"/>
              </a:rPr>
              <a:t> </a:t>
            </a:r>
            <a:r>
              <a:rPr lang="en-US" sz="1800" spc="-10">
                <a:solidFill>
                  <a:srgbClr val="0033CC"/>
                </a:solidFill>
                <a:latin typeface="Calibri" pitchFamily="34" charset="0"/>
                <a:ea typeface="Calibri" pitchFamily="34" charset="0"/>
                <a:cs typeface="Calibri" pitchFamily="34" charset="0"/>
              </a:rPr>
              <a:t>that:</a:t>
            </a:r>
            <a:endParaRPr lang="en-US" sz="1800">
              <a:latin typeface="Calibri" pitchFamily="34" charset="0"/>
              <a:ea typeface="Calibri" pitchFamily="34" charset="0"/>
              <a:cs typeface="Calibri" pitchFamily="34" charset="0"/>
            </a:endParaRPr>
          </a:p>
          <a:p>
            <a:pPr marL="812800" lvl="1" indent="-342900">
              <a:spcBef>
                <a:spcPts val="10"/>
              </a:spcBef>
              <a:buFont typeface="Arial"/>
              <a:buChar char="•"/>
              <a:tabLst>
                <a:tab pos="812800" algn="l"/>
              </a:tabLst>
            </a:pPr>
            <a:r>
              <a:rPr lang="en-US" sz="1800" spc="-80">
                <a:latin typeface="Calibri" pitchFamily="34" charset="0"/>
                <a:ea typeface="Calibri" pitchFamily="34" charset="0"/>
                <a:cs typeface="Calibri" pitchFamily="34" charset="0"/>
              </a:rPr>
              <a:t>Accepts</a:t>
            </a:r>
            <a:r>
              <a:rPr lang="en-US" sz="1800" spc="-60">
                <a:latin typeface="Calibri" pitchFamily="34" charset="0"/>
                <a:ea typeface="Calibri" pitchFamily="34" charset="0"/>
                <a:cs typeface="Calibri" pitchFamily="34" charset="0"/>
              </a:rPr>
              <a:t> </a:t>
            </a:r>
            <a:r>
              <a:rPr lang="en-US" sz="1800" spc="-95">
                <a:solidFill>
                  <a:srgbClr val="404040"/>
                </a:solidFill>
                <a:latin typeface="Calibri" pitchFamily="34" charset="0"/>
                <a:ea typeface="Calibri" pitchFamily="34" charset="0"/>
                <a:cs typeface="Calibri" pitchFamily="34" charset="0"/>
              </a:rPr>
              <a:t>input</a:t>
            </a:r>
            <a:r>
              <a:rPr lang="en-US" sz="1800" spc="-30">
                <a:solidFill>
                  <a:srgbClr val="404040"/>
                </a:solidFill>
                <a:latin typeface="Calibri" pitchFamily="34" charset="0"/>
                <a:ea typeface="Calibri" pitchFamily="34" charset="0"/>
                <a:cs typeface="Calibri" pitchFamily="34" charset="0"/>
              </a:rPr>
              <a:t> </a:t>
            </a:r>
            <a:r>
              <a:rPr lang="en-US" sz="1800" spc="-35">
                <a:solidFill>
                  <a:srgbClr val="404040"/>
                </a:solidFill>
                <a:latin typeface="Calibri" pitchFamily="34" charset="0"/>
                <a:ea typeface="Calibri" pitchFamily="34" charset="0"/>
                <a:cs typeface="Calibri" pitchFamily="34" charset="0"/>
              </a:rPr>
              <a:t>information,</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70">
                <a:latin typeface="Calibri" pitchFamily="34" charset="0"/>
                <a:ea typeface="Calibri" pitchFamily="34" charset="0"/>
                <a:cs typeface="Calibri" pitchFamily="34" charset="0"/>
              </a:rPr>
              <a:t>Processes</a:t>
            </a:r>
            <a:r>
              <a:rPr lang="en-US" sz="1800" spc="-75">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55">
                <a:solidFill>
                  <a:srgbClr val="404040"/>
                </a:solidFill>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information</a:t>
            </a:r>
            <a:r>
              <a:rPr lang="en-US" sz="1800" spc="-15">
                <a:solidFill>
                  <a:srgbClr val="404040"/>
                </a:solidFill>
                <a:latin typeface="Calibri" pitchFamily="34" charset="0"/>
                <a:ea typeface="Calibri" pitchFamily="34" charset="0"/>
                <a:cs typeface="Calibri" pitchFamily="34" charset="0"/>
              </a:rPr>
              <a:t> </a:t>
            </a:r>
            <a:r>
              <a:rPr lang="en-US" sz="1800" spc="-55">
                <a:solidFill>
                  <a:srgbClr val="404040"/>
                </a:solidFill>
                <a:latin typeface="Calibri" pitchFamily="34" charset="0"/>
                <a:ea typeface="Calibri" pitchFamily="34" charset="0"/>
                <a:cs typeface="Calibri" pitchFamily="34" charset="0"/>
              </a:rPr>
              <a:t>according</a:t>
            </a:r>
            <a:r>
              <a:rPr lang="en-US" sz="1800" spc="-25">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to</a:t>
            </a:r>
            <a:r>
              <a:rPr lang="en-US" sz="1800" spc="-40">
                <a:solidFill>
                  <a:srgbClr val="404040"/>
                </a:solidFill>
                <a:latin typeface="Calibri" pitchFamily="34" charset="0"/>
                <a:ea typeface="Calibri" pitchFamily="34" charset="0"/>
                <a:cs typeface="Calibri" pitchFamily="34" charset="0"/>
              </a:rPr>
              <a:t> </a:t>
            </a:r>
            <a:r>
              <a:rPr lang="en-US" sz="1800">
                <a:solidFill>
                  <a:srgbClr val="404040"/>
                </a:solidFill>
                <a:latin typeface="Calibri" pitchFamily="34" charset="0"/>
                <a:ea typeface="Calibri" pitchFamily="34" charset="0"/>
                <a:cs typeface="Calibri" pitchFamily="34" charset="0"/>
              </a:rPr>
              <a:t>a</a:t>
            </a:r>
            <a:r>
              <a:rPr lang="en-US" sz="1800" spc="-55">
                <a:solidFill>
                  <a:srgbClr val="404040"/>
                </a:solidFill>
                <a:latin typeface="Calibri" pitchFamily="34" charset="0"/>
                <a:ea typeface="Calibri" pitchFamily="34" charset="0"/>
                <a:cs typeface="Calibri" pitchFamily="34" charset="0"/>
              </a:rPr>
              <a:t> </a:t>
            </a:r>
            <a:r>
              <a:rPr lang="en-US" sz="1800" spc="-165">
                <a:solidFill>
                  <a:srgbClr val="404040"/>
                </a:solidFill>
                <a:latin typeface="Calibri" pitchFamily="34" charset="0"/>
                <a:ea typeface="Calibri" pitchFamily="34" charset="0"/>
                <a:cs typeface="Calibri" pitchFamily="34" charset="0"/>
              </a:rPr>
              <a:t>list</a:t>
            </a:r>
            <a:r>
              <a:rPr lang="en-US" sz="1800" spc="-65">
                <a:solidFill>
                  <a:srgbClr val="404040"/>
                </a:solidFill>
                <a:latin typeface="Calibri" pitchFamily="34" charset="0"/>
                <a:ea typeface="Calibri" pitchFamily="34" charset="0"/>
                <a:cs typeface="Calibri" pitchFamily="34" charset="0"/>
              </a:rPr>
              <a:t> </a:t>
            </a:r>
            <a:r>
              <a:rPr lang="en-US" sz="1800" spc="-105">
                <a:solidFill>
                  <a:srgbClr val="404040"/>
                </a:solidFill>
                <a:latin typeface="Calibri" pitchFamily="34" charset="0"/>
                <a:ea typeface="Calibri" pitchFamily="34" charset="0"/>
                <a:cs typeface="Calibri" pitchFamily="34" charset="0"/>
              </a:rPr>
              <a:t>of</a:t>
            </a:r>
            <a:r>
              <a:rPr lang="en-US" sz="1800" spc="-40">
                <a:solidFill>
                  <a:srgbClr val="404040"/>
                </a:solidFill>
                <a:latin typeface="Calibri" pitchFamily="34" charset="0"/>
                <a:ea typeface="Calibri" pitchFamily="34" charset="0"/>
                <a:cs typeface="Calibri" pitchFamily="34" charset="0"/>
              </a:rPr>
              <a:t> </a:t>
            </a:r>
            <a:r>
              <a:rPr lang="en-US" sz="1800" spc="-140">
                <a:solidFill>
                  <a:srgbClr val="404040"/>
                </a:solidFill>
                <a:latin typeface="Calibri" pitchFamily="34" charset="0"/>
                <a:ea typeface="Calibri" pitchFamily="34" charset="0"/>
                <a:cs typeface="Calibri" pitchFamily="34" charset="0"/>
              </a:rPr>
              <a:t>internally</a:t>
            </a:r>
            <a:r>
              <a:rPr lang="en-US" sz="1800" spc="-45">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stored</a:t>
            </a:r>
            <a:r>
              <a:rPr lang="en-US" sz="1800" spc="-4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instructions</a:t>
            </a:r>
            <a:r>
              <a:rPr lang="en-US" sz="1800" spc="-50">
                <a:solidFill>
                  <a:srgbClr val="404040"/>
                </a:solidFill>
                <a:latin typeface="Calibri" pitchFamily="34" charset="0"/>
                <a:ea typeface="Calibri" pitchFamily="34" charset="0"/>
                <a:cs typeface="Calibri" pitchFamily="34" charset="0"/>
              </a:rPr>
              <a:t> </a:t>
            </a:r>
            <a:r>
              <a:rPr lang="en-US" sz="1800" spc="-25">
                <a:solidFill>
                  <a:srgbClr val="404040"/>
                </a:solidFill>
                <a:latin typeface="Calibri" pitchFamily="34" charset="0"/>
                <a:ea typeface="Calibri" pitchFamily="34" charset="0"/>
                <a:cs typeface="Calibri" pitchFamily="34" charset="0"/>
              </a:rPr>
              <a:t>and</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50">
                <a:latin typeface="Calibri" pitchFamily="34" charset="0"/>
                <a:ea typeface="Calibri" pitchFamily="34" charset="0"/>
                <a:cs typeface="Calibri" pitchFamily="34" charset="0"/>
              </a:rPr>
              <a:t>Produces</a:t>
            </a:r>
            <a:r>
              <a:rPr lang="en-US" sz="1800" spc="-85">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55">
                <a:solidFill>
                  <a:srgbClr val="404040"/>
                </a:solidFill>
                <a:latin typeface="Calibri" pitchFamily="34" charset="0"/>
                <a:ea typeface="Calibri" pitchFamily="34" charset="0"/>
                <a:cs typeface="Calibri" pitchFamily="34" charset="0"/>
              </a:rPr>
              <a:t> </a:t>
            </a:r>
            <a:r>
              <a:rPr lang="en-US" sz="1800" spc="-105">
                <a:solidFill>
                  <a:srgbClr val="404040"/>
                </a:solidFill>
                <a:latin typeface="Calibri" pitchFamily="34" charset="0"/>
                <a:ea typeface="Calibri" pitchFamily="34" charset="0"/>
                <a:cs typeface="Calibri" pitchFamily="34" charset="0"/>
              </a:rPr>
              <a:t>resulting</a:t>
            </a:r>
            <a:r>
              <a:rPr lang="en-US" sz="1800" spc="-45">
                <a:solidFill>
                  <a:srgbClr val="404040"/>
                </a:solidFill>
                <a:latin typeface="Calibri" pitchFamily="34" charset="0"/>
                <a:ea typeface="Calibri" pitchFamily="34" charset="0"/>
                <a:cs typeface="Calibri" pitchFamily="34" charset="0"/>
              </a:rPr>
              <a:t> </a:t>
            </a:r>
            <a:r>
              <a:rPr lang="en-US" sz="1800" spc="-75">
                <a:solidFill>
                  <a:srgbClr val="404040"/>
                </a:solidFill>
                <a:latin typeface="Calibri" pitchFamily="34" charset="0"/>
                <a:ea typeface="Calibri" pitchFamily="34" charset="0"/>
                <a:cs typeface="Calibri" pitchFamily="34" charset="0"/>
              </a:rPr>
              <a:t>output</a:t>
            </a:r>
            <a:r>
              <a:rPr lang="en-US" sz="1800" spc="-55">
                <a:solidFill>
                  <a:srgbClr val="404040"/>
                </a:solidFill>
                <a:latin typeface="Calibri" pitchFamily="34" charset="0"/>
                <a:ea typeface="Calibri" pitchFamily="34" charset="0"/>
                <a:cs typeface="Calibri" pitchFamily="34" charset="0"/>
              </a:rPr>
              <a:t> </a:t>
            </a:r>
            <a:r>
              <a:rPr lang="en-US" sz="1800" spc="-25">
                <a:solidFill>
                  <a:srgbClr val="404040"/>
                </a:solidFill>
                <a:latin typeface="Calibri" pitchFamily="34" charset="0"/>
                <a:ea typeface="Calibri" pitchFamily="34" charset="0"/>
                <a:cs typeface="Calibri" pitchFamily="34" charset="0"/>
              </a:rPr>
              <a:t>information.</a:t>
            </a:r>
            <a:endParaRPr lang="en-US" sz="1800">
              <a:latin typeface="Calibri" pitchFamily="34" charset="0"/>
              <a:ea typeface="Calibri" pitchFamily="34" charset="0"/>
              <a:cs typeface="Calibri" pitchFamily="34" charset="0"/>
            </a:endParaRPr>
          </a:p>
          <a:p>
            <a:pPr lvl="1">
              <a:spcBef>
                <a:spcPts val="315"/>
              </a:spcBef>
              <a:buFont typeface="Arial"/>
              <a:buChar char="•"/>
            </a:pPr>
            <a:endParaRPr lang="en-US" sz="1800">
              <a:latin typeface="Calibri" pitchFamily="34" charset="0"/>
              <a:ea typeface="Calibri" pitchFamily="34" charset="0"/>
              <a:cs typeface="Calibri" pitchFamily="34" charset="0"/>
            </a:endParaRPr>
          </a:p>
          <a:p>
            <a:pPr marL="355600" indent="-342900">
              <a:buFont typeface="Wingdings"/>
              <a:buChar char=""/>
              <a:tabLst>
                <a:tab pos="355600" algn="l"/>
              </a:tabLst>
            </a:pPr>
            <a:r>
              <a:rPr lang="en-US" sz="1800" spc="-100">
                <a:solidFill>
                  <a:srgbClr val="0033CC"/>
                </a:solidFill>
                <a:latin typeface="Calibri" pitchFamily="34" charset="0"/>
                <a:ea typeface="Calibri" pitchFamily="34" charset="0"/>
                <a:cs typeface="Calibri" pitchFamily="34" charset="0"/>
              </a:rPr>
              <a:t>Functions </a:t>
            </a:r>
            <a:r>
              <a:rPr lang="en-US" sz="1800" spc="-70">
                <a:solidFill>
                  <a:srgbClr val="0033CC"/>
                </a:solidFill>
                <a:latin typeface="Calibri" pitchFamily="34" charset="0"/>
                <a:ea typeface="Calibri" pitchFamily="34" charset="0"/>
                <a:cs typeface="Calibri" pitchFamily="34" charset="0"/>
              </a:rPr>
              <a:t>performed</a:t>
            </a:r>
            <a:r>
              <a:rPr lang="en-US" sz="1800" spc="-114">
                <a:solidFill>
                  <a:srgbClr val="0033CC"/>
                </a:solidFill>
                <a:latin typeface="Calibri" pitchFamily="34" charset="0"/>
                <a:ea typeface="Calibri" pitchFamily="34" charset="0"/>
                <a:cs typeface="Calibri" pitchFamily="34" charset="0"/>
              </a:rPr>
              <a:t> </a:t>
            </a:r>
            <a:r>
              <a:rPr lang="en-US" sz="1800">
                <a:solidFill>
                  <a:srgbClr val="0033CC"/>
                </a:solidFill>
                <a:latin typeface="Calibri" pitchFamily="34" charset="0"/>
                <a:ea typeface="Calibri" pitchFamily="34" charset="0"/>
                <a:cs typeface="Calibri" pitchFamily="34" charset="0"/>
              </a:rPr>
              <a:t>by</a:t>
            </a:r>
            <a:r>
              <a:rPr lang="en-US" sz="1800" spc="-80">
                <a:solidFill>
                  <a:srgbClr val="0033CC"/>
                </a:solidFill>
                <a:latin typeface="Calibri" pitchFamily="34" charset="0"/>
                <a:ea typeface="Calibri" pitchFamily="34" charset="0"/>
                <a:cs typeface="Calibri" pitchFamily="34" charset="0"/>
              </a:rPr>
              <a:t> </a:t>
            </a:r>
            <a:r>
              <a:rPr lang="en-US" sz="1800">
                <a:solidFill>
                  <a:srgbClr val="0033CC"/>
                </a:solidFill>
                <a:latin typeface="Calibri" pitchFamily="34" charset="0"/>
                <a:ea typeface="Calibri" pitchFamily="34" charset="0"/>
                <a:cs typeface="Calibri" pitchFamily="34" charset="0"/>
              </a:rPr>
              <a:t>a</a:t>
            </a:r>
            <a:r>
              <a:rPr lang="en-US" sz="1800" spc="-75">
                <a:solidFill>
                  <a:srgbClr val="0033CC"/>
                </a:solidFill>
                <a:latin typeface="Calibri" pitchFamily="34" charset="0"/>
                <a:ea typeface="Calibri" pitchFamily="34" charset="0"/>
                <a:cs typeface="Calibri" pitchFamily="34" charset="0"/>
              </a:rPr>
              <a:t> </a:t>
            </a:r>
            <a:r>
              <a:rPr lang="en-US" sz="1800" spc="-90">
                <a:solidFill>
                  <a:srgbClr val="0033CC"/>
                </a:solidFill>
                <a:latin typeface="Calibri" pitchFamily="34" charset="0"/>
                <a:ea typeface="Calibri" pitchFamily="34" charset="0"/>
                <a:cs typeface="Calibri" pitchFamily="34" charset="0"/>
              </a:rPr>
              <a:t>computer</a:t>
            </a:r>
            <a:r>
              <a:rPr lang="en-US" sz="1800" spc="-110">
                <a:solidFill>
                  <a:srgbClr val="0033CC"/>
                </a:solidFill>
                <a:latin typeface="Calibri" pitchFamily="34" charset="0"/>
                <a:ea typeface="Calibri" pitchFamily="34" charset="0"/>
                <a:cs typeface="Calibri" pitchFamily="34" charset="0"/>
              </a:rPr>
              <a:t> </a:t>
            </a:r>
            <a:r>
              <a:rPr lang="en-US" sz="1800" spc="-20">
                <a:solidFill>
                  <a:srgbClr val="0033CC"/>
                </a:solidFill>
                <a:latin typeface="Calibri" pitchFamily="34" charset="0"/>
                <a:ea typeface="Calibri" pitchFamily="34" charset="0"/>
                <a:cs typeface="Calibri" pitchFamily="34" charset="0"/>
              </a:rPr>
              <a:t>are:</a:t>
            </a:r>
            <a:endParaRPr lang="en-US" sz="1800">
              <a:latin typeface="Calibri" pitchFamily="34" charset="0"/>
              <a:ea typeface="Calibri" pitchFamily="34" charset="0"/>
              <a:cs typeface="Calibri" pitchFamily="34" charset="0"/>
            </a:endParaRPr>
          </a:p>
          <a:p>
            <a:pPr marL="812800" lvl="1" indent="-342900">
              <a:spcBef>
                <a:spcPts val="10"/>
              </a:spcBef>
              <a:buFont typeface="Arial"/>
              <a:buChar char="•"/>
              <a:tabLst>
                <a:tab pos="812800" algn="l"/>
              </a:tabLst>
            </a:pPr>
            <a:r>
              <a:rPr lang="en-US" sz="1800" spc="-60">
                <a:latin typeface="Calibri" pitchFamily="34" charset="0"/>
                <a:ea typeface="Calibri" pitchFamily="34" charset="0"/>
                <a:cs typeface="Calibri" pitchFamily="34" charset="0"/>
              </a:rPr>
              <a:t>Accepting</a:t>
            </a:r>
            <a:r>
              <a:rPr lang="en-US" sz="1800" spc="-110">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information</a:t>
            </a:r>
            <a:r>
              <a:rPr lang="en-US" sz="1800" spc="-75">
                <a:solidFill>
                  <a:srgbClr val="404040"/>
                </a:solidFill>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to</a:t>
            </a:r>
            <a:r>
              <a:rPr lang="en-US" sz="1800" spc="-75">
                <a:solidFill>
                  <a:srgbClr val="404040"/>
                </a:solidFill>
                <a:latin typeface="Calibri" pitchFamily="34" charset="0"/>
                <a:ea typeface="Calibri" pitchFamily="34" charset="0"/>
                <a:cs typeface="Calibri" pitchFamily="34" charset="0"/>
              </a:rPr>
              <a:t> </a:t>
            </a:r>
            <a:r>
              <a:rPr lang="en-US" sz="1800">
                <a:solidFill>
                  <a:srgbClr val="404040"/>
                </a:solidFill>
                <a:latin typeface="Calibri" pitchFamily="34" charset="0"/>
                <a:ea typeface="Calibri" pitchFamily="34" charset="0"/>
                <a:cs typeface="Calibri" pitchFamily="34" charset="0"/>
              </a:rPr>
              <a:t>be</a:t>
            </a:r>
            <a:r>
              <a:rPr lang="en-US" sz="1800" spc="-165">
                <a:solidFill>
                  <a:srgbClr val="404040"/>
                </a:solidFill>
                <a:latin typeface="Calibri" pitchFamily="34" charset="0"/>
                <a:ea typeface="Calibri" pitchFamily="34" charset="0"/>
                <a:cs typeface="Calibri" pitchFamily="34" charset="0"/>
              </a:rPr>
              <a:t> </a:t>
            </a:r>
            <a:r>
              <a:rPr lang="en-US" sz="1800" spc="-50">
                <a:solidFill>
                  <a:srgbClr val="404040"/>
                </a:solidFill>
                <a:latin typeface="Calibri" pitchFamily="34" charset="0"/>
                <a:ea typeface="Calibri" pitchFamily="34" charset="0"/>
                <a:cs typeface="Calibri" pitchFamily="34" charset="0"/>
              </a:rPr>
              <a:t>processed</a:t>
            </a:r>
            <a:r>
              <a:rPr lang="en-US" sz="1800" spc="-95">
                <a:solidFill>
                  <a:srgbClr val="404040"/>
                </a:solidFill>
                <a:latin typeface="Calibri" pitchFamily="34" charset="0"/>
                <a:ea typeface="Calibri" pitchFamily="34" charset="0"/>
                <a:cs typeface="Calibri" pitchFamily="34" charset="0"/>
              </a:rPr>
              <a:t> </a:t>
            </a:r>
            <a:r>
              <a:rPr lang="en-US" sz="1800" spc="-10">
                <a:solidFill>
                  <a:srgbClr val="404040"/>
                </a:solidFill>
                <a:latin typeface="Calibri" pitchFamily="34" charset="0"/>
                <a:ea typeface="Calibri" pitchFamily="34" charset="0"/>
                <a:cs typeface="Calibri" pitchFamily="34" charset="0"/>
              </a:rPr>
              <a:t>as</a:t>
            </a:r>
            <a:r>
              <a:rPr lang="en-US" sz="1800" spc="-114">
                <a:solidFill>
                  <a:srgbClr val="404040"/>
                </a:solidFill>
                <a:latin typeface="Calibri" pitchFamily="34" charset="0"/>
                <a:ea typeface="Calibri" pitchFamily="34" charset="0"/>
                <a:cs typeface="Calibri" pitchFamily="34" charset="0"/>
              </a:rPr>
              <a:t> </a:t>
            </a:r>
            <a:r>
              <a:rPr lang="en-US" sz="1800" spc="-10">
                <a:solidFill>
                  <a:srgbClr val="404040"/>
                </a:solidFill>
                <a:latin typeface="Calibri" pitchFamily="34" charset="0"/>
                <a:ea typeface="Calibri" pitchFamily="34" charset="0"/>
                <a:cs typeface="Calibri" pitchFamily="34" charset="0"/>
              </a:rPr>
              <a:t>input.</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45">
                <a:latin typeface="Calibri" pitchFamily="34" charset="0"/>
                <a:ea typeface="Calibri" pitchFamily="34" charset="0"/>
                <a:cs typeface="Calibri" pitchFamily="34" charset="0"/>
              </a:rPr>
              <a:t>Storing</a:t>
            </a:r>
            <a:r>
              <a:rPr lang="en-US" sz="1800" spc="-85">
                <a:latin typeface="Calibri" pitchFamily="34" charset="0"/>
                <a:ea typeface="Calibri" pitchFamily="34" charset="0"/>
                <a:cs typeface="Calibri" pitchFamily="34" charset="0"/>
              </a:rPr>
              <a:t> </a:t>
            </a:r>
            <a:r>
              <a:rPr lang="en-US" sz="1800">
                <a:solidFill>
                  <a:srgbClr val="404040"/>
                </a:solidFill>
                <a:latin typeface="Calibri" pitchFamily="34" charset="0"/>
                <a:ea typeface="Calibri" pitchFamily="34" charset="0"/>
                <a:cs typeface="Calibri" pitchFamily="34" charset="0"/>
              </a:rPr>
              <a:t>a</a:t>
            </a:r>
            <a:r>
              <a:rPr lang="en-US" sz="1800" spc="-65">
                <a:solidFill>
                  <a:srgbClr val="404040"/>
                </a:solidFill>
                <a:latin typeface="Calibri" pitchFamily="34" charset="0"/>
                <a:ea typeface="Calibri" pitchFamily="34" charset="0"/>
                <a:cs typeface="Calibri" pitchFamily="34" charset="0"/>
              </a:rPr>
              <a:t> </a:t>
            </a:r>
            <a:r>
              <a:rPr lang="en-US" sz="1800" spc="-170">
                <a:solidFill>
                  <a:srgbClr val="404040"/>
                </a:solidFill>
                <a:latin typeface="Calibri" pitchFamily="34" charset="0"/>
                <a:ea typeface="Calibri" pitchFamily="34" charset="0"/>
                <a:cs typeface="Calibri" pitchFamily="34" charset="0"/>
              </a:rPr>
              <a:t>list</a:t>
            </a:r>
            <a:r>
              <a:rPr lang="en-US" sz="1800" spc="-7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of</a:t>
            </a:r>
            <a:r>
              <a:rPr lang="en-US" sz="1800" spc="-6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instructions</a:t>
            </a:r>
            <a:r>
              <a:rPr lang="en-US" sz="1800" spc="-75">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to</a:t>
            </a:r>
            <a:r>
              <a:rPr lang="en-US" sz="1800" spc="-55">
                <a:solidFill>
                  <a:srgbClr val="404040"/>
                </a:solidFill>
                <a:latin typeface="Calibri" pitchFamily="34" charset="0"/>
                <a:ea typeface="Calibri" pitchFamily="34" charset="0"/>
                <a:cs typeface="Calibri" pitchFamily="34" charset="0"/>
              </a:rPr>
              <a:t> </a:t>
            </a:r>
            <a:r>
              <a:rPr lang="en-US" sz="1800" spc="-60">
                <a:solidFill>
                  <a:srgbClr val="404040"/>
                </a:solidFill>
                <a:latin typeface="Calibri" pitchFamily="34" charset="0"/>
                <a:ea typeface="Calibri" pitchFamily="34" charset="0"/>
                <a:cs typeface="Calibri" pitchFamily="34" charset="0"/>
              </a:rPr>
              <a:t>process</a:t>
            </a:r>
            <a:r>
              <a:rPr lang="en-US" sz="1800" spc="-50">
                <a:solidFill>
                  <a:srgbClr val="404040"/>
                </a:solidFill>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20">
                <a:solidFill>
                  <a:srgbClr val="404040"/>
                </a:solidFill>
                <a:latin typeface="Calibri" pitchFamily="34" charset="0"/>
                <a:ea typeface="Calibri" pitchFamily="34" charset="0"/>
                <a:cs typeface="Calibri" pitchFamily="34" charset="0"/>
              </a:rPr>
              <a:t>information.</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50">
                <a:latin typeface="Calibri" pitchFamily="34" charset="0"/>
                <a:ea typeface="Calibri" pitchFamily="34" charset="0"/>
                <a:cs typeface="Calibri" pitchFamily="34" charset="0"/>
              </a:rPr>
              <a:t>Processing</a:t>
            </a:r>
            <a:r>
              <a:rPr lang="en-US" sz="1800" spc="-110">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90">
                <a:solidFill>
                  <a:srgbClr val="404040"/>
                </a:solidFill>
                <a:latin typeface="Calibri" pitchFamily="34" charset="0"/>
                <a:ea typeface="Calibri" pitchFamily="34" charset="0"/>
                <a:cs typeface="Calibri" pitchFamily="34" charset="0"/>
              </a:rPr>
              <a:t>information</a:t>
            </a:r>
            <a:r>
              <a:rPr lang="en-US" sz="1800" spc="-35">
                <a:solidFill>
                  <a:srgbClr val="404040"/>
                </a:solidFill>
                <a:latin typeface="Calibri" pitchFamily="34" charset="0"/>
                <a:ea typeface="Calibri" pitchFamily="34" charset="0"/>
                <a:cs typeface="Calibri" pitchFamily="34" charset="0"/>
              </a:rPr>
              <a:t> </a:t>
            </a:r>
            <a:r>
              <a:rPr lang="en-US" sz="1800" spc="-55">
                <a:solidFill>
                  <a:srgbClr val="404040"/>
                </a:solidFill>
                <a:latin typeface="Calibri" pitchFamily="34" charset="0"/>
                <a:ea typeface="Calibri" pitchFamily="34" charset="0"/>
                <a:cs typeface="Calibri" pitchFamily="34" charset="0"/>
              </a:rPr>
              <a:t>according</a:t>
            </a:r>
            <a:r>
              <a:rPr lang="en-US" sz="1800" spc="-40">
                <a:solidFill>
                  <a:srgbClr val="404040"/>
                </a:solidFill>
                <a:latin typeface="Calibri" pitchFamily="34" charset="0"/>
                <a:ea typeface="Calibri" pitchFamily="34" charset="0"/>
                <a:cs typeface="Calibri" pitchFamily="34" charset="0"/>
              </a:rPr>
              <a:t> </a:t>
            </a:r>
            <a:r>
              <a:rPr lang="en-US" sz="1800" spc="-85">
                <a:solidFill>
                  <a:srgbClr val="404040"/>
                </a:solidFill>
                <a:latin typeface="Calibri" pitchFamily="34" charset="0"/>
                <a:ea typeface="Calibri" pitchFamily="34" charset="0"/>
                <a:cs typeface="Calibri" pitchFamily="34" charset="0"/>
              </a:rPr>
              <a:t>to</a:t>
            </a:r>
            <a:r>
              <a:rPr lang="en-US" sz="1800" spc="-65">
                <a:solidFill>
                  <a:srgbClr val="404040"/>
                </a:solidFill>
                <a:latin typeface="Calibri" pitchFamily="34" charset="0"/>
                <a:ea typeface="Calibri" pitchFamily="34" charset="0"/>
                <a:cs typeface="Calibri" pitchFamily="34" charset="0"/>
              </a:rPr>
              <a:t> </a:t>
            </a:r>
            <a:r>
              <a:rPr lang="en-US" sz="1800" spc="-125">
                <a:solidFill>
                  <a:srgbClr val="404040"/>
                </a:solidFill>
                <a:latin typeface="Calibri" pitchFamily="34" charset="0"/>
                <a:ea typeface="Calibri" pitchFamily="34" charset="0"/>
                <a:cs typeface="Calibri" pitchFamily="34" charset="0"/>
              </a:rPr>
              <a:t>the</a:t>
            </a:r>
            <a:r>
              <a:rPr lang="en-US" sz="1800" spc="-70">
                <a:solidFill>
                  <a:srgbClr val="404040"/>
                </a:solidFill>
                <a:latin typeface="Calibri" pitchFamily="34" charset="0"/>
                <a:ea typeface="Calibri" pitchFamily="34" charset="0"/>
                <a:cs typeface="Calibri" pitchFamily="34" charset="0"/>
              </a:rPr>
              <a:t> </a:t>
            </a:r>
            <a:r>
              <a:rPr lang="en-US" sz="1800" spc="-170">
                <a:solidFill>
                  <a:srgbClr val="404040"/>
                </a:solidFill>
                <a:latin typeface="Calibri" pitchFamily="34" charset="0"/>
                <a:ea typeface="Calibri" pitchFamily="34" charset="0"/>
                <a:cs typeface="Calibri" pitchFamily="34" charset="0"/>
              </a:rPr>
              <a:t>list</a:t>
            </a:r>
            <a:r>
              <a:rPr lang="en-US" sz="1800" spc="-80">
                <a:solidFill>
                  <a:srgbClr val="404040"/>
                </a:solidFill>
                <a:latin typeface="Calibri" pitchFamily="34" charset="0"/>
                <a:ea typeface="Calibri" pitchFamily="34" charset="0"/>
                <a:cs typeface="Calibri" pitchFamily="34" charset="0"/>
              </a:rPr>
              <a:t> </a:t>
            </a:r>
            <a:r>
              <a:rPr lang="en-US" sz="1800" spc="-105">
                <a:solidFill>
                  <a:srgbClr val="404040"/>
                </a:solidFill>
                <a:latin typeface="Calibri" pitchFamily="34" charset="0"/>
                <a:ea typeface="Calibri" pitchFamily="34" charset="0"/>
                <a:cs typeface="Calibri" pitchFamily="34" charset="0"/>
              </a:rPr>
              <a:t>of</a:t>
            </a:r>
            <a:r>
              <a:rPr lang="en-US" sz="1800" spc="-55">
                <a:solidFill>
                  <a:srgbClr val="404040"/>
                </a:solidFill>
                <a:latin typeface="Calibri" pitchFamily="34" charset="0"/>
                <a:ea typeface="Calibri" pitchFamily="34" charset="0"/>
                <a:cs typeface="Calibri" pitchFamily="34" charset="0"/>
              </a:rPr>
              <a:t> </a:t>
            </a:r>
            <a:r>
              <a:rPr lang="en-US" sz="1800" spc="-35">
                <a:solidFill>
                  <a:srgbClr val="404040"/>
                </a:solidFill>
                <a:latin typeface="Calibri" pitchFamily="34" charset="0"/>
                <a:ea typeface="Calibri" pitchFamily="34" charset="0"/>
                <a:cs typeface="Calibri" pitchFamily="34" charset="0"/>
              </a:rPr>
              <a:t>instructions.</a:t>
            </a:r>
            <a:endParaRPr lang="en-US" sz="1800">
              <a:latin typeface="Calibri" pitchFamily="34" charset="0"/>
              <a:ea typeface="Calibri" pitchFamily="34" charset="0"/>
              <a:cs typeface="Calibri" pitchFamily="34" charset="0"/>
            </a:endParaRPr>
          </a:p>
          <a:p>
            <a:pPr marL="812800" lvl="1" indent="-342900">
              <a:buFont typeface="Arial"/>
              <a:buChar char="•"/>
              <a:tabLst>
                <a:tab pos="812800" algn="l"/>
              </a:tabLst>
            </a:pPr>
            <a:r>
              <a:rPr lang="en-US" sz="1800" spc="-55">
                <a:latin typeface="Calibri" pitchFamily="34" charset="0"/>
                <a:ea typeface="Calibri" pitchFamily="34" charset="0"/>
                <a:cs typeface="Calibri" pitchFamily="34" charset="0"/>
              </a:rPr>
              <a:t>Providing</a:t>
            </a:r>
            <a:r>
              <a:rPr lang="en-US" sz="1800" spc="-114">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125">
                <a:solidFill>
                  <a:srgbClr val="404040"/>
                </a:solidFill>
                <a:latin typeface="Calibri" pitchFamily="34" charset="0"/>
                <a:ea typeface="Calibri" pitchFamily="34" charset="0"/>
                <a:cs typeface="Calibri" pitchFamily="34" charset="0"/>
              </a:rPr>
              <a:t>results</a:t>
            </a:r>
            <a:r>
              <a:rPr lang="en-US" sz="1800" spc="-55">
                <a:solidFill>
                  <a:srgbClr val="404040"/>
                </a:solidFill>
                <a:latin typeface="Calibri" pitchFamily="34" charset="0"/>
                <a:ea typeface="Calibri" pitchFamily="34" charset="0"/>
                <a:cs typeface="Calibri" pitchFamily="34" charset="0"/>
              </a:rPr>
              <a:t> </a:t>
            </a:r>
            <a:r>
              <a:rPr lang="en-US" sz="1800" spc="-110">
                <a:solidFill>
                  <a:srgbClr val="404040"/>
                </a:solidFill>
                <a:latin typeface="Calibri" pitchFamily="34" charset="0"/>
                <a:ea typeface="Calibri" pitchFamily="34" charset="0"/>
                <a:cs typeface="Calibri" pitchFamily="34" charset="0"/>
              </a:rPr>
              <a:t>of</a:t>
            </a:r>
            <a:r>
              <a:rPr lang="en-US" sz="1800" spc="-65">
                <a:solidFill>
                  <a:srgbClr val="404040"/>
                </a:solidFill>
                <a:latin typeface="Calibri" pitchFamily="34" charset="0"/>
                <a:ea typeface="Calibri" pitchFamily="34" charset="0"/>
                <a:cs typeface="Calibri" pitchFamily="34" charset="0"/>
              </a:rPr>
              <a:t> </a:t>
            </a:r>
            <a:r>
              <a:rPr lang="en-US" sz="1800" spc="-130">
                <a:solidFill>
                  <a:srgbClr val="404040"/>
                </a:solidFill>
                <a:latin typeface="Calibri" pitchFamily="34" charset="0"/>
                <a:ea typeface="Calibri" pitchFamily="34" charset="0"/>
                <a:cs typeface="Calibri" pitchFamily="34" charset="0"/>
              </a:rPr>
              <a:t>the</a:t>
            </a:r>
            <a:r>
              <a:rPr lang="en-US" sz="1800" spc="-65">
                <a:solidFill>
                  <a:srgbClr val="404040"/>
                </a:solidFill>
                <a:latin typeface="Calibri" pitchFamily="34" charset="0"/>
                <a:ea typeface="Calibri" pitchFamily="34" charset="0"/>
                <a:cs typeface="Calibri" pitchFamily="34" charset="0"/>
              </a:rPr>
              <a:t> </a:t>
            </a:r>
            <a:r>
              <a:rPr lang="en-US" sz="1800" spc="-50">
                <a:solidFill>
                  <a:srgbClr val="404040"/>
                </a:solidFill>
                <a:latin typeface="Calibri" pitchFamily="34" charset="0"/>
                <a:ea typeface="Calibri" pitchFamily="34" charset="0"/>
                <a:cs typeface="Calibri" pitchFamily="34" charset="0"/>
              </a:rPr>
              <a:t>processing </a:t>
            </a:r>
            <a:r>
              <a:rPr lang="en-US" sz="1800" spc="-10">
                <a:solidFill>
                  <a:srgbClr val="404040"/>
                </a:solidFill>
                <a:latin typeface="Calibri" pitchFamily="34" charset="0"/>
                <a:ea typeface="Calibri" pitchFamily="34" charset="0"/>
                <a:cs typeface="Calibri" pitchFamily="34" charset="0"/>
              </a:rPr>
              <a:t>as</a:t>
            </a:r>
            <a:r>
              <a:rPr lang="en-US" sz="1800" spc="-70">
                <a:solidFill>
                  <a:srgbClr val="404040"/>
                </a:solidFill>
                <a:latin typeface="Calibri" pitchFamily="34" charset="0"/>
                <a:ea typeface="Calibri" pitchFamily="34" charset="0"/>
                <a:cs typeface="Calibri" pitchFamily="34" charset="0"/>
              </a:rPr>
              <a:t> </a:t>
            </a:r>
            <a:r>
              <a:rPr lang="en-US" sz="1800" spc="-10">
                <a:solidFill>
                  <a:srgbClr val="404040"/>
                </a:solidFill>
                <a:latin typeface="Calibri" pitchFamily="34" charset="0"/>
                <a:ea typeface="Calibri" pitchFamily="34" charset="0"/>
                <a:cs typeface="Calibri" pitchFamily="34" charset="0"/>
              </a:rPr>
              <a:t>output.</a:t>
            </a:r>
            <a:endParaRPr lang="en-US" sz="1800">
              <a:latin typeface="Calibri" pitchFamily="34" charset="0"/>
              <a:ea typeface="Calibri" pitchFamily="34" charset="0"/>
              <a:cs typeface="Calibri" pitchFamily="34" charset="0"/>
            </a:endParaRPr>
          </a:p>
          <a:p>
            <a:endParaRPr lang="en-US"/>
          </a:p>
        </p:txBody>
      </p:sp>
    </p:spTree>
    <p:extLst>
      <p:ext uri="{BB962C8B-B14F-4D97-AF65-F5344CB8AC3E}">
        <p14:creationId xmlns:p14="http://schemas.microsoft.com/office/powerpoint/2010/main" val="1907504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4109" y="544945"/>
            <a:ext cx="8026400" cy="584775"/>
          </a:xfrm>
          <a:prstGeom prst="rect">
            <a:avLst/>
          </a:prstGeom>
          <a:noFill/>
        </p:spPr>
        <p:txBody>
          <a:bodyPr wrap="square" rtlCol="0">
            <a:spAutoFit/>
          </a:bodyPr>
          <a:lstStyle/>
          <a:p>
            <a:pPr algn="ctr"/>
            <a:r>
              <a:rPr lang="en-US" sz="3200">
                <a:latin typeface="Algerian" pitchFamily="82" charset="0"/>
              </a:rPr>
              <a:t>Introduction</a:t>
            </a:r>
          </a:p>
        </p:txBody>
      </p:sp>
      <p:sp>
        <p:nvSpPr>
          <p:cNvPr id="3" name="TextBox 2"/>
          <p:cNvSpPr txBox="1"/>
          <p:nvPr/>
        </p:nvSpPr>
        <p:spPr>
          <a:xfrm>
            <a:off x="314036" y="1191491"/>
            <a:ext cx="8248073" cy="2769989"/>
          </a:xfrm>
          <a:prstGeom prst="rect">
            <a:avLst/>
          </a:prstGeom>
          <a:noFill/>
        </p:spPr>
        <p:txBody>
          <a:bodyPr wrap="square" rtlCol="0">
            <a:spAutoFit/>
          </a:bodyPr>
          <a:lstStyle/>
          <a:p>
            <a:endParaRPr lang="en-US" sz="2000" i="1">
              <a:latin typeface="Calibri" pitchFamily="34" charset="0"/>
              <a:ea typeface="Calibri" pitchFamily="34" charset="0"/>
              <a:cs typeface="Calibri" pitchFamily="34" charset="0"/>
            </a:endParaRPr>
          </a:p>
          <a:p>
            <a:r>
              <a:rPr lang="en-US" sz="2000" i="1">
                <a:latin typeface="Calibri" pitchFamily="34" charset="0"/>
                <a:ea typeface="Calibri" pitchFamily="34" charset="0"/>
                <a:cs typeface="Calibri" pitchFamily="34" charset="0"/>
              </a:rPr>
              <a:t>Consider three terms – </a:t>
            </a:r>
            <a:r>
              <a:rPr lang="en-US" sz="2000">
                <a:solidFill>
                  <a:srgbClr val="C00000"/>
                </a:solidFill>
                <a:latin typeface="Calibri" pitchFamily="34" charset="0"/>
                <a:ea typeface="Calibri" pitchFamily="34" charset="0"/>
                <a:cs typeface="Calibri" pitchFamily="34" charset="0"/>
              </a:rPr>
              <a:t>Computer organization, computer architecture and computer design</a:t>
            </a:r>
          </a:p>
          <a:p>
            <a:endParaRPr lang="en-US" sz="2000" i="1">
              <a:latin typeface="Calibri" pitchFamily="34" charset="0"/>
              <a:ea typeface="Calibri" pitchFamily="34" charset="0"/>
              <a:cs typeface="Calibri" pitchFamily="34" charset="0"/>
            </a:endParaRPr>
          </a:p>
          <a:p>
            <a:r>
              <a:rPr lang="en-US" sz="2000" i="1">
                <a:latin typeface="Calibri" pitchFamily="34" charset="0"/>
                <a:ea typeface="Calibri" pitchFamily="34" charset="0"/>
                <a:cs typeface="Calibri" pitchFamily="34" charset="0"/>
              </a:rPr>
              <a:t>Computer Organization</a:t>
            </a:r>
            <a:r>
              <a:rPr lang="en-US" sz="2000">
                <a:latin typeface="Calibri" pitchFamily="34" charset="0"/>
                <a:ea typeface="Calibri" pitchFamily="34" charset="0"/>
                <a:cs typeface="Calibri" pitchFamily="34" charset="0"/>
              </a:rPr>
              <a:t> refers to the level of concept between digital logic level and OS. </a:t>
            </a:r>
          </a:p>
          <a:p>
            <a:r>
              <a:rPr lang="en-US" sz="2000">
                <a:latin typeface="Calibri" pitchFamily="34" charset="0"/>
                <a:ea typeface="Calibri" pitchFamily="34" charset="0"/>
                <a:cs typeface="Calibri" pitchFamily="34" charset="0"/>
              </a:rPr>
              <a:t>The major components are functional units or subsystems that correspond to specific pieces of hardware built from the lower level building blocks.</a:t>
            </a: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lvl="1">
              <a:buFont typeface="Wingdings" pitchFamily="2" charset="2"/>
              <a:buChar char="Ø"/>
            </a:pPr>
            <a:r>
              <a:rPr lang="en-US" sz="1800"/>
              <a:t>Computer organization is concerned with the way the hardware components </a:t>
            </a:r>
          </a:p>
          <a:p>
            <a:pPr lvl="1">
              <a:buFont typeface="Wingdings" pitchFamily="2" charset="2"/>
              <a:buChar char="Ø"/>
            </a:pPr>
            <a:r>
              <a:rPr lang="en-US" sz="1800"/>
              <a:t>Operation and connection together to form the computer system. </a:t>
            </a:r>
          </a:p>
          <a:p>
            <a:pPr lvl="1">
              <a:buFont typeface="Wingdings" pitchFamily="2" charset="2"/>
              <a:buChar char="Ø"/>
            </a:pPr>
            <a:r>
              <a:rPr lang="en-US" sz="1800"/>
              <a:t>It is concerned with all physical aspects of computer systems e.g. circuit design, control signals, memory types.</a:t>
            </a:r>
          </a:p>
          <a:p>
            <a:pPr lvl="1">
              <a:buFont typeface="Wingdings" pitchFamily="2" charset="2"/>
              <a:buChar char="Ø"/>
            </a:pPr>
            <a:r>
              <a:rPr lang="en-US" sz="1800"/>
              <a:t>The various components are assumed to be placed for proper functioning.</a:t>
            </a:r>
          </a:p>
          <a:p>
            <a:pPr lvl="1"/>
            <a:endParaRPr lang="en-US" sz="1500"/>
          </a:p>
          <a:p>
            <a:pPr lvl="1"/>
            <a:r>
              <a:rPr lang="en-US" sz="1500" b="1"/>
              <a:t>Scenario: Designing the interaction between the CPU and memory</a:t>
            </a:r>
            <a:r>
              <a:rPr lang="en-US" sz="1500"/>
              <a:t>.</a:t>
            </a:r>
          </a:p>
          <a:p>
            <a:pPr lvl="1"/>
            <a:r>
              <a:rPr lang="en-US" sz="1500"/>
              <a:t>Example:</a:t>
            </a:r>
          </a:p>
          <a:p>
            <a:pPr lvl="1">
              <a:buFont typeface="Wingdings" pitchFamily="2" charset="2"/>
              <a:buChar char="q"/>
            </a:pPr>
            <a:r>
              <a:rPr lang="en-US" sz="1500"/>
              <a:t>The CPU fetches instructions from memory.</a:t>
            </a:r>
          </a:p>
          <a:p>
            <a:pPr lvl="1">
              <a:buFont typeface="Wingdings" pitchFamily="2" charset="2"/>
              <a:buChar char="q"/>
            </a:pPr>
            <a:r>
              <a:rPr lang="en-US" sz="1500"/>
              <a:t>The memory controller ensures the data is transferred correctly.</a:t>
            </a:r>
          </a:p>
          <a:p>
            <a:pPr lvl="1">
              <a:buFont typeface="Wingdings" pitchFamily="2" charset="2"/>
              <a:buChar char="q"/>
            </a:pPr>
            <a:r>
              <a:rPr lang="en-US" sz="1500"/>
              <a:t>Components like buses, control signals, and registers are organized to ensure smooth operation.</a:t>
            </a:r>
          </a:p>
          <a:p>
            <a:pPr lvl="1"/>
            <a:r>
              <a:rPr lang="en-US" sz="1500" b="1"/>
              <a:t>Key Focus:</a:t>
            </a:r>
          </a:p>
          <a:p>
            <a:pPr lvl="1"/>
            <a:r>
              <a:rPr lang="en-US" sz="1500"/>
              <a:t>How the components (CPU, memory, I/O devices) are connected and how they operate together.</a:t>
            </a:r>
          </a:p>
          <a:p>
            <a:pPr lvl="1"/>
            <a:r>
              <a:rPr lang="en-US" sz="1500"/>
              <a:t>Example hardware: Data bus width, control unit operation, ALU (Arithmetic Logic Unit).</a:t>
            </a:r>
          </a:p>
          <a:p>
            <a:pPr lvl="1"/>
            <a:endParaRPr lang="en-US" sz="1500"/>
          </a:p>
          <a:p>
            <a:pPr>
              <a:buFont typeface="Wingdings" pitchFamily="2" charset="2"/>
              <a:buChar char="Ø"/>
            </a:pPr>
            <a:endParaRPr lang="en-US"/>
          </a:p>
        </p:txBody>
      </p:sp>
      <p:sp>
        <p:nvSpPr>
          <p:cNvPr id="2" name="Title 1"/>
          <p:cNvSpPr>
            <a:spLocks noGrp="1"/>
          </p:cNvSpPr>
          <p:nvPr>
            <p:ph type="title"/>
          </p:nvPr>
        </p:nvSpPr>
        <p:spPr>
          <a:xfrm>
            <a:off x="493318" y="310991"/>
            <a:ext cx="7603808" cy="461665"/>
          </a:xfrm>
        </p:spPr>
        <p:txBody>
          <a:bodyPr/>
          <a:lstStyle/>
          <a:p>
            <a:r>
              <a:rPr lang="en-US"/>
              <a:t>Introduction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1"/>
            <a:endParaRPr lang="en-US" sz="1500"/>
          </a:p>
          <a:p>
            <a:pPr>
              <a:buFont typeface="Wingdings" pitchFamily="2" charset="2"/>
              <a:buChar char="Ø"/>
            </a:pPr>
            <a:endParaRPr lang="en-US"/>
          </a:p>
        </p:txBody>
      </p:sp>
      <p:sp>
        <p:nvSpPr>
          <p:cNvPr id="2" name="Title 1"/>
          <p:cNvSpPr>
            <a:spLocks noGrp="1"/>
          </p:cNvSpPr>
          <p:nvPr>
            <p:ph type="title"/>
          </p:nvPr>
        </p:nvSpPr>
        <p:spPr>
          <a:xfrm>
            <a:off x="493318" y="310991"/>
            <a:ext cx="7603808" cy="461665"/>
          </a:xfrm>
        </p:spPr>
        <p:txBody>
          <a:bodyPr/>
          <a:lstStyle/>
          <a:p>
            <a:r>
              <a:rPr lang="en-US"/>
              <a:t>Introduction</a:t>
            </a:r>
          </a:p>
        </p:txBody>
      </p:sp>
      <p:pic>
        <p:nvPicPr>
          <p:cNvPr id="6" name="Picture 5"/>
          <p:cNvPicPr>
            <a:picLocks noChangeAspect="1"/>
          </p:cNvPicPr>
          <p:nvPr/>
        </p:nvPicPr>
        <p:blipFill>
          <a:blip r:embed="rId2"/>
          <a:stretch>
            <a:fillRect/>
          </a:stretch>
        </p:blipFill>
        <p:spPr>
          <a:xfrm>
            <a:off x="781878" y="980662"/>
            <a:ext cx="7513983" cy="3955774"/>
          </a:xfrm>
          <a:prstGeom prst="rect">
            <a:avLst/>
          </a:prstGeom>
        </p:spPr>
      </p:pic>
    </p:spTree>
    <p:extLst>
      <p:ext uri="{BB962C8B-B14F-4D97-AF65-F5344CB8AC3E}">
        <p14:creationId xmlns:p14="http://schemas.microsoft.com/office/powerpoint/2010/main" val="3945614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368" y="898315"/>
            <a:ext cx="8117282" cy="4016585"/>
          </a:xfrm>
        </p:spPr>
        <p:txBody>
          <a:bodyPr>
            <a:normAutofit fontScale="85000" lnSpcReduction="10000"/>
          </a:bodyPr>
          <a:lstStyle/>
          <a:p>
            <a:pPr lvl="1">
              <a:buFont typeface="Wingdings" pitchFamily="2" charset="2"/>
              <a:buChar char="Ø"/>
            </a:pPr>
            <a:r>
              <a:rPr lang="en-US" sz="1800"/>
              <a:t>Computer design is concerned with the hardware design of the computer. </a:t>
            </a:r>
          </a:p>
          <a:p>
            <a:pPr lvl="1">
              <a:buFont typeface="Wingdings" pitchFamily="2" charset="2"/>
              <a:buChar char="Ø"/>
            </a:pPr>
            <a:r>
              <a:rPr lang="en-US" sz="1800"/>
              <a:t>Once the </a:t>
            </a:r>
            <a:r>
              <a:rPr lang="en-US" sz="1800" b="1"/>
              <a:t>computer specifications are formulated</a:t>
            </a:r>
            <a:r>
              <a:rPr lang="en-US" sz="1800"/>
              <a:t>, designer develops the hardware. </a:t>
            </a:r>
          </a:p>
          <a:p>
            <a:pPr lvl="1">
              <a:buFont typeface="Wingdings" pitchFamily="2" charset="2"/>
              <a:buChar char="Ø"/>
            </a:pPr>
            <a:r>
              <a:rPr lang="en-US" sz="1800"/>
              <a:t>Determine what hardware should be used and how the parts should be connected. </a:t>
            </a:r>
          </a:p>
          <a:p>
            <a:pPr lvl="1">
              <a:buFont typeface="Wingdings" pitchFamily="2" charset="2"/>
              <a:buChar char="Ø"/>
            </a:pPr>
            <a:r>
              <a:rPr lang="en-US" sz="1800"/>
              <a:t>Sometimes referred to as computer implementation. </a:t>
            </a:r>
          </a:p>
          <a:p>
            <a:pPr lvl="1">
              <a:buFont typeface="Wingdings" pitchFamily="2" charset="2"/>
              <a:buChar char="Ø"/>
            </a:pPr>
            <a:endParaRPr lang="en-US" sz="1800"/>
          </a:p>
          <a:p>
            <a:r>
              <a:rPr lang="en-US" sz="1700" b="1">
                <a:solidFill>
                  <a:schemeClr val="tx1"/>
                </a:solidFill>
                <a:latin typeface="+mj-lt"/>
              </a:rPr>
              <a:t>Scenario: Building a specific CPU for a </a:t>
            </a:r>
            <a:r>
              <a:rPr lang="en-US" sz="1700" b="1" err="1">
                <a:solidFill>
                  <a:schemeClr val="tx1"/>
                </a:solidFill>
                <a:latin typeface="+mj-lt"/>
              </a:rPr>
              <a:t>smartphone</a:t>
            </a:r>
            <a:r>
              <a:rPr lang="en-US" sz="1700" b="1">
                <a:solidFill>
                  <a:schemeClr val="tx1"/>
                </a:solidFill>
                <a:latin typeface="+mj-lt"/>
              </a:rPr>
              <a:t>.</a:t>
            </a:r>
          </a:p>
          <a:p>
            <a:r>
              <a:rPr lang="en-US" sz="1700" b="1">
                <a:solidFill>
                  <a:schemeClr val="tx1"/>
                </a:solidFill>
                <a:latin typeface="+mj-lt"/>
              </a:rPr>
              <a:t>Example:</a:t>
            </a:r>
          </a:p>
          <a:p>
            <a:pPr lvl="1"/>
            <a:r>
              <a:rPr lang="en-US" sz="1700"/>
              <a:t>Deciding to use an ARM processor because it is energy-efficient.</a:t>
            </a:r>
          </a:p>
          <a:p>
            <a:pPr lvl="1"/>
            <a:r>
              <a:rPr lang="en-US" sz="1700"/>
              <a:t>Designing the hardware to include specific features like </a:t>
            </a:r>
            <a:r>
              <a:rPr lang="en-US" sz="1700" b="1"/>
              <a:t>low-power cores, integrated GPUs, and hardware for neural processing</a:t>
            </a:r>
            <a:r>
              <a:rPr lang="en-US" sz="1700"/>
              <a:t>.</a:t>
            </a:r>
          </a:p>
          <a:p>
            <a:pPr lvl="1"/>
            <a:r>
              <a:rPr lang="en-US" sz="1700"/>
              <a:t>Creating the circuits, determining which transistors and materials to use, and deciding how components will be connected.</a:t>
            </a:r>
          </a:p>
          <a:p>
            <a:r>
              <a:rPr lang="en-US" sz="1700" b="1">
                <a:solidFill>
                  <a:schemeClr val="tx1"/>
                </a:solidFill>
                <a:latin typeface="+mj-lt"/>
              </a:rPr>
              <a:t>Key Focus</a:t>
            </a:r>
            <a:r>
              <a:rPr lang="en-US" sz="1700" b="1">
                <a:latin typeface="+mj-lt"/>
              </a:rPr>
              <a:t>:</a:t>
            </a:r>
          </a:p>
          <a:p>
            <a:pPr lvl="1"/>
            <a:r>
              <a:rPr lang="en-US" sz="1700"/>
              <a:t>Implementation of hardware components to meet specific design goals.</a:t>
            </a:r>
          </a:p>
          <a:p>
            <a:pPr lvl="1"/>
            <a:r>
              <a:rPr lang="en-US" sz="1700"/>
              <a:t>Example design: A processor with low power consumption for mobile devices.</a:t>
            </a:r>
          </a:p>
        </p:txBody>
      </p:sp>
      <p:sp>
        <p:nvSpPr>
          <p:cNvPr id="2" name="Title 1"/>
          <p:cNvSpPr>
            <a:spLocks noGrp="1"/>
          </p:cNvSpPr>
          <p:nvPr>
            <p:ph type="title"/>
          </p:nvPr>
        </p:nvSpPr>
        <p:spPr>
          <a:xfrm>
            <a:off x="493318" y="310991"/>
            <a:ext cx="7603808" cy="461665"/>
          </a:xfrm>
        </p:spPr>
        <p:txBody>
          <a:bodyPr/>
          <a:lstStyle/>
          <a:p>
            <a:r>
              <a:rPr lang="en-US"/>
              <a:t>Introduction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746695" y="2354771"/>
            <a:ext cx="1917859" cy="1432084"/>
            <a:chOff x="2328926" y="3139694"/>
            <a:chExt cx="2557145" cy="1909445"/>
          </a:xfrm>
        </p:grpSpPr>
        <p:sp>
          <p:nvSpPr>
            <p:cNvPr id="5" name="object 5"/>
            <p:cNvSpPr/>
            <p:nvPr/>
          </p:nvSpPr>
          <p:spPr>
            <a:xfrm>
              <a:off x="2343912" y="3151632"/>
              <a:ext cx="2528570" cy="1884045"/>
            </a:xfrm>
            <a:custGeom>
              <a:avLst/>
              <a:gdLst/>
              <a:ahLst/>
              <a:cxnLst/>
              <a:rect l="l" t="t" r="r" b="b"/>
              <a:pathLst>
                <a:path w="2528570" h="1884045">
                  <a:moveTo>
                    <a:pt x="1240282" y="0"/>
                  </a:moveTo>
                  <a:lnTo>
                    <a:pt x="0" y="266953"/>
                  </a:lnTo>
                  <a:lnTo>
                    <a:pt x="0" y="1353184"/>
                  </a:lnTo>
                  <a:lnTo>
                    <a:pt x="1264158" y="1883663"/>
                  </a:lnTo>
                  <a:lnTo>
                    <a:pt x="2528316" y="1353184"/>
                  </a:lnTo>
                  <a:lnTo>
                    <a:pt x="2528316" y="263525"/>
                  </a:lnTo>
                  <a:lnTo>
                    <a:pt x="1240282" y="0"/>
                  </a:lnTo>
                  <a:close/>
                </a:path>
              </a:pathLst>
            </a:custGeom>
            <a:solidFill>
              <a:srgbClr val="F5F5F5"/>
            </a:solidFill>
          </p:spPr>
          <p:txBody>
            <a:bodyPr wrap="square" lIns="0" tIns="0" rIns="0" bIns="0" rtlCol="0"/>
            <a:lstStyle/>
            <a:p>
              <a:endParaRPr/>
            </a:p>
          </p:txBody>
        </p:sp>
        <p:sp>
          <p:nvSpPr>
            <p:cNvPr id="6" name="object 6"/>
            <p:cNvSpPr/>
            <p:nvPr/>
          </p:nvSpPr>
          <p:spPr>
            <a:xfrm>
              <a:off x="2341626" y="3152394"/>
              <a:ext cx="2531745" cy="1884045"/>
            </a:xfrm>
            <a:custGeom>
              <a:avLst/>
              <a:gdLst/>
              <a:ahLst/>
              <a:cxnLst/>
              <a:rect l="l" t="t" r="r" b="b"/>
              <a:pathLst>
                <a:path w="2531745" h="1884045">
                  <a:moveTo>
                    <a:pt x="1267968" y="633983"/>
                  </a:moveTo>
                  <a:lnTo>
                    <a:pt x="1267968" y="1883663"/>
                  </a:lnTo>
                </a:path>
                <a:path w="2531745" h="1884045">
                  <a:moveTo>
                    <a:pt x="0" y="276351"/>
                  </a:moveTo>
                  <a:lnTo>
                    <a:pt x="1267840" y="632713"/>
                  </a:lnTo>
                  <a:lnTo>
                    <a:pt x="2531364" y="272795"/>
                  </a:lnTo>
                  <a:lnTo>
                    <a:pt x="2531364" y="1352676"/>
                  </a:lnTo>
                  <a:lnTo>
                    <a:pt x="1267840" y="1883663"/>
                  </a:lnTo>
                  <a:lnTo>
                    <a:pt x="0" y="1352676"/>
                  </a:lnTo>
                  <a:lnTo>
                    <a:pt x="0" y="276351"/>
                  </a:lnTo>
                  <a:close/>
                </a:path>
                <a:path w="2531745" h="1884045">
                  <a:moveTo>
                    <a:pt x="0" y="268223"/>
                  </a:moveTo>
                  <a:lnTo>
                    <a:pt x="1242568" y="0"/>
                  </a:lnTo>
                  <a:lnTo>
                    <a:pt x="2531364" y="264667"/>
                  </a:lnTo>
                </a:path>
              </a:pathLst>
            </a:custGeom>
            <a:ln w="25400">
              <a:solidFill>
                <a:srgbClr val="A6A6A6"/>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816096" y="3963911"/>
              <a:ext cx="834402" cy="453402"/>
            </a:xfrm>
            <a:prstGeom prst="rect">
              <a:avLst/>
            </a:prstGeom>
          </p:spPr>
        </p:pic>
        <p:pic>
          <p:nvPicPr>
            <p:cNvPr id="8" name="object 8"/>
            <p:cNvPicPr/>
            <p:nvPr/>
          </p:nvPicPr>
          <p:blipFill>
            <a:blip r:embed="rId4" cstate="print"/>
            <a:stretch>
              <a:fillRect/>
            </a:stretch>
          </p:blipFill>
          <p:spPr>
            <a:xfrm>
              <a:off x="2560320" y="4015714"/>
              <a:ext cx="756666" cy="390931"/>
            </a:xfrm>
            <a:prstGeom prst="rect">
              <a:avLst/>
            </a:prstGeom>
          </p:spPr>
        </p:pic>
      </p:grpSp>
      <p:sp>
        <p:nvSpPr>
          <p:cNvPr id="9" name="object 9"/>
          <p:cNvSpPr txBox="1"/>
          <p:nvPr/>
        </p:nvSpPr>
        <p:spPr>
          <a:xfrm>
            <a:off x="479451" y="4165625"/>
            <a:ext cx="7765256" cy="563616"/>
          </a:xfrm>
          <a:prstGeom prst="rect">
            <a:avLst/>
          </a:prstGeom>
        </p:spPr>
        <p:txBody>
          <a:bodyPr vert="horz" wrap="square" lIns="0" tIns="9525" rIns="0" bIns="0" rtlCol="0">
            <a:spAutoFit/>
          </a:bodyPr>
          <a:lstStyle/>
          <a:p>
            <a:pPr marL="9525" marR="3810">
              <a:spcBef>
                <a:spcPts val="75"/>
              </a:spcBef>
            </a:pPr>
            <a:r>
              <a:rPr sz="1800" spc="-38">
                <a:solidFill>
                  <a:srgbClr val="585858"/>
                </a:solidFill>
                <a:latin typeface="Trebuchet MS"/>
                <a:cs typeface="Trebuchet MS"/>
              </a:rPr>
              <a:t>In</a:t>
            </a:r>
            <a:r>
              <a:rPr sz="1800" spc="-83">
                <a:solidFill>
                  <a:srgbClr val="585858"/>
                </a:solidFill>
                <a:latin typeface="Trebuchet MS"/>
                <a:cs typeface="Trebuchet MS"/>
              </a:rPr>
              <a:t> </a:t>
            </a:r>
            <a:r>
              <a:rPr sz="1800" spc="-71">
                <a:solidFill>
                  <a:srgbClr val="585858"/>
                </a:solidFill>
                <a:latin typeface="Trebuchet MS"/>
                <a:cs typeface="Trebuchet MS"/>
              </a:rPr>
              <a:t>other</a:t>
            </a:r>
            <a:r>
              <a:rPr sz="1800" spc="-53">
                <a:solidFill>
                  <a:srgbClr val="585858"/>
                </a:solidFill>
                <a:latin typeface="Trebuchet MS"/>
                <a:cs typeface="Trebuchet MS"/>
              </a:rPr>
              <a:t> </a:t>
            </a:r>
            <a:r>
              <a:rPr sz="1800" spc="-94">
                <a:solidFill>
                  <a:srgbClr val="585858"/>
                </a:solidFill>
                <a:latin typeface="Trebuchet MS"/>
                <a:cs typeface="Trebuchet MS"/>
              </a:rPr>
              <a:t>words,</a:t>
            </a:r>
            <a:r>
              <a:rPr sz="1800" spc="-30">
                <a:solidFill>
                  <a:srgbClr val="585858"/>
                </a:solidFill>
                <a:latin typeface="Trebuchet MS"/>
                <a:cs typeface="Trebuchet MS"/>
              </a:rPr>
              <a:t> </a:t>
            </a:r>
            <a:r>
              <a:rPr sz="1800">
                <a:solidFill>
                  <a:srgbClr val="585858"/>
                </a:solidFill>
                <a:latin typeface="Trebuchet MS"/>
                <a:cs typeface="Trebuchet MS"/>
              </a:rPr>
              <a:t>a</a:t>
            </a:r>
            <a:r>
              <a:rPr sz="1800" spc="-60">
                <a:solidFill>
                  <a:srgbClr val="585858"/>
                </a:solidFill>
                <a:latin typeface="Trebuchet MS"/>
                <a:cs typeface="Trebuchet MS"/>
              </a:rPr>
              <a:t> </a:t>
            </a:r>
            <a:r>
              <a:rPr sz="1800" spc="-71">
                <a:solidFill>
                  <a:srgbClr val="585858"/>
                </a:solidFill>
                <a:latin typeface="Trebuchet MS"/>
                <a:cs typeface="Trebuchet MS"/>
              </a:rPr>
              <a:t>system</a:t>
            </a:r>
            <a:r>
              <a:rPr sz="1800" spc="-56">
                <a:solidFill>
                  <a:srgbClr val="585858"/>
                </a:solidFill>
                <a:latin typeface="Trebuchet MS"/>
                <a:cs typeface="Trebuchet MS"/>
              </a:rPr>
              <a:t> </a:t>
            </a:r>
            <a:r>
              <a:rPr sz="1800" spc="-64">
                <a:solidFill>
                  <a:srgbClr val="585858"/>
                </a:solidFill>
                <a:latin typeface="Trebuchet MS"/>
                <a:cs typeface="Trebuchet MS"/>
              </a:rPr>
              <a:t>concept</a:t>
            </a:r>
            <a:r>
              <a:rPr sz="1800" spc="-56">
                <a:solidFill>
                  <a:srgbClr val="585858"/>
                </a:solidFill>
                <a:latin typeface="Trebuchet MS"/>
                <a:cs typeface="Trebuchet MS"/>
              </a:rPr>
              <a:t> </a:t>
            </a:r>
            <a:r>
              <a:rPr sz="1800" spc="-71">
                <a:solidFill>
                  <a:srgbClr val="585858"/>
                </a:solidFill>
                <a:latin typeface="Trebuchet MS"/>
                <a:cs typeface="Trebuchet MS"/>
              </a:rPr>
              <a:t>integrating</a:t>
            </a:r>
            <a:r>
              <a:rPr sz="1800" spc="-49">
                <a:solidFill>
                  <a:srgbClr val="585858"/>
                </a:solidFill>
                <a:latin typeface="Trebuchet MS"/>
                <a:cs typeface="Trebuchet MS"/>
              </a:rPr>
              <a:t> </a:t>
            </a:r>
            <a:r>
              <a:rPr sz="1800" spc="-124">
                <a:solidFill>
                  <a:srgbClr val="585858"/>
                </a:solidFill>
                <a:latin typeface="Trebuchet MS"/>
                <a:cs typeface="Trebuchet MS"/>
              </a:rPr>
              <a:t>software,</a:t>
            </a:r>
            <a:r>
              <a:rPr sz="1800" spc="-38">
                <a:solidFill>
                  <a:srgbClr val="585858"/>
                </a:solidFill>
                <a:latin typeface="Trebuchet MS"/>
                <a:cs typeface="Trebuchet MS"/>
              </a:rPr>
              <a:t> </a:t>
            </a:r>
            <a:r>
              <a:rPr sz="1800" spc="-113">
                <a:solidFill>
                  <a:srgbClr val="585858"/>
                </a:solidFill>
                <a:latin typeface="Trebuchet MS"/>
                <a:cs typeface="Trebuchet MS"/>
              </a:rPr>
              <a:t>hardware,</a:t>
            </a:r>
            <a:r>
              <a:rPr sz="1800" spc="-38">
                <a:solidFill>
                  <a:srgbClr val="585858"/>
                </a:solidFill>
                <a:latin typeface="Trebuchet MS"/>
                <a:cs typeface="Trebuchet MS"/>
              </a:rPr>
              <a:t> </a:t>
            </a:r>
            <a:r>
              <a:rPr sz="1800" spc="-8">
                <a:solidFill>
                  <a:srgbClr val="585858"/>
                </a:solidFill>
                <a:latin typeface="Trebuchet MS"/>
                <a:cs typeface="Trebuchet MS"/>
              </a:rPr>
              <a:t>and</a:t>
            </a:r>
            <a:r>
              <a:rPr sz="1800" spc="-49">
                <a:solidFill>
                  <a:srgbClr val="585858"/>
                </a:solidFill>
                <a:latin typeface="Trebuchet MS"/>
                <a:cs typeface="Trebuchet MS"/>
              </a:rPr>
              <a:t> </a:t>
            </a:r>
            <a:r>
              <a:rPr sz="1800" spc="-120">
                <a:solidFill>
                  <a:srgbClr val="585858"/>
                </a:solidFill>
                <a:latin typeface="Trebuchet MS"/>
                <a:cs typeface="Trebuchet MS"/>
              </a:rPr>
              <a:t>firmware</a:t>
            </a:r>
            <a:r>
              <a:rPr sz="1800" spc="-41">
                <a:solidFill>
                  <a:srgbClr val="585858"/>
                </a:solidFill>
                <a:latin typeface="Trebuchet MS"/>
                <a:cs typeface="Trebuchet MS"/>
              </a:rPr>
              <a:t> </a:t>
            </a:r>
            <a:r>
              <a:rPr sz="1800" spc="-19">
                <a:solidFill>
                  <a:srgbClr val="585858"/>
                </a:solidFill>
                <a:latin typeface="Trebuchet MS"/>
                <a:cs typeface="Trebuchet MS"/>
              </a:rPr>
              <a:t>to </a:t>
            </a:r>
            <a:r>
              <a:rPr sz="1800" spc="-83">
                <a:solidFill>
                  <a:srgbClr val="585858"/>
                </a:solidFill>
                <a:latin typeface="Trebuchet MS"/>
                <a:cs typeface="Trebuchet MS"/>
              </a:rPr>
              <a:t>specify</a:t>
            </a:r>
            <a:r>
              <a:rPr sz="1800" spc="-56">
                <a:solidFill>
                  <a:srgbClr val="585858"/>
                </a:solidFill>
                <a:latin typeface="Trebuchet MS"/>
                <a:cs typeface="Trebuchet MS"/>
              </a:rPr>
              <a:t> </a:t>
            </a:r>
            <a:r>
              <a:rPr sz="1800" spc="-105">
                <a:solidFill>
                  <a:srgbClr val="585858"/>
                </a:solidFill>
                <a:latin typeface="Trebuchet MS"/>
                <a:cs typeface="Trebuchet MS"/>
              </a:rPr>
              <a:t>the</a:t>
            </a:r>
            <a:r>
              <a:rPr sz="1800" spc="-45">
                <a:solidFill>
                  <a:srgbClr val="585858"/>
                </a:solidFill>
                <a:latin typeface="Trebuchet MS"/>
                <a:cs typeface="Trebuchet MS"/>
              </a:rPr>
              <a:t> </a:t>
            </a:r>
            <a:r>
              <a:rPr sz="1800" spc="-26">
                <a:solidFill>
                  <a:srgbClr val="585858"/>
                </a:solidFill>
                <a:latin typeface="Trebuchet MS"/>
                <a:cs typeface="Trebuchet MS"/>
              </a:rPr>
              <a:t>design</a:t>
            </a:r>
            <a:r>
              <a:rPr sz="1800" spc="-86">
                <a:solidFill>
                  <a:srgbClr val="585858"/>
                </a:solidFill>
                <a:latin typeface="Trebuchet MS"/>
                <a:cs typeface="Trebuchet MS"/>
              </a:rPr>
              <a:t> </a:t>
            </a:r>
            <a:r>
              <a:rPr sz="1800" spc="-98">
                <a:solidFill>
                  <a:srgbClr val="585858"/>
                </a:solidFill>
                <a:latin typeface="Trebuchet MS"/>
                <a:cs typeface="Trebuchet MS"/>
              </a:rPr>
              <a:t>of</a:t>
            </a:r>
            <a:r>
              <a:rPr sz="1800" spc="-53">
                <a:solidFill>
                  <a:srgbClr val="585858"/>
                </a:solidFill>
                <a:latin typeface="Trebuchet MS"/>
                <a:cs typeface="Trebuchet MS"/>
              </a:rPr>
              <a:t> </a:t>
            </a:r>
            <a:r>
              <a:rPr sz="1800" spc="-38">
                <a:solidFill>
                  <a:srgbClr val="585858"/>
                </a:solidFill>
                <a:latin typeface="Trebuchet MS"/>
                <a:cs typeface="Trebuchet MS"/>
              </a:rPr>
              <a:t>computing </a:t>
            </a:r>
            <a:r>
              <a:rPr sz="1800" spc="-8">
                <a:solidFill>
                  <a:srgbClr val="585858"/>
                </a:solidFill>
                <a:latin typeface="Trebuchet MS"/>
                <a:cs typeface="Trebuchet MS"/>
              </a:rPr>
              <a:t>systems.</a:t>
            </a:r>
            <a:endParaRPr sz="1800">
              <a:latin typeface="Trebuchet MS"/>
              <a:cs typeface="Trebuchet MS"/>
            </a:endParaRPr>
          </a:p>
        </p:txBody>
      </p:sp>
      <p:grpSp>
        <p:nvGrpSpPr>
          <p:cNvPr id="10" name="object 10"/>
          <p:cNvGrpSpPr/>
          <p:nvPr/>
        </p:nvGrpSpPr>
        <p:grpSpPr>
          <a:xfrm>
            <a:off x="6859251" y="2773524"/>
            <a:ext cx="621983" cy="475298"/>
            <a:chOff x="9145668" y="3698032"/>
            <a:chExt cx="829310" cy="633730"/>
          </a:xfrm>
        </p:grpSpPr>
        <p:sp>
          <p:nvSpPr>
            <p:cNvPr id="11" name="object 11"/>
            <p:cNvSpPr/>
            <p:nvPr/>
          </p:nvSpPr>
          <p:spPr>
            <a:xfrm>
              <a:off x="9145668" y="3954326"/>
              <a:ext cx="829310" cy="377190"/>
            </a:xfrm>
            <a:custGeom>
              <a:avLst/>
              <a:gdLst/>
              <a:ahLst/>
              <a:cxnLst/>
              <a:rect l="l" t="t" r="r" b="b"/>
              <a:pathLst>
                <a:path w="829309" h="377189">
                  <a:moveTo>
                    <a:pt x="828731" y="0"/>
                  </a:moveTo>
                  <a:lnTo>
                    <a:pt x="0" y="0"/>
                  </a:lnTo>
                  <a:lnTo>
                    <a:pt x="0" y="376903"/>
                  </a:lnTo>
                  <a:lnTo>
                    <a:pt x="828731" y="376903"/>
                  </a:lnTo>
                  <a:lnTo>
                    <a:pt x="828731" y="320367"/>
                  </a:lnTo>
                  <a:lnTo>
                    <a:pt x="94174" y="320367"/>
                  </a:lnTo>
                  <a:lnTo>
                    <a:pt x="56504" y="282677"/>
                  </a:lnTo>
                  <a:lnTo>
                    <a:pt x="56504" y="94225"/>
                  </a:lnTo>
                  <a:lnTo>
                    <a:pt x="94174" y="56535"/>
                  </a:lnTo>
                  <a:lnTo>
                    <a:pt x="828731" y="56535"/>
                  </a:lnTo>
                  <a:lnTo>
                    <a:pt x="828731" y="0"/>
                  </a:lnTo>
                  <a:close/>
                </a:path>
                <a:path w="829309" h="377189">
                  <a:moveTo>
                    <a:pt x="828731" y="56535"/>
                  </a:moveTo>
                  <a:lnTo>
                    <a:pt x="743975" y="56535"/>
                  </a:lnTo>
                  <a:lnTo>
                    <a:pt x="772227" y="84803"/>
                  </a:lnTo>
                  <a:lnTo>
                    <a:pt x="772227" y="292100"/>
                  </a:lnTo>
                  <a:lnTo>
                    <a:pt x="743975" y="320367"/>
                  </a:lnTo>
                  <a:lnTo>
                    <a:pt x="828731" y="320367"/>
                  </a:lnTo>
                  <a:lnTo>
                    <a:pt x="828731" y="56535"/>
                  </a:lnTo>
                  <a:close/>
                </a:path>
              </a:pathLst>
            </a:custGeom>
            <a:solidFill>
              <a:srgbClr val="767070"/>
            </a:solidFill>
          </p:spPr>
          <p:txBody>
            <a:bodyPr wrap="square" lIns="0" tIns="0" rIns="0" bIns="0" rtlCol="0"/>
            <a:lstStyle/>
            <a:p>
              <a:endParaRPr/>
            </a:p>
          </p:txBody>
        </p:sp>
        <p:pic>
          <p:nvPicPr>
            <p:cNvPr id="12" name="object 12"/>
            <p:cNvPicPr/>
            <p:nvPr/>
          </p:nvPicPr>
          <p:blipFill>
            <a:blip r:embed="rId5" cstate="print"/>
            <a:stretch>
              <a:fillRect/>
            </a:stretch>
          </p:blipFill>
          <p:spPr>
            <a:xfrm>
              <a:off x="9484694" y="4048552"/>
              <a:ext cx="150678" cy="188451"/>
            </a:xfrm>
            <a:prstGeom prst="rect">
              <a:avLst/>
            </a:prstGeom>
          </p:spPr>
        </p:pic>
        <p:sp>
          <p:nvSpPr>
            <p:cNvPr id="13" name="object 13"/>
            <p:cNvSpPr/>
            <p:nvPr/>
          </p:nvSpPr>
          <p:spPr>
            <a:xfrm>
              <a:off x="9253017" y="3698036"/>
              <a:ext cx="639445" cy="473075"/>
            </a:xfrm>
            <a:custGeom>
              <a:avLst/>
              <a:gdLst/>
              <a:ahLst/>
              <a:cxnLst/>
              <a:rect l="l" t="t" r="r" b="b"/>
              <a:pathLst>
                <a:path w="639445" h="473075">
                  <a:moveTo>
                    <a:pt x="99822" y="444741"/>
                  </a:moveTo>
                  <a:lnTo>
                    <a:pt x="97612" y="433743"/>
                  </a:lnTo>
                  <a:lnTo>
                    <a:pt x="91554" y="424764"/>
                  </a:lnTo>
                  <a:lnTo>
                    <a:pt x="82575" y="418706"/>
                  </a:lnTo>
                  <a:lnTo>
                    <a:pt x="71577" y="416483"/>
                  </a:lnTo>
                  <a:lnTo>
                    <a:pt x="60579" y="418706"/>
                  </a:lnTo>
                  <a:lnTo>
                    <a:pt x="51600" y="424764"/>
                  </a:lnTo>
                  <a:lnTo>
                    <a:pt x="45542" y="433743"/>
                  </a:lnTo>
                  <a:lnTo>
                    <a:pt x="43319" y="444741"/>
                  </a:lnTo>
                  <a:lnTo>
                    <a:pt x="45542" y="455752"/>
                  </a:lnTo>
                  <a:lnTo>
                    <a:pt x="51600" y="464731"/>
                  </a:lnTo>
                  <a:lnTo>
                    <a:pt x="60579" y="470789"/>
                  </a:lnTo>
                  <a:lnTo>
                    <a:pt x="71577" y="473011"/>
                  </a:lnTo>
                  <a:lnTo>
                    <a:pt x="82575" y="470789"/>
                  </a:lnTo>
                  <a:lnTo>
                    <a:pt x="91554" y="464731"/>
                  </a:lnTo>
                  <a:lnTo>
                    <a:pt x="97612" y="455752"/>
                  </a:lnTo>
                  <a:lnTo>
                    <a:pt x="99822" y="444741"/>
                  </a:lnTo>
                  <a:close/>
                </a:path>
                <a:path w="639445" h="473075">
                  <a:moveTo>
                    <a:pt x="546214" y="98933"/>
                  </a:moveTo>
                  <a:lnTo>
                    <a:pt x="506653" y="0"/>
                  </a:lnTo>
                  <a:lnTo>
                    <a:pt x="0" y="207302"/>
                  </a:lnTo>
                  <a:lnTo>
                    <a:pt x="290055" y="149821"/>
                  </a:lnTo>
                  <a:lnTo>
                    <a:pt x="475576" y="74434"/>
                  </a:lnTo>
                  <a:lnTo>
                    <a:pt x="489712" y="110248"/>
                  </a:lnTo>
                  <a:lnTo>
                    <a:pt x="546214" y="98933"/>
                  </a:lnTo>
                  <a:close/>
                </a:path>
                <a:path w="639445" h="473075">
                  <a:moveTo>
                    <a:pt x="570699" y="444741"/>
                  </a:moveTo>
                  <a:lnTo>
                    <a:pt x="568477" y="433743"/>
                  </a:lnTo>
                  <a:lnTo>
                    <a:pt x="562419" y="424764"/>
                  </a:lnTo>
                  <a:lnTo>
                    <a:pt x="553440" y="418706"/>
                  </a:lnTo>
                  <a:lnTo>
                    <a:pt x="542442" y="416483"/>
                  </a:lnTo>
                  <a:lnTo>
                    <a:pt x="531444" y="418706"/>
                  </a:lnTo>
                  <a:lnTo>
                    <a:pt x="522465" y="424764"/>
                  </a:lnTo>
                  <a:lnTo>
                    <a:pt x="516420" y="433743"/>
                  </a:lnTo>
                  <a:lnTo>
                    <a:pt x="514197" y="444741"/>
                  </a:lnTo>
                  <a:lnTo>
                    <a:pt x="516420" y="455752"/>
                  </a:lnTo>
                  <a:lnTo>
                    <a:pt x="522465" y="464731"/>
                  </a:lnTo>
                  <a:lnTo>
                    <a:pt x="531444" y="470789"/>
                  </a:lnTo>
                  <a:lnTo>
                    <a:pt x="542442" y="473011"/>
                  </a:lnTo>
                  <a:lnTo>
                    <a:pt x="553440" y="470789"/>
                  </a:lnTo>
                  <a:lnTo>
                    <a:pt x="562419" y="464731"/>
                  </a:lnTo>
                  <a:lnTo>
                    <a:pt x="568477" y="455752"/>
                  </a:lnTo>
                  <a:lnTo>
                    <a:pt x="570699" y="444741"/>
                  </a:lnTo>
                  <a:close/>
                </a:path>
                <a:path w="639445" h="473075">
                  <a:moveTo>
                    <a:pt x="639445" y="218605"/>
                  </a:moveTo>
                  <a:lnTo>
                    <a:pt x="620610" y="122491"/>
                  </a:lnTo>
                  <a:lnTo>
                    <a:pt x="137502" y="218605"/>
                  </a:lnTo>
                  <a:lnTo>
                    <a:pt x="426605" y="218605"/>
                  </a:lnTo>
                  <a:lnTo>
                    <a:pt x="575411" y="189395"/>
                  </a:lnTo>
                  <a:lnTo>
                    <a:pt x="582002" y="218605"/>
                  </a:lnTo>
                  <a:lnTo>
                    <a:pt x="639445" y="218605"/>
                  </a:lnTo>
                  <a:close/>
                </a:path>
              </a:pathLst>
            </a:custGeom>
            <a:solidFill>
              <a:srgbClr val="767070"/>
            </a:solidFill>
          </p:spPr>
          <p:txBody>
            <a:bodyPr wrap="square" lIns="0" tIns="0" rIns="0" bIns="0" rtlCol="0"/>
            <a:lstStyle/>
            <a:p>
              <a:endParaRPr/>
            </a:p>
          </p:txBody>
        </p:sp>
      </p:grpSp>
      <p:sp>
        <p:nvSpPr>
          <p:cNvPr id="14" name="object 14"/>
          <p:cNvSpPr/>
          <p:nvPr/>
        </p:nvSpPr>
        <p:spPr>
          <a:xfrm>
            <a:off x="7817082" y="2873863"/>
            <a:ext cx="621983" cy="452438"/>
          </a:xfrm>
          <a:custGeom>
            <a:avLst/>
            <a:gdLst/>
            <a:ahLst/>
            <a:cxnLst/>
            <a:rect l="l" t="t" r="r" b="b"/>
            <a:pathLst>
              <a:path w="829309" h="603250">
                <a:moveTo>
                  <a:pt x="348437" y="461708"/>
                </a:moveTo>
                <a:lnTo>
                  <a:pt x="56502" y="461708"/>
                </a:lnTo>
                <a:lnTo>
                  <a:pt x="56502" y="122491"/>
                </a:lnTo>
                <a:lnTo>
                  <a:pt x="314350" y="122491"/>
                </a:lnTo>
                <a:lnTo>
                  <a:pt x="337324" y="65963"/>
                </a:lnTo>
                <a:lnTo>
                  <a:pt x="37668" y="65963"/>
                </a:lnTo>
                <a:lnTo>
                  <a:pt x="22999" y="68922"/>
                </a:lnTo>
                <a:lnTo>
                  <a:pt x="11036" y="77000"/>
                </a:lnTo>
                <a:lnTo>
                  <a:pt x="2959" y="88976"/>
                </a:lnTo>
                <a:lnTo>
                  <a:pt x="0" y="103657"/>
                </a:lnTo>
                <a:lnTo>
                  <a:pt x="0" y="480555"/>
                </a:lnTo>
                <a:lnTo>
                  <a:pt x="2959" y="495223"/>
                </a:lnTo>
                <a:lnTo>
                  <a:pt x="11036" y="507212"/>
                </a:lnTo>
                <a:lnTo>
                  <a:pt x="22999" y="515289"/>
                </a:lnTo>
                <a:lnTo>
                  <a:pt x="37668" y="518248"/>
                </a:lnTo>
                <a:lnTo>
                  <a:pt x="348437" y="518248"/>
                </a:lnTo>
                <a:lnTo>
                  <a:pt x="348437" y="461708"/>
                </a:lnTo>
                <a:close/>
              </a:path>
              <a:path w="829309" h="603250">
                <a:moveTo>
                  <a:pt x="527367" y="282676"/>
                </a:moveTo>
                <a:lnTo>
                  <a:pt x="404952" y="282676"/>
                </a:lnTo>
                <a:lnTo>
                  <a:pt x="404952" y="0"/>
                </a:lnTo>
                <a:lnTo>
                  <a:pt x="251345" y="376618"/>
                </a:lnTo>
                <a:lnTo>
                  <a:pt x="386118" y="376910"/>
                </a:lnTo>
                <a:lnTo>
                  <a:pt x="386118" y="603046"/>
                </a:lnTo>
                <a:lnTo>
                  <a:pt x="527367" y="282676"/>
                </a:lnTo>
                <a:close/>
              </a:path>
              <a:path w="829309" h="603250">
                <a:moveTo>
                  <a:pt x="828725" y="244995"/>
                </a:moveTo>
                <a:lnTo>
                  <a:pt x="825766" y="230314"/>
                </a:lnTo>
                <a:lnTo>
                  <a:pt x="817689" y="218338"/>
                </a:lnTo>
                <a:lnTo>
                  <a:pt x="805726" y="210261"/>
                </a:lnTo>
                <a:lnTo>
                  <a:pt x="791057" y="207302"/>
                </a:lnTo>
                <a:lnTo>
                  <a:pt x="753389" y="207302"/>
                </a:lnTo>
                <a:lnTo>
                  <a:pt x="753389" y="103657"/>
                </a:lnTo>
                <a:lnTo>
                  <a:pt x="750430" y="88976"/>
                </a:lnTo>
                <a:lnTo>
                  <a:pt x="742353" y="77000"/>
                </a:lnTo>
                <a:lnTo>
                  <a:pt x="730389" y="68922"/>
                </a:lnTo>
                <a:lnTo>
                  <a:pt x="715721" y="65963"/>
                </a:lnTo>
                <a:lnTo>
                  <a:pt x="442620" y="65963"/>
                </a:lnTo>
                <a:lnTo>
                  <a:pt x="442620" y="122491"/>
                </a:lnTo>
                <a:lnTo>
                  <a:pt x="696887" y="122491"/>
                </a:lnTo>
                <a:lnTo>
                  <a:pt x="696887" y="461708"/>
                </a:lnTo>
                <a:lnTo>
                  <a:pt x="489699" y="461708"/>
                </a:lnTo>
                <a:lnTo>
                  <a:pt x="464743" y="518248"/>
                </a:lnTo>
                <a:lnTo>
                  <a:pt x="715721" y="518248"/>
                </a:lnTo>
                <a:lnTo>
                  <a:pt x="730389" y="515289"/>
                </a:lnTo>
                <a:lnTo>
                  <a:pt x="742353" y="507212"/>
                </a:lnTo>
                <a:lnTo>
                  <a:pt x="750430" y="495223"/>
                </a:lnTo>
                <a:lnTo>
                  <a:pt x="753389" y="480555"/>
                </a:lnTo>
                <a:lnTo>
                  <a:pt x="753389" y="376910"/>
                </a:lnTo>
                <a:lnTo>
                  <a:pt x="791057" y="376910"/>
                </a:lnTo>
                <a:lnTo>
                  <a:pt x="805726" y="373951"/>
                </a:lnTo>
                <a:lnTo>
                  <a:pt x="817689" y="365874"/>
                </a:lnTo>
                <a:lnTo>
                  <a:pt x="825766" y="353885"/>
                </a:lnTo>
                <a:lnTo>
                  <a:pt x="828725" y="339217"/>
                </a:lnTo>
                <a:lnTo>
                  <a:pt x="828725" y="244995"/>
                </a:lnTo>
                <a:close/>
              </a:path>
            </a:pathLst>
          </a:custGeom>
          <a:solidFill>
            <a:srgbClr val="767070"/>
          </a:solidFill>
        </p:spPr>
        <p:txBody>
          <a:bodyPr wrap="square" lIns="0" tIns="0" rIns="0" bIns="0" rtlCol="0"/>
          <a:lstStyle/>
          <a:p>
            <a:endParaRPr/>
          </a:p>
        </p:txBody>
      </p:sp>
      <p:sp>
        <p:nvSpPr>
          <p:cNvPr id="15" name="object 15"/>
          <p:cNvSpPr/>
          <p:nvPr/>
        </p:nvSpPr>
        <p:spPr>
          <a:xfrm>
            <a:off x="4872476" y="2740571"/>
            <a:ext cx="480536" cy="481489"/>
          </a:xfrm>
          <a:custGeom>
            <a:avLst/>
            <a:gdLst/>
            <a:ahLst/>
            <a:cxnLst/>
            <a:rect l="l" t="t" r="r" b="b"/>
            <a:pathLst>
              <a:path w="640715" h="641985">
                <a:moveTo>
                  <a:pt x="640384" y="584352"/>
                </a:moveTo>
                <a:lnTo>
                  <a:pt x="56502" y="584352"/>
                </a:lnTo>
                <a:lnTo>
                  <a:pt x="56502" y="0"/>
                </a:lnTo>
                <a:lnTo>
                  <a:pt x="0" y="0"/>
                </a:lnTo>
                <a:lnTo>
                  <a:pt x="0" y="584352"/>
                </a:lnTo>
                <a:lnTo>
                  <a:pt x="0" y="641527"/>
                </a:lnTo>
                <a:lnTo>
                  <a:pt x="640384" y="641527"/>
                </a:lnTo>
                <a:lnTo>
                  <a:pt x="640384" y="584352"/>
                </a:lnTo>
                <a:close/>
              </a:path>
              <a:path w="640715" h="641985">
                <a:moveTo>
                  <a:pt x="640384" y="160566"/>
                </a:moveTo>
                <a:lnTo>
                  <a:pt x="489712" y="160566"/>
                </a:lnTo>
                <a:lnTo>
                  <a:pt x="545274" y="216166"/>
                </a:lnTo>
                <a:lnTo>
                  <a:pt x="470877" y="290601"/>
                </a:lnTo>
                <a:lnTo>
                  <a:pt x="414362" y="234061"/>
                </a:lnTo>
                <a:lnTo>
                  <a:pt x="320192" y="328295"/>
                </a:lnTo>
                <a:lnTo>
                  <a:pt x="263690" y="271754"/>
                </a:lnTo>
                <a:lnTo>
                  <a:pt x="93230" y="442302"/>
                </a:lnTo>
                <a:lnTo>
                  <a:pt x="132791" y="481876"/>
                </a:lnTo>
                <a:lnTo>
                  <a:pt x="263690" y="350901"/>
                </a:lnTo>
                <a:lnTo>
                  <a:pt x="320192" y="407441"/>
                </a:lnTo>
                <a:lnTo>
                  <a:pt x="414362" y="313220"/>
                </a:lnTo>
                <a:lnTo>
                  <a:pt x="470877" y="369747"/>
                </a:lnTo>
                <a:lnTo>
                  <a:pt x="584822" y="255739"/>
                </a:lnTo>
                <a:lnTo>
                  <a:pt x="640384" y="311327"/>
                </a:lnTo>
                <a:lnTo>
                  <a:pt x="640384" y="160566"/>
                </a:lnTo>
                <a:close/>
              </a:path>
            </a:pathLst>
          </a:custGeom>
          <a:solidFill>
            <a:srgbClr val="767070"/>
          </a:solidFill>
        </p:spPr>
        <p:txBody>
          <a:bodyPr wrap="square" lIns="0" tIns="0" rIns="0" bIns="0" rtlCol="0"/>
          <a:lstStyle/>
          <a:p>
            <a:endParaRPr/>
          </a:p>
        </p:txBody>
      </p:sp>
      <p:sp>
        <p:nvSpPr>
          <p:cNvPr id="16" name="object 16"/>
          <p:cNvSpPr txBox="1"/>
          <p:nvPr/>
        </p:nvSpPr>
        <p:spPr>
          <a:xfrm>
            <a:off x="4730019" y="2505742"/>
            <a:ext cx="828675" cy="193803"/>
          </a:xfrm>
          <a:prstGeom prst="rect">
            <a:avLst/>
          </a:prstGeom>
        </p:spPr>
        <p:txBody>
          <a:bodyPr vert="horz" wrap="square" lIns="0" tIns="9049" rIns="0" bIns="0" rtlCol="0">
            <a:spAutoFit/>
          </a:bodyPr>
          <a:lstStyle/>
          <a:p>
            <a:pPr marL="9525">
              <a:spcBef>
                <a:spcPts val="71"/>
              </a:spcBef>
            </a:pPr>
            <a:r>
              <a:rPr sz="1200" spc="-49">
                <a:solidFill>
                  <a:srgbClr val="585858"/>
                </a:solidFill>
                <a:latin typeface="Trebuchet MS"/>
                <a:cs typeface="Trebuchet MS"/>
              </a:rPr>
              <a:t>Performance</a:t>
            </a:r>
            <a:endParaRPr sz="1200">
              <a:latin typeface="Trebuchet MS"/>
              <a:cs typeface="Trebuchet MS"/>
            </a:endParaRPr>
          </a:p>
        </p:txBody>
      </p:sp>
      <p:sp>
        <p:nvSpPr>
          <p:cNvPr id="17" name="object 17"/>
          <p:cNvSpPr txBox="1"/>
          <p:nvPr/>
        </p:nvSpPr>
        <p:spPr>
          <a:xfrm>
            <a:off x="7008304" y="2510314"/>
            <a:ext cx="305276" cy="193803"/>
          </a:xfrm>
          <a:prstGeom prst="rect">
            <a:avLst/>
          </a:prstGeom>
        </p:spPr>
        <p:txBody>
          <a:bodyPr vert="horz" wrap="square" lIns="0" tIns="9049" rIns="0" bIns="0" rtlCol="0">
            <a:spAutoFit/>
          </a:bodyPr>
          <a:lstStyle/>
          <a:p>
            <a:pPr marL="9525">
              <a:spcBef>
                <a:spcPts val="71"/>
              </a:spcBef>
            </a:pPr>
            <a:r>
              <a:rPr sz="1200" spc="-15">
                <a:solidFill>
                  <a:srgbClr val="585858"/>
                </a:solidFill>
                <a:latin typeface="Trebuchet MS"/>
                <a:cs typeface="Trebuchet MS"/>
              </a:rPr>
              <a:t>Cost</a:t>
            </a:r>
            <a:endParaRPr sz="1200">
              <a:latin typeface="Trebuchet MS"/>
              <a:cs typeface="Trebuchet MS"/>
            </a:endParaRPr>
          </a:p>
        </p:txBody>
      </p:sp>
      <p:sp>
        <p:nvSpPr>
          <p:cNvPr id="18" name="object 18"/>
          <p:cNvSpPr txBox="1"/>
          <p:nvPr/>
        </p:nvSpPr>
        <p:spPr>
          <a:xfrm>
            <a:off x="7900702" y="2505742"/>
            <a:ext cx="453866" cy="193803"/>
          </a:xfrm>
          <a:prstGeom prst="rect">
            <a:avLst/>
          </a:prstGeom>
        </p:spPr>
        <p:txBody>
          <a:bodyPr vert="horz" wrap="square" lIns="0" tIns="9049" rIns="0" bIns="0" rtlCol="0">
            <a:spAutoFit/>
          </a:bodyPr>
          <a:lstStyle/>
          <a:p>
            <a:pPr marL="9525">
              <a:spcBef>
                <a:spcPts val="71"/>
              </a:spcBef>
            </a:pPr>
            <a:r>
              <a:rPr sz="1200" spc="-26">
                <a:solidFill>
                  <a:srgbClr val="585858"/>
                </a:solidFill>
                <a:latin typeface="Trebuchet MS"/>
                <a:cs typeface="Trebuchet MS"/>
              </a:rPr>
              <a:t>Energy</a:t>
            </a:r>
            <a:endParaRPr sz="1200">
              <a:latin typeface="Trebuchet MS"/>
              <a:cs typeface="Trebuchet MS"/>
            </a:endParaRPr>
          </a:p>
        </p:txBody>
      </p:sp>
      <p:sp>
        <p:nvSpPr>
          <p:cNvPr id="19" name="object 19"/>
          <p:cNvSpPr txBox="1"/>
          <p:nvPr/>
        </p:nvSpPr>
        <p:spPr>
          <a:xfrm>
            <a:off x="6054089" y="2522886"/>
            <a:ext cx="273368" cy="193803"/>
          </a:xfrm>
          <a:prstGeom prst="rect">
            <a:avLst/>
          </a:prstGeom>
        </p:spPr>
        <p:txBody>
          <a:bodyPr vert="horz" wrap="square" lIns="0" tIns="9049" rIns="0" bIns="0" rtlCol="0">
            <a:spAutoFit/>
          </a:bodyPr>
          <a:lstStyle/>
          <a:p>
            <a:pPr marL="9525">
              <a:spcBef>
                <a:spcPts val="71"/>
              </a:spcBef>
            </a:pPr>
            <a:r>
              <a:rPr sz="1200" spc="-34">
                <a:solidFill>
                  <a:srgbClr val="585858"/>
                </a:solidFill>
                <a:latin typeface="Trebuchet MS"/>
                <a:cs typeface="Trebuchet MS"/>
              </a:rPr>
              <a:t>Size</a:t>
            </a:r>
            <a:endParaRPr sz="1200">
              <a:latin typeface="Trebuchet MS"/>
              <a:cs typeface="Trebuchet MS"/>
            </a:endParaRPr>
          </a:p>
        </p:txBody>
      </p:sp>
      <p:grpSp>
        <p:nvGrpSpPr>
          <p:cNvPr id="20" name="object 20"/>
          <p:cNvGrpSpPr/>
          <p:nvPr/>
        </p:nvGrpSpPr>
        <p:grpSpPr>
          <a:xfrm>
            <a:off x="5854371" y="2815028"/>
            <a:ext cx="565309" cy="424339"/>
            <a:chOff x="7805827" y="3753370"/>
            <a:chExt cx="753745" cy="565785"/>
          </a:xfrm>
        </p:grpSpPr>
        <p:sp>
          <p:nvSpPr>
            <p:cNvPr id="21" name="object 21"/>
            <p:cNvSpPr/>
            <p:nvPr/>
          </p:nvSpPr>
          <p:spPr>
            <a:xfrm>
              <a:off x="7805827" y="3753370"/>
              <a:ext cx="473709" cy="565785"/>
            </a:xfrm>
            <a:custGeom>
              <a:avLst/>
              <a:gdLst/>
              <a:ahLst/>
              <a:cxnLst/>
              <a:rect l="l" t="t" r="r" b="b"/>
              <a:pathLst>
                <a:path w="473709" h="565785">
                  <a:moveTo>
                    <a:pt x="222351" y="312204"/>
                  </a:moveTo>
                  <a:lnTo>
                    <a:pt x="0" y="177279"/>
                  </a:lnTo>
                  <a:lnTo>
                    <a:pt x="0" y="200964"/>
                  </a:lnTo>
                  <a:lnTo>
                    <a:pt x="0" y="430618"/>
                  </a:lnTo>
                  <a:lnTo>
                    <a:pt x="222351" y="565543"/>
                  </a:lnTo>
                  <a:lnTo>
                    <a:pt x="222351" y="312204"/>
                  </a:lnTo>
                  <a:close/>
                </a:path>
                <a:path w="473709" h="565785">
                  <a:moveTo>
                    <a:pt x="344297" y="221767"/>
                  </a:moveTo>
                  <a:lnTo>
                    <a:pt x="107594" y="78232"/>
                  </a:lnTo>
                  <a:lnTo>
                    <a:pt x="0" y="143548"/>
                  </a:lnTo>
                  <a:lnTo>
                    <a:pt x="236702" y="287083"/>
                  </a:lnTo>
                  <a:lnTo>
                    <a:pt x="344297" y="221767"/>
                  </a:lnTo>
                  <a:close/>
                </a:path>
                <a:path w="473709" h="565785">
                  <a:moveTo>
                    <a:pt x="473405" y="177279"/>
                  </a:moveTo>
                  <a:lnTo>
                    <a:pt x="329946" y="264337"/>
                  </a:lnTo>
                  <a:lnTo>
                    <a:pt x="329946" y="301434"/>
                  </a:lnTo>
                  <a:lnTo>
                    <a:pt x="329946" y="351675"/>
                  </a:lnTo>
                  <a:lnTo>
                    <a:pt x="279742" y="380377"/>
                  </a:lnTo>
                  <a:lnTo>
                    <a:pt x="279742" y="330149"/>
                  </a:lnTo>
                  <a:lnTo>
                    <a:pt x="329946" y="301434"/>
                  </a:lnTo>
                  <a:lnTo>
                    <a:pt x="329946" y="264337"/>
                  </a:lnTo>
                  <a:lnTo>
                    <a:pt x="251053" y="312204"/>
                  </a:lnTo>
                  <a:lnTo>
                    <a:pt x="251053" y="565543"/>
                  </a:lnTo>
                  <a:lnTo>
                    <a:pt x="473405" y="430618"/>
                  </a:lnTo>
                  <a:lnTo>
                    <a:pt x="473405" y="380377"/>
                  </a:lnTo>
                  <a:lnTo>
                    <a:pt x="473405" y="301434"/>
                  </a:lnTo>
                  <a:lnTo>
                    <a:pt x="473405" y="177279"/>
                  </a:lnTo>
                  <a:close/>
                </a:path>
                <a:path w="473709" h="565785">
                  <a:moveTo>
                    <a:pt x="473405" y="143548"/>
                  </a:moveTo>
                  <a:lnTo>
                    <a:pt x="236702" y="0"/>
                  </a:lnTo>
                  <a:lnTo>
                    <a:pt x="134848" y="61722"/>
                  </a:lnTo>
                  <a:lnTo>
                    <a:pt x="371551" y="205270"/>
                  </a:lnTo>
                  <a:lnTo>
                    <a:pt x="473405" y="143548"/>
                  </a:lnTo>
                  <a:close/>
                </a:path>
              </a:pathLst>
            </a:custGeom>
            <a:solidFill>
              <a:srgbClr val="D0CECE"/>
            </a:solidFill>
          </p:spPr>
          <p:txBody>
            <a:bodyPr wrap="square" lIns="0" tIns="0" rIns="0" bIns="0" rtlCol="0"/>
            <a:lstStyle/>
            <a:p>
              <a:endParaRPr/>
            </a:p>
          </p:txBody>
        </p:sp>
        <p:pic>
          <p:nvPicPr>
            <p:cNvPr id="22" name="object 22"/>
            <p:cNvPicPr/>
            <p:nvPr/>
          </p:nvPicPr>
          <p:blipFill>
            <a:blip r:embed="rId6" cstate="print"/>
            <a:stretch>
              <a:fillRect/>
            </a:stretch>
          </p:blipFill>
          <p:spPr>
            <a:xfrm>
              <a:off x="8306523" y="3998072"/>
              <a:ext cx="252765" cy="301952"/>
            </a:xfrm>
            <a:prstGeom prst="rect">
              <a:avLst/>
            </a:prstGeom>
          </p:spPr>
        </p:pic>
      </p:grpSp>
      <p:sp>
        <p:nvSpPr>
          <p:cNvPr id="23" name="TextBox 22"/>
          <p:cNvSpPr txBox="1"/>
          <p:nvPr/>
        </p:nvSpPr>
        <p:spPr>
          <a:xfrm>
            <a:off x="412376" y="286871"/>
            <a:ext cx="8417859" cy="523220"/>
          </a:xfrm>
          <a:prstGeom prst="rect">
            <a:avLst/>
          </a:prstGeom>
          <a:noFill/>
        </p:spPr>
        <p:txBody>
          <a:bodyPr wrap="square" rtlCol="0">
            <a:spAutoFit/>
          </a:bodyPr>
          <a:lstStyle/>
          <a:p>
            <a:pPr algn="ctr"/>
            <a:r>
              <a:rPr lang="en-US" sz="2800">
                <a:latin typeface="Algerian" pitchFamily="82" charset="0"/>
              </a:rPr>
              <a:t>What is Computer Architecture?</a:t>
            </a:r>
          </a:p>
        </p:txBody>
      </p:sp>
      <p:sp>
        <p:nvSpPr>
          <p:cNvPr id="24" name="TextBox 23"/>
          <p:cNvSpPr txBox="1"/>
          <p:nvPr/>
        </p:nvSpPr>
        <p:spPr>
          <a:xfrm>
            <a:off x="385482" y="1075765"/>
            <a:ext cx="8444753" cy="1446550"/>
          </a:xfrm>
          <a:prstGeom prst="rect">
            <a:avLst/>
          </a:prstGeom>
          <a:noFill/>
        </p:spPr>
        <p:txBody>
          <a:bodyPr wrap="square" rtlCol="0">
            <a:spAutoFit/>
          </a:bodyPr>
          <a:lstStyle/>
          <a:p>
            <a:r>
              <a:rPr lang="en-US" sz="1800">
                <a:latin typeface="Calibri" pitchFamily="34" charset="0"/>
                <a:ea typeface="Calibri" pitchFamily="34" charset="0"/>
                <a:cs typeface="Calibri" pitchFamily="34" charset="0"/>
              </a:rPr>
              <a:t>Computer Architecture is a higher-level concept that </a:t>
            </a:r>
            <a:r>
              <a:rPr lang="en-US" sz="1800" b="1">
                <a:latin typeface="Calibri" pitchFamily="34" charset="0"/>
                <a:ea typeface="Calibri" pitchFamily="34" charset="0"/>
                <a:cs typeface="Calibri" pitchFamily="34" charset="0"/>
              </a:rPr>
              <a:t>defines the overall functionality and capabilities of the computer system</a:t>
            </a:r>
            <a:r>
              <a:rPr lang="en-US" sz="1800">
                <a:latin typeface="Calibri" pitchFamily="34" charset="0"/>
                <a:ea typeface="Calibri" pitchFamily="34" charset="0"/>
                <a:cs typeface="Calibri" pitchFamily="34" charset="0"/>
              </a:rPr>
              <a:t>. It includes the </a:t>
            </a:r>
            <a:r>
              <a:rPr lang="en-US" sz="1800" b="1">
                <a:latin typeface="Calibri" pitchFamily="34" charset="0"/>
                <a:ea typeface="Calibri" pitchFamily="34" charset="0"/>
                <a:cs typeface="Calibri" pitchFamily="34" charset="0"/>
              </a:rPr>
              <a:t>instruction set, addressing modes, and system performance</a:t>
            </a:r>
            <a:r>
              <a:rPr lang="en-US" sz="1800">
                <a:latin typeface="Calibri" pitchFamily="34" charset="0"/>
                <a:ea typeface="Calibri" pitchFamily="34" charset="0"/>
                <a:cs typeface="Calibri" pitchFamily="34" charset="0"/>
              </a:rPr>
              <a:t>. It is concerned with how a computer is structured and behaves from the perspective of the user and software.</a:t>
            </a:r>
          </a:p>
          <a:p>
            <a:endParaRPr lang="en-US" sz="1600">
              <a:latin typeface="Calibri" pitchFamily="34" charset="0"/>
              <a:ea typeface="Calibri" pitchFamily="34" charset="0"/>
              <a:cs typeface="Calibri"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586163" y="2591048"/>
            <a:ext cx="3858101" cy="563616"/>
          </a:xfrm>
          <a:prstGeom prst="rect">
            <a:avLst/>
          </a:prstGeom>
        </p:spPr>
        <p:txBody>
          <a:bodyPr vert="horz" wrap="square" lIns="0" tIns="9525" rIns="0" bIns="0" rtlCol="0">
            <a:spAutoFit/>
          </a:bodyPr>
          <a:lstStyle/>
          <a:p>
            <a:pPr marL="9525">
              <a:spcBef>
                <a:spcPts val="75"/>
              </a:spcBef>
            </a:pPr>
            <a:r>
              <a:rPr sz="1800" spc="-101">
                <a:solidFill>
                  <a:srgbClr val="404040"/>
                </a:solidFill>
              </a:rPr>
              <a:t>ISA</a:t>
            </a:r>
            <a:r>
              <a:rPr sz="1800" spc="-15">
                <a:solidFill>
                  <a:srgbClr val="404040"/>
                </a:solidFill>
              </a:rPr>
              <a:t> </a:t>
            </a:r>
            <a:r>
              <a:rPr sz="1800" spc="-86">
                <a:solidFill>
                  <a:srgbClr val="404040"/>
                </a:solidFill>
                <a:latin typeface="Trebuchet MS"/>
                <a:cs typeface="Trebuchet MS"/>
              </a:rPr>
              <a:t>(Instruction</a:t>
            </a:r>
            <a:r>
              <a:rPr sz="1800" spc="-53">
                <a:solidFill>
                  <a:srgbClr val="404040"/>
                </a:solidFill>
                <a:latin typeface="Trebuchet MS"/>
                <a:cs typeface="Trebuchet MS"/>
              </a:rPr>
              <a:t> </a:t>
            </a:r>
            <a:r>
              <a:rPr sz="1800" spc="-75">
                <a:solidFill>
                  <a:srgbClr val="404040"/>
                </a:solidFill>
                <a:latin typeface="Trebuchet MS"/>
                <a:cs typeface="Trebuchet MS"/>
              </a:rPr>
              <a:t>Set</a:t>
            </a:r>
            <a:r>
              <a:rPr sz="1800" spc="-53">
                <a:solidFill>
                  <a:srgbClr val="404040"/>
                </a:solidFill>
                <a:latin typeface="Trebuchet MS"/>
                <a:cs typeface="Trebuchet MS"/>
              </a:rPr>
              <a:t> </a:t>
            </a:r>
            <a:r>
              <a:rPr sz="1800" spc="-45">
                <a:solidFill>
                  <a:srgbClr val="404040"/>
                </a:solidFill>
                <a:latin typeface="Trebuchet MS"/>
                <a:cs typeface="Trebuchet MS"/>
              </a:rPr>
              <a:t>Architecture)</a:t>
            </a:r>
            <a:endParaRPr sz="1800">
              <a:latin typeface="Trebuchet MS"/>
              <a:cs typeface="Trebuchet MS"/>
            </a:endParaRPr>
          </a:p>
          <a:p>
            <a:pPr marL="9525">
              <a:spcBef>
                <a:spcPts val="4"/>
              </a:spcBef>
            </a:pPr>
            <a:r>
              <a:rPr sz="1800" spc="-109">
                <a:solidFill>
                  <a:srgbClr val="404040"/>
                </a:solidFill>
                <a:latin typeface="Trebuchet MS"/>
                <a:cs typeface="Trebuchet MS"/>
              </a:rPr>
              <a:t>Interface/contract</a:t>
            </a:r>
            <a:r>
              <a:rPr sz="1800" spc="-53">
                <a:solidFill>
                  <a:srgbClr val="404040"/>
                </a:solidFill>
                <a:latin typeface="Trebuchet MS"/>
                <a:cs typeface="Trebuchet MS"/>
              </a:rPr>
              <a:t> </a:t>
            </a:r>
            <a:r>
              <a:rPr sz="1800" spc="-83">
                <a:solidFill>
                  <a:srgbClr val="404040"/>
                </a:solidFill>
                <a:latin typeface="Trebuchet MS"/>
                <a:cs typeface="Trebuchet MS"/>
              </a:rPr>
              <a:t>between</a:t>
            </a:r>
            <a:r>
              <a:rPr sz="1800" spc="-56">
                <a:solidFill>
                  <a:srgbClr val="404040"/>
                </a:solidFill>
                <a:latin typeface="Trebuchet MS"/>
                <a:cs typeface="Trebuchet MS"/>
              </a:rPr>
              <a:t> </a:t>
            </a:r>
            <a:r>
              <a:rPr sz="1800" spc="45">
                <a:solidFill>
                  <a:srgbClr val="404040"/>
                </a:solidFill>
                <a:latin typeface="Trebuchet MS"/>
                <a:cs typeface="Trebuchet MS"/>
              </a:rPr>
              <a:t>SW</a:t>
            </a:r>
            <a:r>
              <a:rPr sz="1800" spc="-68">
                <a:solidFill>
                  <a:srgbClr val="404040"/>
                </a:solidFill>
                <a:latin typeface="Trebuchet MS"/>
                <a:cs typeface="Trebuchet MS"/>
              </a:rPr>
              <a:t> </a:t>
            </a:r>
            <a:r>
              <a:rPr sz="1800">
                <a:solidFill>
                  <a:srgbClr val="404040"/>
                </a:solidFill>
                <a:latin typeface="Trebuchet MS"/>
                <a:cs typeface="Trebuchet MS"/>
              </a:rPr>
              <a:t>and</a:t>
            </a:r>
            <a:r>
              <a:rPr sz="1800" spc="-53">
                <a:solidFill>
                  <a:srgbClr val="404040"/>
                </a:solidFill>
                <a:latin typeface="Trebuchet MS"/>
                <a:cs typeface="Trebuchet MS"/>
              </a:rPr>
              <a:t> </a:t>
            </a:r>
            <a:r>
              <a:rPr sz="1800" spc="-30">
                <a:solidFill>
                  <a:srgbClr val="404040"/>
                </a:solidFill>
                <a:latin typeface="Trebuchet MS"/>
                <a:cs typeface="Trebuchet MS"/>
              </a:rPr>
              <a:t>HW.</a:t>
            </a:r>
            <a:endParaRPr sz="1800">
              <a:latin typeface="Trebuchet MS"/>
              <a:cs typeface="Trebuchet MS"/>
            </a:endParaRPr>
          </a:p>
        </p:txBody>
      </p:sp>
      <p:sp>
        <p:nvSpPr>
          <p:cNvPr id="4" name="object 4"/>
          <p:cNvSpPr/>
          <p:nvPr/>
        </p:nvSpPr>
        <p:spPr>
          <a:xfrm>
            <a:off x="1251013" y="2354008"/>
            <a:ext cx="2087404" cy="937260"/>
          </a:xfrm>
          <a:custGeom>
            <a:avLst/>
            <a:gdLst/>
            <a:ahLst/>
            <a:cxnLst/>
            <a:rect l="l" t="t" r="r" b="b"/>
            <a:pathLst>
              <a:path w="2783204" h="1249679">
                <a:moveTo>
                  <a:pt x="2574544" y="0"/>
                </a:moveTo>
                <a:lnTo>
                  <a:pt x="2622310" y="5499"/>
                </a:lnTo>
                <a:lnTo>
                  <a:pt x="2666154" y="21164"/>
                </a:lnTo>
                <a:lnTo>
                  <a:pt x="2704826" y="45746"/>
                </a:lnTo>
                <a:lnTo>
                  <a:pt x="2737077" y="77997"/>
                </a:lnTo>
                <a:lnTo>
                  <a:pt x="2761659" y="116669"/>
                </a:lnTo>
                <a:lnTo>
                  <a:pt x="2777324" y="160513"/>
                </a:lnTo>
                <a:lnTo>
                  <a:pt x="2782823" y="208280"/>
                </a:lnTo>
                <a:lnTo>
                  <a:pt x="2782823" y="1041400"/>
                </a:lnTo>
                <a:lnTo>
                  <a:pt x="2777324" y="1089166"/>
                </a:lnTo>
                <a:lnTo>
                  <a:pt x="2761659" y="1133010"/>
                </a:lnTo>
                <a:lnTo>
                  <a:pt x="2737077" y="1171682"/>
                </a:lnTo>
                <a:lnTo>
                  <a:pt x="2704826" y="1203933"/>
                </a:lnTo>
                <a:lnTo>
                  <a:pt x="2666154" y="1228515"/>
                </a:lnTo>
                <a:lnTo>
                  <a:pt x="2622310" y="1244180"/>
                </a:lnTo>
                <a:lnTo>
                  <a:pt x="2574544" y="1249680"/>
                </a:lnTo>
                <a:lnTo>
                  <a:pt x="208280" y="1249680"/>
                </a:lnTo>
                <a:lnTo>
                  <a:pt x="160513" y="1244180"/>
                </a:lnTo>
                <a:lnTo>
                  <a:pt x="116669" y="1228515"/>
                </a:lnTo>
                <a:lnTo>
                  <a:pt x="77997" y="1203933"/>
                </a:lnTo>
                <a:lnTo>
                  <a:pt x="45746" y="1171682"/>
                </a:lnTo>
                <a:lnTo>
                  <a:pt x="21164" y="1133010"/>
                </a:lnTo>
                <a:lnTo>
                  <a:pt x="5499" y="1089166"/>
                </a:lnTo>
                <a:lnTo>
                  <a:pt x="0" y="1041400"/>
                </a:lnTo>
                <a:lnTo>
                  <a:pt x="0" y="208280"/>
                </a:lnTo>
                <a:lnTo>
                  <a:pt x="5499" y="160513"/>
                </a:lnTo>
                <a:lnTo>
                  <a:pt x="21164" y="116669"/>
                </a:lnTo>
                <a:lnTo>
                  <a:pt x="45746" y="77997"/>
                </a:lnTo>
                <a:lnTo>
                  <a:pt x="77997" y="45746"/>
                </a:lnTo>
                <a:lnTo>
                  <a:pt x="116669" y="21164"/>
                </a:lnTo>
                <a:lnTo>
                  <a:pt x="160513" y="5499"/>
                </a:lnTo>
                <a:lnTo>
                  <a:pt x="208280" y="0"/>
                </a:lnTo>
                <a:lnTo>
                  <a:pt x="2574544" y="0"/>
                </a:lnTo>
                <a:close/>
              </a:path>
            </a:pathLst>
          </a:custGeom>
          <a:ln w="44450">
            <a:solidFill>
              <a:srgbClr val="FF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1371600" y="1307449"/>
          <a:ext cx="1864995" cy="2885125"/>
        </p:xfrm>
        <a:graphic>
          <a:graphicData uri="http://schemas.openxmlformats.org/drawingml/2006/table">
            <a:tbl>
              <a:tblPr firstRow="1" bandRow="1">
                <a:tableStyleId>{2D5ABB26-0587-4C30-8999-92F81FD0307C}</a:tableStyleId>
              </a:tblPr>
              <a:tblGrid>
                <a:gridCol w="1864995">
                  <a:extLst>
                    <a:ext uri="{9D8B030D-6E8A-4147-A177-3AD203B41FA5}">
                      <a16:colId xmlns:a16="http://schemas.microsoft.com/office/drawing/2014/main" val="20000"/>
                    </a:ext>
                  </a:extLst>
                </a:gridCol>
              </a:tblGrid>
              <a:tr h="274320">
                <a:tc>
                  <a:txBody>
                    <a:bodyPr/>
                    <a:lstStyle/>
                    <a:p>
                      <a:pPr marL="89535">
                        <a:lnSpc>
                          <a:spcPct val="100000"/>
                        </a:lnSpc>
                        <a:spcBef>
                          <a:spcPts val="350"/>
                        </a:spcBef>
                      </a:pPr>
                      <a:r>
                        <a:rPr sz="1400" spc="-10">
                          <a:latin typeface="Tahoma"/>
                          <a:cs typeface="Tahoma"/>
                        </a:rPr>
                        <a:t>Problem</a:t>
                      </a:r>
                      <a:endParaRPr sz="1400">
                        <a:latin typeface="Tahoma"/>
                        <a:cs typeface="Tahoma"/>
                      </a:endParaRPr>
                    </a:p>
                  </a:txBody>
                  <a:tcPr marL="0" marR="0" marT="33338"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5B9BD4"/>
                    </a:solidFill>
                  </a:tcPr>
                </a:tc>
                <a:extLst>
                  <a:ext uri="{0D108BD9-81ED-4DB2-BD59-A6C34878D82A}">
                    <a16:rowId xmlns:a16="http://schemas.microsoft.com/office/drawing/2014/main" val="10000"/>
                  </a:ext>
                </a:extLst>
              </a:tr>
              <a:tr h="277654">
                <a:tc>
                  <a:txBody>
                    <a:bodyPr/>
                    <a:lstStyle/>
                    <a:p>
                      <a:pPr marL="89535">
                        <a:lnSpc>
                          <a:spcPct val="100000"/>
                        </a:lnSpc>
                        <a:spcBef>
                          <a:spcPts val="355"/>
                        </a:spcBef>
                      </a:pPr>
                      <a:r>
                        <a:rPr sz="1400" spc="-10">
                          <a:latin typeface="Tahoma"/>
                          <a:cs typeface="Tahoma"/>
                        </a:rPr>
                        <a:t>Algorithm</a:t>
                      </a:r>
                      <a:endParaRPr sz="1400">
                        <a:latin typeface="Tahoma"/>
                        <a:cs typeface="Tahoma"/>
                      </a:endParaRPr>
                    </a:p>
                  </a:txBody>
                  <a:tcPr marL="0" marR="0" marT="33814" marB="0">
                    <a:lnL w="9525">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solidFill>
                      <a:srgbClr val="5B9BD4"/>
                    </a:solidFill>
                  </a:tcPr>
                </a:tc>
                <a:extLst>
                  <a:ext uri="{0D108BD9-81ED-4DB2-BD59-A6C34878D82A}">
                    <a16:rowId xmlns:a16="http://schemas.microsoft.com/office/drawing/2014/main" val="10001"/>
                  </a:ext>
                </a:extLst>
              </a:tr>
              <a:tr h="279559">
                <a:tc>
                  <a:txBody>
                    <a:bodyPr/>
                    <a:lstStyle/>
                    <a:p>
                      <a:pPr marL="89535">
                        <a:lnSpc>
                          <a:spcPct val="100000"/>
                        </a:lnSpc>
                        <a:spcBef>
                          <a:spcPts val="365"/>
                        </a:spcBef>
                      </a:pPr>
                      <a:r>
                        <a:rPr sz="1400" spc="-10">
                          <a:latin typeface="Tahoma"/>
                          <a:cs typeface="Tahoma"/>
                        </a:rPr>
                        <a:t>Program/Language</a:t>
                      </a:r>
                      <a:endParaRPr sz="1400">
                        <a:latin typeface="Tahoma"/>
                        <a:cs typeface="Tahoma"/>
                      </a:endParaRPr>
                    </a:p>
                  </a:txBody>
                  <a:tcPr marL="0" marR="0" marT="34766" marB="0">
                    <a:lnL w="9525">
                      <a:solidFill>
                        <a:srgbClr val="000000"/>
                      </a:solidFill>
                      <a:prstDash val="solid"/>
                    </a:lnL>
                    <a:lnR w="9525">
                      <a:solidFill>
                        <a:srgbClr val="000000"/>
                      </a:solidFill>
                      <a:prstDash val="solid"/>
                    </a:lnR>
                    <a:lnT w="12700">
                      <a:solidFill>
                        <a:srgbClr val="000000"/>
                      </a:solidFill>
                      <a:prstDash val="solid"/>
                    </a:lnT>
                    <a:lnB w="19050">
                      <a:solidFill>
                        <a:srgbClr val="000000"/>
                      </a:solidFill>
                      <a:prstDash val="solid"/>
                    </a:lnB>
                    <a:solidFill>
                      <a:srgbClr val="5B9BD4"/>
                    </a:solidFill>
                  </a:tcPr>
                </a:tc>
                <a:extLst>
                  <a:ext uri="{0D108BD9-81ED-4DB2-BD59-A6C34878D82A}">
                    <a16:rowId xmlns:a16="http://schemas.microsoft.com/office/drawing/2014/main" val="10002"/>
                  </a:ext>
                </a:extLst>
              </a:tr>
              <a:tr h="504825">
                <a:tc>
                  <a:txBody>
                    <a:bodyPr/>
                    <a:lstStyle/>
                    <a:p>
                      <a:pPr marL="92710" marR="749300">
                        <a:lnSpc>
                          <a:spcPct val="100000"/>
                        </a:lnSpc>
                        <a:spcBef>
                          <a:spcPts val="375"/>
                        </a:spcBef>
                      </a:pPr>
                      <a:r>
                        <a:rPr sz="1400">
                          <a:latin typeface="Tahoma"/>
                          <a:cs typeface="Tahoma"/>
                        </a:rPr>
                        <a:t>Runtime</a:t>
                      </a:r>
                      <a:r>
                        <a:rPr sz="1400" spc="-80">
                          <a:latin typeface="Tahoma"/>
                          <a:cs typeface="Tahoma"/>
                        </a:rPr>
                        <a:t> </a:t>
                      </a:r>
                      <a:r>
                        <a:rPr sz="1400" spc="-10">
                          <a:latin typeface="Tahoma"/>
                          <a:cs typeface="Tahoma"/>
                        </a:rPr>
                        <a:t>System </a:t>
                      </a:r>
                      <a:r>
                        <a:rPr sz="1400">
                          <a:latin typeface="Tahoma"/>
                          <a:cs typeface="Tahoma"/>
                        </a:rPr>
                        <a:t>(VM,</a:t>
                      </a:r>
                      <a:r>
                        <a:rPr sz="1400" spc="-40">
                          <a:latin typeface="Tahoma"/>
                          <a:cs typeface="Tahoma"/>
                        </a:rPr>
                        <a:t> </a:t>
                      </a:r>
                      <a:r>
                        <a:rPr sz="1400" spc="-25">
                          <a:latin typeface="Tahoma"/>
                          <a:cs typeface="Tahoma"/>
                        </a:rPr>
                        <a:t>OS)</a:t>
                      </a:r>
                      <a:endParaRPr sz="1400">
                        <a:latin typeface="Tahoma"/>
                        <a:cs typeface="Tahoma"/>
                      </a:endParaRPr>
                    </a:p>
                  </a:txBody>
                  <a:tcPr marL="0" marR="0" marT="35719" marB="0">
                    <a:lnL w="9525">
                      <a:solidFill>
                        <a:srgbClr val="000000"/>
                      </a:solidFill>
                      <a:prstDash val="solid"/>
                    </a:lnL>
                    <a:lnR w="9525">
                      <a:solidFill>
                        <a:srgbClr val="000000"/>
                      </a:solidFill>
                      <a:prstDash val="solid"/>
                    </a:lnR>
                    <a:lnT w="19050">
                      <a:solidFill>
                        <a:srgbClr val="000000"/>
                      </a:solidFill>
                      <a:prstDash val="solid"/>
                    </a:lnT>
                    <a:lnB w="9525">
                      <a:solidFill>
                        <a:srgbClr val="000000"/>
                      </a:solidFill>
                      <a:prstDash val="solid"/>
                    </a:lnB>
                    <a:solidFill>
                      <a:srgbClr val="5B9BD4"/>
                    </a:solidFill>
                  </a:tcPr>
                </a:tc>
                <a:extLst>
                  <a:ext uri="{0D108BD9-81ED-4DB2-BD59-A6C34878D82A}">
                    <a16:rowId xmlns:a16="http://schemas.microsoft.com/office/drawing/2014/main" val="10003"/>
                  </a:ext>
                </a:extLst>
              </a:tr>
              <a:tr h="275749">
                <a:tc>
                  <a:txBody>
                    <a:bodyPr/>
                    <a:lstStyle/>
                    <a:p>
                      <a:pPr marL="92710">
                        <a:lnSpc>
                          <a:spcPct val="100000"/>
                        </a:lnSpc>
                        <a:spcBef>
                          <a:spcPts val="350"/>
                        </a:spcBef>
                      </a:pPr>
                      <a:r>
                        <a:rPr sz="1400">
                          <a:latin typeface="Tahoma"/>
                          <a:cs typeface="Tahoma"/>
                        </a:rPr>
                        <a:t>ISA</a:t>
                      </a:r>
                      <a:r>
                        <a:rPr sz="1400" spc="-45">
                          <a:latin typeface="Tahoma"/>
                          <a:cs typeface="Tahoma"/>
                        </a:rPr>
                        <a:t> </a:t>
                      </a:r>
                      <a:r>
                        <a:rPr sz="1400" spc="-10">
                          <a:latin typeface="Tahoma"/>
                          <a:cs typeface="Tahoma"/>
                        </a:rPr>
                        <a:t>(Architecture)</a:t>
                      </a:r>
                      <a:endParaRPr sz="1400">
                        <a:latin typeface="Tahoma"/>
                        <a:cs typeface="Tahoma"/>
                      </a:endParaRPr>
                    </a:p>
                  </a:txBody>
                  <a:tcPr marL="0" marR="0" marT="33338"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FFFF00"/>
                    </a:solidFill>
                  </a:tcPr>
                </a:tc>
                <a:extLst>
                  <a:ext uri="{0D108BD9-81ED-4DB2-BD59-A6C34878D82A}">
                    <a16:rowId xmlns:a16="http://schemas.microsoft.com/office/drawing/2014/main" val="10004"/>
                  </a:ext>
                </a:extLst>
              </a:tr>
              <a:tr h="280035">
                <a:tc>
                  <a:txBody>
                    <a:bodyPr/>
                    <a:lstStyle/>
                    <a:p>
                      <a:pPr marL="92710">
                        <a:lnSpc>
                          <a:spcPct val="100000"/>
                        </a:lnSpc>
                        <a:spcBef>
                          <a:spcPts val="375"/>
                        </a:spcBef>
                      </a:pPr>
                      <a:r>
                        <a:rPr sz="1400" spc="-10">
                          <a:latin typeface="Tahoma"/>
                          <a:cs typeface="Tahoma"/>
                        </a:rPr>
                        <a:t>Microarchitecture</a:t>
                      </a:r>
                      <a:endParaRPr sz="1400">
                        <a:latin typeface="Tahoma"/>
                        <a:cs typeface="Tahoma"/>
                      </a:endParaRPr>
                    </a:p>
                  </a:txBody>
                  <a:tcPr marL="0" marR="0" marT="35719" marB="0">
                    <a:lnL w="9525">
                      <a:solidFill>
                        <a:srgbClr val="000000"/>
                      </a:solidFill>
                      <a:prstDash val="solid"/>
                    </a:lnL>
                    <a:lnR w="9525">
                      <a:solidFill>
                        <a:srgbClr val="000000"/>
                      </a:solidFill>
                      <a:prstDash val="solid"/>
                    </a:lnR>
                    <a:lnT w="19050">
                      <a:solidFill>
                        <a:srgbClr val="000000"/>
                      </a:solidFill>
                      <a:prstDash val="solid"/>
                    </a:lnT>
                    <a:lnB w="19050">
                      <a:solidFill>
                        <a:srgbClr val="000000"/>
                      </a:solidFill>
                      <a:prstDash val="solid"/>
                    </a:lnB>
                    <a:solidFill>
                      <a:srgbClr val="6FAC46"/>
                    </a:solidFill>
                  </a:tcPr>
                </a:tc>
                <a:extLst>
                  <a:ext uri="{0D108BD9-81ED-4DB2-BD59-A6C34878D82A}">
                    <a16:rowId xmlns:a16="http://schemas.microsoft.com/office/drawing/2014/main" val="10005"/>
                  </a:ext>
                </a:extLst>
              </a:tr>
              <a:tr h="280988">
                <a:tc>
                  <a:txBody>
                    <a:bodyPr/>
                    <a:lstStyle/>
                    <a:p>
                      <a:pPr marL="92710">
                        <a:lnSpc>
                          <a:spcPct val="100000"/>
                        </a:lnSpc>
                        <a:spcBef>
                          <a:spcPts val="375"/>
                        </a:spcBef>
                      </a:pPr>
                      <a:r>
                        <a:rPr sz="1300" spc="-10">
                          <a:latin typeface="Tahoma"/>
                          <a:cs typeface="Tahoma"/>
                        </a:rPr>
                        <a:t>Logic</a:t>
                      </a:r>
                      <a:endParaRPr sz="1300">
                        <a:latin typeface="Tahoma"/>
                        <a:cs typeface="Tahoma"/>
                      </a:endParaRPr>
                    </a:p>
                  </a:txBody>
                  <a:tcPr marL="0" marR="0" marT="35719" marB="0">
                    <a:lnL w="9525">
                      <a:solidFill>
                        <a:srgbClr val="000000"/>
                      </a:solidFill>
                      <a:prstDash val="solid"/>
                    </a:lnL>
                    <a:lnR w="9525">
                      <a:solidFill>
                        <a:srgbClr val="000000"/>
                      </a:solidFill>
                      <a:prstDash val="solid"/>
                    </a:lnR>
                    <a:lnT w="19050">
                      <a:solidFill>
                        <a:srgbClr val="000000"/>
                      </a:solidFill>
                      <a:prstDash val="solid"/>
                    </a:lnT>
                    <a:lnB w="12700">
                      <a:solidFill>
                        <a:srgbClr val="000000"/>
                      </a:solidFill>
                      <a:prstDash val="solid"/>
                    </a:lnB>
                    <a:solidFill>
                      <a:srgbClr val="6FAC46"/>
                    </a:solidFill>
                  </a:tcPr>
                </a:tc>
                <a:extLst>
                  <a:ext uri="{0D108BD9-81ED-4DB2-BD59-A6C34878D82A}">
                    <a16:rowId xmlns:a16="http://schemas.microsoft.com/office/drawing/2014/main" val="10006"/>
                  </a:ext>
                </a:extLst>
              </a:tr>
              <a:tr h="265748">
                <a:tc>
                  <a:txBody>
                    <a:bodyPr/>
                    <a:lstStyle/>
                    <a:p>
                      <a:pPr marL="92710">
                        <a:lnSpc>
                          <a:spcPct val="100000"/>
                        </a:lnSpc>
                        <a:spcBef>
                          <a:spcPts val="345"/>
                        </a:spcBef>
                      </a:pPr>
                      <a:r>
                        <a:rPr sz="1400" spc="-10">
                          <a:latin typeface="Tahoma"/>
                          <a:cs typeface="Tahoma"/>
                        </a:rPr>
                        <a:t>Devices</a:t>
                      </a:r>
                      <a:endParaRPr sz="1400">
                        <a:latin typeface="Tahoma"/>
                        <a:cs typeface="Tahoma"/>
                      </a:endParaRPr>
                    </a:p>
                  </a:txBody>
                  <a:tcPr marL="0" marR="0" marT="32861" marB="0">
                    <a:lnL w="9525">
                      <a:solidFill>
                        <a:srgbClr val="000000"/>
                      </a:solidFill>
                      <a:prstDash val="solid"/>
                    </a:lnL>
                    <a:lnR w="9525">
                      <a:solidFill>
                        <a:srgbClr val="000000"/>
                      </a:solidFill>
                      <a:prstDash val="solid"/>
                    </a:lnR>
                    <a:lnT w="12700">
                      <a:solidFill>
                        <a:srgbClr val="000000"/>
                      </a:solidFill>
                      <a:prstDash val="solid"/>
                    </a:lnT>
                    <a:lnB w="9525">
                      <a:solidFill>
                        <a:srgbClr val="000000"/>
                      </a:solidFill>
                      <a:prstDash val="solid"/>
                    </a:lnB>
                    <a:solidFill>
                      <a:srgbClr val="6FAC46"/>
                    </a:solidFill>
                  </a:tcPr>
                </a:tc>
                <a:extLst>
                  <a:ext uri="{0D108BD9-81ED-4DB2-BD59-A6C34878D82A}">
                    <a16:rowId xmlns:a16="http://schemas.microsoft.com/office/drawing/2014/main" val="10007"/>
                  </a:ext>
                </a:extLst>
              </a:tr>
              <a:tr h="275273">
                <a:tc>
                  <a:txBody>
                    <a:bodyPr/>
                    <a:lstStyle/>
                    <a:p>
                      <a:pPr marL="95250">
                        <a:lnSpc>
                          <a:spcPct val="100000"/>
                        </a:lnSpc>
                        <a:spcBef>
                          <a:spcPts val="360"/>
                        </a:spcBef>
                      </a:pPr>
                      <a:r>
                        <a:rPr sz="1400" spc="-10">
                          <a:latin typeface="Tahoma"/>
                          <a:cs typeface="Tahoma"/>
                        </a:rPr>
                        <a:t>Electrons</a:t>
                      </a:r>
                      <a:endParaRPr sz="1400">
                        <a:latin typeface="Tahoma"/>
                        <a:cs typeface="Tahoma"/>
                      </a:endParaRPr>
                    </a:p>
                  </a:txBody>
                  <a:tcPr marL="0" marR="0" marT="3429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6FAC46"/>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331694" y="286871"/>
            <a:ext cx="8812306" cy="461665"/>
          </a:xfrm>
          <a:prstGeom prst="rect">
            <a:avLst/>
          </a:prstGeom>
          <a:noFill/>
        </p:spPr>
        <p:txBody>
          <a:bodyPr wrap="square" rtlCol="0">
            <a:spAutoFit/>
          </a:bodyPr>
          <a:lstStyle/>
          <a:p>
            <a:pPr algn="ctr"/>
            <a:r>
              <a:rPr lang="en-US" sz="2400">
                <a:latin typeface="Algerian" pitchFamily="82" charset="0"/>
              </a:rPr>
              <a:t>Computer Architecture in Levels of Transformation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0306" y="1070800"/>
            <a:ext cx="3761035" cy="3659816"/>
          </a:xfrm>
          <a:prstGeom prst="rect">
            <a:avLst/>
          </a:prstGeom>
        </p:spPr>
        <p:txBody>
          <a:bodyPr vert="horz" wrap="square" lIns="0" tIns="10001" rIns="0" bIns="0" rtlCol="0">
            <a:spAutoFit/>
          </a:bodyPr>
          <a:lstStyle/>
          <a:p>
            <a:pPr marL="9525">
              <a:spcBef>
                <a:spcPts val="79"/>
              </a:spcBef>
            </a:pPr>
            <a:r>
              <a:rPr lang="en-US" sz="1800">
                <a:latin typeface="Calibri" pitchFamily="34" charset="0"/>
                <a:ea typeface="Calibri" pitchFamily="34" charset="0"/>
                <a:cs typeface="Calibri" pitchFamily="34" charset="0"/>
              </a:rPr>
              <a:t>Computer Architecture</a:t>
            </a:r>
          </a:p>
          <a:p>
            <a:pPr marL="9525">
              <a:spcBef>
                <a:spcPts val="79"/>
              </a:spcBef>
            </a:pPr>
            <a:r>
              <a:rPr lang="en-US" sz="1800">
                <a:latin typeface="Calibri" pitchFamily="34" charset="0"/>
                <a:ea typeface="Calibri" pitchFamily="34" charset="0"/>
                <a:cs typeface="Calibri" pitchFamily="34" charset="0"/>
              </a:rPr>
              <a:t>is concerned with the structure and</a:t>
            </a:r>
          </a:p>
          <a:p>
            <a:pPr marL="9525">
              <a:spcBef>
                <a:spcPts val="79"/>
              </a:spcBef>
            </a:pPr>
            <a:r>
              <a:rPr lang="en-US" sz="1800">
                <a:latin typeface="Calibri" pitchFamily="34" charset="0"/>
                <a:ea typeface="Calibri" pitchFamily="34" charset="0"/>
                <a:cs typeface="Calibri" pitchFamily="34" charset="0"/>
              </a:rPr>
              <a:t>behavior of a computer system.</a:t>
            </a:r>
          </a:p>
          <a:p>
            <a:pPr marL="9525">
              <a:spcBef>
                <a:spcPts val="79"/>
              </a:spcBef>
            </a:pPr>
            <a:endParaRPr lang="en-US" sz="1500">
              <a:latin typeface="Calibri" pitchFamily="34" charset="0"/>
              <a:ea typeface="Calibri" pitchFamily="34" charset="0"/>
              <a:cs typeface="Calibri" pitchFamily="34" charset="0"/>
            </a:endParaRPr>
          </a:p>
          <a:p>
            <a:pPr marL="9525">
              <a:spcBef>
                <a:spcPts val="79"/>
              </a:spcBef>
            </a:pPr>
            <a:endParaRPr lang="en-US" sz="1500">
              <a:latin typeface="Calibri" pitchFamily="34" charset="0"/>
              <a:ea typeface="Calibri" pitchFamily="34" charset="0"/>
              <a:cs typeface="Calibri" pitchFamily="34" charset="0"/>
            </a:endParaRPr>
          </a:p>
          <a:p>
            <a:pPr marL="9525">
              <a:spcBef>
                <a:spcPts val="79"/>
              </a:spcBef>
            </a:pPr>
            <a:r>
              <a:rPr lang="en-US" sz="1600">
                <a:latin typeface="Calibri" pitchFamily="34" charset="0"/>
                <a:ea typeface="Calibri" pitchFamily="34" charset="0"/>
                <a:cs typeface="Calibri" pitchFamily="34" charset="0"/>
              </a:rPr>
              <a:t>It helps us to understand the</a:t>
            </a:r>
          </a:p>
          <a:p>
            <a:pPr marL="9525">
              <a:spcBef>
                <a:spcPts val="79"/>
              </a:spcBef>
            </a:pPr>
            <a:r>
              <a:rPr lang="en-US" sz="1600">
                <a:latin typeface="Calibri" pitchFamily="34" charset="0"/>
                <a:ea typeface="Calibri" pitchFamily="34" charset="0"/>
                <a:cs typeface="Calibri" pitchFamily="34" charset="0"/>
              </a:rPr>
              <a:t>functionalities.</a:t>
            </a:r>
          </a:p>
          <a:p>
            <a:pPr marL="9525">
              <a:spcBef>
                <a:spcPts val="79"/>
              </a:spcBef>
            </a:pPr>
            <a:endParaRPr lang="en-US" sz="1600">
              <a:latin typeface="Calibri" pitchFamily="34" charset="0"/>
              <a:ea typeface="Calibri" pitchFamily="34" charset="0"/>
              <a:cs typeface="Calibri" pitchFamily="34" charset="0"/>
            </a:endParaRPr>
          </a:p>
          <a:p>
            <a:pPr marL="9525">
              <a:spcBef>
                <a:spcPts val="79"/>
              </a:spcBef>
            </a:pPr>
            <a:endParaRPr lang="en-US" sz="1600">
              <a:latin typeface="Calibri" pitchFamily="34" charset="0"/>
              <a:ea typeface="Calibri" pitchFamily="34" charset="0"/>
              <a:cs typeface="Calibri" pitchFamily="34" charset="0"/>
            </a:endParaRPr>
          </a:p>
          <a:p>
            <a:pPr marL="9525">
              <a:spcBef>
                <a:spcPts val="79"/>
              </a:spcBef>
            </a:pPr>
            <a:r>
              <a:rPr lang="en-US" sz="1600">
                <a:latin typeface="Calibri" pitchFamily="34" charset="0"/>
                <a:ea typeface="Calibri" pitchFamily="34" charset="0"/>
                <a:cs typeface="Calibri" pitchFamily="34" charset="0"/>
              </a:rPr>
              <a:t>Architecture involves -</a:t>
            </a:r>
          </a:p>
          <a:p>
            <a:pPr marL="9525">
              <a:spcBef>
                <a:spcPts val="79"/>
              </a:spcBef>
            </a:pPr>
            <a:r>
              <a:rPr lang="en-US" sz="1600">
                <a:latin typeface="Calibri" pitchFamily="34" charset="0"/>
                <a:ea typeface="Calibri" pitchFamily="34" charset="0"/>
                <a:cs typeface="Calibri" pitchFamily="34" charset="0"/>
              </a:rPr>
              <a:t>Processor and memory specification, information format, instruction sets, addressing techniques etc.</a:t>
            </a:r>
          </a:p>
          <a:p>
            <a:pPr marL="9525">
              <a:spcBef>
                <a:spcPts val="79"/>
              </a:spcBef>
            </a:pPr>
            <a:endParaRPr sz="1600">
              <a:latin typeface="Calibri" pitchFamily="34" charset="0"/>
              <a:ea typeface="Calibri" pitchFamily="34" charset="0"/>
              <a:cs typeface="Calibri" pitchFamily="34" charset="0"/>
            </a:endParaRPr>
          </a:p>
        </p:txBody>
      </p:sp>
      <p:sp>
        <p:nvSpPr>
          <p:cNvPr id="4" name="object 4"/>
          <p:cNvSpPr txBox="1"/>
          <p:nvPr/>
        </p:nvSpPr>
        <p:spPr>
          <a:xfrm>
            <a:off x="4641151" y="1024471"/>
            <a:ext cx="3782378" cy="3670075"/>
          </a:xfrm>
          <a:prstGeom prst="rect">
            <a:avLst/>
          </a:prstGeom>
        </p:spPr>
        <p:txBody>
          <a:bodyPr vert="horz" wrap="square" lIns="0" tIns="10001" rIns="0" bIns="0" rtlCol="0">
            <a:spAutoFit/>
          </a:bodyPr>
          <a:lstStyle/>
          <a:p>
            <a:pPr marL="9525" marR="97154" algn="just">
              <a:spcBef>
                <a:spcPts val="79"/>
              </a:spcBef>
            </a:pPr>
            <a:r>
              <a:rPr lang="en-US" sz="1800">
                <a:latin typeface="Calibri" pitchFamily="34" charset="0"/>
                <a:ea typeface="Calibri" pitchFamily="34" charset="0"/>
                <a:cs typeface="Calibri" pitchFamily="34" charset="0"/>
              </a:rPr>
              <a:t>Computer Organization is concerned with the way hardware components are connected together to form a computer system.</a:t>
            </a:r>
          </a:p>
          <a:p>
            <a:pPr marL="9525" marR="97154" algn="just">
              <a:spcBef>
                <a:spcPts val="79"/>
              </a:spcBef>
            </a:pPr>
            <a:endParaRPr lang="en-US" sz="1600">
              <a:latin typeface="Calibri" pitchFamily="34" charset="0"/>
              <a:ea typeface="Calibri" pitchFamily="34" charset="0"/>
              <a:cs typeface="Calibri" pitchFamily="34" charset="0"/>
            </a:endParaRPr>
          </a:p>
          <a:p>
            <a:pPr marL="9525" marR="97154" algn="just">
              <a:spcBef>
                <a:spcPts val="79"/>
              </a:spcBef>
            </a:pPr>
            <a:r>
              <a:rPr lang="en-US" sz="1600">
                <a:latin typeface="Calibri" pitchFamily="34" charset="0"/>
                <a:ea typeface="Calibri" pitchFamily="34" charset="0"/>
                <a:cs typeface="Calibri" pitchFamily="34" charset="0"/>
              </a:rPr>
              <a:t>It helps us to understand how exactly all the units in the system are arranged and interconnected.</a:t>
            </a:r>
          </a:p>
          <a:p>
            <a:pPr marL="9525" marR="97154" algn="just">
              <a:spcBef>
                <a:spcPts val="79"/>
              </a:spcBef>
            </a:pPr>
            <a:endParaRPr lang="en-US" sz="1600">
              <a:latin typeface="Calibri" pitchFamily="34" charset="0"/>
              <a:ea typeface="Calibri" pitchFamily="34" charset="0"/>
              <a:cs typeface="Calibri" pitchFamily="34" charset="0"/>
            </a:endParaRPr>
          </a:p>
          <a:p>
            <a:pPr marL="9525" marR="97154" algn="just">
              <a:spcBef>
                <a:spcPts val="79"/>
              </a:spcBef>
            </a:pPr>
            <a:endParaRPr lang="en-US" sz="1600">
              <a:latin typeface="Calibri" pitchFamily="34" charset="0"/>
              <a:ea typeface="Calibri" pitchFamily="34" charset="0"/>
              <a:cs typeface="Calibri" pitchFamily="34" charset="0"/>
            </a:endParaRPr>
          </a:p>
          <a:p>
            <a:pPr marL="9525" marR="97154" algn="just">
              <a:spcBef>
                <a:spcPts val="79"/>
              </a:spcBef>
            </a:pPr>
            <a:r>
              <a:rPr lang="en-US" sz="1600">
                <a:latin typeface="Calibri" pitchFamily="34" charset="0"/>
                <a:ea typeface="Calibri" pitchFamily="34" charset="0"/>
                <a:cs typeface="Calibri" pitchFamily="34" charset="0"/>
              </a:rPr>
              <a:t>Organization involves –</a:t>
            </a:r>
          </a:p>
          <a:p>
            <a:pPr marL="9525" marR="97154" algn="just">
              <a:spcBef>
                <a:spcPts val="79"/>
              </a:spcBef>
            </a:pPr>
            <a:r>
              <a:rPr lang="en-US" sz="1600">
                <a:latin typeface="Calibri" pitchFamily="34" charset="0"/>
                <a:ea typeface="Calibri" pitchFamily="34" charset="0"/>
                <a:cs typeface="Calibri" pitchFamily="34" charset="0"/>
              </a:rPr>
              <a:t>Physical Components (circuit design, control signals, memory circuit types)</a:t>
            </a:r>
          </a:p>
          <a:p>
            <a:pPr marL="9525" marR="97154" algn="just">
              <a:spcBef>
                <a:spcPts val="79"/>
              </a:spcBef>
            </a:pPr>
            <a:endParaRPr sz="1600">
              <a:latin typeface="Calibri" pitchFamily="34" charset="0"/>
              <a:ea typeface="Calibri" pitchFamily="34" charset="0"/>
              <a:cs typeface="Calibri" pitchFamily="34" charset="0"/>
            </a:endParaRPr>
          </a:p>
        </p:txBody>
      </p:sp>
      <p:sp>
        <p:nvSpPr>
          <p:cNvPr id="5" name="object 5"/>
          <p:cNvSpPr/>
          <p:nvPr/>
        </p:nvSpPr>
        <p:spPr>
          <a:xfrm>
            <a:off x="4429125" y="1005840"/>
            <a:ext cx="0" cy="3671411"/>
          </a:xfrm>
          <a:custGeom>
            <a:avLst/>
            <a:gdLst/>
            <a:ahLst/>
            <a:cxnLst/>
            <a:rect l="l" t="t" r="r" b="b"/>
            <a:pathLst>
              <a:path h="4895215">
                <a:moveTo>
                  <a:pt x="0" y="0"/>
                </a:moveTo>
                <a:lnTo>
                  <a:pt x="0" y="4894783"/>
                </a:lnTo>
              </a:path>
            </a:pathLst>
          </a:custGeom>
          <a:ln w="12700">
            <a:solidFill>
              <a:srgbClr val="A6A6A6"/>
            </a:solidFill>
          </a:ln>
        </p:spPr>
        <p:txBody>
          <a:bodyPr wrap="square" lIns="0" tIns="0" rIns="0" bIns="0" rtlCol="0"/>
          <a:lstStyle/>
          <a:p>
            <a:endParaRPr/>
          </a:p>
        </p:txBody>
      </p:sp>
      <p:sp>
        <p:nvSpPr>
          <p:cNvPr id="6" name="TextBox 5"/>
          <p:cNvSpPr txBox="1"/>
          <p:nvPr/>
        </p:nvSpPr>
        <p:spPr>
          <a:xfrm>
            <a:off x="331694" y="358588"/>
            <a:ext cx="8408894" cy="461665"/>
          </a:xfrm>
          <a:prstGeom prst="rect">
            <a:avLst/>
          </a:prstGeom>
          <a:noFill/>
        </p:spPr>
        <p:txBody>
          <a:bodyPr wrap="square" rtlCol="0">
            <a:spAutoFit/>
          </a:bodyPr>
          <a:lstStyle/>
          <a:p>
            <a:pPr algn="ctr"/>
            <a:r>
              <a:rPr lang="en-US" sz="2400">
                <a:latin typeface="Algerian" pitchFamily="82" charset="0"/>
              </a:rPr>
              <a:t>Computer : Architecture </a:t>
            </a:r>
            <a:r>
              <a:rPr lang="en-US" sz="2400" err="1">
                <a:latin typeface="Algerian" pitchFamily="82" charset="0"/>
              </a:rPr>
              <a:t>vs</a:t>
            </a:r>
            <a:r>
              <a:rPr lang="en-US" sz="2400">
                <a:latin typeface="Algerian" pitchFamily="82" charset="0"/>
              </a:rPr>
              <a:t> Organization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3225" y="445025"/>
            <a:ext cx="7717500" cy="526580"/>
          </a:xfrm>
          <a:prstGeom prst="rect">
            <a:avLst/>
          </a:prstGeom>
        </p:spPr>
        <p:txBody>
          <a:bodyPr vert="horz" wrap="square" lIns="0" tIns="51587" rIns="0" bIns="0" rtlCol="0">
            <a:spAutoFit/>
          </a:bodyPr>
          <a:lstStyle/>
          <a:p>
            <a:pPr marL="28575" algn="ctr">
              <a:spcBef>
                <a:spcPts val="71"/>
              </a:spcBef>
            </a:pPr>
            <a:r>
              <a:rPr lang="en-US" spc="-300">
                <a:latin typeface="Algerian" pitchFamily="82" charset="0"/>
              </a:rPr>
              <a:t>Why Study Computer Architecture?</a:t>
            </a:r>
            <a:endParaRPr spc="-300">
              <a:latin typeface="Algerian" pitchFamily="82" charset="0"/>
            </a:endParaRPr>
          </a:p>
        </p:txBody>
      </p:sp>
      <p:sp>
        <p:nvSpPr>
          <p:cNvPr id="3" name="object 3"/>
          <p:cNvSpPr txBox="1"/>
          <p:nvPr/>
        </p:nvSpPr>
        <p:spPr>
          <a:xfrm>
            <a:off x="516835" y="1241584"/>
            <a:ext cx="7894140" cy="2592376"/>
          </a:xfrm>
          <a:prstGeom prst="rect">
            <a:avLst/>
          </a:prstGeom>
        </p:spPr>
        <p:txBody>
          <a:bodyPr vert="horz" wrap="square" lIns="0" tIns="9525" rIns="0" bIns="0" rtlCol="0">
            <a:spAutoFit/>
          </a:bodyPr>
          <a:lstStyle/>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Design better programs, including system software such as compilers, operating systems, and device drivers.</a:t>
            </a:r>
          </a:p>
          <a:p>
            <a:pPr marL="9049" marR="3810">
              <a:spcBef>
                <a:spcPts val="75"/>
              </a:spcBef>
              <a:tabLst>
                <a:tab pos="266700" algn="l"/>
              </a:tabLst>
            </a:pPr>
            <a:endParaRPr lang="en-US" sz="1800">
              <a:latin typeface="Calibri" pitchFamily="34" charset="0"/>
              <a:ea typeface="Calibri" pitchFamily="34" charset="0"/>
              <a:cs typeface="Calibri" pitchFamily="34" charset="0"/>
            </a:endParaRPr>
          </a:p>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Optimize program behavior.</a:t>
            </a:r>
          </a:p>
          <a:p>
            <a:pPr marL="9049" marR="3810">
              <a:spcBef>
                <a:spcPts val="75"/>
              </a:spcBef>
              <a:tabLst>
                <a:tab pos="266700" algn="l"/>
              </a:tabLst>
            </a:pPr>
            <a:endParaRPr lang="en-US" sz="1800">
              <a:latin typeface="Calibri" pitchFamily="34" charset="0"/>
              <a:ea typeface="Calibri" pitchFamily="34" charset="0"/>
              <a:cs typeface="Calibri" pitchFamily="34" charset="0"/>
            </a:endParaRPr>
          </a:p>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Evaluate (benchmark) computer system performance.</a:t>
            </a:r>
          </a:p>
          <a:p>
            <a:pPr marL="266700" marR="3810" indent="-257651">
              <a:spcBef>
                <a:spcPts val="75"/>
              </a:spcBef>
              <a:buFont typeface="Arial"/>
              <a:buChar char="•"/>
              <a:tabLst>
                <a:tab pos="266700" algn="l"/>
              </a:tabLst>
            </a:pPr>
            <a:endParaRPr lang="en-US" sz="1800">
              <a:latin typeface="Calibri" pitchFamily="34" charset="0"/>
              <a:ea typeface="Calibri" pitchFamily="34" charset="0"/>
              <a:cs typeface="Calibri" pitchFamily="34" charset="0"/>
            </a:endParaRPr>
          </a:p>
          <a:p>
            <a:pPr marL="266700" marR="3810" indent="-257651">
              <a:spcBef>
                <a:spcPts val="75"/>
              </a:spcBef>
              <a:buFont typeface="Arial"/>
              <a:buChar char="•"/>
              <a:tabLst>
                <a:tab pos="266700" algn="l"/>
              </a:tabLst>
            </a:pPr>
            <a:r>
              <a:rPr lang="en-US" sz="1800">
                <a:latin typeface="Calibri" pitchFamily="34" charset="0"/>
                <a:ea typeface="Calibri" pitchFamily="34" charset="0"/>
                <a:cs typeface="Calibri" pitchFamily="34" charset="0"/>
              </a:rPr>
              <a:t>Understand time, space, and price tradeoffs.</a:t>
            </a:r>
          </a:p>
          <a:p>
            <a:pPr marL="266700" marR="3810" indent="-257651">
              <a:spcBef>
                <a:spcPts val="75"/>
              </a:spcBef>
              <a:buFont typeface="Arial"/>
              <a:buChar char="•"/>
              <a:tabLst>
                <a:tab pos="266700" algn="l"/>
              </a:tabLst>
            </a:pPr>
            <a:endParaRPr sz="1800">
              <a:latin typeface="Calibri" pitchFamily="34" charset="0"/>
              <a:ea typeface="Calibri" pitchFamily="34" charset="0"/>
              <a:cs typeface="Calibri"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997.png"/>
          <p:cNvPicPr>
            <a:picLocks noChangeAspect="1"/>
          </p:cNvPicPr>
          <p:nvPr/>
        </p:nvPicPr>
        <p:blipFill>
          <a:blip r:embed="rId2"/>
          <a:stretch>
            <a:fillRect/>
          </a:stretch>
        </p:blipFill>
        <p:spPr>
          <a:xfrm>
            <a:off x="570099" y="245969"/>
            <a:ext cx="3019425" cy="4705350"/>
          </a:xfrm>
          <a:prstGeom prst="rect">
            <a:avLst/>
          </a:prstGeom>
        </p:spPr>
      </p:pic>
      <p:sp>
        <p:nvSpPr>
          <p:cNvPr id="3" name="Rectangle 2"/>
          <p:cNvSpPr/>
          <p:nvPr/>
        </p:nvSpPr>
        <p:spPr>
          <a:xfrm>
            <a:off x="4177553" y="461811"/>
            <a:ext cx="4572000" cy="3293209"/>
          </a:xfrm>
          <a:prstGeom prst="rect">
            <a:avLst/>
          </a:prstGeom>
        </p:spPr>
        <p:txBody>
          <a:bodyPr wrap="square">
            <a:spAutoFit/>
          </a:bodyPr>
          <a:lstStyle/>
          <a:p>
            <a:r>
              <a:rPr lang="en-US" sz="1600">
                <a:latin typeface="Calibri" pitchFamily="34" charset="0"/>
                <a:ea typeface="Calibri" pitchFamily="34" charset="0"/>
                <a:cs typeface="Calibri" pitchFamily="34" charset="0"/>
              </a:rPr>
              <a:t>The computer, of course, must be able to </a:t>
            </a:r>
            <a:r>
              <a:rPr lang="en-US" sz="1600">
                <a:solidFill>
                  <a:srgbClr val="FF0000"/>
                </a:solidFill>
                <a:latin typeface="Calibri" pitchFamily="34" charset="0"/>
                <a:ea typeface="Calibri" pitchFamily="34" charset="0"/>
                <a:cs typeface="Calibri" pitchFamily="34" charset="0"/>
              </a:rPr>
              <a:t>process data</a:t>
            </a:r>
            <a:r>
              <a:rPr lang="en-US" sz="1600">
                <a:latin typeface="Calibri" pitchFamily="34" charset="0"/>
                <a:ea typeface="Calibri" pitchFamily="34" charset="0"/>
                <a:cs typeface="Calibri" pitchFamily="34" charset="0"/>
              </a:rPr>
              <a:t>. The data may take a wide variety of forms, and the range of processing requirements is broad. </a:t>
            </a: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It is also essential that a computer </a:t>
            </a:r>
            <a:r>
              <a:rPr lang="en-US" sz="1600">
                <a:solidFill>
                  <a:srgbClr val="FF0000"/>
                </a:solidFill>
                <a:latin typeface="Calibri" pitchFamily="34" charset="0"/>
                <a:ea typeface="Calibri" pitchFamily="34" charset="0"/>
                <a:cs typeface="Calibri" pitchFamily="34" charset="0"/>
              </a:rPr>
              <a:t>store data</a:t>
            </a:r>
            <a:r>
              <a:rPr lang="en-US" sz="1600">
                <a:latin typeface="Calibri" pitchFamily="34" charset="0"/>
                <a:ea typeface="Calibri" pitchFamily="34" charset="0"/>
                <a:cs typeface="Calibri" pitchFamily="34" charset="0"/>
              </a:rPr>
              <a:t>. Event if the computer is processing data on the fly (i.e., data come in and get processed, and the results go right out), the computer must temporarily store at least those pieces of data that are being worked on at any given moment. Thus, there is at least a short-term data storage function. Files of data are stored on the computer for subsequent retrieval and update.</a:t>
            </a:r>
          </a:p>
        </p:txBody>
      </p:sp>
      <p:sp>
        <p:nvSpPr>
          <p:cNvPr id="4" name="TextBox 3"/>
          <p:cNvSpPr txBox="1"/>
          <p:nvPr/>
        </p:nvSpPr>
        <p:spPr>
          <a:xfrm>
            <a:off x="376518" y="4835723"/>
            <a:ext cx="3720353" cy="307777"/>
          </a:xfrm>
          <a:prstGeom prst="rect">
            <a:avLst/>
          </a:prstGeom>
          <a:noFill/>
        </p:spPr>
        <p:txBody>
          <a:bodyPr wrap="square" rtlCol="0">
            <a:spAutoFit/>
          </a:bodyPr>
          <a:lstStyle/>
          <a:p>
            <a:pPr algn="ctr"/>
            <a:r>
              <a:rPr lang="en-US">
                <a:latin typeface="Calibri" pitchFamily="34" charset="0"/>
                <a:ea typeface="Calibri" pitchFamily="34" charset="0"/>
                <a:cs typeface="Calibri" pitchFamily="34" charset="0"/>
              </a:rPr>
              <a:t>A Function View of The Computer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997.png"/>
          <p:cNvPicPr>
            <a:picLocks noChangeAspect="1"/>
          </p:cNvPicPr>
          <p:nvPr/>
        </p:nvPicPr>
        <p:blipFill>
          <a:blip r:embed="rId2"/>
          <a:stretch>
            <a:fillRect/>
          </a:stretch>
        </p:blipFill>
        <p:spPr>
          <a:xfrm>
            <a:off x="579064" y="245969"/>
            <a:ext cx="3019425" cy="4705350"/>
          </a:xfrm>
          <a:prstGeom prst="rect">
            <a:avLst/>
          </a:prstGeom>
        </p:spPr>
      </p:pic>
      <p:sp>
        <p:nvSpPr>
          <p:cNvPr id="3" name="Rectangle 2"/>
          <p:cNvSpPr/>
          <p:nvPr/>
        </p:nvSpPr>
        <p:spPr>
          <a:xfrm>
            <a:off x="4222767" y="371583"/>
            <a:ext cx="4572000" cy="4524315"/>
          </a:xfrm>
          <a:prstGeom prst="rect">
            <a:avLst/>
          </a:prstGeom>
        </p:spPr>
        <p:txBody>
          <a:bodyPr wrap="square">
            <a:spAutoFit/>
          </a:bodyPr>
          <a:lstStyle/>
          <a:p>
            <a:r>
              <a:rPr lang="en-US" sz="1600">
                <a:latin typeface="Calibri" pitchFamily="34" charset="0"/>
                <a:ea typeface="Calibri" pitchFamily="34" charset="0"/>
                <a:cs typeface="Calibri" pitchFamily="34" charset="0"/>
              </a:rPr>
              <a:t>The computer must be able to </a:t>
            </a:r>
            <a:r>
              <a:rPr lang="en-US" sz="1600">
                <a:solidFill>
                  <a:srgbClr val="FF0000"/>
                </a:solidFill>
                <a:latin typeface="Calibri" pitchFamily="34" charset="0"/>
                <a:ea typeface="Calibri" pitchFamily="34" charset="0"/>
                <a:cs typeface="Calibri" pitchFamily="34" charset="0"/>
              </a:rPr>
              <a:t>move data </a:t>
            </a:r>
            <a:r>
              <a:rPr lang="en-US" sz="1600">
                <a:latin typeface="Calibri" pitchFamily="34" charset="0"/>
                <a:ea typeface="Calibri" pitchFamily="34" charset="0"/>
                <a:cs typeface="Calibri" pitchFamily="34" charset="0"/>
              </a:rPr>
              <a:t>between itself and the outside world. The computer’s operating environment consists of devices that serve as either sources or destinations of data. When data are received from or delivered to a device that is directly connected to the computer, the process id known as input-output (I/O), and the device is referred to as a peripheral. When data are moved over longer distances, to or from a remote device, the process is known as data communications.</a:t>
            </a: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Finally, there must be </a:t>
            </a:r>
            <a:r>
              <a:rPr lang="en-US" sz="1600">
                <a:solidFill>
                  <a:srgbClr val="FF0000"/>
                </a:solidFill>
                <a:latin typeface="Calibri" pitchFamily="34" charset="0"/>
                <a:ea typeface="Calibri" pitchFamily="34" charset="0"/>
                <a:cs typeface="Calibri" pitchFamily="34" charset="0"/>
              </a:rPr>
              <a:t>control </a:t>
            </a:r>
            <a:r>
              <a:rPr lang="en-US" sz="1600">
                <a:latin typeface="Calibri" pitchFamily="34" charset="0"/>
                <a:ea typeface="Calibri" pitchFamily="34" charset="0"/>
                <a:cs typeface="Calibri" pitchFamily="34" charset="0"/>
              </a:rPr>
              <a:t>of there three functions. Ultimately, this control is exercised by the individual who provides the computer with instructions. Within the computer system, a control unit manages the computer’s resources and orchestrates the performance of its functional parts in response to those instructions.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633.png"/>
          <p:cNvPicPr>
            <a:picLocks noChangeAspect="1"/>
          </p:cNvPicPr>
          <p:nvPr/>
        </p:nvPicPr>
        <p:blipFill>
          <a:blip r:embed="rId2"/>
          <a:stretch>
            <a:fillRect/>
          </a:stretch>
        </p:blipFill>
        <p:spPr>
          <a:xfrm>
            <a:off x="2511" y="448462"/>
            <a:ext cx="4105848" cy="4096322"/>
          </a:xfrm>
          <a:prstGeom prst="rect">
            <a:avLst/>
          </a:prstGeom>
        </p:spPr>
      </p:pic>
      <p:sp>
        <p:nvSpPr>
          <p:cNvPr id="3" name="Rectangle 2"/>
          <p:cNvSpPr/>
          <p:nvPr/>
        </p:nvSpPr>
        <p:spPr>
          <a:xfrm>
            <a:off x="4177553" y="532949"/>
            <a:ext cx="4572000" cy="4016484"/>
          </a:xfrm>
          <a:prstGeom prst="rect">
            <a:avLst/>
          </a:prstGeom>
        </p:spPr>
        <p:txBody>
          <a:bodyPr lIns="91440" tIns="45720" rIns="91440" bIns="45720" anchor="t">
            <a:spAutoFit/>
          </a:bodyPr>
          <a:lstStyle/>
          <a:p>
            <a:pPr algn="ctr"/>
            <a:r>
              <a:rPr lang="en-US" sz="1500" b="1">
                <a:latin typeface="Calibri" pitchFamily="34" charset="0"/>
                <a:ea typeface="Calibri" pitchFamily="34" charset="0"/>
                <a:cs typeface="Calibri" pitchFamily="34" charset="0"/>
              </a:rPr>
              <a:t>Data Movement Device</a:t>
            </a:r>
          </a:p>
          <a:p>
            <a:pPr algn="just"/>
            <a:endParaRPr lang="en-US" sz="1500">
              <a:latin typeface="Calibri" pitchFamily="34" charset="0"/>
              <a:ea typeface="Calibri" pitchFamily="34" charset="0"/>
              <a:cs typeface="Calibri" pitchFamily="34" charset="0"/>
            </a:endParaRPr>
          </a:p>
          <a:p>
            <a:pPr algn="just"/>
            <a:r>
              <a:rPr lang="en-US" sz="1500">
                <a:latin typeface="Calibri" pitchFamily="34" charset="0"/>
                <a:ea typeface="Calibri" pitchFamily="34" charset="0"/>
                <a:cs typeface="Calibri" pitchFamily="34" charset="0"/>
              </a:rPr>
              <a:t>What it does:</a:t>
            </a:r>
          </a:p>
          <a:p>
            <a:pPr algn="just">
              <a:buFont typeface="Wingdings" pitchFamily="2" charset="2"/>
              <a:buChar char="ü"/>
            </a:pPr>
            <a:r>
              <a:rPr lang="en-US" sz="1500">
                <a:latin typeface="Calibri" pitchFamily="34" charset="0"/>
                <a:ea typeface="Calibri" pitchFamily="34" charset="0"/>
                <a:cs typeface="Calibri" pitchFamily="34" charset="0"/>
              </a:rPr>
              <a:t>The computer acts as a data movement device, simply transferring data from one location to another.</a:t>
            </a:r>
          </a:p>
          <a:p>
            <a:pPr algn="just">
              <a:buFont typeface="Wingdings" pitchFamily="2" charset="2"/>
              <a:buChar char="ü"/>
            </a:pPr>
            <a:r>
              <a:rPr lang="en-US" sz="1500">
                <a:latin typeface="Calibri" pitchFamily="34" charset="0"/>
                <a:ea typeface="Calibri" pitchFamily="34" charset="0"/>
                <a:cs typeface="Calibri" pitchFamily="34" charset="0"/>
              </a:rPr>
              <a:t>The data moves between peripherals (e.g., keyboard, printer) or between communication lines (e.g., network connections).</a:t>
            </a:r>
          </a:p>
          <a:p>
            <a:pPr algn="just"/>
            <a:endParaRPr lang="en-US" sz="1500">
              <a:latin typeface="Calibri" pitchFamily="34" charset="0"/>
              <a:ea typeface="Calibri" pitchFamily="34" charset="0"/>
              <a:cs typeface="Calibri" pitchFamily="34" charset="0"/>
            </a:endParaRPr>
          </a:p>
          <a:p>
            <a:pPr algn="just"/>
            <a:r>
              <a:rPr lang="en-US" sz="1500">
                <a:latin typeface="Calibri" pitchFamily="34" charset="0"/>
                <a:ea typeface="Calibri" pitchFamily="34" charset="0"/>
                <a:cs typeface="Calibri" pitchFamily="34" charset="0"/>
              </a:rPr>
              <a:t>Key Features:</a:t>
            </a:r>
          </a:p>
          <a:p>
            <a:pPr algn="just">
              <a:buFont typeface="Wingdings" pitchFamily="2" charset="2"/>
              <a:buChar char="ü"/>
            </a:pPr>
            <a:r>
              <a:rPr lang="en-US" sz="1500">
                <a:latin typeface="Calibri" pitchFamily="34" charset="0"/>
                <a:ea typeface="Calibri" pitchFamily="34" charset="0"/>
                <a:cs typeface="Calibri" pitchFamily="34" charset="0"/>
              </a:rPr>
              <a:t>No data is stored or processed.</a:t>
            </a:r>
          </a:p>
          <a:p>
            <a:pPr algn="just">
              <a:buFont typeface="Wingdings" pitchFamily="2" charset="2"/>
              <a:buChar char="ü"/>
            </a:pPr>
            <a:r>
              <a:rPr lang="en-US" sz="1500">
                <a:latin typeface="Calibri" pitchFamily="34" charset="0"/>
                <a:ea typeface="Calibri" pitchFamily="34" charset="0"/>
                <a:cs typeface="Calibri" pitchFamily="34" charset="0"/>
              </a:rPr>
              <a:t>The operation is purely about moving data from source to destination.</a:t>
            </a:r>
          </a:p>
          <a:p>
            <a:pPr algn="just"/>
            <a:endParaRPr lang="en-US" sz="1500">
              <a:latin typeface="Calibri" pitchFamily="34" charset="0"/>
              <a:ea typeface="Calibri" pitchFamily="34" charset="0"/>
              <a:cs typeface="Calibri" pitchFamily="34" charset="0"/>
            </a:endParaRPr>
          </a:p>
          <a:p>
            <a:pPr algn="just"/>
            <a:r>
              <a:rPr lang="en-US" sz="1500">
                <a:latin typeface="Calibri" pitchFamily="34" charset="0"/>
                <a:ea typeface="Calibri" pitchFamily="34" charset="0"/>
                <a:cs typeface="Calibri" pitchFamily="34" charset="0"/>
              </a:rPr>
              <a:t>Example:</a:t>
            </a:r>
          </a:p>
          <a:p>
            <a:pPr algn="just">
              <a:buFont typeface="Wingdings" pitchFamily="2" charset="2"/>
              <a:buChar char="ü"/>
            </a:pPr>
            <a:r>
              <a:rPr lang="en-US" sz="1500">
                <a:latin typeface="Calibri" pitchFamily="34" charset="0"/>
                <a:ea typeface="Calibri" pitchFamily="34" charset="0"/>
                <a:cs typeface="Calibri" pitchFamily="34" charset="0"/>
              </a:rPr>
              <a:t>Transferring a file from a USB drive to another device.</a:t>
            </a:r>
          </a:p>
          <a:p>
            <a:pPr algn="just">
              <a:buFont typeface="Wingdings" pitchFamily="2" charset="2"/>
              <a:buChar char="ü"/>
            </a:pPr>
            <a:r>
              <a:rPr lang="en-US" sz="1500">
                <a:latin typeface="Calibri" pitchFamily="34" charset="0"/>
                <a:ea typeface="Calibri" pitchFamily="34" charset="0"/>
                <a:cs typeface="Calibri" pitchFamily="34" charset="0"/>
              </a:rPr>
              <a:t>Forwarding data packets across a network.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654.png"/>
          <p:cNvPicPr>
            <a:picLocks noChangeAspect="1"/>
          </p:cNvPicPr>
          <p:nvPr/>
        </p:nvPicPr>
        <p:blipFill>
          <a:blip r:embed="rId2"/>
          <a:stretch>
            <a:fillRect/>
          </a:stretch>
        </p:blipFill>
        <p:spPr>
          <a:xfrm>
            <a:off x="341505" y="403407"/>
            <a:ext cx="3924848" cy="4067743"/>
          </a:xfrm>
          <a:prstGeom prst="rect">
            <a:avLst/>
          </a:prstGeom>
        </p:spPr>
      </p:pic>
      <p:sp>
        <p:nvSpPr>
          <p:cNvPr id="3" name="Rectangle 2"/>
          <p:cNvSpPr/>
          <p:nvPr/>
        </p:nvSpPr>
        <p:spPr>
          <a:xfrm>
            <a:off x="4240306" y="311408"/>
            <a:ext cx="4572000" cy="4616648"/>
          </a:xfrm>
          <a:prstGeom prst="rect">
            <a:avLst/>
          </a:prstGeom>
        </p:spPr>
        <p:txBody>
          <a:bodyPr>
            <a:spAutoFit/>
          </a:bodyPr>
          <a:lstStyle/>
          <a:p>
            <a:pPr algn="ctr"/>
            <a:r>
              <a:rPr lang="en-US" b="1">
                <a:latin typeface="Calibri" pitchFamily="34" charset="0"/>
                <a:ea typeface="Calibri" pitchFamily="34" charset="0"/>
                <a:cs typeface="Calibri" pitchFamily="34" charset="0"/>
              </a:rPr>
              <a:t>Data Storage Device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What it does:</a:t>
            </a:r>
          </a:p>
          <a:p>
            <a:pPr algn="just"/>
            <a:r>
              <a:rPr lang="en-US">
                <a:latin typeface="Calibri" pitchFamily="34" charset="0"/>
                <a:ea typeface="Calibri" pitchFamily="34" charset="0"/>
                <a:cs typeface="Calibri" pitchFamily="34" charset="0"/>
              </a:rPr>
              <a:t>The computer functions as a data storage device, enabling data to be:</a:t>
            </a:r>
          </a:p>
          <a:p>
            <a:pPr algn="just"/>
            <a:r>
              <a:rPr lang="en-US" b="1">
                <a:latin typeface="Calibri" pitchFamily="34" charset="0"/>
                <a:ea typeface="Calibri" pitchFamily="34" charset="0"/>
                <a:cs typeface="Calibri" pitchFamily="34" charset="0"/>
              </a:rPr>
              <a:t>Read:</a:t>
            </a:r>
            <a:r>
              <a:rPr lang="en-US">
                <a:latin typeface="Calibri" pitchFamily="34" charset="0"/>
                <a:ea typeface="Calibri" pitchFamily="34" charset="0"/>
                <a:cs typeface="Calibri" pitchFamily="34" charset="0"/>
              </a:rPr>
              <a:t> Data is transferred from storage to the external environment (e.g., reading a file from a disk to display on a screen).</a:t>
            </a:r>
          </a:p>
          <a:p>
            <a:pPr algn="just"/>
            <a:r>
              <a:rPr lang="en-US" b="1">
                <a:latin typeface="Calibri" pitchFamily="34" charset="0"/>
                <a:ea typeface="Calibri" pitchFamily="34" charset="0"/>
                <a:cs typeface="Calibri" pitchFamily="34" charset="0"/>
              </a:rPr>
              <a:t>Written:</a:t>
            </a:r>
            <a:r>
              <a:rPr lang="en-US">
                <a:latin typeface="Calibri" pitchFamily="34" charset="0"/>
                <a:ea typeface="Calibri" pitchFamily="34" charset="0"/>
                <a:cs typeface="Calibri" pitchFamily="34" charset="0"/>
              </a:rPr>
              <a:t> Data is transferred from the external environment to storage (e.g., saving a file from an application to a hard drive).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Key Features:</a:t>
            </a:r>
          </a:p>
          <a:p>
            <a:pPr algn="just">
              <a:buFont typeface="Wingdings" pitchFamily="2" charset="2"/>
              <a:buChar char="ü"/>
            </a:pPr>
            <a:r>
              <a:rPr lang="en-US">
                <a:latin typeface="Calibri" pitchFamily="34" charset="0"/>
                <a:ea typeface="Calibri" pitchFamily="34" charset="0"/>
                <a:cs typeface="Calibri" pitchFamily="34" charset="0"/>
              </a:rPr>
              <a:t>Involves data movement between the computer's storage and the external environment.</a:t>
            </a:r>
          </a:p>
          <a:p>
            <a:pPr algn="just">
              <a:buFont typeface="Wingdings" pitchFamily="2" charset="2"/>
              <a:buChar char="ü"/>
            </a:pPr>
            <a:r>
              <a:rPr lang="en-US">
                <a:latin typeface="Calibri" pitchFamily="34" charset="0"/>
                <a:ea typeface="Calibri" pitchFamily="34" charset="0"/>
                <a:cs typeface="Calibri" pitchFamily="34" charset="0"/>
              </a:rPr>
              <a:t>No processing is performed; the focus is on reading and writing.</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Example:</a:t>
            </a:r>
          </a:p>
          <a:p>
            <a:pPr algn="just">
              <a:buFont typeface="Wingdings" pitchFamily="2" charset="2"/>
              <a:buChar char="ü"/>
            </a:pPr>
            <a:r>
              <a:rPr lang="en-US">
                <a:latin typeface="Calibri" pitchFamily="34" charset="0"/>
                <a:ea typeface="Calibri" pitchFamily="34" charset="0"/>
                <a:cs typeface="Calibri" pitchFamily="34" charset="0"/>
              </a:rPr>
              <a:t>Saving a scanned document to a hard drive.</a:t>
            </a:r>
          </a:p>
          <a:p>
            <a:pPr algn="just">
              <a:buFont typeface="Wingdings" pitchFamily="2" charset="2"/>
              <a:buChar char="ü"/>
            </a:pPr>
            <a:r>
              <a:rPr lang="en-US">
                <a:latin typeface="Calibri" pitchFamily="34" charset="0"/>
                <a:ea typeface="Calibri" pitchFamily="34" charset="0"/>
                <a:cs typeface="Calibri" pitchFamily="34" charset="0"/>
              </a:rPr>
              <a:t>Reading a video file from a disk and sending it to a display.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726.png"/>
          <p:cNvPicPr>
            <a:picLocks noChangeAspect="1"/>
          </p:cNvPicPr>
          <p:nvPr/>
        </p:nvPicPr>
        <p:blipFill>
          <a:blip r:embed="rId2"/>
          <a:stretch>
            <a:fillRect/>
          </a:stretch>
        </p:blipFill>
        <p:spPr>
          <a:xfrm>
            <a:off x="125506" y="590544"/>
            <a:ext cx="4277322" cy="4105848"/>
          </a:xfrm>
          <a:prstGeom prst="rect">
            <a:avLst/>
          </a:prstGeom>
        </p:spPr>
      </p:pic>
      <p:sp>
        <p:nvSpPr>
          <p:cNvPr id="3" name="Rectangle 2"/>
          <p:cNvSpPr/>
          <p:nvPr/>
        </p:nvSpPr>
        <p:spPr>
          <a:xfrm>
            <a:off x="4249270" y="290320"/>
            <a:ext cx="4572000" cy="4616648"/>
          </a:xfrm>
          <a:prstGeom prst="rect">
            <a:avLst/>
          </a:prstGeom>
        </p:spPr>
        <p:txBody>
          <a:bodyPr>
            <a:spAutoFit/>
          </a:bodyPr>
          <a:lstStyle/>
          <a:p>
            <a:pPr algn="ctr"/>
            <a:r>
              <a:rPr lang="en-US" b="1">
                <a:latin typeface="Calibri" pitchFamily="34" charset="0"/>
                <a:ea typeface="Calibri" pitchFamily="34" charset="0"/>
                <a:cs typeface="Calibri" pitchFamily="34" charset="0"/>
              </a:rPr>
              <a:t>Data Processing on Stored Data</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What it does:</a:t>
            </a:r>
          </a:p>
          <a:p>
            <a:pPr algn="just"/>
            <a:r>
              <a:rPr lang="en-US">
                <a:latin typeface="Calibri" pitchFamily="34" charset="0"/>
                <a:ea typeface="Calibri" pitchFamily="34" charset="0"/>
                <a:cs typeface="Calibri" pitchFamily="34" charset="0"/>
              </a:rPr>
              <a:t>The computer processes data that is already stored in its memory or storage.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The operation involves:</a:t>
            </a:r>
          </a:p>
          <a:p>
            <a:pPr algn="just">
              <a:buFont typeface="Wingdings" pitchFamily="2" charset="2"/>
              <a:buChar char="ü"/>
            </a:pPr>
            <a:r>
              <a:rPr lang="en-US">
                <a:latin typeface="Calibri" pitchFamily="34" charset="0"/>
                <a:ea typeface="Calibri" pitchFamily="34" charset="0"/>
                <a:cs typeface="Calibri" pitchFamily="34" charset="0"/>
              </a:rPr>
              <a:t>Retrieving data from storage.</a:t>
            </a:r>
          </a:p>
          <a:p>
            <a:pPr algn="just">
              <a:buFont typeface="Wingdings" pitchFamily="2" charset="2"/>
              <a:buChar char="ü"/>
            </a:pPr>
            <a:r>
              <a:rPr lang="en-US">
                <a:latin typeface="Calibri" pitchFamily="34" charset="0"/>
                <a:ea typeface="Calibri" pitchFamily="34" charset="0"/>
                <a:cs typeface="Calibri" pitchFamily="34" charset="0"/>
              </a:rPr>
              <a:t>Processing the data (e.g., performing calculations, transformations).</a:t>
            </a:r>
          </a:p>
          <a:p>
            <a:pPr algn="just">
              <a:buFont typeface="Wingdings" pitchFamily="2" charset="2"/>
              <a:buChar char="ü"/>
            </a:pPr>
            <a:r>
              <a:rPr lang="en-US">
                <a:latin typeface="Calibri" pitchFamily="34" charset="0"/>
                <a:ea typeface="Calibri" pitchFamily="34" charset="0"/>
                <a:cs typeface="Calibri" pitchFamily="34" charset="0"/>
              </a:rPr>
              <a:t>Returning the processed data to storage or output.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Key Features:</a:t>
            </a:r>
          </a:p>
          <a:p>
            <a:pPr algn="just">
              <a:buFont typeface="Wingdings" pitchFamily="2" charset="2"/>
              <a:buChar char="ü"/>
            </a:pPr>
            <a:r>
              <a:rPr lang="en-US">
                <a:latin typeface="Calibri" pitchFamily="34" charset="0"/>
                <a:ea typeface="Calibri" pitchFamily="34" charset="0"/>
                <a:cs typeface="Calibri" pitchFamily="34" charset="0"/>
              </a:rPr>
              <a:t>The processing unit (e.g., CPU) works on data fetched from storage.</a:t>
            </a:r>
          </a:p>
          <a:p>
            <a:pPr algn="just">
              <a:buFont typeface="Wingdings" pitchFamily="2" charset="2"/>
              <a:buChar char="ü"/>
            </a:pPr>
            <a:r>
              <a:rPr lang="en-US">
                <a:latin typeface="Calibri" pitchFamily="34" charset="0"/>
                <a:ea typeface="Calibri" pitchFamily="34" charset="0"/>
                <a:cs typeface="Calibri" pitchFamily="34" charset="0"/>
              </a:rPr>
              <a:t>The results of processing may be saved back to storage.</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Example:</a:t>
            </a:r>
          </a:p>
          <a:p>
            <a:pPr algn="just">
              <a:buFont typeface="Wingdings" pitchFamily="2" charset="2"/>
              <a:buChar char="ü"/>
            </a:pPr>
            <a:r>
              <a:rPr lang="en-US">
                <a:latin typeface="Calibri" pitchFamily="34" charset="0"/>
                <a:ea typeface="Calibri" pitchFamily="34" charset="0"/>
                <a:cs typeface="Calibri" pitchFamily="34" charset="0"/>
              </a:rPr>
              <a:t>Running a program stored on disk to calculate payroll.</a:t>
            </a:r>
          </a:p>
          <a:p>
            <a:pPr algn="just">
              <a:buFont typeface="Wingdings" pitchFamily="2" charset="2"/>
              <a:buChar char="ü"/>
            </a:pPr>
            <a:r>
              <a:rPr lang="en-US">
                <a:latin typeface="Calibri" pitchFamily="34" charset="0"/>
                <a:ea typeface="Calibri" pitchFamily="34" charset="0"/>
                <a:cs typeface="Calibri" pitchFamily="34" charset="0"/>
              </a:rPr>
              <a:t>Opening a spreadsheet, performing calculations, and saving the updated file.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01-19 232741.png"/>
          <p:cNvPicPr>
            <a:picLocks noChangeAspect="1"/>
          </p:cNvPicPr>
          <p:nvPr/>
        </p:nvPicPr>
        <p:blipFill>
          <a:blip r:embed="rId2"/>
          <a:stretch>
            <a:fillRect/>
          </a:stretch>
        </p:blipFill>
        <p:spPr>
          <a:xfrm>
            <a:off x="127767" y="520219"/>
            <a:ext cx="3724795" cy="4210638"/>
          </a:xfrm>
          <a:prstGeom prst="rect">
            <a:avLst/>
          </a:prstGeom>
        </p:spPr>
      </p:pic>
      <p:sp>
        <p:nvSpPr>
          <p:cNvPr id="3" name="Rectangle 2"/>
          <p:cNvSpPr/>
          <p:nvPr/>
        </p:nvSpPr>
        <p:spPr>
          <a:xfrm>
            <a:off x="4276164" y="95964"/>
            <a:ext cx="4572000" cy="5047536"/>
          </a:xfrm>
          <a:prstGeom prst="rect">
            <a:avLst/>
          </a:prstGeom>
        </p:spPr>
        <p:txBody>
          <a:bodyPr>
            <a:spAutoFit/>
          </a:bodyPr>
          <a:lstStyle/>
          <a:p>
            <a:pPr algn="ctr"/>
            <a:r>
              <a:rPr lang="en-US" b="1">
                <a:latin typeface="Calibri" pitchFamily="34" charset="0"/>
                <a:ea typeface="Calibri" pitchFamily="34" charset="0"/>
                <a:cs typeface="Calibri" pitchFamily="34" charset="0"/>
              </a:rPr>
              <a:t>Data Processing on En Route Data</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What it does:</a:t>
            </a:r>
          </a:p>
          <a:p>
            <a:pPr algn="just"/>
            <a:r>
              <a:rPr lang="en-US">
                <a:latin typeface="Calibri" pitchFamily="34" charset="0"/>
                <a:ea typeface="Calibri" pitchFamily="34" charset="0"/>
                <a:cs typeface="Calibri" pitchFamily="34" charset="0"/>
              </a:rPr>
              <a:t>The computer processes data while it is being transferred between storage and the external environment.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The operation involves:</a:t>
            </a:r>
          </a:p>
          <a:p>
            <a:pPr algn="just">
              <a:buFont typeface="Wingdings" pitchFamily="2" charset="2"/>
              <a:buChar char="ü"/>
            </a:pPr>
            <a:r>
              <a:rPr lang="en-US">
                <a:latin typeface="Calibri" pitchFamily="34" charset="0"/>
                <a:ea typeface="Calibri" pitchFamily="34" charset="0"/>
                <a:cs typeface="Calibri" pitchFamily="34" charset="0"/>
              </a:rPr>
              <a:t>Receiving data from an external source or storage.</a:t>
            </a:r>
          </a:p>
          <a:p>
            <a:pPr algn="just">
              <a:buFont typeface="Wingdings" pitchFamily="2" charset="2"/>
              <a:buChar char="ü"/>
            </a:pPr>
            <a:r>
              <a:rPr lang="en-US">
                <a:latin typeface="Calibri" pitchFamily="34" charset="0"/>
                <a:ea typeface="Calibri" pitchFamily="34" charset="0"/>
                <a:cs typeface="Calibri" pitchFamily="34" charset="0"/>
              </a:rPr>
              <a:t>Processing the data during transfer.</a:t>
            </a:r>
          </a:p>
          <a:p>
            <a:pPr algn="just">
              <a:buFont typeface="Wingdings" pitchFamily="2" charset="2"/>
              <a:buChar char="ü"/>
            </a:pPr>
            <a:r>
              <a:rPr lang="en-US">
                <a:latin typeface="Calibri" pitchFamily="34" charset="0"/>
                <a:ea typeface="Calibri" pitchFamily="34" charset="0"/>
                <a:cs typeface="Calibri" pitchFamily="34" charset="0"/>
              </a:rPr>
              <a:t>Sending the processed data to storage or output.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Key Features:</a:t>
            </a:r>
          </a:p>
          <a:p>
            <a:pPr algn="just">
              <a:buFont typeface="Wingdings" pitchFamily="2" charset="2"/>
              <a:buChar char="ü"/>
            </a:pPr>
            <a:r>
              <a:rPr lang="en-US">
                <a:latin typeface="Calibri" pitchFamily="34" charset="0"/>
                <a:ea typeface="Calibri" pitchFamily="34" charset="0"/>
                <a:cs typeface="Calibri" pitchFamily="34" charset="0"/>
              </a:rPr>
              <a:t>Combines data movement and data processing.</a:t>
            </a:r>
          </a:p>
          <a:p>
            <a:pPr algn="just">
              <a:buFont typeface="Wingdings" pitchFamily="2" charset="2"/>
              <a:buChar char="ü"/>
            </a:pPr>
            <a:r>
              <a:rPr lang="en-US">
                <a:latin typeface="Calibri" pitchFamily="34" charset="0"/>
                <a:ea typeface="Calibri" pitchFamily="34" charset="0"/>
                <a:cs typeface="Calibri" pitchFamily="34" charset="0"/>
              </a:rPr>
              <a:t>The processing occurs "on the fly," without storing the raw data first.</a:t>
            </a:r>
          </a:p>
          <a:p>
            <a:pPr algn="just"/>
            <a:endParaRPr lang="en-US">
              <a:latin typeface="Calibri" pitchFamily="34" charset="0"/>
              <a:ea typeface="Calibri" pitchFamily="34" charset="0"/>
              <a:cs typeface="Calibri" pitchFamily="34" charset="0"/>
            </a:endParaRPr>
          </a:p>
          <a:p>
            <a:pPr algn="just"/>
            <a:r>
              <a:rPr lang="en-US">
                <a:latin typeface="Calibri" pitchFamily="34" charset="0"/>
                <a:ea typeface="Calibri" pitchFamily="34" charset="0"/>
                <a:cs typeface="Calibri" pitchFamily="34" charset="0"/>
              </a:rPr>
              <a:t>Example:</a:t>
            </a:r>
          </a:p>
          <a:p>
            <a:pPr algn="just">
              <a:buFont typeface="Wingdings" pitchFamily="2" charset="2"/>
              <a:buChar char="ü"/>
            </a:pPr>
            <a:r>
              <a:rPr lang="en-US">
                <a:latin typeface="Calibri" pitchFamily="34" charset="0"/>
                <a:ea typeface="Calibri" pitchFamily="34" charset="0"/>
                <a:cs typeface="Calibri" pitchFamily="34" charset="0"/>
              </a:rPr>
              <a:t>Reading sensor data in real-time, processing it (e.g., filtering noise), and storing the processed data in a database.</a:t>
            </a:r>
          </a:p>
          <a:p>
            <a:pPr algn="just">
              <a:buFont typeface="Wingdings" pitchFamily="2" charset="2"/>
              <a:buChar char="ü"/>
            </a:pPr>
            <a:r>
              <a:rPr lang="en-US">
                <a:latin typeface="Calibri" pitchFamily="34" charset="0"/>
                <a:ea typeface="Calibri" pitchFamily="34" charset="0"/>
                <a:cs typeface="Calibri" pitchFamily="34" charset="0"/>
              </a:rPr>
              <a:t>Receiving compressed data from a network, decompressing it, and saving it to disk.</a:t>
            </a:r>
          </a:p>
          <a:p>
            <a:pPr algn="just"/>
            <a:endParaRPr lang="en-US">
              <a:latin typeface="Calibri" pitchFamily="34" charset="0"/>
              <a:ea typeface="Calibri" pitchFamily="34" charset="0"/>
              <a:cs typeface="Calibri"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5-01-20 000654.png"/>
          <p:cNvPicPr>
            <a:picLocks noChangeAspect="1"/>
          </p:cNvPicPr>
          <p:nvPr/>
        </p:nvPicPr>
        <p:blipFill>
          <a:blip r:embed="rId2"/>
          <a:stretch>
            <a:fillRect/>
          </a:stretch>
        </p:blipFill>
        <p:spPr>
          <a:xfrm>
            <a:off x="2085628" y="194930"/>
            <a:ext cx="4972744" cy="475363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862627" y="1053048"/>
            <a:ext cx="1980971" cy="2570262"/>
          </a:xfrm>
          <a:prstGeom prst="rect">
            <a:avLst/>
          </a:prstGeom>
        </p:spPr>
      </p:pic>
      <p:sp>
        <p:nvSpPr>
          <p:cNvPr id="4" name="object 4"/>
          <p:cNvSpPr txBox="1"/>
          <p:nvPr/>
        </p:nvSpPr>
        <p:spPr>
          <a:xfrm>
            <a:off x="4874514" y="1054608"/>
            <a:ext cx="4054333" cy="3559308"/>
          </a:xfrm>
          <a:prstGeom prst="rect">
            <a:avLst/>
          </a:prstGeom>
        </p:spPr>
        <p:txBody>
          <a:bodyPr vert="horz" wrap="square" lIns="0" tIns="9525" rIns="0" bIns="0" rtlCol="0">
            <a:spAutoFit/>
          </a:bodyPr>
          <a:lstStyle/>
          <a:p>
            <a:pPr marL="815340" marR="3810" indent="457200" algn="just">
              <a:spcBef>
                <a:spcPts val="75"/>
              </a:spcBef>
            </a:pPr>
            <a:r>
              <a:rPr lang="en-US" b="1">
                <a:latin typeface="Calibri" pitchFamily="34" charset="0"/>
                <a:ea typeface="Calibri" pitchFamily="34" charset="0"/>
                <a:cs typeface="Calibri" pitchFamily="34" charset="0"/>
              </a:rPr>
              <a:t>Arithmetic and Logic Unit (ALU) </a:t>
            </a:r>
          </a:p>
          <a:p>
            <a:pPr marL="815340" marR="3810" indent="457200" algn="just">
              <a:spcBef>
                <a:spcPts val="75"/>
              </a:spcBef>
            </a:pPr>
            <a:r>
              <a:rPr lang="en-US">
                <a:latin typeface="Calibri" pitchFamily="34" charset="0"/>
                <a:ea typeface="Calibri" pitchFamily="34" charset="0"/>
                <a:cs typeface="Calibri" pitchFamily="34" charset="0"/>
              </a:rPr>
              <a:t>The ALU allows arithmetic (add, subtract etc) and logic (AND, OR, NOT etc) operations to be carried out.</a:t>
            </a:r>
          </a:p>
          <a:p>
            <a:pPr marL="815340" marR="3810" indent="457200" algn="just">
              <a:spcBef>
                <a:spcPts val="75"/>
              </a:spcBef>
            </a:pPr>
            <a:endParaRPr lang="en-US">
              <a:latin typeface="Calibri" pitchFamily="34" charset="0"/>
              <a:ea typeface="Calibri" pitchFamily="34" charset="0"/>
              <a:cs typeface="Calibri" pitchFamily="34" charset="0"/>
            </a:endParaRPr>
          </a:p>
          <a:p>
            <a:pPr marL="815340" marR="3810" indent="457200" algn="just">
              <a:spcBef>
                <a:spcPts val="75"/>
              </a:spcBef>
            </a:pPr>
            <a:endParaRPr lang="en-US">
              <a:latin typeface="Calibri" pitchFamily="34" charset="0"/>
              <a:ea typeface="Calibri" pitchFamily="34" charset="0"/>
              <a:cs typeface="Calibri" pitchFamily="34" charset="0"/>
            </a:endParaRPr>
          </a:p>
          <a:p>
            <a:pPr marL="815340" marR="3810" indent="457200" algn="just">
              <a:spcBef>
                <a:spcPts val="75"/>
              </a:spcBef>
            </a:pPr>
            <a:r>
              <a:rPr lang="en-US" b="1">
                <a:latin typeface="Calibri" pitchFamily="34" charset="0"/>
                <a:ea typeface="Calibri" pitchFamily="34" charset="0"/>
                <a:cs typeface="Calibri" pitchFamily="34" charset="0"/>
              </a:rPr>
              <a:t>Memory Unit</a:t>
            </a:r>
            <a:r>
              <a:rPr lang="en-US">
                <a:latin typeface="Calibri" pitchFamily="34" charset="0"/>
                <a:ea typeface="Calibri" pitchFamily="34" charset="0"/>
                <a:cs typeface="Calibri" pitchFamily="34" charset="0"/>
              </a:rPr>
              <a:t> </a:t>
            </a:r>
          </a:p>
          <a:p>
            <a:pPr marL="815340" marR="3810" indent="457200" algn="just">
              <a:spcBef>
                <a:spcPts val="75"/>
              </a:spcBef>
            </a:pPr>
            <a:r>
              <a:rPr lang="en-US">
                <a:latin typeface="Calibri" pitchFamily="34" charset="0"/>
                <a:ea typeface="Calibri" pitchFamily="34" charset="0"/>
                <a:cs typeface="Calibri" pitchFamily="34" charset="0"/>
              </a:rPr>
              <a:t>The memory unit consists of RAM, sometimes referred to as primary or main memory. And directly accessible by the CPU.</a:t>
            </a:r>
          </a:p>
          <a:p>
            <a:pPr marL="815340" marR="3810" indent="457200" algn="just">
              <a:spcBef>
                <a:spcPts val="75"/>
              </a:spcBef>
            </a:pPr>
            <a:endParaRPr lang="en-US">
              <a:latin typeface="Calibri" pitchFamily="34" charset="0"/>
              <a:ea typeface="Calibri" pitchFamily="34" charset="0"/>
              <a:cs typeface="Calibri" pitchFamily="34" charset="0"/>
            </a:endParaRPr>
          </a:p>
          <a:p>
            <a:pPr marL="815340" marR="3810" indent="457200" algn="just">
              <a:spcBef>
                <a:spcPts val="75"/>
              </a:spcBef>
            </a:pPr>
            <a:r>
              <a:rPr lang="en-US" b="1">
                <a:latin typeface="Calibri" pitchFamily="34" charset="0"/>
                <a:ea typeface="Calibri" pitchFamily="34" charset="0"/>
                <a:cs typeface="Calibri" pitchFamily="34" charset="0"/>
              </a:rPr>
              <a:t>Registers</a:t>
            </a:r>
          </a:p>
          <a:p>
            <a:pPr marL="815340" marR="3810" indent="457200" algn="just">
              <a:spcBef>
                <a:spcPts val="75"/>
              </a:spcBef>
            </a:pPr>
            <a:r>
              <a:rPr lang="en-US">
                <a:latin typeface="Calibri" pitchFamily="34" charset="0"/>
                <a:ea typeface="Calibri" pitchFamily="34" charset="0"/>
                <a:cs typeface="Calibri" pitchFamily="34" charset="0"/>
              </a:rPr>
              <a:t>Registers are high speed storage areas in the CPU. All data must be stored in a register before it can be processed.</a:t>
            </a:r>
          </a:p>
          <a:p>
            <a:pPr marL="815340" marR="3810" indent="457200" algn="just">
              <a:spcBef>
                <a:spcPts val="75"/>
              </a:spcBef>
            </a:pPr>
            <a:endParaRPr>
              <a:latin typeface="Calibri" pitchFamily="34" charset="0"/>
              <a:ea typeface="Calibri" pitchFamily="34" charset="0"/>
              <a:cs typeface="Calibri" pitchFamily="34" charset="0"/>
            </a:endParaRPr>
          </a:p>
        </p:txBody>
      </p:sp>
      <p:sp>
        <p:nvSpPr>
          <p:cNvPr id="5" name="object 5"/>
          <p:cNvSpPr txBox="1"/>
          <p:nvPr/>
        </p:nvSpPr>
        <p:spPr>
          <a:xfrm>
            <a:off x="404192" y="706083"/>
            <a:ext cx="4074795" cy="4623702"/>
          </a:xfrm>
          <a:prstGeom prst="rect">
            <a:avLst/>
          </a:prstGeom>
        </p:spPr>
        <p:txBody>
          <a:bodyPr vert="horz" wrap="square" lIns="0" tIns="9525" rIns="0" bIns="0" rtlCol="0">
            <a:spAutoFit/>
          </a:bodyPr>
          <a:lstStyle/>
          <a:p>
            <a:pPr marL="9525" marR="1672590" algn="just">
              <a:spcBef>
                <a:spcPts val="75"/>
              </a:spcBef>
            </a:pPr>
            <a:r>
              <a:rPr lang="en-US" b="1">
                <a:latin typeface="Calibri" pitchFamily="34" charset="0"/>
                <a:ea typeface="Calibri" pitchFamily="34" charset="0"/>
                <a:cs typeface="Calibri" pitchFamily="34" charset="0"/>
              </a:rPr>
              <a:t>Central Processing Unit (CPU) </a:t>
            </a:r>
            <a:r>
              <a:rPr lang="en-US">
                <a:latin typeface="Calibri" pitchFamily="34" charset="0"/>
                <a:ea typeface="Calibri" pitchFamily="34" charset="0"/>
                <a:cs typeface="Calibri" pitchFamily="34" charset="0"/>
              </a:rPr>
              <a:t>Responsible for executing the instructions of a computer program. contains the ALU, CU and a variety of registers.</a:t>
            </a:r>
          </a:p>
          <a:p>
            <a:pPr marL="9525" marR="1672590" algn="just">
              <a:spcBef>
                <a:spcPts val="75"/>
              </a:spcBef>
            </a:pPr>
            <a:endParaRPr lang="en-US">
              <a:latin typeface="Calibri" pitchFamily="34" charset="0"/>
              <a:ea typeface="Calibri" pitchFamily="34" charset="0"/>
              <a:cs typeface="Calibri" pitchFamily="34" charset="0"/>
            </a:endParaRPr>
          </a:p>
          <a:p>
            <a:pPr marL="9525" marR="1672590" algn="just">
              <a:spcBef>
                <a:spcPts val="75"/>
              </a:spcBef>
            </a:pPr>
            <a:r>
              <a:rPr lang="en-US" b="1">
                <a:latin typeface="Calibri" pitchFamily="34" charset="0"/>
                <a:ea typeface="Calibri" pitchFamily="34" charset="0"/>
                <a:cs typeface="Calibri" pitchFamily="34" charset="0"/>
              </a:rPr>
              <a:t>Control Unit (CU)</a:t>
            </a:r>
          </a:p>
          <a:p>
            <a:pPr marL="9525" marR="1672590" algn="just">
              <a:spcBef>
                <a:spcPts val="75"/>
              </a:spcBef>
            </a:pPr>
            <a:r>
              <a:rPr lang="en-US">
                <a:latin typeface="Calibri" pitchFamily="34" charset="0"/>
                <a:ea typeface="Calibri" pitchFamily="34" charset="0"/>
                <a:cs typeface="Calibri" pitchFamily="34" charset="0"/>
              </a:rPr>
              <a:t>Controls the operation of the</a:t>
            </a:r>
          </a:p>
          <a:p>
            <a:pPr marL="9525" marR="1672590" algn="just">
              <a:spcBef>
                <a:spcPts val="75"/>
              </a:spcBef>
            </a:pPr>
            <a:r>
              <a:rPr lang="en-US">
                <a:latin typeface="Calibri" pitchFamily="34" charset="0"/>
                <a:ea typeface="Calibri" pitchFamily="34" charset="0"/>
                <a:cs typeface="Calibri" pitchFamily="34" charset="0"/>
              </a:rPr>
              <a:t>computer’s ALU, memory and input/output devices, telling them how to respond to the program instructions by providing the timing and control signals.</a:t>
            </a:r>
          </a:p>
          <a:p>
            <a:pPr marL="9525" marR="1672590" algn="just">
              <a:spcBef>
                <a:spcPts val="75"/>
              </a:spcBef>
            </a:pPr>
            <a:r>
              <a:rPr lang="en-US" b="1">
                <a:latin typeface="Calibri" pitchFamily="34" charset="0"/>
                <a:ea typeface="Calibri" pitchFamily="34" charset="0"/>
                <a:cs typeface="Calibri" pitchFamily="34" charset="0"/>
              </a:rPr>
              <a:t>Bus</a:t>
            </a:r>
          </a:p>
          <a:p>
            <a:pPr marL="9525" marR="1672590" algn="just">
              <a:spcBef>
                <a:spcPts val="75"/>
              </a:spcBef>
            </a:pPr>
            <a:r>
              <a:rPr lang="en-US">
                <a:latin typeface="Calibri" pitchFamily="34" charset="0"/>
                <a:ea typeface="Calibri" pitchFamily="34" charset="0"/>
                <a:cs typeface="Calibri" pitchFamily="34" charset="0"/>
              </a:rPr>
              <a:t>A bus is a physical group of signal lines which transfer electrical signals (thus data) between different parts of the computer system.</a:t>
            </a:r>
          </a:p>
          <a:p>
            <a:pPr marL="9525" marR="1672590" algn="just">
              <a:spcBef>
                <a:spcPts val="75"/>
              </a:spcBef>
            </a:pPr>
            <a:endParaRPr>
              <a:latin typeface="Calibri" pitchFamily="34" charset="0"/>
              <a:ea typeface="Calibri" pitchFamily="34" charset="0"/>
              <a:cs typeface="Calibri" pitchFamily="34" charset="0"/>
            </a:endParaRPr>
          </a:p>
        </p:txBody>
      </p:sp>
      <p:sp>
        <p:nvSpPr>
          <p:cNvPr id="6" name="Title 5"/>
          <p:cNvSpPr>
            <a:spLocks noGrp="1"/>
          </p:cNvSpPr>
          <p:nvPr>
            <p:ph type="title"/>
          </p:nvPr>
        </p:nvSpPr>
        <p:spPr>
          <a:xfrm>
            <a:off x="731154" y="185048"/>
            <a:ext cx="7717500" cy="572700"/>
          </a:xfrm>
        </p:spPr>
        <p:txBody>
          <a:bodyPr/>
          <a:lstStyle/>
          <a:p>
            <a:pPr algn="ctr"/>
            <a:r>
              <a:rPr lang="en-US">
                <a:latin typeface="Algerian" pitchFamily="82" charset="0"/>
              </a:rPr>
              <a:t>Basic Components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13157" y="983991"/>
            <a:ext cx="2526983" cy="1138132"/>
          </a:xfrm>
          <a:prstGeom prst="rect">
            <a:avLst/>
          </a:prstGeom>
        </p:spPr>
        <p:txBody>
          <a:bodyPr vert="horz" wrap="square" lIns="0" tIns="9525" rIns="0" bIns="0" rtlCol="0">
            <a:spAutoFit/>
          </a:bodyPr>
          <a:lstStyle/>
          <a:p>
            <a:pPr marL="9525">
              <a:spcBef>
                <a:spcPts val="75"/>
              </a:spcBef>
            </a:pPr>
            <a:r>
              <a:rPr lang="en-US" b="1">
                <a:latin typeface="Calibri" pitchFamily="34" charset="0"/>
                <a:ea typeface="Calibri" pitchFamily="34" charset="0"/>
                <a:cs typeface="Calibri" pitchFamily="34" charset="0"/>
              </a:rPr>
              <a:t>Input unit accepts information:</a:t>
            </a:r>
          </a:p>
          <a:p>
            <a:pPr marL="9525">
              <a:spcBef>
                <a:spcPts val="75"/>
              </a:spcBef>
            </a:pPr>
            <a:r>
              <a:rPr lang="en-US">
                <a:latin typeface="Calibri" pitchFamily="34" charset="0"/>
                <a:ea typeface="Calibri" pitchFamily="34" charset="0"/>
                <a:cs typeface="Calibri" pitchFamily="34" charset="0"/>
              </a:rPr>
              <a:t>Human operators.</a:t>
            </a:r>
          </a:p>
          <a:p>
            <a:pPr marL="9525">
              <a:spcBef>
                <a:spcPts val="75"/>
              </a:spcBef>
            </a:pPr>
            <a:r>
              <a:rPr lang="en-US">
                <a:latin typeface="Calibri" pitchFamily="34" charset="0"/>
                <a:ea typeface="Calibri" pitchFamily="34" charset="0"/>
                <a:cs typeface="Calibri" pitchFamily="34" charset="0"/>
              </a:rPr>
              <a:t>Electromechanical devices</a:t>
            </a:r>
          </a:p>
          <a:p>
            <a:pPr marL="9525">
              <a:spcBef>
                <a:spcPts val="75"/>
              </a:spcBef>
            </a:pPr>
            <a:r>
              <a:rPr lang="en-US">
                <a:latin typeface="Calibri" pitchFamily="34" charset="0"/>
                <a:ea typeface="Calibri" pitchFamily="34" charset="0"/>
                <a:cs typeface="Calibri" pitchFamily="34" charset="0"/>
              </a:rPr>
              <a:t>(keyboard) Other computers</a:t>
            </a:r>
          </a:p>
          <a:p>
            <a:pPr marL="9525">
              <a:spcBef>
                <a:spcPts val="75"/>
              </a:spcBef>
            </a:pPr>
            <a:endParaRPr>
              <a:latin typeface="Calibri" pitchFamily="34" charset="0"/>
              <a:ea typeface="Calibri" pitchFamily="34" charset="0"/>
              <a:cs typeface="Calibri" pitchFamily="34" charset="0"/>
            </a:endParaRPr>
          </a:p>
        </p:txBody>
      </p:sp>
      <p:sp>
        <p:nvSpPr>
          <p:cNvPr id="4" name="object 4"/>
          <p:cNvSpPr txBox="1"/>
          <p:nvPr/>
        </p:nvSpPr>
        <p:spPr>
          <a:xfrm>
            <a:off x="413156" y="3908013"/>
            <a:ext cx="1788795" cy="1125308"/>
          </a:xfrm>
          <a:prstGeom prst="rect">
            <a:avLst/>
          </a:prstGeom>
        </p:spPr>
        <p:txBody>
          <a:bodyPr vert="horz" wrap="square" lIns="0" tIns="9525" rIns="0" bIns="0" rtlCol="0">
            <a:spAutoFit/>
          </a:bodyPr>
          <a:lstStyle/>
          <a:p>
            <a:pPr marL="9525" marR="71436">
              <a:spcBef>
                <a:spcPts val="75"/>
              </a:spcBef>
            </a:pPr>
            <a:r>
              <a:rPr lang="en-US" b="1">
                <a:latin typeface="Calibri" pitchFamily="34" charset="0"/>
                <a:ea typeface="Calibri" pitchFamily="34" charset="0"/>
                <a:cs typeface="Calibri" pitchFamily="34" charset="0"/>
              </a:rPr>
              <a:t>Output unit sends results of processing:</a:t>
            </a:r>
          </a:p>
          <a:p>
            <a:pPr marL="9525" marR="71436">
              <a:spcBef>
                <a:spcPts val="75"/>
              </a:spcBef>
            </a:pPr>
            <a:r>
              <a:rPr lang="en-US">
                <a:latin typeface="Calibri" pitchFamily="34" charset="0"/>
                <a:ea typeface="Calibri" pitchFamily="34" charset="0"/>
                <a:cs typeface="Calibri" pitchFamily="34" charset="0"/>
              </a:rPr>
              <a:t>To a monitor display.</a:t>
            </a:r>
          </a:p>
          <a:p>
            <a:pPr marL="9525" marR="71436">
              <a:spcBef>
                <a:spcPts val="75"/>
              </a:spcBef>
            </a:pPr>
            <a:r>
              <a:rPr lang="en-US">
                <a:latin typeface="Calibri" pitchFamily="34" charset="0"/>
                <a:ea typeface="Calibri" pitchFamily="34" charset="0"/>
                <a:cs typeface="Calibri" pitchFamily="34" charset="0"/>
              </a:rPr>
              <a:t>To a printer</a:t>
            </a:r>
          </a:p>
          <a:p>
            <a:pPr marL="9525" marR="71436">
              <a:spcBef>
                <a:spcPts val="75"/>
              </a:spcBef>
            </a:pPr>
            <a:endParaRPr>
              <a:latin typeface="Calibri" pitchFamily="34" charset="0"/>
              <a:ea typeface="Calibri" pitchFamily="34" charset="0"/>
              <a:cs typeface="Calibri" pitchFamily="34" charset="0"/>
            </a:endParaRPr>
          </a:p>
        </p:txBody>
      </p:sp>
      <p:sp>
        <p:nvSpPr>
          <p:cNvPr id="5" name="object 5"/>
          <p:cNvSpPr txBox="1"/>
          <p:nvPr/>
        </p:nvSpPr>
        <p:spPr>
          <a:xfrm>
            <a:off x="5573078" y="1041141"/>
            <a:ext cx="3184684" cy="1112484"/>
          </a:xfrm>
          <a:prstGeom prst="rect">
            <a:avLst/>
          </a:prstGeom>
        </p:spPr>
        <p:txBody>
          <a:bodyPr vert="horz" wrap="square" lIns="0" tIns="9525" rIns="0" bIns="0" rtlCol="0">
            <a:spAutoFit/>
          </a:bodyPr>
          <a:lstStyle/>
          <a:p>
            <a:pPr marL="9525">
              <a:spcBef>
                <a:spcPts val="75"/>
              </a:spcBef>
            </a:pPr>
            <a:r>
              <a:rPr lang="en-US" b="1">
                <a:latin typeface="Calibri" pitchFamily="34" charset="0"/>
                <a:ea typeface="Calibri" pitchFamily="34" charset="0"/>
                <a:cs typeface="Calibri" pitchFamily="34" charset="0"/>
              </a:rPr>
              <a:t>Arithmetic and logic unit(ALU):</a:t>
            </a:r>
          </a:p>
          <a:p>
            <a:pPr marL="9525">
              <a:spcBef>
                <a:spcPts val="75"/>
              </a:spcBef>
            </a:pPr>
            <a:r>
              <a:rPr lang="en-US">
                <a:latin typeface="Calibri" pitchFamily="34" charset="0"/>
                <a:ea typeface="Calibri" pitchFamily="34" charset="0"/>
                <a:cs typeface="Calibri" pitchFamily="34" charset="0"/>
              </a:rPr>
              <a:t>Performs the desired operations on the input information as determined by instructions in the memory</a:t>
            </a:r>
          </a:p>
          <a:p>
            <a:pPr marL="9525">
              <a:spcBef>
                <a:spcPts val="75"/>
              </a:spcBef>
            </a:pPr>
            <a:endParaRPr>
              <a:latin typeface="Calibri" pitchFamily="34" charset="0"/>
              <a:ea typeface="Calibri" pitchFamily="34" charset="0"/>
              <a:cs typeface="Calibri" pitchFamily="34" charset="0"/>
            </a:endParaRPr>
          </a:p>
        </p:txBody>
      </p:sp>
      <p:sp>
        <p:nvSpPr>
          <p:cNvPr id="6" name="object 6"/>
          <p:cNvSpPr txBox="1"/>
          <p:nvPr/>
        </p:nvSpPr>
        <p:spPr>
          <a:xfrm>
            <a:off x="7171278" y="3492437"/>
            <a:ext cx="1595914" cy="1569019"/>
          </a:xfrm>
          <a:prstGeom prst="rect">
            <a:avLst/>
          </a:prstGeom>
        </p:spPr>
        <p:txBody>
          <a:bodyPr vert="horz" wrap="square" lIns="0" tIns="9525" rIns="0" bIns="0" rtlCol="0">
            <a:spAutoFit/>
          </a:bodyPr>
          <a:lstStyle/>
          <a:p>
            <a:pPr marL="9525" marR="3810">
              <a:spcBef>
                <a:spcPts val="75"/>
              </a:spcBef>
            </a:pPr>
            <a:r>
              <a:rPr lang="en-US" b="1">
                <a:latin typeface="Calibri" pitchFamily="34" charset="0"/>
                <a:ea typeface="Calibri" pitchFamily="34" charset="0"/>
                <a:cs typeface="Calibri" pitchFamily="34" charset="0"/>
              </a:rPr>
              <a:t>Control unit coordinates various actions:</a:t>
            </a:r>
          </a:p>
          <a:p>
            <a:pPr marL="9525" marR="3810">
              <a:spcBef>
                <a:spcPts val="75"/>
              </a:spcBef>
            </a:pPr>
            <a:r>
              <a:rPr lang="en-US">
                <a:latin typeface="Calibri" pitchFamily="34" charset="0"/>
                <a:ea typeface="Calibri" pitchFamily="34" charset="0"/>
                <a:cs typeface="Calibri" pitchFamily="34" charset="0"/>
              </a:rPr>
              <a:t>Input</a:t>
            </a:r>
          </a:p>
          <a:p>
            <a:pPr marL="9525" marR="3810">
              <a:spcBef>
                <a:spcPts val="75"/>
              </a:spcBef>
            </a:pPr>
            <a:r>
              <a:rPr lang="en-US">
                <a:latin typeface="Calibri" pitchFamily="34" charset="0"/>
                <a:ea typeface="Calibri" pitchFamily="34" charset="0"/>
                <a:cs typeface="Calibri" pitchFamily="34" charset="0"/>
              </a:rPr>
              <a:t>Output</a:t>
            </a:r>
          </a:p>
          <a:p>
            <a:pPr marL="9525" marR="3810">
              <a:spcBef>
                <a:spcPts val="75"/>
              </a:spcBef>
            </a:pPr>
            <a:r>
              <a:rPr lang="en-US">
                <a:latin typeface="Calibri" pitchFamily="34" charset="0"/>
                <a:ea typeface="Calibri" pitchFamily="34" charset="0"/>
                <a:cs typeface="Calibri" pitchFamily="34" charset="0"/>
              </a:rPr>
              <a:t>Processing</a:t>
            </a:r>
          </a:p>
          <a:p>
            <a:pPr marL="9525" marR="3810">
              <a:spcBef>
                <a:spcPts val="75"/>
              </a:spcBef>
            </a:pPr>
            <a:endParaRPr>
              <a:latin typeface="Calibri" pitchFamily="34" charset="0"/>
              <a:ea typeface="Calibri" pitchFamily="34" charset="0"/>
              <a:cs typeface="Calibri" pitchFamily="34" charset="0"/>
            </a:endParaRPr>
          </a:p>
        </p:txBody>
      </p:sp>
      <p:sp>
        <p:nvSpPr>
          <p:cNvPr id="7" name="object 7"/>
          <p:cNvSpPr txBox="1"/>
          <p:nvPr/>
        </p:nvSpPr>
        <p:spPr>
          <a:xfrm>
            <a:off x="3594164" y="4095445"/>
            <a:ext cx="1534954" cy="909864"/>
          </a:xfrm>
          <a:prstGeom prst="rect">
            <a:avLst/>
          </a:prstGeom>
        </p:spPr>
        <p:txBody>
          <a:bodyPr vert="horz" wrap="square" lIns="0" tIns="9525" rIns="0" bIns="0" rtlCol="0">
            <a:spAutoFit/>
          </a:bodyPr>
          <a:lstStyle/>
          <a:p>
            <a:pPr marL="9525">
              <a:spcBef>
                <a:spcPts val="75"/>
              </a:spcBef>
            </a:pPr>
            <a:r>
              <a:rPr lang="en-US" b="1">
                <a:latin typeface="Calibri" pitchFamily="34" charset="0"/>
                <a:ea typeface="Calibri" pitchFamily="34" charset="0"/>
                <a:cs typeface="Calibri" pitchFamily="34" charset="0"/>
              </a:rPr>
              <a:t>Stores Information</a:t>
            </a:r>
          </a:p>
          <a:p>
            <a:pPr marL="9525">
              <a:spcBef>
                <a:spcPts val="75"/>
              </a:spcBef>
            </a:pPr>
            <a:r>
              <a:rPr lang="en-US">
                <a:latin typeface="Calibri" pitchFamily="34" charset="0"/>
                <a:ea typeface="Calibri" pitchFamily="34" charset="0"/>
                <a:cs typeface="Calibri" pitchFamily="34" charset="0"/>
              </a:rPr>
              <a:t>Instructions</a:t>
            </a:r>
          </a:p>
          <a:p>
            <a:pPr marL="9525">
              <a:spcBef>
                <a:spcPts val="75"/>
              </a:spcBef>
            </a:pPr>
            <a:r>
              <a:rPr lang="en-US">
                <a:latin typeface="Calibri" pitchFamily="34" charset="0"/>
                <a:ea typeface="Calibri" pitchFamily="34" charset="0"/>
                <a:cs typeface="Calibri" pitchFamily="34" charset="0"/>
              </a:rPr>
              <a:t>Data</a:t>
            </a:r>
          </a:p>
          <a:p>
            <a:pPr marL="9525">
              <a:spcBef>
                <a:spcPts val="75"/>
              </a:spcBef>
            </a:pPr>
            <a:endParaRPr>
              <a:latin typeface="Calibri" pitchFamily="34" charset="0"/>
              <a:ea typeface="Calibri" pitchFamily="34" charset="0"/>
              <a:cs typeface="Calibri" pitchFamily="34" charset="0"/>
            </a:endParaRPr>
          </a:p>
        </p:txBody>
      </p:sp>
      <p:pic>
        <p:nvPicPr>
          <p:cNvPr id="8" name="object 8"/>
          <p:cNvPicPr/>
          <p:nvPr/>
        </p:nvPicPr>
        <p:blipFill>
          <a:blip r:embed="rId2" cstate="print"/>
          <a:stretch>
            <a:fillRect/>
          </a:stretch>
        </p:blipFill>
        <p:spPr>
          <a:xfrm>
            <a:off x="2203705" y="1891665"/>
            <a:ext cx="3873626" cy="1995678"/>
          </a:xfrm>
          <a:prstGeom prst="rect">
            <a:avLst/>
          </a:prstGeom>
        </p:spPr>
      </p:pic>
      <p:sp>
        <p:nvSpPr>
          <p:cNvPr id="9" name="TextBox 8"/>
          <p:cNvSpPr txBox="1"/>
          <p:nvPr/>
        </p:nvSpPr>
        <p:spPr>
          <a:xfrm>
            <a:off x="242047" y="304800"/>
            <a:ext cx="8597153" cy="461665"/>
          </a:xfrm>
          <a:prstGeom prst="rect">
            <a:avLst/>
          </a:prstGeom>
          <a:noFill/>
        </p:spPr>
        <p:txBody>
          <a:bodyPr wrap="square" rtlCol="0">
            <a:spAutoFit/>
          </a:bodyPr>
          <a:lstStyle/>
          <a:p>
            <a:pPr algn="ctr"/>
            <a:r>
              <a:rPr lang="en-US" sz="2400">
                <a:latin typeface="Algerian" pitchFamily="82" charset="0"/>
                <a:ea typeface="Calibri" pitchFamily="34" charset="0"/>
                <a:cs typeface="Calibri" pitchFamily="34" charset="0"/>
              </a:rPr>
              <a:t>Functional Units of a Computer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7462646" y="3151250"/>
            <a:ext cx="1128141" cy="1874520"/>
          </a:xfrm>
          <a:prstGeom prst="rect">
            <a:avLst/>
          </a:prstGeom>
        </p:spPr>
      </p:pic>
      <p:sp>
        <p:nvSpPr>
          <p:cNvPr id="4" name="object 4"/>
          <p:cNvSpPr txBox="1"/>
          <p:nvPr/>
        </p:nvSpPr>
        <p:spPr>
          <a:xfrm>
            <a:off x="413157" y="934168"/>
            <a:ext cx="8017669" cy="3871253"/>
          </a:xfrm>
          <a:prstGeom prst="rect">
            <a:avLst/>
          </a:prstGeom>
        </p:spPr>
        <p:txBody>
          <a:bodyPr vert="horz" wrap="square" lIns="0" tIns="130493" rIns="0" bIns="0" rtlCol="0">
            <a:spAutoFit/>
          </a:bodyPr>
          <a:lstStyle/>
          <a:p>
            <a:pPr marL="223838" indent="-214313">
              <a:spcBef>
                <a:spcPts val="1028"/>
              </a:spcBef>
              <a:buFont typeface="Wingdings"/>
              <a:buChar char=""/>
              <a:tabLst>
                <a:tab pos="223838" algn="l"/>
              </a:tabLst>
            </a:pPr>
            <a:r>
              <a:rPr lang="en-US"/>
              <a:t>Instructions specify commands to:</a:t>
            </a:r>
          </a:p>
          <a:p>
            <a:pPr marL="223838" indent="-214313">
              <a:spcBef>
                <a:spcPts val="1028"/>
              </a:spcBef>
              <a:buFont typeface="Wingdings" pitchFamily="2" charset="2"/>
              <a:buChar char="§"/>
              <a:tabLst>
                <a:tab pos="223838" algn="l"/>
              </a:tabLst>
            </a:pPr>
            <a:r>
              <a:rPr lang="en-US"/>
              <a:t>Transfer information within a computer (e.g., </a:t>
            </a:r>
            <a:r>
              <a:rPr lang="en-US">
                <a:solidFill>
                  <a:srgbClr val="FF0000"/>
                </a:solidFill>
              </a:rPr>
              <a:t>from memory to ALU</a:t>
            </a:r>
            <a:r>
              <a:rPr lang="en-US"/>
              <a:t>)</a:t>
            </a:r>
          </a:p>
          <a:p>
            <a:pPr marL="223838" indent="-214313">
              <a:spcBef>
                <a:spcPts val="1028"/>
              </a:spcBef>
              <a:buFont typeface="Wingdings" pitchFamily="2" charset="2"/>
              <a:buChar char="§"/>
              <a:tabLst>
                <a:tab pos="223838" algn="l"/>
              </a:tabLst>
            </a:pPr>
            <a:r>
              <a:rPr lang="en-US"/>
              <a:t>Transfer of information between the </a:t>
            </a:r>
            <a:r>
              <a:rPr lang="en-US">
                <a:solidFill>
                  <a:srgbClr val="FF0000"/>
                </a:solidFill>
              </a:rPr>
              <a:t>computer and I/O devices</a:t>
            </a:r>
            <a:r>
              <a:rPr lang="en-US"/>
              <a:t>(e.g., from keyboard to computer, or computer to printer)</a:t>
            </a:r>
          </a:p>
          <a:p>
            <a:pPr marL="223838" indent="-214313">
              <a:spcBef>
                <a:spcPts val="1028"/>
              </a:spcBef>
              <a:buFont typeface="Wingdings" pitchFamily="2" charset="2"/>
              <a:buChar char="§"/>
              <a:tabLst>
                <a:tab pos="223838" algn="l"/>
              </a:tabLst>
            </a:pPr>
            <a:r>
              <a:rPr lang="en-US"/>
              <a:t>Perform arithmetic and logic operations (e.g., Add two numbers, Perform a logical AND).</a:t>
            </a:r>
          </a:p>
          <a:p>
            <a:pPr marL="223838" indent="-214313">
              <a:spcBef>
                <a:spcPts val="1028"/>
              </a:spcBef>
              <a:buFont typeface="Wingdings"/>
              <a:buChar char=""/>
              <a:tabLst>
                <a:tab pos="223838" algn="l"/>
              </a:tabLst>
            </a:pPr>
            <a:endParaRPr lang="en-US"/>
          </a:p>
          <a:p>
            <a:pPr marL="223838" indent="-214313">
              <a:spcBef>
                <a:spcPts val="1028"/>
              </a:spcBef>
              <a:buFont typeface="Wingdings"/>
              <a:buChar char=""/>
              <a:tabLst>
                <a:tab pos="223838" algn="l"/>
              </a:tabLst>
            </a:pPr>
            <a:r>
              <a:rPr lang="en-US"/>
              <a:t>A sequence of instructions to perform a task is called a </a:t>
            </a:r>
            <a:r>
              <a:rPr lang="en-US">
                <a:solidFill>
                  <a:srgbClr val="FF0000"/>
                </a:solidFill>
              </a:rPr>
              <a:t>program</a:t>
            </a:r>
            <a:r>
              <a:rPr lang="en-US"/>
              <a:t>, which is stored in the memory.</a:t>
            </a:r>
          </a:p>
          <a:p>
            <a:pPr marL="223838" indent="-214313">
              <a:spcBef>
                <a:spcPts val="1028"/>
              </a:spcBef>
              <a:buFont typeface="Wingdings"/>
              <a:buChar char=""/>
              <a:tabLst>
                <a:tab pos="223838" algn="l"/>
              </a:tabLst>
            </a:pPr>
            <a:endParaRPr lang="en-US"/>
          </a:p>
          <a:p>
            <a:pPr marL="223838" indent="-214313">
              <a:spcBef>
                <a:spcPts val="1028"/>
              </a:spcBef>
              <a:buFont typeface="Wingdings"/>
              <a:buChar char=""/>
              <a:tabLst>
                <a:tab pos="223838" algn="l"/>
              </a:tabLst>
            </a:pPr>
            <a:r>
              <a:rPr lang="en-US"/>
              <a:t>Processor fetches instructions that make up a program from the memory and performs the operations stated in those instructions.</a:t>
            </a:r>
          </a:p>
          <a:p>
            <a:pPr marL="223838" indent="-214313">
              <a:spcBef>
                <a:spcPts val="1028"/>
              </a:spcBef>
              <a:buFont typeface="Wingdings"/>
              <a:buChar char=""/>
              <a:tabLst>
                <a:tab pos="223838" algn="l"/>
              </a:tabLst>
            </a:pPr>
            <a:endParaRPr lang="en-US"/>
          </a:p>
          <a:p>
            <a:pPr marL="223838" indent="-214313">
              <a:spcBef>
                <a:spcPts val="1028"/>
              </a:spcBef>
              <a:tabLst>
                <a:tab pos="223838" algn="l"/>
              </a:tabLst>
            </a:pPr>
            <a:endParaRPr/>
          </a:p>
        </p:txBody>
      </p:sp>
      <p:sp>
        <p:nvSpPr>
          <p:cNvPr id="5" name="object 5"/>
          <p:cNvSpPr/>
          <p:nvPr/>
        </p:nvSpPr>
        <p:spPr>
          <a:xfrm>
            <a:off x="7447216" y="3714178"/>
            <a:ext cx="1144429" cy="570548"/>
          </a:xfrm>
          <a:custGeom>
            <a:avLst/>
            <a:gdLst/>
            <a:ahLst/>
            <a:cxnLst/>
            <a:rect l="l" t="t" r="r" b="b"/>
            <a:pathLst>
              <a:path w="1525904" h="760729">
                <a:moveTo>
                  <a:pt x="0" y="126745"/>
                </a:moveTo>
                <a:lnTo>
                  <a:pt x="9963" y="77420"/>
                </a:lnTo>
                <a:lnTo>
                  <a:pt x="37131" y="37131"/>
                </a:lnTo>
                <a:lnTo>
                  <a:pt x="77420" y="9963"/>
                </a:lnTo>
                <a:lnTo>
                  <a:pt x="126746" y="0"/>
                </a:lnTo>
                <a:lnTo>
                  <a:pt x="1398777" y="0"/>
                </a:lnTo>
                <a:lnTo>
                  <a:pt x="1448103" y="9963"/>
                </a:lnTo>
                <a:lnTo>
                  <a:pt x="1488392" y="37131"/>
                </a:lnTo>
                <a:lnTo>
                  <a:pt x="1515560" y="77420"/>
                </a:lnTo>
                <a:lnTo>
                  <a:pt x="1525524" y="126745"/>
                </a:lnTo>
                <a:lnTo>
                  <a:pt x="1525524" y="633730"/>
                </a:lnTo>
                <a:lnTo>
                  <a:pt x="1515560" y="683066"/>
                </a:lnTo>
                <a:lnTo>
                  <a:pt x="1488392" y="723353"/>
                </a:lnTo>
                <a:lnTo>
                  <a:pt x="1448103" y="750516"/>
                </a:lnTo>
                <a:lnTo>
                  <a:pt x="1398777" y="760476"/>
                </a:lnTo>
                <a:lnTo>
                  <a:pt x="126746" y="760476"/>
                </a:lnTo>
                <a:lnTo>
                  <a:pt x="77420" y="750516"/>
                </a:lnTo>
                <a:lnTo>
                  <a:pt x="37131" y="723353"/>
                </a:lnTo>
                <a:lnTo>
                  <a:pt x="9963" y="683066"/>
                </a:lnTo>
                <a:lnTo>
                  <a:pt x="0" y="633730"/>
                </a:lnTo>
                <a:lnTo>
                  <a:pt x="0" y="126745"/>
                </a:lnTo>
                <a:close/>
              </a:path>
            </a:pathLst>
          </a:custGeom>
          <a:ln w="28574">
            <a:solidFill>
              <a:srgbClr val="FF0000"/>
            </a:solidFill>
          </a:ln>
        </p:spPr>
        <p:txBody>
          <a:bodyPr wrap="square" lIns="0" tIns="0" rIns="0" bIns="0" rtlCol="0"/>
          <a:lstStyle/>
          <a:p>
            <a:endParaRPr/>
          </a:p>
        </p:txBody>
      </p:sp>
      <p:sp>
        <p:nvSpPr>
          <p:cNvPr id="6" name="Rectangle 5"/>
          <p:cNvSpPr/>
          <p:nvPr/>
        </p:nvSpPr>
        <p:spPr>
          <a:xfrm>
            <a:off x="1359593" y="203580"/>
            <a:ext cx="6662401" cy="461665"/>
          </a:xfrm>
          <a:prstGeom prst="rect">
            <a:avLst/>
          </a:prstGeom>
        </p:spPr>
        <p:txBody>
          <a:bodyPr wrap="none">
            <a:spAutoFit/>
          </a:bodyPr>
          <a:lstStyle/>
          <a:p>
            <a:r>
              <a:rPr lang="en-US" sz="2400">
                <a:latin typeface="Algerian" pitchFamily="82" charset="0"/>
              </a:rPr>
              <a:t>Information in a computer - Instructions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1119180"/>
            <a:ext cx="6398895" cy="2157963"/>
          </a:xfrm>
          <a:prstGeom prst="rect">
            <a:avLst/>
          </a:prstGeom>
        </p:spPr>
        <p:txBody>
          <a:bodyPr vert="horz" wrap="square" lIns="0" tIns="130493" rIns="0" bIns="0" rtlCol="0">
            <a:spAutoFit/>
          </a:bodyPr>
          <a:lstStyle/>
          <a:p>
            <a:pPr marL="224314" indent="-214789">
              <a:spcBef>
                <a:spcPts val="1028"/>
              </a:spcBef>
              <a:buFont typeface="Wingdings"/>
              <a:buChar char=""/>
              <a:tabLst>
                <a:tab pos="224314" algn="l"/>
              </a:tabLst>
            </a:pPr>
            <a:r>
              <a:rPr lang="en-US" sz="1500">
                <a:latin typeface="Calibri" pitchFamily="34" charset="0"/>
                <a:ea typeface="Calibri" pitchFamily="34" charset="0"/>
                <a:cs typeface="Calibri" pitchFamily="34" charset="0"/>
              </a:rPr>
              <a:t>Data are the </a:t>
            </a:r>
            <a:r>
              <a:rPr lang="en-US" sz="1500">
                <a:solidFill>
                  <a:srgbClr val="FF0000"/>
                </a:solidFill>
                <a:latin typeface="Calibri" pitchFamily="34" charset="0"/>
                <a:ea typeface="Calibri" pitchFamily="34" charset="0"/>
                <a:cs typeface="Calibri" pitchFamily="34" charset="0"/>
              </a:rPr>
              <a:t>"operands" </a:t>
            </a:r>
            <a:r>
              <a:rPr lang="en-US" sz="1500">
                <a:latin typeface="Calibri" pitchFamily="34" charset="0"/>
                <a:ea typeface="Calibri" pitchFamily="34" charset="0"/>
                <a:cs typeface="Calibri" pitchFamily="34" charset="0"/>
              </a:rPr>
              <a:t>upon which instructions operate. Data could be:</a:t>
            </a:r>
          </a:p>
          <a:p>
            <a:pPr marL="224314" indent="-214789">
              <a:spcBef>
                <a:spcPts val="1028"/>
              </a:spcBef>
              <a:buFont typeface="Wingdings" pitchFamily="2" charset="2"/>
              <a:buChar char="§"/>
              <a:tabLst>
                <a:tab pos="224314" algn="l"/>
              </a:tabLst>
            </a:pPr>
            <a:r>
              <a:rPr lang="en-US" sz="1500">
                <a:latin typeface="Calibri" pitchFamily="34" charset="0"/>
                <a:ea typeface="Calibri" pitchFamily="34" charset="0"/>
                <a:cs typeface="Calibri" pitchFamily="34" charset="0"/>
              </a:rPr>
              <a:t>Numbers.</a:t>
            </a:r>
          </a:p>
          <a:p>
            <a:pPr marL="224314" indent="-214789">
              <a:spcBef>
                <a:spcPts val="1028"/>
              </a:spcBef>
              <a:buFont typeface="Wingdings" pitchFamily="2" charset="2"/>
              <a:buChar char="§"/>
              <a:tabLst>
                <a:tab pos="224314" algn="l"/>
              </a:tabLst>
            </a:pPr>
            <a:r>
              <a:rPr lang="en-US" sz="1500">
                <a:latin typeface="Calibri" pitchFamily="34" charset="0"/>
                <a:ea typeface="Calibri" pitchFamily="34" charset="0"/>
                <a:cs typeface="Calibri" pitchFamily="34" charset="0"/>
              </a:rPr>
              <a:t>Encoded characters.</a:t>
            </a:r>
          </a:p>
          <a:p>
            <a:pPr marL="224314" indent="-214789">
              <a:spcBef>
                <a:spcPts val="1028"/>
              </a:spcBef>
              <a:buFont typeface="Wingdings"/>
              <a:buChar char=""/>
              <a:tabLst>
                <a:tab pos="224314" algn="l"/>
              </a:tabLst>
            </a:pPr>
            <a:r>
              <a:rPr lang="en-US" sz="1500">
                <a:latin typeface="Calibri" pitchFamily="34" charset="0"/>
                <a:ea typeface="Calibri" pitchFamily="34" charset="0"/>
                <a:cs typeface="Calibri" pitchFamily="34" charset="0"/>
              </a:rPr>
              <a:t>Data, in a broad sense means any digital information.</a:t>
            </a:r>
          </a:p>
          <a:p>
            <a:pPr marL="224314" indent="-214789">
              <a:spcBef>
                <a:spcPts val="1028"/>
              </a:spcBef>
              <a:buFont typeface="Wingdings"/>
              <a:buChar char=""/>
              <a:tabLst>
                <a:tab pos="224314" algn="l"/>
              </a:tabLst>
            </a:pPr>
            <a:r>
              <a:rPr lang="en-US" sz="1500">
                <a:latin typeface="Calibri" pitchFamily="34" charset="0"/>
                <a:ea typeface="Calibri" pitchFamily="34" charset="0"/>
                <a:cs typeface="Calibri" pitchFamily="34" charset="0"/>
              </a:rPr>
              <a:t>Computers use data that is encoded as a string of binary digits called bits</a:t>
            </a:r>
          </a:p>
          <a:p>
            <a:pPr marL="224314" indent="-214789">
              <a:spcBef>
                <a:spcPts val="1028"/>
              </a:spcBef>
              <a:buFont typeface="Wingdings"/>
              <a:buChar char=""/>
              <a:tabLst>
                <a:tab pos="224314" algn="l"/>
              </a:tabLst>
            </a:pPr>
            <a:endParaRPr sz="1500"/>
          </a:p>
        </p:txBody>
      </p:sp>
      <p:grpSp>
        <p:nvGrpSpPr>
          <p:cNvPr id="4" name="object 4"/>
          <p:cNvGrpSpPr/>
          <p:nvPr/>
        </p:nvGrpSpPr>
        <p:grpSpPr>
          <a:xfrm>
            <a:off x="7436501" y="3151250"/>
            <a:ext cx="1165860" cy="1874520"/>
            <a:chOff x="9915334" y="4201667"/>
            <a:chExt cx="1554480" cy="2499360"/>
          </a:xfrm>
        </p:grpSpPr>
        <p:pic>
          <p:nvPicPr>
            <p:cNvPr id="5" name="object 5"/>
            <p:cNvPicPr/>
            <p:nvPr/>
          </p:nvPicPr>
          <p:blipFill>
            <a:blip r:embed="rId2" cstate="print"/>
            <a:stretch>
              <a:fillRect/>
            </a:stretch>
          </p:blipFill>
          <p:spPr>
            <a:xfrm>
              <a:off x="9950195" y="4201667"/>
              <a:ext cx="1504188" cy="2499360"/>
            </a:xfrm>
            <a:prstGeom prst="rect">
              <a:avLst/>
            </a:prstGeom>
          </p:spPr>
        </p:pic>
        <p:sp>
          <p:nvSpPr>
            <p:cNvPr id="6" name="object 6"/>
            <p:cNvSpPr/>
            <p:nvPr/>
          </p:nvSpPr>
          <p:spPr>
            <a:xfrm>
              <a:off x="9929621" y="5613653"/>
              <a:ext cx="1525905" cy="599440"/>
            </a:xfrm>
            <a:custGeom>
              <a:avLst/>
              <a:gdLst/>
              <a:ahLst/>
              <a:cxnLst/>
              <a:rect l="l" t="t" r="r" b="b"/>
              <a:pathLst>
                <a:path w="1525904" h="599439">
                  <a:moveTo>
                    <a:pt x="0" y="99822"/>
                  </a:moveTo>
                  <a:lnTo>
                    <a:pt x="7846" y="60966"/>
                  </a:lnTo>
                  <a:lnTo>
                    <a:pt x="29241" y="29236"/>
                  </a:lnTo>
                  <a:lnTo>
                    <a:pt x="60971" y="7844"/>
                  </a:lnTo>
                  <a:lnTo>
                    <a:pt x="99822" y="0"/>
                  </a:lnTo>
                  <a:lnTo>
                    <a:pt x="1425702" y="0"/>
                  </a:lnTo>
                  <a:lnTo>
                    <a:pt x="1464552" y="7844"/>
                  </a:lnTo>
                  <a:lnTo>
                    <a:pt x="1496282" y="29236"/>
                  </a:lnTo>
                  <a:lnTo>
                    <a:pt x="1517677" y="60966"/>
                  </a:lnTo>
                  <a:lnTo>
                    <a:pt x="1525524" y="99822"/>
                  </a:lnTo>
                  <a:lnTo>
                    <a:pt x="1525524" y="499110"/>
                  </a:lnTo>
                  <a:lnTo>
                    <a:pt x="1517677" y="537965"/>
                  </a:lnTo>
                  <a:lnTo>
                    <a:pt x="1496282" y="569695"/>
                  </a:lnTo>
                  <a:lnTo>
                    <a:pt x="1464552" y="591087"/>
                  </a:lnTo>
                  <a:lnTo>
                    <a:pt x="1425702" y="598932"/>
                  </a:lnTo>
                  <a:lnTo>
                    <a:pt x="99822" y="598932"/>
                  </a:lnTo>
                  <a:lnTo>
                    <a:pt x="60971" y="591087"/>
                  </a:lnTo>
                  <a:lnTo>
                    <a:pt x="29241" y="569695"/>
                  </a:lnTo>
                  <a:lnTo>
                    <a:pt x="7846" y="537965"/>
                  </a:lnTo>
                  <a:lnTo>
                    <a:pt x="0" y="499110"/>
                  </a:lnTo>
                  <a:lnTo>
                    <a:pt x="0" y="99822"/>
                  </a:lnTo>
                  <a:close/>
                </a:path>
              </a:pathLst>
            </a:custGeom>
            <a:ln w="28575">
              <a:solidFill>
                <a:srgbClr val="FF0000"/>
              </a:solidFill>
            </a:ln>
          </p:spPr>
          <p:txBody>
            <a:bodyPr wrap="square" lIns="0" tIns="0" rIns="0" bIns="0" rtlCol="0"/>
            <a:lstStyle/>
            <a:p>
              <a:endParaRPr/>
            </a:p>
          </p:txBody>
        </p:sp>
      </p:grpSp>
      <p:sp>
        <p:nvSpPr>
          <p:cNvPr id="7" name="Rectangle 6"/>
          <p:cNvSpPr/>
          <p:nvPr/>
        </p:nvSpPr>
        <p:spPr>
          <a:xfrm>
            <a:off x="1889045" y="364943"/>
            <a:ext cx="5479385" cy="461665"/>
          </a:xfrm>
          <a:prstGeom prst="rect">
            <a:avLst/>
          </a:prstGeom>
        </p:spPr>
        <p:txBody>
          <a:bodyPr wrap="none">
            <a:spAutoFit/>
          </a:bodyPr>
          <a:lstStyle/>
          <a:p>
            <a:r>
              <a:rPr lang="it-IT" sz="2400">
                <a:latin typeface="Algerian" pitchFamily="82" charset="0"/>
              </a:rPr>
              <a:t>Information in a computer - Data</a:t>
            </a:r>
            <a:endParaRPr lang="en-US" sz="2400">
              <a:latin typeface="Algerian" pitchFamily="82"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904856"/>
            <a:ext cx="7311866" cy="3041217"/>
          </a:xfrm>
          <a:prstGeom prst="rect">
            <a:avLst/>
          </a:prstGeom>
        </p:spPr>
        <p:txBody>
          <a:bodyPr vert="horz" wrap="square" lIns="0" tIns="9525" rIns="0" bIns="0" rtlCol="0">
            <a:spAutoFit/>
          </a:bodyPr>
          <a:lstStyle/>
          <a:p>
            <a:pPr marL="224314" marR="3810" indent="-215265">
              <a:lnSpc>
                <a:spcPct val="150000"/>
              </a:lnSpc>
              <a:spcBef>
                <a:spcPts val="75"/>
              </a:spcBef>
              <a:buFont typeface="Wingdings"/>
              <a:buChar char=""/>
              <a:tabLst>
                <a:tab pos="224314" algn="l"/>
              </a:tabLst>
            </a:pPr>
            <a:r>
              <a:rPr lang="en-US" sz="1600">
                <a:latin typeface="Calibri" pitchFamily="34" charset="0"/>
                <a:ea typeface="Calibri" pitchFamily="34" charset="0"/>
                <a:cs typeface="Calibri" pitchFamily="34" charset="0"/>
              </a:rPr>
              <a:t>Binary information must be presented to a computer in a specific format. This task is performed by the input unit:</a:t>
            </a:r>
          </a:p>
          <a:p>
            <a:pPr marL="224314" marR="3810" indent="-215265">
              <a:lnSpc>
                <a:spcPct val="150000"/>
              </a:lnSpc>
              <a:spcBef>
                <a:spcPts val="75"/>
              </a:spcBef>
              <a:buFont typeface="Wingdings"/>
              <a:buChar char=""/>
              <a:tabLst>
                <a:tab pos="224314" algn="l"/>
              </a:tabLst>
            </a:pPr>
            <a:r>
              <a:rPr lang="en-US" sz="1600">
                <a:latin typeface="Calibri" pitchFamily="34" charset="0"/>
                <a:ea typeface="Calibri" pitchFamily="34" charset="0"/>
                <a:cs typeface="Calibri" pitchFamily="34" charset="0"/>
              </a:rPr>
              <a:t>Interfaces with input devices.</a:t>
            </a:r>
          </a:p>
          <a:p>
            <a:pPr marL="224314" marR="3810" indent="-215265">
              <a:lnSpc>
                <a:spcPct val="150000"/>
              </a:lnSpc>
              <a:spcBef>
                <a:spcPts val="75"/>
              </a:spcBef>
              <a:buFont typeface="Wingdings" pitchFamily="2" charset="2"/>
              <a:buChar char="§"/>
              <a:tabLst>
                <a:tab pos="224314" algn="l"/>
              </a:tabLst>
            </a:pPr>
            <a:r>
              <a:rPr lang="en-US" sz="1600">
                <a:latin typeface="Calibri" pitchFamily="34" charset="0"/>
                <a:ea typeface="Calibri" pitchFamily="34" charset="0"/>
                <a:cs typeface="Calibri" pitchFamily="34" charset="0"/>
              </a:rPr>
              <a:t>Accepts binary information from the input devices.</a:t>
            </a:r>
          </a:p>
          <a:p>
            <a:pPr marL="224314" marR="3810" indent="-215265">
              <a:lnSpc>
                <a:spcPct val="150000"/>
              </a:lnSpc>
              <a:spcBef>
                <a:spcPts val="75"/>
              </a:spcBef>
              <a:buFont typeface="Wingdings" pitchFamily="2" charset="2"/>
              <a:buChar char="§"/>
              <a:tabLst>
                <a:tab pos="224314" algn="l"/>
              </a:tabLst>
            </a:pPr>
            <a:r>
              <a:rPr lang="en-US" sz="1600">
                <a:latin typeface="Calibri" pitchFamily="34" charset="0"/>
                <a:ea typeface="Calibri" pitchFamily="34" charset="0"/>
                <a:cs typeface="Calibri" pitchFamily="34" charset="0"/>
              </a:rPr>
              <a:t>Presents this binary information in a format expected by the </a:t>
            </a:r>
          </a:p>
          <a:p>
            <a:pPr marL="224314" marR="3810" indent="-215265">
              <a:lnSpc>
                <a:spcPct val="150000"/>
              </a:lnSpc>
              <a:spcBef>
                <a:spcPts val="75"/>
              </a:spcBef>
              <a:tabLst>
                <a:tab pos="224314" algn="l"/>
              </a:tabLst>
            </a:pPr>
            <a:r>
              <a:rPr lang="en-US" sz="1600">
                <a:latin typeface="Calibri" pitchFamily="34" charset="0"/>
                <a:ea typeface="Calibri" pitchFamily="34" charset="0"/>
                <a:cs typeface="Calibri" pitchFamily="34" charset="0"/>
              </a:rPr>
              <a:t> computer in specific binary form. </a:t>
            </a:r>
          </a:p>
          <a:p>
            <a:pPr marL="224314" marR="3810" indent="-215265">
              <a:lnSpc>
                <a:spcPct val="150000"/>
              </a:lnSpc>
              <a:spcBef>
                <a:spcPts val="75"/>
              </a:spcBef>
              <a:buFont typeface="Wingdings" pitchFamily="2" charset="2"/>
              <a:buChar char="§"/>
              <a:tabLst>
                <a:tab pos="224314" algn="l"/>
              </a:tabLst>
            </a:pPr>
            <a:r>
              <a:rPr lang="en-US" sz="1600">
                <a:latin typeface="Calibri" pitchFamily="34" charset="0"/>
                <a:ea typeface="Calibri" pitchFamily="34" charset="0"/>
                <a:cs typeface="Calibri" pitchFamily="34" charset="0"/>
              </a:rPr>
              <a:t>Transfers this information to the memory or processor.</a:t>
            </a:r>
          </a:p>
          <a:p>
            <a:pPr marL="224314" marR="3810" indent="-215265">
              <a:lnSpc>
                <a:spcPct val="150000"/>
              </a:lnSpc>
              <a:spcBef>
                <a:spcPts val="75"/>
              </a:spcBef>
              <a:buFont typeface="Wingdings"/>
              <a:buChar char=""/>
              <a:tabLst>
                <a:tab pos="224314" algn="l"/>
              </a:tabLst>
            </a:pPr>
            <a:endParaRPr sz="1600">
              <a:latin typeface="Calibri" pitchFamily="34" charset="0"/>
              <a:ea typeface="Calibri" pitchFamily="34" charset="0"/>
              <a:cs typeface="Calibri" pitchFamily="34" charset="0"/>
            </a:endParaRPr>
          </a:p>
        </p:txBody>
      </p:sp>
      <p:pic>
        <p:nvPicPr>
          <p:cNvPr id="4" name="object 4"/>
          <p:cNvPicPr/>
          <p:nvPr/>
        </p:nvPicPr>
        <p:blipFill>
          <a:blip r:embed="rId2" cstate="print"/>
          <a:stretch>
            <a:fillRect/>
          </a:stretch>
        </p:blipFill>
        <p:spPr>
          <a:xfrm>
            <a:off x="712089" y="3382136"/>
            <a:ext cx="2167128" cy="1179576"/>
          </a:xfrm>
          <a:prstGeom prst="rect">
            <a:avLst/>
          </a:prstGeom>
        </p:spPr>
      </p:pic>
      <p:pic>
        <p:nvPicPr>
          <p:cNvPr id="5" name="object 5"/>
          <p:cNvPicPr/>
          <p:nvPr/>
        </p:nvPicPr>
        <p:blipFill>
          <a:blip r:embed="rId3" cstate="print"/>
          <a:stretch>
            <a:fillRect/>
          </a:stretch>
        </p:blipFill>
        <p:spPr>
          <a:xfrm>
            <a:off x="3138678" y="3419856"/>
            <a:ext cx="1224152" cy="1065276"/>
          </a:xfrm>
          <a:prstGeom prst="rect">
            <a:avLst/>
          </a:prstGeom>
        </p:spPr>
      </p:pic>
      <p:pic>
        <p:nvPicPr>
          <p:cNvPr id="6" name="object 6"/>
          <p:cNvPicPr/>
          <p:nvPr/>
        </p:nvPicPr>
        <p:blipFill>
          <a:blip r:embed="rId4" cstate="print"/>
          <a:stretch>
            <a:fillRect/>
          </a:stretch>
        </p:blipFill>
        <p:spPr>
          <a:xfrm>
            <a:off x="5757851" y="2553821"/>
            <a:ext cx="3231261" cy="2474595"/>
          </a:xfrm>
          <a:prstGeom prst="rect">
            <a:avLst/>
          </a:prstGeom>
        </p:spPr>
      </p:pic>
      <p:grpSp>
        <p:nvGrpSpPr>
          <p:cNvPr id="7" name="object 7"/>
          <p:cNvGrpSpPr/>
          <p:nvPr/>
        </p:nvGrpSpPr>
        <p:grpSpPr>
          <a:xfrm>
            <a:off x="4700968" y="3719131"/>
            <a:ext cx="642938" cy="400526"/>
            <a:chOff x="6267958" y="4958841"/>
            <a:chExt cx="857250" cy="534035"/>
          </a:xfrm>
        </p:grpSpPr>
        <p:sp>
          <p:nvSpPr>
            <p:cNvPr id="8" name="object 8"/>
            <p:cNvSpPr/>
            <p:nvPr/>
          </p:nvSpPr>
          <p:spPr>
            <a:xfrm>
              <a:off x="6274308" y="4965191"/>
              <a:ext cx="844550" cy="521334"/>
            </a:xfrm>
            <a:custGeom>
              <a:avLst/>
              <a:gdLst/>
              <a:ahLst/>
              <a:cxnLst/>
              <a:rect l="l" t="t" r="r" b="b"/>
              <a:pathLst>
                <a:path w="844550" h="521335">
                  <a:moveTo>
                    <a:pt x="583691" y="0"/>
                  </a:moveTo>
                  <a:lnTo>
                    <a:pt x="583691" y="130301"/>
                  </a:lnTo>
                  <a:lnTo>
                    <a:pt x="0" y="130301"/>
                  </a:lnTo>
                  <a:lnTo>
                    <a:pt x="0" y="390905"/>
                  </a:lnTo>
                  <a:lnTo>
                    <a:pt x="583691" y="390905"/>
                  </a:lnTo>
                  <a:lnTo>
                    <a:pt x="583691" y="521207"/>
                  </a:lnTo>
                  <a:lnTo>
                    <a:pt x="844295" y="260603"/>
                  </a:lnTo>
                  <a:lnTo>
                    <a:pt x="583691" y="0"/>
                  </a:lnTo>
                  <a:close/>
                </a:path>
              </a:pathLst>
            </a:custGeom>
            <a:solidFill>
              <a:srgbClr val="4471C4"/>
            </a:solidFill>
          </p:spPr>
          <p:txBody>
            <a:bodyPr wrap="square" lIns="0" tIns="0" rIns="0" bIns="0" rtlCol="0"/>
            <a:lstStyle/>
            <a:p>
              <a:endParaRPr/>
            </a:p>
          </p:txBody>
        </p:sp>
        <p:sp>
          <p:nvSpPr>
            <p:cNvPr id="9" name="object 9"/>
            <p:cNvSpPr/>
            <p:nvPr/>
          </p:nvSpPr>
          <p:spPr>
            <a:xfrm>
              <a:off x="6274308" y="4965191"/>
              <a:ext cx="844550" cy="521334"/>
            </a:xfrm>
            <a:custGeom>
              <a:avLst/>
              <a:gdLst/>
              <a:ahLst/>
              <a:cxnLst/>
              <a:rect l="l" t="t" r="r" b="b"/>
              <a:pathLst>
                <a:path w="844550" h="521335">
                  <a:moveTo>
                    <a:pt x="0" y="130301"/>
                  </a:moveTo>
                  <a:lnTo>
                    <a:pt x="583691" y="130301"/>
                  </a:lnTo>
                  <a:lnTo>
                    <a:pt x="583691" y="0"/>
                  </a:lnTo>
                  <a:lnTo>
                    <a:pt x="844295" y="260603"/>
                  </a:lnTo>
                  <a:lnTo>
                    <a:pt x="583691" y="521207"/>
                  </a:lnTo>
                  <a:lnTo>
                    <a:pt x="583691" y="390905"/>
                  </a:lnTo>
                  <a:lnTo>
                    <a:pt x="0" y="390905"/>
                  </a:lnTo>
                  <a:lnTo>
                    <a:pt x="0" y="130301"/>
                  </a:lnTo>
                  <a:close/>
                </a:path>
              </a:pathLst>
            </a:custGeom>
            <a:ln w="12700">
              <a:solidFill>
                <a:srgbClr val="2E528F"/>
              </a:solidFill>
            </a:ln>
          </p:spPr>
          <p:txBody>
            <a:bodyPr wrap="square" lIns="0" tIns="0" rIns="0" bIns="0" rtlCol="0"/>
            <a:lstStyle/>
            <a:p>
              <a:endParaRPr/>
            </a:p>
          </p:txBody>
        </p:sp>
      </p:grpSp>
      <p:sp>
        <p:nvSpPr>
          <p:cNvPr id="10" name="Rectangle 9"/>
          <p:cNvSpPr/>
          <p:nvPr/>
        </p:nvSpPr>
        <p:spPr>
          <a:xfrm>
            <a:off x="3577716" y="364944"/>
            <a:ext cx="1733167" cy="461665"/>
          </a:xfrm>
          <a:prstGeom prst="rect">
            <a:avLst/>
          </a:prstGeom>
        </p:spPr>
        <p:txBody>
          <a:bodyPr wrap="none">
            <a:spAutoFit/>
          </a:bodyPr>
          <a:lstStyle/>
          <a:p>
            <a:r>
              <a:rPr lang="en-US" sz="2400">
                <a:latin typeface="Algerian" pitchFamily="82" charset="0"/>
              </a:rPr>
              <a:t>Input Unit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5"/>
            <a:ext cx="6838474" cy="1798409"/>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sz="1500">
                <a:latin typeface="Calibri" pitchFamily="34" charset="0"/>
                <a:ea typeface="Calibri" pitchFamily="34" charset="0"/>
                <a:cs typeface="Calibri" pitchFamily="34" charset="0"/>
              </a:rPr>
              <a:t>Computers represent information in a specific binary form via Output units:</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Interface with output devices.</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Accept processed results provided by the computer in specific binary form.</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Convert the information in binary form to a form understood by an output device.</a:t>
            </a:r>
          </a:p>
          <a:p>
            <a:pPr marL="224314" indent="-214789">
              <a:spcBef>
                <a:spcPts val="1024"/>
              </a:spcBef>
              <a:buFont typeface="Wingdings"/>
              <a:buChar char=""/>
              <a:tabLst>
                <a:tab pos="224314" algn="l"/>
              </a:tabLst>
            </a:pPr>
            <a:endParaRPr sz="1500">
              <a:latin typeface="Calibri" pitchFamily="34" charset="0"/>
              <a:ea typeface="Calibri" pitchFamily="34" charset="0"/>
              <a:cs typeface="Calibri" pitchFamily="34" charset="0"/>
            </a:endParaRPr>
          </a:p>
        </p:txBody>
      </p:sp>
      <p:grpSp>
        <p:nvGrpSpPr>
          <p:cNvPr id="4" name="object 4"/>
          <p:cNvGrpSpPr/>
          <p:nvPr/>
        </p:nvGrpSpPr>
        <p:grpSpPr>
          <a:xfrm>
            <a:off x="4262056" y="3323654"/>
            <a:ext cx="642938" cy="399574"/>
            <a:chOff x="5682741" y="4431538"/>
            <a:chExt cx="857250" cy="532765"/>
          </a:xfrm>
        </p:grpSpPr>
        <p:sp>
          <p:nvSpPr>
            <p:cNvPr id="5" name="object 5"/>
            <p:cNvSpPr/>
            <p:nvPr/>
          </p:nvSpPr>
          <p:spPr>
            <a:xfrm>
              <a:off x="5689091" y="4437888"/>
              <a:ext cx="844550" cy="520065"/>
            </a:xfrm>
            <a:custGeom>
              <a:avLst/>
              <a:gdLst/>
              <a:ahLst/>
              <a:cxnLst/>
              <a:rect l="l" t="t" r="r" b="b"/>
              <a:pathLst>
                <a:path w="844550" h="520064">
                  <a:moveTo>
                    <a:pt x="584454" y="0"/>
                  </a:moveTo>
                  <a:lnTo>
                    <a:pt x="584454" y="129920"/>
                  </a:lnTo>
                  <a:lnTo>
                    <a:pt x="0" y="129920"/>
                  </a:lnTo>
                  <a:lnTo>
                    <a:pt x="0" y="389763"/>
                  </a:lnTo>
                  <a:lnTo>
                    <a:pt x="584454" y="389763"/>
                  </a:lnTo>
                  <a:lnTo>
                    <a:pt x="584454" y="519684"/>
                  </a:lnTo>
                  <a:lnTo>
                    <a:pt x="844296" y="259842"/>
                  </a:lnTo>
                  <a:lnTo>
                    <a:pt x="584454" y="0"/>
                  </a:lnTo>
                  <a:close/>
                </a:path>
              </a:pathLst>
            </a:custGeom>
            <a:solidFill>
              <a:srgbClr val="4471C4"/>
            </a:solidFill>
          </p:spPr>
          <p:txBody>
            <a:bodyPr wrap="square" lIns="0" tIns="0" rIns="0" bIns="0" rtlCol="0"/>
            <a:lstStyle/>
            <a:p>
              <a:endParaRPr/>
            </a:p>
          </p:txBody>
        </p:sp>
        <p:sp>
          <p:nvSpPr>
            <p:cNvPr id="6" name="object 6"/>
            <p:cNvSpPr/>
            <p:nvPr/>
          </p:nvSpPr>
          <p:spPr>
            <a:xfrm>
              <a:off x="5689091" y="4437888"/>
              <a:ext cx="844550" cy="520065"/>
            </a:xfrm>
            <a:custGeom>
              <a:avLst/>
              <a:gdLst/>
              <a:ahLst/>
              <a:cxnLst/>
              <a:rect l="l" t="t" r="r" b="b"/>
              <a:pathLst>
                <a:path w="844550" h="520064">
                  <a:moveTo>
                    <a:pt x="0" y="129920"/>
                  </a:moveTo>
                  <a:lnTo>
                    <a:pt x="584454" y="129920"/>
                  </a:lnTo>
                  <a:lnTo>
                    <a:pt x="584454" y="0"/>
                  </a:lnTo>
                  <a:lnTo>
                    <a:pt x="844296" y="259842"/>
                  </a:lnTo>
                  <a:lnTo>
                    <a:pt x="584454" y="519684"/>
                  </a:lnTo>
                  <a:lnTo>
                    <a:pt x="584454" y="389763"/>
                  </a:lnTo>
                  <a:lnTo>
                    <a:pt x="0" y="389763"/>
                  </a:lnTo>
                  <a:lnTo>
                    <a:pt x="0" y="129920"/>
                  </a:lnTo>
                  <a:close/>
                </a:path>
              </a:pathLst>
            </a:custGeom>
            <a:ln w="12700">
              <a:solidFill>
                <a:srgbClr val="2E528F"/>
              </a:solidFill>
            </a:ln>
          </p:spPr>
          <p:txBody>
            <a:bodyPr wrap="square" lIns="0" tIns="0" rIns="0" bIns="0" rtlCol="0"/>
            <a:lstStyle/>
            <a:p>
              <a:endParaRPr/>
            </a:p>
          </p:txBody>
        </p:sp>
      </p:grpSp>
      <p:pic>
        <p:nvPicPr>
          <p:cNvPr id="7" name="object 7"/>
          <p:cNvPicPr/>
          <p:nvPr/>
        </p:nvPicPr>
        <p:blipFill>
          <a:blip r:embed="rId2" cstate="print"/>
          <a:stretch>
            <a:fillRect/>
          </a:stretch>
        </p:blipFill>
        <p:spPr>
          <a:xfrm>
            <a:off x="1062990" y="2505456"/>
            <a:ext cx="2874644" cy="2302002"/>
          </a:xfrm>
          <a:prstGeom prst="rect">
            <a:avLst/>
          </a:prstGeom>
        </p:spPr>
      </p:pic>
      <p:pic>
        <p:nvPicPr>
          <p:cNvPr id="8" name="object 8"/>
          <p:cNvPicPr/>
          <p:nvPr/>
        </p:nvPicPr>
        <p:blipFill>
          <a:blip r:embed="rId3" cstate="print"/>
          <a:stretch>
            <a:fillRect/>
          </a:stretch>
        </p:blipFill>
        <p:spPr>
          <a:xfrm>
            <a:off x="5078349" y="2449449"/>
            <a:ext cx="3697604" cy="2412872"/>
          </a:xfrm>
          <a:prstGeom prst="rect">
            <a:avLst/>
          </a:prstGeom>
        </p:spPr>
      </p:pic>
      <p:sp>
        <p:nvSpPr>
          <p:cNvPr id="9" name="Rectangle 8"/>
          <p:cNvSpPr/>
          <p:nvPr/>
        </p:nvSpPr>
        <p:spPr>
          <a:xfrm>
            <a:off x="3569517" y="355980"/>
            <a:ext cx="2012089" cy="461665"/>
          </a:xfrm>
          <a:prstGeom prst="rect">
            <a:avLst/>
          </a:prstGeom>
        </p:spPr>
        <p:txBody>
          <a:bodyPr wrap="none">
            <a:spAutoFit/>
          </a:bodyPr>
          <a:lstStyle/>
          <a:p>
            <a:r>
              <a:rPr lang="en-US" sz="2400">
                <a:latin typeface="Algerian" pitchFamily="82" charset="0"/>
              </a:rPr>
              <a:t>Output Unit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8" y="898316"/>
            <a:ext cx="7436168" cy="4342695"/>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Memory unit stores instructions and data.</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Recall, data is represented as a series of bits.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To store data, memory unit thus stores bits.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Processor reads instructions and reads/writes data from/to the memory during the execution of a program.</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theory, instructions and data could be fetched one bit at a time.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practice, a group of bits is fetched at a time.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Group of bits stored or retrieved at a time is termed as </a:t>
            </a:r>
            <a:r>
              <a:rPr lang="en-US">
                <a:solidFill>
                  <a:srgbClr val="FF0000"/>
                </a:solidFill>
                <a:latin typeface="Calibri" pitchFamily="34" charset="0"/>
                <a:ea typeface="Calibri" pitchFamily="34" charset="0"/>
                <a:cs typeface="Calibri" pitchFamily="34" charset="0"/>
              </a:rPr>
              <a:t>"word"</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Number of bits in a word is termed as the </a:t>
            </a:r>
            <a:r>
              <a:rPr lang="en-US">
                <a:solidFill>
                  <a:srgbClr val="FF0000"/>
                </a:solidFill>
                <a:latin typeface="Calibri" pitchFamily="34" charset="0"/>
                <a:ea typeface="Calibri" pitchFamily="34" charset="0"/>
                <a:cs typeface="Calibri" pitchFamily="34" charset="0"/>
              </a:rPr>
              <a:t>"word length" </a:t>
            </a:r>
            <a:r>
              <a:rPr lang="en-US">
                <a:latin typeface="Calibri" pitchFamily="34" charset="0"/>
                <a:ea typeface="Calibri" pitchFamily="34" charset="0"/>
                <a:cs typeface="Calibri" pitchFamily="34" charset="0"/>
              </a:rPr>
              <a:t>of a computer.</a:t>
            </a:r>
          </a:p>
          <a:p>
            <a:pPr marL="224314" indent="-214789">
              <a:spcBef>
                <a:spcPts val="1024"/>
              </a:spcBef>
              <a:buFont typeface="Wingdings"/>
              <a:buChar char=""/>
              <a:tabLst>
                <a:tab pos="224314" algn="l"/>
              </a:tabLst>
            </a:pPr>
            <a:endParaRPr lang="en-US">
              <a:latin typeface="Calibri" pitchFamily="34" charset="0"/>
              <a:ea typeface="Calibri" pitchFamily="34" charset="0"/>
              <a:cs typeface="Calibri" pitchFamily="34" charset="0"/>
            </a:endParaRP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order to read/write to and from memory, a processor should know where to look:</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"Address" is associated with each word location.</a:t>
            </a:r>
          </a:p>
          <a:p>
            <a:pPr marL="224314" indent="-214789">
              <a:spcBef>
                <a:spcPts val="1024"/>
              </a:spcBef>
              <a:buFont typeface="Wingdings"/>
              <a:buChar char=""/>
              <a:tabLst>
                <a:tab pos="224314" algn="l"/>
              </a:tabLst>
            </a:pPr>
            <a:endParaRPr>
              <a:latin typeface="Calibri" pitchFamily="34" charset="0"/>
              <a:ea typeface="Calibri" pitchFamily="34" charset="0"/>
              <a:cs typeface="Calibri" pitchFamily="34" charset="0"/>
            </a:endParaRPr>
          </a:p>
        </p:txBody>
      </p:sp>
      <p:sp>
        <p:nvSpPr>
          <p:cNvPr id="4" name="Rectangle 3"/>
          <p:cNvSpPr/>
          <p:nvPr/>
        </p:nvSpPr>
        <p:spPr>
          <a:xfrm>
            <a:off x="3727666" y="355980"/>
            <a:ext cx="2130711" cy="461665"/>
          </a:xfrm>
          <a:prstGeom prst="rect">
            <a:avLst/>
          </a:prstGeom>
        </p:spPr>
        <p:txBody>
          <a:bodyPr wrap="none">
            <a:spAutoFit/>
          </a:bodyPr>
          <a:lstStyle/>
          <a:p>
            <a:r>
              <a:rPr lang="en-US" sz="2400">
                <a:latin typeface="Algerian" pitchFamily="82" charset="0"/>
              </a:rPr>
              <a:t>Memory Unit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6"/>
            <a:ext cx="8105299" cy="3655327"/>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Processor reads/writes to/from memory based on the memory address: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Access any word location in a short and fixed amount of time based on the address.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Random Access Memory (RAM) provides fixed access time independent of the location of the word.</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Access time is known as "Memory Access Time".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Memory and processor have to communicate with each other in order to read/write information.</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order to reduce communication time", a small amount of RAM (known as Cache) is tightly coupled with the processor.</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Modern computers have three to four levels of RAM units with different speeds and sizes: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Fastest, smallest known as Cache</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Slowest, largest known as Main memory</a:t>
            </a:r>
          </a:p>
          <a:p>
            <a:pPr marL="224314" indent="-214789">
              <a:spcBef>
                <a:spcPts val="1024"/>
              </a:spcBef>
              <a:buFont typeface="Wingdings"/>
              <a:buChar char=""/>
              <a:tabLst>
                <a:tab pos="224314" algn="l"/>
              </a:tabLst>
            </a:pPr>
            <a:endParaRPr>
              <a:latin typeface="Calibri" pitchFamily="34" charset="0"/>
              <a:ea typeface="Calibri" pitchFamily="34" charset="0"/>
              <a:cs typeface="Calibri" pitchFamily="34" charset="0"/>
            </a:endParaRPr>
          </a:p>
        </p:txBody>
      </p:sp>
      <p:sp>
        <p:nvSpPr>
          <p:cNvPr id="5" name="Rectangle 4"/>
          <p:cNvSpPr/>
          <p:nvPr/>
        </p:nvSpPr>
        <p:spPr>
          <a:xfrm>
            <a:off x="3579708" y="320121"/>
            <a:ext cx="2130711" cy="461665"/>
          </a:xfrm>
          <a:prstGeom prst="rect">
            <a:avLst/>
          </a:prstGeom>
        </p:spPr>
        <p:txBody>
          <a:bodyPr wrap="none">
            <a:spAutoFit/>
          </a:bodyPr>
          <a:lstStyle/>
          <a:p>
            <a:r>
              <a:rPr lang="en-US" sz="2400">
                <a:latin typeface="Algerian" pitchFamily="82" charset="0"/>
              </a:rPr>
              <a:t>Memory Unit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6"/>
            <a:ext cx="7618095" cy="4055437"/>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sz="1500">
                <a:latin typeface="Calibri" pitchFamily="34" charset="0"/>
                <a:ea typeface="Calibri" pitchFamily="34" charset="0"/>
                <a:cs typeface="Calibri" pitchFamily="34" charset="0"/>
              </a:rPr>
              <a:t>Operations are executed in the Arithmetic and Logic Unit (ALU).</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Arithmetic operations such as addition, subtraction.</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Logic operations such as comparison of numbers.</a:t>
            </a:r>
          </a:p>
          <a:p>
            <a:pPr marL="224314" indent="-214789">
              <a:spcBef>
                <a:spcPts val="1024"/>
              </a:spcBef>
              <a:buFont typeface="Wingdings"/>
              <a:buChar char=""/>
              <a:tabLst>
                <a:tab pos="224314" algn="l"/>
              </a:tabLst>
            </a:pPr>
            <a:endParaRPr lang="en-US" sz="1500">
              <a:latin typeface="Calibri" pitchFamily="34" charset="0"/>
              <a:ea typeface="Calibri" pitchFamily="34" charset="0"/>
              <a:cs typeface="Calibri" pitchFamily="34" charset="0"/>
            </a:endParaRPr>
          </a:p>
          <a:p>
            <a:pPr marL="224314" indent="-214789">
              <a:spcBef>
                <a:spcPts val="1024"/>
              </a:spcBef>
              <a:buFont typeface="Wingdings"/>
              <a:buChar char=""/>
              <a:tabLst>
                <a:tab pos="224314" algn="l"/>
              </a:tabLst>
            </a:pPr>
            <a:endParaRPr lang="en-US" sz="1500">
              <a:latin typeface="Calibri" pitchFamily="34" charset="0"/>
              <a:ea typeface="Calibri" pitchFamily="34" charset="0"/>
              <a:cs typeface="Calibri" pitchFamily="34" charset="0"/>
            </a:endParaRPr>
          </a:p>
          <a:p>
            <a:pPr marL="224314" indent="-214789">
              <a:spcBef>
                <a:spcPts val="1024"/>
              </a:spcBef>
              <a:buFont typeface="Wingdings"/>
              <a:buChar char=""/>
              <a:tabLst>
                <a:tab pos="224314" algn="l"/>
              </a:tabLst>
            </a:pPr>
            <a:r>
              <a:rPr lang="en-US" sz="1500">
                <a:latin typeface="Calibri" pitchFamily="34" charset="0"/>
                <a:ea typeface="Calibri" pitchFamily="34" charset="0"/>
                <a:cs typeface="Calibri" pitchFamily="34" charset="0"/>
              </a:rPr>
              <a:t>In order to execute an instruction, operands need to be brought into the ALU from the memory.</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Operands are stored in general purpose registers available in the ALU.</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Access times of general purpose registers are faster than the cache.</a:t>
            </a:r>
          </a:p>
          <a:p>
            <a:pPr marL="224314" indent="-214789">
              <a:spcBef>
                <a:spcPts val="1024"/>
              </a:spcBef>
              <a:buFont typeface="Wingdings" pitchFamily="2" charset="2"/>
              <a:buChar char="§"/>
              <a:tabLst>
                <a:tab pos="224314" algn="l"/>
              </a:tabLst>
            </a:pPr>
            <a:r>
              <a:rPr lang="en-US" sz="1500">
                <a:latin typeface="Calibri" pitchFamily="34" charset="0"/>
                <a:ea typeface="Calibri" pitchFamily="34" charset="0"/>
                <a:cs typeface="Calibri" pitchFamily="34" charset="0"/>
              </a:rPr>
              <a:t>Results of the operations are stored back in the memory or retained in the processor for immediate use.</a:t>
            </a:r>
          </a:p>
          <a:p>
            <a:pPr marL="224314" indent="-214789">
              <a:spcBef>
                <a:spcPts val="1024"/>
              </a:spcBef>
              <a:buFont typeface="Wingdings"/>
              <a:buChar char=""/>
              <a:tabLst>
                <a:tab pos="224314" algn="l"/>
              </a:tabLst>
            </a:pPr>
            <a:endParaRPr sz="1500">
              <a:latin typeface="Calibri" pitchFamily="34" charset="0"/>
              <a:ea typeface="Calibri" pitchFamily="34" charset="0"/>
              <a:cs typeface="Calibri" pitchFamily="34" charset="0"/>
            </a:endParaRPr>
          </a:p>
        </p:txBody>
      </p:sp>
      <p:sp>
        <p:nvSpPr>
          <p:cNvPr id="4" name="Rectangle 3"/>
          <p:cNvSpPr/>
          <p:nvPr/>
        </p:nvSpPr>
        <p:spPr>
          <a:xfrm>
            <a:off x="1928926" y="230473"/>
            <a:ext cx="5206875" cy="461665"/>
          </a:xfrm>
          <a:prstGeom prst="rect">
            <a:avLst/>
          </a:prstGeom>
        </p:spPr>
        <p:txBody>
          <a:bodyPr wrap="none">
            <a:spAutoFit/>
          </a:bodyPr>
          <a:lstStyle/>
          <a:p>
            <a:r>
              <a:rPr lang="en-US" sz="2400">
                <a:latin typeface="Algerian" pitchFamily="82" charset="0"/>
              </a:rPr>
              <a:t>Arithmetic and logic unit (ALU)</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713400" y="1152475"/>
            <a:ext cx="7717500" cy="3722012"/>
          </a:xfrm>
          <a:prstGeom prst="rect">
            <a:avLst/>
          </a:prstGeom>
        </p:spPr>
        <p:txBody>
          <a:bodyPr vert="horz" wrap="square" lIns="0" tIns="130016" rIns="0" bIns="0" rtlCol="0">
            <a:spAutoFit/>
          </a:bodyPr>
          <a:lstStyle/>
          <a:p>
            <a:pPr marL="224314" indent="-214789">
              <a:lnSpc>
                <a:spcPct val="100000"/>
              </a:lnSpc>
              <a:spcBef>
                <a:spcPts val="1024"/>
              </a:spcBef>
              <a:buFont typeface="Wingdings"/>
              <a:buChar char=""/>
              <a:tabLst>
                <a:tab pos="224314" algn="l"/>
              </a:tabLst>
            </a:pPr>
            <a:r>
              <a:rPr lang="en-US" spc="-8">
                <a:solidFill>
                  <a:schemeClr val="tx1"/>
                </a:solidFill>
                <a:latin typeface="Calibri" pitchFamily="34" charset="0"/>
                <a:ea typeface="Calibri" pitchFamily="34" charset="0"/>
                <a:cs typeface="Calibri" pitchFamily="34" charset="0"/>
              </a:rPr>
              <a:t>Operation of a computer can be summarized as:</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Accepts information from the input units (Input unit).</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Stores the information (Memory).</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Processes the information (ALU).</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Provides processed results through the output units (Output unit)</a:t>
            </a:r>
          </a:p>
          <a:p>
            <a:pPr marL="224314" indent="-214789">
              <a:lnSpc>
                <a:spcPct val="100000"/>
              </a:lnSpc>
              <a:spcBef>
                <a:spcPts val="1024"/>
              </a:spcBef>
              <a:buFont typeface="Wingdings"/>
              <a:buChar char=""/>
              <a:tabLst>
                <a:tab pos="224314" algn="l"/>
              </a:tabLst>
            </a:pPr>
            <a:endParaRPr lang="en-US" spc="-8">
              <a:solidFill>
                <a:schemeClr val="tx1"/>
              </a:solidFill>
              <a:latin typeface="Calibri" pitchFamily="34" charset="0"/>
              <a:ea typeface="Calibri" pitchFamily="34" charset="0"/>
              <a:cs typeface="Calibri" pitchFamily="34" charset="0"/>
            </a:endParaRPr>
          </a:p>
          <a:p>
            <a:pPr marL="224314" indent="-214789">
              <a:lnSpc>
                <a:spcPct val="100000"/>
              </a:lnSpc>
              <a:spcBef>
                <a:spcPts val="1024"/>
              </a:spcBef>
              <a:buFont typeface="Wingdings"/>
              <a:buChar char=""/>
              <a:tabLst>
                <a:tab pos="224314" algn="l"/>
              </a:tabLst>
            </a:pPr>
            <a:r>
              <a:rPr lang="en-US" spc="-8">
                <a:solidFill>
                  <a:schemeClr val="tx1"/>
                </a:solidFill>
                <a:latin typeface="Calibri" pitchFamily="34" charset="0"/>
                <a:ea typeface="Calibri" pitchFamily="34" charset="0"/>
                <a:cs typeface="Calibri" pitchFamily="34" charset="0"/>
              </a:rPr>
              <a:t>Operations of Input unit, Memory, ALU and Output unit are coordinated by Control unit.</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Instructions control "what" operations take place (e.g. data transfer, processing).</a:t>
            </a:r>
          </a:p>
          <a:p>
            <a:pPr marL="224314" indent="-214789">
              <a:lnSpc>
                <a:spcPct val="100000"/>
              </a:lnSpc>
              <a:spcBef>
                <a:spcPts val="1024"/>
              </a:spcBef>
              <a:buFont typeface="Wingdings" pitchFamily="2" charset="2"/>
              <a:buChar char="§"/>
              <a:tabLst>
                <a:tab pos="224314" algn="l"/>
              </a:tabLst>
            </a:pPr>
            <a:r>
              <a:rPr lang="en-US" spc="-8">
                <a:solidFill>
                  <a:schemeClr val="tx1"/>
                </a:solidFill>
                <a:latin typeface="Calibri" pitchFamily="34" charset="0"/>
                <a:ea typeface="Calibri" pitchFamily="34" charset="0"/>
                <a:cs typeface="Calibri" pitchFamily="34" charset="0"/>
              </a:rPr>
              <a:t>Control unit generates timing signals which determines "when" a particular operation takes place.</a:t>
            </a:r>
          </a:p>
          <a:p>
            <a:pPr marL="224314" indent="-214789">
              <a:lnSpc>
                <a:spcPct val="100000"/>
              </a:lnSpc>
              <a:spcBef>
                <a:spcPts val="1024"/>
              </a:spcBef>
              <a:buFont typeface="Wingdings"/>
              <a:buChar char=""/>
              <a:tabLst>
                <a:tab pos="224314" algn="l"/>
              </a:tabLst>
            </a:pPr>
            <a:endParaRPr spc="-8">
              <a:solidFill>
                <a:schemeClr val="tx1"/>
              </a:solidFill>
              <a:latin typeface="Calibri" pitchFamily="34" charset="0"/>
              <a:ea typeface="Calibri" pitchFamily="34" charset="0"/>
              <a:cs typeface="Calibri" pitchFamily="34" charset="0"/>
            </a:endParaRPr>
          </a:p>
        </p:txBody>
      </p:sp>
      <p:sp>
        <p:nvSpPr>
          <p:cNvPr id="4" name="Rectangle 3"/>
          <p:cNvSpPr/>
          <p:nvPr/>
        </p:nvSpPr>
        <p:spPr>
          <a:xfrm>
            <a:off x="3296351" y="427698"/>
            <a:ext cx="2196435" cy="461665"/>
          </a:xfrm>
          <a:prstGeom prst="rect">
            <a:avLst/>
          </a:prstGeom>
        </p:spPr>
        <p:txBody>
          <a:bodyPr wrap="none">
            <a:spAutoFit/>
          </a:bodyPr>
          <a:lstStyle/>
          <a:p>
            <a:r>
              <a:rPr lang="en-US" sz="2400">
                <a:latin typeface="Algerian" pitchFamily="82" charset="0"/>
              </a:rPr>
              <a:t>Control Unit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910114"/>
            <a:ext cx="7715250" cy="990656"/>
          </a:xfrm>
          <a:prstGeom prst="rect">
            <a:avLst/>
          </a:prstGeom>
        </p:spPr>
        <p:txBody>
          <a:bodyPr vert="horz" wrap="square" lIns="0" tIns="112395" rIns="0" bIns="0" rtlCol="0">
            <a:spAutoFit/>
          </a:bodyPr>
          <a:lstStyle/>
          <a:p>
            <a:pPr marL="266700" indent="-257175">
              <a:spcBef>
                <a:spcPts val="885"/>
              </a:spcBef>
              <a:buChar char="•"/>
              <a:tabLst>
                <a:tab pos="266700" algn="l"/>
              </a:tabLst>
            </a:pPr>
            <a:r>
              <a:rPr lang="en-US">
                <a:latin typeface="Calibri" pitchFamily="34" charset="0"/>
                <a:ea typeface="Calibri" pitchFamily="34" charset="0"/>
                <a:cs typeface="Calibri" pitchFamily="34" charset="0"/>
              </a:rPr>
              <a:t>For a computer to achieve its operation, the functional units need to communicate with each other.</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In order to communicate, they need to be connected.</a:t>
            </a:r>
          </a:p>
          <a:p>
            <a:pPr marL="266700" indent="-257175">
              <a:spcBef>
                <a:spcPts val="885"/>
              </a:spcBef>
              <a:buChar char="•"/>
              <a:tabLst>
                <a:tab pos="266700" algn="l"/>
              </a:tabLst>
            </a:pPr>
            <a:endParaRPr/>
          </a:p>
        </p:txBody>
      </p:sp>
      <p:sp>
        <p:nvSpPr>
          <p:cNvPr id="4" name="object 4"/>
          <p:cNvSpPr txBox="1"/>
          <p:nvPr/>
        </p:nvSpPr>
        <p:spPr>
          <a:xfrm>
            <a:off x="512368" y="3513201"/>
            <a:ext cx="6510338" cy="1652375"/>
          </a:xfrm>
          <a:prstGeom prst="rect">
            <a:avLst/>
          </a:prstGeom>
        </p:spPr>
        <p:txBody>
          <a:bodyPr vert="horz" wrap="square" lIns="0" tIns="112395" rIns="0" bIns="0" rtlCol="0">
            <a:spAutoFit/>
          </a:bodyPr>
          <a:lstStyle/>
          <a:p>
            <a:pPr marL="266700" indent="-257175">
              <a:spcBef>
                <a:spcPts val="885"/>
              </a:spcBef>
              <a:buChar char="•"/>
              <a:tabLst>
                <a:tab pos="266700" algn="l"/>
              </a:tabLst>
            </a:pPr>
            <a:r>
              <a:rPr lang="en-US">
                <a:latin typeface="Calibri" pitchFamily="34" charset="0"/>
                <a:ea typeface="Calibri" pitchFamily="34" charset="0"/>
                <a:cs typeface="Calibri" pitchFamily="34" charset="0"/>
              </a:rPr>
              <a:t>Functional units may be connected by a group of parallel wires.</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The group of parallel wires is called a bus.</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Each wire in a bus can transfer one bit of information</a:t>
            </a:r>
          </a:p>
          <a:p>
            <a:pPr marL="266700" indent="-257175">
              <a:spcBef>
                <a:spcPts val="885"/>
              </a:spcBef>
              <a:buChar char="•"/>
              <a:tabLst>
                <a:tab pos="266700" algn="l"/>
              </a:tabLst>
            </a:pPr>
            <a:r>
              <a:rPr lang="en-US">
                <a:latin typeface="Calibri" pitchFamily="34" charset="0"/>
                <a:ea typeface="Calibri" pitchFamily="34" charset="0"/>
                <a:cs typeface="Calibri" pitchFamily="34" charset="0"/>
              </a:rPr>
              <a:t>The number of parallel wires in a bus is equal to the word length of a computer</a:t>
            </a:r>
          </a:p>
          <a:p>
            <a:pPr marL="266700" indent="-257175">
              <a:spcBef>
                <a:spcPts val="885"/>
              </a:spcBef>
              <a:buChar char="•"/>
              <a:tabLst>
                <a:tab pos="266700" algn="l"/>
              </a:tabLst>
            </a:pPr>
            <a:endParaRPr>
              <a:latin typeface="Calibri" pitchFamily="34" charset="0"/>
              <a:ea typeface="Calibri" pitchFamily="34" charset="0"/>
              <a:cs typeface="Calibri" pitchFamily="34" charset="0"/>
            </a:endParaRPr>
          </a:p>
        </p:txBody>
      </p:sp>
      <p:pic>
        <p:nvPicPr>
          <p:cNvPr id="5" name="object 5"/>
          <p:cNvPicPr/>
          <p:nvPr/>
        </p:nvPicPr>
        <p:blipFill>
          <a:blip r:embed="rId2" cstate="print"/>
          <a:stretch>
            <a:fillRect/>
          </a:stretch>
        </p:blipFill>
        <p:spPr>
          <a:xfrm>
            <a:off x="1819656" y="1716786"/>
            <a:ext cx="5504687" cy="1493901"/>
          </a:xfrm>
          <a:prstGeom prst="rect">
            <a:avLst/>
          </a:prstGeom>
        </p:spPr>
      </p:pic>
      <p:sp>
        <p:nvSpPr>
          <p:cNvPr id="6" name="Rectangle 5"/>
          <p:cNvSpPr/>
          <p:nvPr/>
        </p:nvSpPr>
        <p:spPr>
          <a:xfrm>
            <a:off x="1095559" y="275297"/>
            <a:ext cx="6766596" cy="461665"/>
          </a:xfrm>
          <a:prstGeom prst="rect">
            <a:avLst/>
          </a:prstGeom>
        </p:spPr>
        <p:txBody>
          <a:bodyPr wrap="none">
            <a:spAutoFit/>
          </a:bodyPr>
          <a:lstStyle/>
          <a:p>
            <a:r>
              <a:rPr lang="en-US" sz="2400">
                <a:latin typeface="Algerian" pitchFamily="82" charset="0"/>
              </a:rPr>
              <a:t>How are the functional units connected?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12369" y="898315"/>
            <a:ext cx="7408069" cy="1593224"/>
          </a:xfrm>
          <a:prstGeom prst="rect">
            <a:avLst/>
          </a:prstGeom>
        </p:spPr>
        <p:txBody>
          <a:bodyPr vert="horz" wrap="square" lIns="0" tIns="130016" rIns="0" bIns="0" rtlCol="0">
            <a:spAutoFit/>
          </a:bodyPr>
          <a:lstStyle/>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A group of lines that serves a connecting path for several devices is called a bus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In addition to the lines that carry the data, the bus must have lines for address and control purposes.</a:t>
            </a:r>
          </a:p>
          <a:p>
            <a:pPr marL="224314" indent="-214789">
              <a:spcBef>
                <a:spcPts val="1024"/>
              </a:spcBef>
              <a:buFont typeface="Wingdings"/>
              <a:buChar char=""/>
              <a:tabLst>
                <a:tab pos="224314" algn="l"/>
              </a:tabLst>
            </a:pPr>
            <a:r>
              <a:rPr lang="en-US">
                <a:latin typeface="Calibri" pitchFamily="34" charset="0"/>
                <a:ea typeface="Calibri" pitchFamily="34" charset="0"/>
                <a:cs typeface="Calibri" pitchFamily="34" charset="0"/>
              </a:rPr>
              <a:t>The simplest way to interconnect functional units is to use a single bus, as shown below:</a:t>
            </a:r>
          </a:p>
          <a:p>
            <a:pPr marL="224314" indent="-214789">
              <a:spcBef>
                <a:spcPts val="1024"/>
              </a:spcBef>
              <a:buFont typeface="Wingdings"/>
              <a:buChar char=""/>
              <a:tabLst>
                <a:tab pos="224314" algn="l"/>
              </a:tabLst>
            </a:pPr>
            <a:endParaRPr>
              <a:latin typeface="Calibri" pitchFamily="34" charset="0"/>
              <a:ea typeface="Calibri" pitchFamily="34" charset="0"/>
              <a:cs typeface="Calibri" pitchFamily="34" charset="0"/>
            </a:endParaRPr>
          </a:p>
        </p:txBody>
      </p:sp>
      <p:pic>
        <p:nvPicPr>
          <p:cNvPr id="4" name="object 4"/>
          <p:cNvPicPr/>
          <p:nvPr/>
        </p:nvPicPr>
        <p:blipFill>
          <a:blip r:embed="rId2" cstate="print"/>
          <a:stretch>
            <a:fillRect/>
          </a:stretch>
        </p:blipFill>
        <p:spPr>
          <a:xfrm>
            <a:off x="1331595" y="2616326"/>
            <a:ext cx="6341364" cy="1997964"/>
          </a:xfrm>
          <a:prstGeom prst="rect">
            <a:avLst/>
          </a:prstGeom>
        </p:spPr>
      </p:pic>
      <p:sp>
        <p:nvSpPr>
          <p:cNvPr id="5" name="Rectangle 4"/>
          <p:cNvSpPr/>
          <p:nvPr/>
        </p:nvSpPr>
        <p:spPr>
          <a:xfrm>
            <a:off x="3124386" y="347015"/>
            <a:ext cx="2654894" cy="461665"/>
          </a:xfrm>
          <a:prstGeom prst="rect">
            <a:avLst/>
          </a:prstGeom>
        </p:spPr>
        <p:txBody>
          <a:bodyPr wrap="none">
            <a:spAutoFit/>
          </a:bodyPr>
          <a:lstStyle/>
          <a:p>
            <a:r>
              <a:rPr lang="en-US" sz="2400">
                <a:latin typeface="Algerian" pitchFamily="82" charset="0"/>
              </a:rPr>
              <a:t>Bus Structures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622041" y="2207133"/>
            <a:ext cx="4380929" cy="2241994"/>
          </a:xfrm>
          <a:prstGeom prst="rect">
            <a:avLst/>
          </a:prstGeom>
        </p:spPr>
      </p:pic>
      <p:sp>
        <p:nvSpPr>
          <p:cNvPr id="4" name="object 4"/>
          <p:cNvSpPr txBox="1"/>
          <p:nvPr/>
        </p:nvSpPr>
        <p:spPr>
          <a:xfrm>
            <a:off x="431085" y="942593"/>
            <a:ext cx="7821930" cy="3872214"/>
          </a:xfrm>
          <a:prstGeom prst="rect">
            <a:avLst/>
          </a:prstGeom>
        </p:spPr>
        <p:txBody>
          <a:bodyPr vert="horz" wrap="square" lIns="0" tIns="146685" rIns="0" bIns="0" rtlCol="0">
            <a:spAutoFit/>
          </a:bodyPr>
          <a:lstStyle/>
          <a:p>
            <a:pPr marL="266224" indent="-256699">
              <a:spcBef>
                <a:spcPts val="1155"/>
              </a:spcBef>
              <a:tabLst>
                <a:tab pos="266224" algn="l"/>
              </a:tabLst>
            </a:pPr>
            <a:r>
              <a:rPr lang="en-US" sz="1800" b="1">
                <a:latin typeface="Calibri" pitchFamily="34" charset="0"/>
                <a:ea typeface="Calibri" pitchFamily="34" charset="0"/>
                <a:cs typeface="Calibri" pitchFamily="34" charset="0"/>
              </a:rPr>
              <a:t>Latency: </a:t>
            </a:r>
            <a:r>
              <a:rPr lang="en-US" sz="1800">
                <a:latin typeface="Calibri" pitchFamily="34" charset="0"/>
                <a:ea typeface="Calibri" pitchFamily="34" charset="0"/>
                <a:cs typeface="Calibri" pitchFamily="34" charset="0"/>
              </a:rPr>
              <a:t>time to completely execute a certain task.</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Throughput: </a:t>
            </a:r>
            <a:r>
              <a:rPr lang="en-US" sz="1800">
                <a:latin typeface="Calibri" pitchFamily="34" charset="0"/>
                <a:ea typeface="Calibri" pitchFamily="34" charset="0"/>
                <a:cs typeface="Calibri" pitchFamily="34" charset="0"/>
              </a:rPr>
              <a:t>amount of work that can be done over a period of time.</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Power: </a:t>
            </a:r>
            <a:r>
              <a:rPr lang="en-US" sz="1800">
                <a:latin typeface="Calibri" pitchFamily="34" charset="0"/>
                <a:ea typeface="Calibri" pitchFamily="34" charset="0"/>
                <a:cs typeface="Calibri" pitchFamily="34" charset="0"/>
              </a:rPr>
              <a:t>instantaneous power during execution of a program.</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Energy: </a:t>
            </a:r>
            <a:r>
              <a:rPr lang="en-US" sz="1800">
                <a:latin typeface="Calibri" pitchFamily="34" charset="0"/>
                <a:ea typeface="Calibri" pitchFamily="34" charset="0"/>
                <a:cs typeface="Calibri" pitchFamily="34" charset="0"/>
              </a:rPr>
              <a:t>Total energy consumption during the execution of the whole program.</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Reliability: </a:t>
            </a:r>
            <a:r>
              <a:rPr lang="en-US" sz="1800">
                <a:latin typeface="Calibri" pitchFamily="34" charset="0"/>
                <a:ea typeface="Calibri" pitchFamily="34" charset="0"/>
                <a:cs typeface="Calibri" pitchFamily="34" charset="0"/>
              </a:rPr>
              <a:t>Failure rate.</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CPI</a:t>
            </a:r>
            <a:r>
              <a:rPr lang="en-US" sz="1800">
                <a:latin typeface="Calibri" pitchFamily="34" charset="0"/>
                <a:ea typeface="Calibri" pitchFamily="34" charset="0"/>
                <a:cs typeface="Calibri" pitchFamily="34" charset="0"/>
              </a:rPr>
              <a:t> = Clock Cycle	Per Instruction</a:t>
            </a:r>
          </a:p>
          <a:p>
            <a:pPr marL="266224" indent="-256699">
              <a:spcBef>
                <a:spcPts val="1155"/>
              </a:spcBef>
              <a:tabLst>
                <a:tab pos="266224" algn="l"/>
              </a:tabLst>
            </a:pPr>
            <a:r>
              <a:rPr lang="en-US" sz="1800" b="1">
                <a:latin typeface="Calibri" pitchFamily="34" charset="0"/>
                <a:ea typeface="Calibri" pitchFamily="34" charset="0"/>
                <a:cs typeface="Calibri" pitchFamily="34" charset="0"/>
              </a:rPr>
              <a:t>MIPS</a:t>
            </a:r>
            <a:r>
              <a:rPr lang="en-US" sz="1800">
                <a:latin typeface="Calibri" pitchFamily="34" charset="0"/>
                <a:ea typeface="Calibri" pitchFamily="34" charset="0"/>
                <a:cs typeface="Calibri" pitchFamily="34" charset="0"/>
              </a:rPr>
              <a:t> = Million Instructions Per Second</a:t>
            </a:r>
          </a:p>
          <a:p>
            <a:pPr marL="266224" indent="-256699">
              <a:spcBef>
                <a:spcPts val="1155"/>
              </a:spcBef>
              <a:tabLst>
                <a:tab pos="266224" algn="l"/>
              </a:tabLst>
            </a:pPr>
            <a:r>
              <a:rPr lang="en-US" sz="1800">
                <a:latin typeface="Calibri" pitchFamily="34" charset="0"/>
                <a:ea typeface="Calibri" pitchFamily="34" charset="0"/>
                <a:cs typeface="Calibri" pitchFamily="34" charset="0"/>
              </a:rPr>
              <a:t>Transactions/minute, Transactions/hour, MIPS/watt etc</a:t>
            </a:r>
          </a:p>
          <a:p>
            <a:pPr marL="266224" indent="-256699">
              <a:spcBef>
                <a:spcPts val="1155"/>
              </a:spcBef>
              <a:tabLst>
                <a:tab pos="266224" algn="l"/>
              </a:tabLst>
            </a:pPr>
            <a:endParaRPr sz="1800">
              <a:latin typeface="Calibri" pitchFamily="34" charset="0"/>
              <a:ea typeface="Calibri" pitchFamily="34" charset="0"/>
              <a:cs typeface="Calibri" pitchFamily="34" charset="0"/>
            </a:endParaRPr>
          </a:p>
        </p:txBody>
      </p:sp>
      <p:sp>
        <p:nvSpPr>
          <p:cNvPr id="5" name="Rectangle 4"/>
          <p:cNvSpPr/>
          <p:nvPr/>
        </p:nvSpPr>
        <p:spPr>
          <a:xfrm>
            <a:off x="2403088" y="409767"/>
            <a:ext cx="4206601" cy="523220"/>
          </a:xfrm>
          <a:prstGeom prst="rect">
            <a:avLst/>
          </a:prstGeom>
        </p:spPr>
        <p:txBody>
          <a:bodyPr wrap="none">
            <a:spAutoFit/>
          </a:bodyPr>
          <a:lstStyle/>
          <a:p>
            <a:r>
              <a:rPr lang="en-US" sz="2800">
                <a:latin typeface="Algerian" pitchFamily="82" charset="0"/>
              </a:rPr>
              <a:t>Performance Metrics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279141" y="2307716"/>
            <a:ext cx="4380929" cy="2241995"/>
          </a:xfrm>
          <a:prstGeom prst="rect">
            <a:avLst/>
          </a:prstGeom>
        </p:spPr>
      </p:pic>
      <p:sp>
        <p:nvSpPr>
          <p:cNvPr id="4" name="object 4"/>
          <p:cNvSpPr txBox="1"/>
          <p:nvPr/>
        </p:nvSpPr>
        <p:spPr>
          <a:xfrm>
            <a:off x="417729" y="942594"/>
            <a:ext cx="6127909" cy="1286891"/>
          </a:xfrm>
          <a:prstGeom prst="rect">
            <a:avLst/>
          </a:prstGeom>
        </p:spPr>
        <p:txBody>
          <a:bodyPr vert="horz" wrap="square" lIns="0" tIns="146685" rIns="0" bIns="0" rtlCol="0">
            <a:spAutoFit/>
          </a:bodyPr>
          <a:lstStyle/>
          <a:p>
            <a:pPr marL="9525">
              <a:spcBef>
                <a:spcPts val="1155"/>
              </a:spcBef>
            </a:pPr>
            <a:r>
              <a:rPr lang="en-US" sz="1800">
                <a:latin typeface="Calibri" pitchFamily="34" charset="0"/>
                <a:ea typeface="Calibri" pitchFamily="34" charset="0"/>
                <a:cs typeface="Calibri" pitchFamily="34" charset="0"/>
              </a:rPr>
              <a:t>cycle time=time between ticks= seconds/cycle</a:t>
            </a:r>
          </a:p>
          <a:p>
            <a:pPr marL="9525">
              <a:spcBef>
                <a:spcPts val="1155"/>
              </a:spcBef>
            </a:pPr>
            <a:r>
              <a:rPr lang="en-US" sz="1800">
                <a:latin typeface="Calibri" pitchFamily="34" charset="0"/>
                <a:ea typeface="Calibri" pitchFamily="34" charset="0"/>
                <a:cs typeface="Calibri" pitchFamily="34" charset="0"/>
              </a:rPr>
              <a:t>clock rate (frequency)=cycles per second (1 Hz. = 1 cycle/sec)</a:t>
            </a:r>
          </a:p>
          <a:p>
            <a:pPr marL="9525">
              <a:spcBef>
                <a:spcPts val="1155"/>
              </a:spcBef>
            </a:pPr>
            <a:endParaRPr sz="1800">
              <a:latin typeface="Calibri" pitchFamily="34" charset="0"/>
              <a:ea typeface="Calibri" pitchFamily="34" charset="0"/>
              <a:cs typeface="Calibri" pitchFamily="34" charset="0"/>
            </a:endParaRPr>
          </a:p>
        </p:txBody>
      </p:sp>
      <p:sp>
        <p:nvSpPr>
          <p:cNvPr id="16" name="object 16"/>
          <p:cNvSpPr/>
          <p:nvPr/>
        </p:nvSpPr>
        <p:spPr>
          <a:xfrm>
            <a:off x="3983355" y="4015358"/>
            <a:ext cx="2334578" cy="57150"/>
          </a:xfrm>
          <a:custGeom>
            <a:avLst/>
            <a:gdLst/>
            <a:ahLst/>
            <a:cxnLst/>
            <a:rect l="l" t="t" r="r" b="b"/>
            <a:pathLst>
              <a:path w="3112770" h="76200">
                <a:moveTo>
                  <a:pt x="76200" y="0"/>
                </a:moveTo>
                <a:lnTo>
                  <a:pt x="0" y="38100"/>
                </a:lnTo>
                <a:lnTo>
                  <a:pt x="76200" y="76200"/>
                </a:lnTo>
                <a:lnTo>
                  <a:pt x="76200" y="44450"/>
                </a:lnTo>
                <a:lnTo>
                  <a:pt x="63500" y="44450"/>
                </a:lnTo>
                <a:lnTo>
                  <a:pt x="63500" y="31750"/>
                </a:lnTo>
                <a:lnTo>
                  <a:pt x="76200" y="31750"/>
                </a:lnTo>
                <a:lnTo>
                  <a:pt x="76200" y="0"/>
                </a:lnTo>
                <a:close/>
              </a:path>
              <a:path w="3112770" h="76200">
                <a:moveTo>
                  <a:pt x="3036442" y="0"/>
                </a:moveTo>
                <a:lnTo>
                  <a:pt x="3036442" y="76200"/>
                </a:lnTo>
                <a:lnTo>
                  <a:pt x="3099942" y="44450"/>
                </a:lnTo>
                <a:lnTo>
                  <a:pt x="3049142" y="44450"/>
                </a:lnTo>
                <a:lnTo>
                  <a:pt x="3049142" y="31750"/>
                </a:lnTo>
                <a:lnTo>
                  <a:pt x="3099942" y="31750"/>
                </a:lnTo>
                <a:lnTo>
                  <a:pt x="3036442" y="0"/>
                </a:lnTo>
                <a:close/>
              </a:path>
              <a:path w="3112770" h="76200">
                <a:moveTo>
                  <a:pt x="76200" y="31750"/>
                </a:moveTo>
                <a:lnTo>
                  <a:pt x="63500" y="31750"/>
                </a:lnTo>
                <a:lnTo>
                  <a:pt x="63500" y="44450"/>
                </a:lnTo>
                <a:lnTo>
                  <a:pt x="76200" y="44450"/>
                </a:lnTo>
                <a:lnTo>
                  <a:pt x="76200" y="31750"/>
                </a:lnTo>
                <a:close/>
              </a:path>
              <a:path w="3112770" h="76200">
                <a:moveTo>
                  <a:pt x="3036442" y="31750"/>
                </a:moveTo>
                <a:lnTo>
                  <a:pt x="76200" y="31750"/>
                </a:lnTo>
                <a:lnTo>
                  <a:pt x="76200" y="44450"/>
                </a:lnTo>
                <a:lnTo>
                  <a:pt x="3036442" y="44450"/>
                </a:lnTo>
                <a:lnTo>
                  <a:pt x="3036442" y="31750"/>
                </a:lnTo>
                <a:close/>
              </a:path>
              <a:path w="3112770" h="76200">
                <a:moveTo>
                  <a:pt x="3099942" y="31750"/>
                </a:moveTo>
                <a:lnTo>
                  <a:pt x="3049142" y="31750"/>
                </a:lnTo>
                <a:lnTo>
                  <a:pt x="3049142" y="44450"/>
                </a:lnTo>
                <a:lnTo>
                  <a:pt x="3099942" y="44450"/>
                </a:lnTo>
                <a:lnTo>
                  <a:pt x="3112642" y="38100"/>
                </a:lnTo>
                <a:lnTo>
                  <a:pt x="3099942" y="31750"/>
                </a:lnTo>
                <a:close/>
              </a:path>
            </a:pathLst>
          </a:custGeom>
          <a:solidFill>
            <a:srgbClr val="404040"/>
          </a:solidFill>
        </p:spPr>
        <p:txBody>
          <a:bodyPr wrap="square" lIns="0" tIns="0" rIns="0" bIns="0" rtlCol="0"/>
          <a:lstStyle/>
          <a:p>
            <a:endParaRPr/>
          </a:p>
        </p:txBody>
      </p:sp>
      <p:sp>
        <p:nvSpPr>
          <p:cNvPr id="17" name="object 17"/>
          <p:cNvSpPr txBox="1"/>
          <p:nvPr/>
        </p:nvSpPr>
        <p:spPr>
          <a:xfrm>
            <a:off x="4711255" y="3846110"/>
            <a:ext cx="876300" cy="372057"/>
          </a:xfrm>
          <a:prstGeom prst="rect">
            <a:avLst/>
          </a:prstGeom>
        </p:spPr>
        <p:txBody>
          <a:bodyPr vert="horz" wrap="square" lIns="0" tIns="43339" rIns="0" bIns="0" rtlCol="0">
            <a:spAutoFit/>
          </a:bodyPr>
          <a:lstStyle/>
          <a:p>
            <a:pPr algn="ctr">
              <a:spcBef>
                <a:spcPts val="341"/>
              </a:spcBef>
            </a:pPr>
            <a:r>
              <a:rPr sz="900" spc="-41">
                <a:solidFill>
                  <a:srgbClr val="404040"/>
                </a:solidFill>
                <a:latin typeface="Trebuchet MS"/>
                <a:cs typeface="Trebuchet MS"/>
              </a:rPr>
              <a:t>Instruction</a:t>
            </a:r>
            <a:r>
              <a:rPr sz="900" spc="-26">
                <a:solidFill>
                  <a:srgbClr val="404040"/>
                </a:solidFill>
                <a:latin typeface="Trebuchet MS"/>
                <a:cs typeface="Trebuchet MS"/>
              </a:rPr>
              <a:t> </a:t>
            </a:r>
            <a:r>
              <a:rPr sz="900" spc="-41">
                <a:solidFill>
                  <a:srgbClr val="404040"/>
                </a:solidFill>
                <a:latin typeface="Trebuchet MS"/>
                <a:cs typeface="Trebuchet MS"/>
              </a:rPr>
              <a:t>Cycle</a:t>
            </a:r>
            <a:r>
              <a:rPr sz="900">
                <a:solidFill>
                  <a:srgbClr val="404040"/>
                </a:solidFill>
                <a:latin typeface="Trebuchet MS"/>
                <a:cs typeface="Trebuchet MS"/>
              </a:rPr>
              <a:t> </a:t>
            </a:r>
            <a:r>
              <a:rPr sz="900" spc="-38">
                <a:solidFill>
                  <a:srgbClr val="404040"/>
                </a:solidFill>
                <a:latin typeface="Trebuchet MS"/>
                <a:cs typeface="Trebuchet MS"/>
              </a:rPr>
              <a:t>1</a:t>
            </a:r>
            <a:endParaRPr sz="900">
              <a:latin typeface="Trebuchet MS"/>
              <a:cs typeface="Trebuchet MS"/>
            </a:endParaRPr>
          </a:p>
          <a:p>
            <a:pPr marL="1429" algn="ctr">
              <a:spcBef>
                <a:spcPts val="270"/>
              </a:spcBef>
            </a:pPr>
            <a:r>
              <a:rPr sz="900" spc="-19">
                <a:solidFill>
                  <a:srgbClr val="404040"/>
                </a:solidFill>
                <a:latin typeface="Trebuchet MS"/>
                <a:cs typeface="Trebuchet MS"/>
              </a:rPr>
              <a:t>CPI</a:t>
            </a:r>
            <a:endParaRPr sz="900">
              <a:latin typeface="Trebuchet MS"/>
              <a:cs typeface="Trebuchet MS"/>
            </a:endParaRPr>
          </a:p>
        </p:txBody>
      </p:sp>
      <p:sp>
        <p:nvSpPr>
          <p:cNvPr id="18" name="object 18"/>
          <p:cNvSpPr/>
          <p:nvPr/>
        </p:nvSpPr>
        <p:spPr>
          <a:xfrm>
            <a:off x="6451092" y="4021074"/>
            <a:ext cx="2334578" cy="57150"/>
          </a:xfrm>
          <a:custGeom>
            <a:avLst/>
            <a:gdLst/>
            <a:ahLst/>
            <a:cxnLst/>
            <a:rect l="l" t="t" r="r" b="b"/>
            <a:pathLst>
              <a:path w="3112770" h="76200">
                <a:moveTo>
                  <a:pt x="76200" y="0"/>
                </a:moveTo>
                <a:lnTo>
                  <a:pt x="0" y="38100"/>
                </a:lnTo>
                <a:lnTo>
                  <a:pt x="76200" y="76200"/>
                </a:lnTo>
                <a:lnTo>
                  <a:pt x="76200" y="44450"/>
                </a:lnTo>
                <a:lnTo>
                  <a:pt x="63500" y="44450"/>
                </a:lnTo>
                <a:lnTo>
                  <a:pt x="63500" y="31750"/>
                </a:lnTo>
                <a:lnTo>
                  <a:pt x="76200" y="31750"/>
                </a:lnTo>
                <a:lnTo>
                  <a:pt x="76200" y="0"/>
                </a:lnTo>
                <a:close/>
              </a:path>
              <a:path w="3112770" h="76200">
                <a:moveTo>
                  <a:pt x="3036443" y="0"/>
                </a:moveTo>
                <a:lnTo>
                  <a:pt x="3036443" y="76200"/>
                </a:lnTo>
                <a:lnTo>
                  <a:pt x="3099943" y="44450"/>
                </a:lnTo>
                <a:lnTo>
                  <a:pt x="3049143" y="44450"/>
                </a:lnTo>
                <a:lnTo>
                  <a:pt x="3049143" y="31750"/>
                </a:lnTo>
                <a:lnTo>
                  <a:pt x="3099943" y="31750"/>
                </a:lnTo>
                <a:lnTo>
                  <a:pt x="3036443" y="0"/>
                </a:lnTo>
                <a:close/>
              </a:path>
              <a:path w="3112770" h="76200">
                <a:moveTo>
                  <a:pt x="76200" y="31750"/>
                </a:moveTo>
                <a:lnTo>
                  <a:pt x="63500" y="31750"/>
                </a:lnTo>
                <a:lnTo>
                  <a:pt x="63500" y="44450"/>
                </a:lnTo>
                <a:lnTo>
                  <a:pt x="76200" y="44450"/>
                </a:lnTo>
                <a:lnTo>
                  <a:pt x="76200" y="31750"/>
                </a:lnTo>
                <a:close/>
              </a:path>
              <a:path w="3112770" h="76200">
                <a:moveTo>
                  <a:pt x="3036443" y="31750"/>
                </a:moveTo>
                <a:lnTo>
                  <a:pt x="76200" y="31750"/>
                </a:lnTo>
                <a:lnTo>
                  <a:pt x="76200" y="44450"/>
                </a:lnTo>
                <a:lnTo>
                  <a:pt x="3036443" y="44450"/>
                </a:lnTo>
                <a:lnTo>
                  <a:pt x="3036443" y="31750"/>
                </a:lnTo>
                <a:close/>
              </a:path>
              <a:path w="3112770" h="76200">
                <a:moveTo>
                  <a:pt x="3099943" y="31750"/>
                </a:moveTo>
                <a:lnTo>
                  <a:pt x="3049143" y="31750"/>
                </a:lnTo>
                <a:lnTo>
                  <a:pt x="3049143" y="44450"/>
                </a:lnTo>
                <a:lnTo>
                  <a:pt x="3099943" y="44450"/>
                </a:lnTo>
                <a:lnTo>
                  <a:pt x="3112643" y="38100"/>
                </a:lnTo>
                <a:lnTo>
                  <a:pt x="3099943" y="31750"/>
                </a:lnTo>
                <a:close/>
              </a:path>
            </a:pathLst>
          </a:custGeom>
          <a:solidFill>
            <a:srgbClr val="404040"/>
          </a:solidFill>
        </p:spPr>
        <p:txBody>
          <a:bodyPr wrap="square" lIns="0" tIns="0" rIns="0" bIns="0" rtlCol="0"/>
          <a:lstStyle/>
          <a:p>
            <a:endParaRPr/>
          </a:p>
        </p:txBody>
      </p:sp>
      <p:sp>
        <p:nvSpPr>
          <p:cNvPr id="19" name="object 19"/>
          <p:cNvSpPr txBox="1"/>
          <p:nvPr/>
        </p:nvSpPr>
        <p:spPr>
          <a:xfrm>
            <a:off x="7170991" y="3885819"/>
            <a:ext cx="894398"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Instruction</a:t>
            </a:r>
            <a:r>
              <a:rPr sz="900" spc="-26">
                <a:solidFill>
                  <a:srgbClr val="404040"/>
                </a:solidFill>
                <a:latin typeface="Trebuchet MS"/>
                <a:cs typeface="Trebuchet MS"/>
              </a:rPr>
              <a:t> </a:t>
            </a:r>
            <a:r>
              <a:rPr sz="900" spc="-41">
                <a:solidFill>
                  <a:srgbClr val="404040"/>
                </a:solidFill>
                <a:latin typeface="Trebuchet MS"/>
                <a:cs typeface="Trebuchet MS"/>
              </a:rPr>
              <a:t>Cycle</a:t>
            </a:r>
            <a:r>
              <a:rPr sz="900">
                <a:solidFill>
                  <a:srgbClr val="404040"/>
                </a:solidFill>
                <a:latin typeface="Trebuchet MS"/>
                <a:cs typeface="Trebuchet MS"/>
              </a:rPr>
              <a:t> </a:t>
            </a:r>
            <a:r>
              <a:rPr sz="900" spc="-38">
                <a:solidFill>
                  <a:srgbClr val="404040"/>
                </a:solidFill>
                <a:latin typeface="Trebuchet MS"/>
                <a:cs typeface="Trebuchet MS"/>
              </a:rPr>
              <a:t>2</a:t>
            </a:r>
            <a:endParaRPr sz="900">
              <a:latin typeface="Trebuchet MS"/>
              <a:cs typeface="Trebuchet MS"/>
            </a:endParaRPr>
          </a:p>
        </p:txBody>
      </p:sp>
      <p:grpSp>
        <p:nvGrpSpPr>
          <p:cNvPr id="20" name="object 20"/>
          <p:cNvGrpSpPr/>
          <p:nvPr/>
        </p:nvGrpSpPr>
        <p:grpSpPr>
          <a:xfrm>
            <a:off x="3934110" y="3619881"/>
            <a:ext cx="4889182" cy="477203"/>
            <a:chOff x="5245480" y="4826508"/>
            <a:chExt cx="6518909" cy="636270"/>
          </a:xfrm>
        </p:grpSpPr>
        <p:sp>
          <p:nvSpPr>
            <p:cNvPr id="21" name="object 21"/>
            <p:cNvSpPr/>
            <p:nvPr/>
          </p:nvSpPr>
          <p:spPr>
            <a:xfrm>
              <a:off x="5248655" y="5291328"/>
              <a:ext cx="6512559" cy="168275"/>
            </a:xfrm>
            <a:custGeom>
              <a:avLst/>
              <a:gdLst/>
              <a:ahLst/>
              <a:cxnLst/>
              <a:rect l="l" t="t" r="r" b="b"/>
              <a:pathLst>
                <a:path w="6512559" h="168275">
                  <a:moveTo>
                    <a:pt x="3252216" y="0"/>
                  </a:moveTo>
                  <a:lnTo>
                    <a:pt x="3252216" y="168148"/>
                  </a:lnTo>
                </a:path>
                <a:path w="6512559" h="168275">
                  <a:moveTo>
                    <a:pt x="6512052" y="0"/>
                  </a:moveTo>
                  <a:lnTo>
                    <a:pt x="6512052" y="168148"/>
                  </a:lnTo>
                </a:path>
                <a:path w="6512559" h="168275">
                  <a:moveTo>
                    <a:pt x="0" y="0"/>
                  </a:moveTo>
                  <a:lnTo>
                    <a:pt x="0" y="168148"/>
                  </a:lnTo>
                </a:path>
              </a:pathLst>
            </a:custGeom>
            <a:ln w="6350">
              <a:solidFill>
                <a:srgbClr val="585858"/>
              </a:solidFill>
            </a:ln>
          </p:spPr>
          <p:txBody>
            <a:bodyPr wrap="square" lIns="0" tIns="0" rIns="0" bIns="0" rtlCol="0"/>
            <a:lstStyle/>
            <a:p>
              <a:endParaRPr/>
            </a:p>
          </p:txBody>
        </p:sp>
        <p:sp>
          <p:nvSpPr>
            <p:cNvPr id="22" name="object 22"/>
            <p:cNvSpPr/>
            <p:nvPr/>
          </p:nvSpPr>
          <p:spPr>
            <a:xfrm>
              <a:off x="5263896" y="4826508"/>
              <a:ext cx="2117090" cy="79375"/>
            </a:xfrm>
            <a:custGeom>
              <a:avLst/>
              <a:gdLst/>
              <a:ahLst/>
              <a:cxnLst/>
              <a:rect l="l" t="t" r="r" b="b"/>
              <a:pathLst>
                <a:path w="2117090" h="79375">
                  <a:moveTo>
                    <a:pt x="990600" y="41148"/>
                  </a:moveTo>
                  <a:lnTo>
                    <a:pt x="977900" y="34798"/>
                  </a:lnTo>
                  <a:lnTo>
                    <a:pt x="914400" y="3048"/>
                  </a:lnTo>
                  <a:lnTo>
                    <a:pt x="914400" y="34798"/>
                  </a:lnTo>
                  <a:lnTo>
                    <a:pt x="76200" y="34798"/>
                  </a:lnTo>
                  <a:lnTo>
                    <a:pt x="76200" y="3048"/>
                  </a:lnTo>
                  <a:lnTo>
                    <a:pt x="0" y="41148"/>
                  </a:lnTo>
                  <a:lnTo>
                    <a:pt x="76200" y="79248"/>
                  </a:lnTo>
                  <a:lnTo>
                    <a:pt x="76200" y="47498"/>
                  </a:lnTo>
                  <a:lnTo>
                    <a:pt x="914400" y="47498"/>
                  </a:lnTo>
                  <a:lnTo>
                    <a:pt x="914400" y="79248"/>
                  </a:lnTo>
                  <a:lnTo>
                    <a:pt x="977900" y="47498"/>
                  </a:lnTo>
                  <a:lnTo>
                    <a:pt x="990600" y="41148"/>
                  </a:lnTo>
                  <a:close/>
                </a:path>
                <a:path w="2117090" h="79375">
                  <a:moveTo>
                    <a:pt x="2116836" y="38100"/>
                  </a:moveTo>
                  <a:lnTo>
                    <a:pt x="2104136" y="31750"/>
                  </a:lnTo>
                  <a:lnTo>
                    <a:pt x="2040636" y="0"/>
                  </a:lnTo>
                  <a:lnTo>
                    <a:pt x="2040636" y="31750"/>
                  </a:lnTo>
                  <a:lnTo>
                    <a:pt x="1202436" y="31750"/>
                  </a:lnTo>
                  <a:lnTo>
                    <a:pt x="1202436" y="0"/>
                  </a:lnTo>
                  <a:lnTo>
                    <a:pt x="1126236" y="38100"/>
                  </a:lnTo>
                  <a:lnTo>
                    <a:pt x="1202436" y="76200"/>
                  </a:lnTo>
                  <a:lnTo>
                    <a:pt x="1202436" y="44450"/>
                  </a:lnTo>
                  <a:lnTo>
                    <a:pt x="2040636" y="44450"/>
                  </a:lnTo>
                  <a:lnTo>
                    <a:pt x="2040636" y="76200"/>
                  </a:lnTo>
                  <a:lnTo>
                    <a:pt x="2104136" y="44450"/>
                  </a:lnTo>
                  <a:lnTo>
                    <a:pt x="2116836" y="38100"/>
                  </a:lnTo>
                  <a:close/>
                </a:path>
              </a:pathLst>
            </a:custGeom>
            <a:solidFill>
              <a:srgbClr val="404040"/>
            </a:solidFill>
          </p:spPr>
          <p:txBody>
            <a:bodyPr wrap="square" lIns="0" tIns="0" rIns="0" bIns="0" rtlCol="0"/>
            <a:lstStyle/>
            <a:p>
              <a:endParaRPr/>
            </a:p>
          </p:txBody>
        </p:sp>
      </p:grpSp>
      <p:sp>
        <p:nvSpPr>
          <p:cNvPr id="23" name="object 23"/>
          <p:cNvSpPr txBox="1"/>
          <p:nvPr/>
        </p:nvSpPr>
        <p:spPr>
          <a:xfrm>
            <a:off x="4982433" y="3484816"/>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2</a:t>
            </a:r>
            <a:endParaRPr sz="900">
              <a:latin typeface="Trebuchet MS"/>
              <a:cs typeface="Trebuchet MS"/>
            </a:endParaRPr>
          </a:p>
        </p:txBody>
      </p:sp>
      <p:sp>
        <p:nvSpPr>
          <p:cNvPr id="24" name="object 24"/>
          <p:cNvSpPr/>
          <p:nvPr/>
        </p:nvSpPr>
        <p:spPr>
          <a:xfrm>
            <a:off x="5604128" y="3622166"/>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25" name="object 25"/>
          <p:cNvSpPr txBox="1"/>
          <p:nvPr/>
        </p:nvSpPr>
        <p:spPr>
          <a:xfrm>
            <a:off x="5794152" y="3486208"/>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11">
                <a:solidFill>
                  <a:srgbClr val="404040"/>
                </a:solidFill>
                <a:latin typeface="Trebuchet MS"/>
                <a:cs typeface="Trebuchet MS"/>
              </a:rPr>
              <a:t> </a:t>
            </a:r>
            <a:r>
              <a:rPr sz="900" spc="-38">
                <a:solidFill>
                  <a:srgbClr val="404040"/>
                </a:solidFill>
                <a:latin typeface="Trebuchet MS"/>
                <a:cs typeface="Trebuchet MS"/>
              </a:rPr>
              <a:t>3</a:t>
            </a:r>
            <a:endParaRPr sz="900">
              <a:latin typeface="Trebuchet MS"/>
              <a:cs typeface="Trebuchet MS"/>
            </a:endParaRPr>
          </a:p>
        </p:txBody>
      </p:sp>
      <p:sp>
        <p:nvSpPr>
          <p:cNvPr id="26" name="object 26"/>
          <p:cNvSpPr/>
          <p:nvPr/>
        </p:nvSpPr>
        <p:spPr>
          <a:xfrm>
            <a:off x="6420230" y="3617594"/>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27" name="object 27"/>
          <p:cNvSpPr txBox="1"/>
          <p:nvPr/>
        </p:nvSpPr>
        <p:spPr>
          <a:xfrm>
            <a:off x="6608635" y="3481864"/>
            <a:ext cx="366713"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4</a:t>
            </a:r>
            <a:endParaRPr sz="900">
              <a:latin typeface="Trebuchet MS"/>
              <a:cs typeface="Trebuchet MS"/>
            </a:endParaRPr>
          </a:p>
        </p:txBody>
      </p:sp>
      <p:sp>
        <p:nvSpPr>
          <p:cNvPr id="28" name="object 28"/>
          <p:cNvSpPr/>
          <p:nvPr/>
        </p:nvSpPr>
        <p:spPr>
          <a:xfrm>
            <a:off x="7237476" y="3613023"/>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29" name="object 29"/>
          <p:cNvSpPr txBox="1"/>
          <p:nvPr/>
        </p:nvSpPr>
        <p:spPr>
          <a:xfrm>
            <a:off x="7427976" y="3477959"/>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5</a:t>
            </a:r>
            <a:endParaRPr sz="900">
              <a:latin typeface="Trebuchet MS"/>
              <a:cs typeface="Trebuchet MS"/>
            </a:endParaRPr>
          </a:p>
        </p:txBody>
      </p:sp>
      <p:sp>
        <p:nvSpPr>
          <p:cNvPr id="30" name="object 30"/>
          <p:cNvSpPr/>
          <p:nvPr/>
        </p:nvSpPr>
        <p:spPr>
          <a:xfrm>
            <a:off x="8057007" y="3617594"/>
            <a:ext cx="742950" cy="5715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914400" y="0"/>
                </a:moveTo>
                <a:lnTo>
                  <a:pt x="914400" y="76200"/>
                </a:lnTo>
                <a:lnTo>
                  <a:pt x="977900" y="44450"/>
                </a:lnTo>
                <a:lnTo>
                  <a:pt x="927100" y="44450"/>
                </a:lnTo>
                <a:lnTo>
                  <a:pt x="927100" y="31750"/>
                </a:lnTo>
                <a:lnTo>
                  <a:pt x="977900" y="31750"/>
                </a:lnTo>
                <a:lnTo>
                  <a:pt x="914400" y="0"/>
                </a:lnTo>
                <a:close/>
              </a:path>
              <a:path w="990600" h="76200">
                <a:moveTo>
                  <a:pt x="76200" y="31750"/>
                </a:moveTo>
                <a:lnTo>
                  <a:pt x="63500" y="31750"/>
                </a:lnTo>
                <a:lnTo>
                  <a:pt x="63500" y="44450"/>
                </a:lnTo>
                <a:lnTo>
                  <a:pt x="76200" y="44450"/>
                </a:lnTo>
                <a:lnTo>
                  <a:pt x="76200" y="31750"/>
                </a:lnTo>
                <a:close/>
              </a:path>
              <a:path w="990600" h="76200">
                <a:moveTo>
                  <a:pt x="914400" y="31750"/>
                </a:moveTo>
                <a:lnTo>
                  <a:pt x="76200" y="31750"/>
                </a:lnTo>
                <a:lnTo>
                  <a:pt x="76200" y="44450"/>
                </a:lnTo>
                <a:lnTo>
                  <a:pt x="914400" y="44450"/>
                </a:lnTo>
                <a:lnTo>
                  <a:pt x="914400" y="31750"/>
                </a:lnTo>
                <a:close/>
              </a:path>
              <a:path w="990600" h="76200">
                <a:moveTo>
                  <a:pt x="977900" y="31750"/>
                </a:moveTo>
                <a:lnTo>
                  <a:pt x="927100" y="31750"/>
                </a:lnTo>
                <a:lnTo>
                  <a:pt x="927100" y="44450"/>
                </a:lnTo>
                <a:lnTo>
                  <a:pt x="977900" y="44450"/>
                </a:lnTo>
                <a:lnTo>
                  <a:pt x="990600" y="38100"/>
                </a:lnTo>
                <a:lnTo>
                  <a:pt x="977900" y="31750"/>
                </a:lnTo>
                <a:close/>
              </a:path>
            </a:pathLst>
          </a:custGeom>
          <a:solidFill>
            <a:srgbClr val="404040"/>
          </a:solidFill>
        </p:spPr>
        <p:txBody>
          <a:bodyPr wrap="square" lIns="0" tIns="0" rIns="0" bIns="0" rtlCol="0"/>
          <a:lstStyle/>
          <a:p>
            <a:endParaRPr/>
          </a:p>
        </p:txBody>
      </p:sp>
      <p:sp>
        <p:nvSpPr>
          <p:cNvPr id="31" name="object 31"/>
          <p:cNvSpPr txBox="1"/>
          <p:nvPr/>
        </p:nvSpPr>
        <p:spPr>
          <a:xfrm>
            <a:off x="8246840" y="3481864"/>
            <a:ext cx="364807" cy="148117"/>
          </a:xfrm>
          <a:prstGeom prst="rect">
            <a:avLst/>
          </a:prstGeom>
        </p:spPr>
        <p:txBody>
          <a:bodyPr vert="horz" wrap="square" lIns="0" tIns="9525" rIns="0" bIns="0" rtlCol="0">
            <a:spAutoFit/>
          </a:bodyPr>
          <a:lstStyle/>
          <a:p>
            <a:pPr marL="9525">
              <a:spcBef>
                <a:spcPts val="75"/>
              </a:spcBef>
            </a:pPr>
            <a:r>
              <a:rPr sz="900" spc="-41">
                <a:solidFill>
                  <a:srgbClr val="404040"/>
                </a:solidFill>
                <a:latin typeface="Trebuchet MS"/>
                <a:cs typeface="Trebuchet MS"/>
              </a:rPr>
              <a:t>Cycle</a:t>
            </a:r>
            <a:r>
              <a:rPr sz="900" spc="-4">
                <a:solidFill>
                  <a:srgbClr val="404040"/>
                </a:solidFill>
                <a:latin typeface="Trebuchet MS"/>
                <a:cs typeface="Trebuchet MS"/>
              </a:rPr>
              <a:t> </a:t>
            </a:r>
            <a:r>
              <a:rPr sz="900" spc="-38">
                <a:solidFill>
                  <a:srgbClr val="404040"/>
                </a:solidFill>
                <a:latin typeface="Trebuchet MS"/>
                <a:cs typeface="Trebuchet MS"/>
              </a:rPr>
              <a:t>6</a:t>
            </a:r>
            <a:endParaRPr sz="900">
              <a:latin typeface="Trebuchet MS"/>
              <a:cs typeface="Trebuchet MS"/>
            </a:endParaRPr>
          </a:p>
        </p:txBody>
      </p:sp>
      <p:grpSp>
        <p:nvGrpSpPr>
          <p:cNvPr id="32" name="object 32"/>
          <p:cNvGrpSpPr/>
          <p:nvPr/>
        </p:nvGrpSpPr>
        <p:grpSpPr>
          <a:xfrm>
            <a:off x="3934111" y="2269998"/>
            <a:ext cx="4884419" cy="1427321"/>
            <a:chOff x="5245480" y="3026664"/>
            <a:chExt cx="6512559" cy="1903095"/>
          </a:xfrm>
        </p:grpSpPr>
        <p:sp>
          <p:nvSpPr>
            <p:cNvPr id="33" name="object 33"/>
            <p:cNvSpPr/>
            <p:nvPr/>
          </p:nvSpPr>
          <p:spPr>
            <a:xfrm>
              <a:off x="5248655" y="4757928"/>
              <a:ext cx="6506209" cy="168275"/>
            </a:xfrm>
            <a:custGeom>
              <a:avLst/>
              <a:gdLst/>
              <a:ahLst/>
              <a:cxnLst/>
              <a:rect l="l" t="t" r="r" b="b"/>
              <a:pathLst>
                <a:path w="6506209" h="168275">
                  <a:moveTo>
                    <a:pt x="1098804" y="0"/>
                  </a:moveTo>
                  <a:lnTo>
                    <a:pt x="1098804" y="168148"/>
                  </a:lnTo>
                </a:path>
                <a:path w="6506209" h="168275">
                  <a:moveTo>
                    <a:pt x="2183892" y="0"/>
                  </a:moveTo>
                  <a:lnTo>
                    <a:pt x="2183892" y="168148"/>
                  </a:lnTo>
                </a:path>
                <a:path w="6506209" h="168275">
                  <a:moveTo>
                    <a:pt x="3252216" y="0"/>
                  </a:moveTo>
                  <a:lnTo>
                    <a:pt x="3252216" y="168148"/>
                  </a:lnTo>
                </a:path>
                <a:path w="6506209" h="168275">
                  <a:moveTo>
                    <a:pt x="4357116" y="0"/>
                  </a:moveTo>
                  <a:lnTo>
                    <a:pt x="4357116" y="168148"/>
                  </a:lnTo>
                </a:path>
                <a:path w="6506209" h="168275">
                  <a:moveTo>
                    <a:pt x="5439156" y="0"/>
                  </a:moveTo>
                  <a:lnTo>
                    <a:pt x="5439156" y="168148"/>
                  </a:lnTo>
                </a:path>
                <a:path w="6506209" h="168275">
                  <a:moveTo>
                    <a:pt x="6505956" y="0"/>
                  </a:moveTo>
                  <a:lnTo>
                    <a:pt x="6505956" y="168148"/>
                  </a:lnTo>
                </a:path>
                <a:path w="6506209" h="168275">
                  <a:moveTo>
                    <a:pt x="0" y="0"/>
                  </a:moveTo>
                  <a:lnTo>
                    <a:pt x="0" y="168148"/>
                  </a:lnTo>
                </a:path>
              </a:pathLst>
            </a:custGeom>
            <a:ln w="6350">
              <a:solidFill>
                <a:srgbClr val="585858"/>
              </a:solidFill>
            </a:ln>
          </p:spPr>
          <p:txBody>
            <a:bodyPr wrap="square" lIns="0" tIns="0" rIns="0" bIns="0" rtlCol="0"/>
            <a:lstStyle/>
            <a:p>
              <a:endParaRPr/>
            </a:p>
          </p:txBody>
        </p:sp>
        <p:pic>
          <p:nvPicPr>
            <p:cNvPr id="34" name="object 34"/>
            <p:cNvPicPr/>
            <p:nvPr/>
          </p:nvPicPr>
          <p:blipFill>
            <a:blip r:embed="rId3" cstate="print"/>
            <a:stretch>
              <a:fillRect/>
            </a:stretch>
          </p:blipFill>
          <p:spPr>
            <a:xfrm>
              <a:off x="5248655" y="3026664"/>
              <a:ext cx="6505956" cy="1706880"/>
            </a:xfrm>
            <a:prstGeom prst="rect">
              <a:avLst/>
            </a:prstGeom>
          </p:spPr>
        </p:pic>
      </p:grpSp>
      <p:sp>
        <p:nvSpPr>
          <p:cNvPr id="35" name="object 35"/>
          <p:cNvSpPr txBox="1"/>
          <p:nvPr/>
        </p:nvSpPr>
        <p:spPr>
          <a:xfrm>
            <a:off x="3942016" y="3209830"/>
            <a:ext cx="615314" cy="596958"/>
          </a:xfrm>
          <a:prstGeom prst="rect">
            <a:avLst/>
          </a:prstGeom>
        </p:spPr>
        <p:txBody>
          <a:bodyPr vert="horz" wrap="square" lIns="0" tIns="9525" rIns="0" bIns="0" rtlCol="0">
            <a:spAutoFit/>
          </a:bodyPr>
          <a:lstStyle/>
          <a:p>
            <a:pPr marL="9525">
              <a:spcBef>
                <a:spcPts val="75"/>
              </a:spcBef>
            </a:pPr>
            <a:r>
              <a:rPr sz="900">
                <a:solidFill>
                  <a:srgbClr val="404040"/>
                </a:solidFill>
                <a:latin typeface="Trebuchet MS"/>
                <a:cs typeface="Trebuchet MS"/>
              </a:rPr>
              <a:t>0</a:t>
            </a:r>
            <a:r>
              <a:rPr sz="900" spc="-45">
                <a:solidFill>
                  <a:srgbClr val="404040"/>
                </a:solidFill>
                <a:latin typeface="Trebuchet MS"/>
                <a:cs typeface="Trebuchet MS"/>
              </a:rPr>
              <a:t> </a:t>
            </a:r>
            <a:r>
              <a:rPr sz="900" spc="-19">
                <a:solidFill>
                  <a:srgbClr val="404040"/>
                </a:solidFill>
                <a:latin typeface="Trebuchet MS"/>
                <a:cs typeface="Trebuchet MS"/>
              </a:rPr>
              <a:t>sec</a:t>
            </a:r>
            <a:endParaRPr sz="900">
              <a:latin typeface="Trebuchet MS"/>
              <a:cs typeface="Trebuchet MS"/>
            </a:endParaRPr>
          </a:p>
          <a:p>
            <a:pPr>
              <a:spcBef>
                <a:spcPts val="45"/>
              </a:spcBef>
            </a:pPr>
            <a:endParaRPr sz="900">
              <a:latin typeface="Trebuchet MS"/>
              <a:cs typeface="Trebuchet MS"/>
            </a:endParaRPr>
          </a:p>
          <a:p>
            <a:pPr marL="141446" algn="ctr">
              <a:spcBef>
                <a:spcPts val="4"/>
              </a:spcBef>
            </a:pPr>
            <a:r>
              <a:rPr sz="800" spc="-38">
                <a:solidFill>
                  <a:srgbClr val="404040"/>
                </a:solidFill>
                <a:latin typeface="Trebuchet MS"/>
                <a:cs typeface="Trebuchet MS"/>
              </a:rPr>
              <a:t>Cycle</a:t>
            </a:r>
            <a:r>
              <a:rPr sz="800" spc="-23">
                <a:solidFill>
                  <a:srgbClr val="404040"/>
                </a:solidFill>
                <a:latin typeface="Trebuchet MS"/>
                <a:cs typeface="Trebuchet MS"/>
              </a:rPr>
              <a:t> </a:t>
            </a:r>
            <a:r>
              <a:rPr sz="800" spc="-38">
                <a:solidFill>
                  <a:srgbClr val="404040"/>
                </a:solidFill>
                <a:latin typeface="Trebuchet MS"/>
                <a:cs typeface="Trebuchet MS"/>
              </a:rPr>
              <a:t>1</a:t>
            </a:r>
            <a:endParaRPr sz="800">
              <a:latin typeface="Trebuchet MS"/>
              <a:cs typeface="Trebuchet MS"/>
            </a:endParaRPr>
          </a:p>
          <a:p>
            <a:pPr marL="141923" algn="ctr">
              <a:spcBef>
                <a:spcPts val="450"/>
              </a:spcBef>
            </a:pPr>
            <a:r>
              <a:rPr sz="800" spc="-34">
                <a:solidFill>
                  <a:srgbClr val="404040"/>
                </a:solidFill>
                <a:latin typeface="Trebuchet MS"/>
                <a:cs typeface="Trebuchet MS"/>
              </a:rPr>
              <a:t>Cycle </a:t>
            </a:r>
            <a:r>
              <a:rPr sz="800" spc="-15">
                <a:solidFill>
                  <a:srgbClr val="404040"/>
                </a:solidFill>
                <a:latin typeface="Trebuchet MS"/>
                <a:cs typeface="Trebuchet MS"/>
              </a:rPr>
              <a:t>Time</a:t>
            </a:r>
            <a:endParaRPr sz="800">
              <a:latin typeface="Trebuchet MS"/>
              <a:cs typeface="Trebuchet MS"/>
            </a:endParaRPr>
          </a:p>
        </p:txBody>
      </p:sp>
      <p:sp>
        <p:nvSpPr>
          <p:cNvPr id="36" name="object 36"/>
          <p:cNvSpPr txBox="1"/>
          <p:nvPr/>
        </p:nvSpPr>
        <p:spPr>
          <a:xfrm>
            <a:off x="7895939" y="3209830"/>
            <a:ext cx="242411" cy="148117"/>
          </a:xfrm>
          <a:prstGeom prst="rect">
            <a:avLst/>
          </a:prstGeom>
        </p:spPr>
        <p:txBody>
          <a:bodyPr vert="horz" wrap="square" lIns="0" tIns="9525" rIns="0" bIns="0" rtlCol="0">
            <a:spAutoFit/>
          </a:bodyPr>
          <a:lstStyle/>
          <a:p>
            <a:pPr marL="9525">
              <a:spcBef>
                <a:spcPts val="75"/>
              </a:spcBef>
            </a:pPr>
            <a:r>
              <a:rPr sz="900" spc="-150">
                <a:solidFill>
                  <a:srgbClr val="404040"/>
                </a:solidFill>
                <a:latin typeface="Trebuchet MS"/>
                <a:cs typeface="Trebuchet MS"/>
              </a:rPr>
              <a:t>1</a:t>
            </a:r>
            <a:r>
              <a:rPr sz="900" spc="-38">
                <a:solidFill>
                  <a:srgbClr val="404040"/>
                </a:solidFill>
                <a:latin typeface="Trebuchet MS"/>
                <a:cs typeface="Trebuchet MS"/>
              </a:rPr>
              <a:t> </a:t>
            </a:r>
            <a:r>
              <a:rPr sz="900" spc="-26">
                <a:solidFill>
                  <a:srgbClr val="404040"/>
                </a:solidFill>
                <a:latin typeface="Trebuchet MS"/>
                <a:cs typeface="Trebuchet MS"/>
              </a:rPr>
              <a:t>sec</a:t>
            </a:r>
            <a:endParaRPr sz="900">
              <a:latin typeface="Trebuchet MS"/>
              <a:cs typeface="Trebuchet MS"/>
            </a:endParaRPr>
          </a:p>
        </p:txBody>
      </p:sp>
      <p:sp>
        <p:nvSpPr>
          <p:cNvPr id="37" name="object 37"/>
          <p:cNvSpPr/>
          <p:nvPr/>
        </p:nvSpPr>
        <p:spPr>
          <a:xfrm>
            <a:off x="3936492" y="2399157"/>
            <a:ext cx="4044791" cy="57150"/>
          </a:xfrm>
          <a:custGeom>
            <a:avLst/>
            <a:gdLst/>
            <a:ahLst/>
            <a:cxnLst/>
            <a:rect l="l" t="t" r="r" b="b"/>
            <a:pathLst>
              <a:path w="5393055" h="76200">
                <a:moveTo>
                  <a:pt x="76200" y="0"/>
                </a:moveTo>
                <a:lnTo>
                  <a:pt x="0" y="38100"/>
                </a:lnTo>
                <a:lnTo>
                  <a:pt x="76200" y="76200"/>
                </a:lnTo>
                <a:lnTo>
                  <a:pt x="76200" y="44450"/>
                </a:lnTo>
                <a:lnTo>
                  <a:pt x="63500" y="44450"/>
                </a:lnTo>
                <a:lnTo>
                  <a:pt x="63500" y="31750"/>
                </a:lnTo>
                <a:lnTo>
                  <a:pt x="76200" y="31750"/>
                </a:lnTo>
                <a:lnTo>
                  <a:pt x="76200" y="0"/>
                </a:lnTo>
                <a:close/>
              </a:path>
              <a:path w="5393055" h="76200">
                <a:moveTo>
                  <a:pt x="5316728" y="0"/>
                </a:moveTo>
                <a:lnTo>
                  <a:pt x="5316601" y="76200"/>
                </a:lnTo>
                <a:lnTo>
                  <a:pt x="5380206" y="44450"/>
                </a:lnTo>
                <a:lnTo>
                  <a:pt x="5329428" y="44450"/>
                </a:lnTo>
                <a:lnTo>
                  <a:pt x="5329428" y="31750"/>
                </a:lnTo>
                <a:lnTo>
                  <a:pt x="5380228" y="31750"/>
                </a:lnTo>
                <a:lnTo>
                  <a:pt x="5316728" y="0"/>
                </a:lnTo>
                <a:close/>
              </a:path>
              <a:path w="5393055" h="76200">
                <a:moveTo>
                  <a:pt x="76200" y="31750"/>
                </a:moveTo>
                <a:lnTo>
                  <a:pt x="63500" y="31750"/>
                </a:lnTo>
                <a:lnTo>
                  <a:pt x="63500" y="44450"/>
                </a:lnTo>
                <a:lnTo>
                  <a:pt x="76200" y="44450"/>
                </a:lnTo>
                <a:lnTo>
                  <a:pt x="76200" y="31750"/>
                </a:lnTo>
                <a:close/>
              </a:path>
              <a:path w="5393055" h="76200">
                <a:moveTo>
                  <a:pt x="5316675" y="31750"/>
                </a:moveTo>
                <a:lnTo>
                  <a:pt x="76200" y="31750"/>
                </a:lnTo>
                <a:lnTo>
                  <a:pt x="76200" y="44450"/>
                </a:lnTo>
                <a:lnTo>
                  <a:pt x="5316653" y="44450"/>
                </a:lnTo>
                <a:lnTo>
                  <a:pt x="5316675" y="31750"/>
                </a:lnTo>
                <a:close/>
              </a:path>
              <a:path w="5393055" h="76200">
                <a:moveTo>
                  <a:pt x="5380228" y="31750"/>
                </a:moveTo>
                <a:lnTo>
                  <a:pt x="5329428" y="31750"/>
                </a:lnTo>
                <a:lnTo>
                  <a:pt x="5329428" y="44450"/>
                </a:lnTo>
                <a:lnTo>
                  <a:pt x="5380206" y="44450"/>
                </a:lnTo>
                <a:lnTo>
                  <a:pt x="5392928" y="38100"/>
                </a:lnTo>
                <a:lnTo>
                  <a:pt x="5380228" y="31750"/>
                </a:lnTo>
                <a:close/>
              </a:path>
            </a:pathLst>
          </a:custGeom>
          <a:solidFill>
            <a:srgbClr val="404040"/>
          </a:solidFill>
        </p:spPr>
        <p:txBody>
          <a:bodyPr wrap="square" lIns="0" tIns="0" rIns="0" bIns="0" rtlCol="0"/>
          <a:lstStyle/>
          <a:p>
            <a:endParaRPr/>
          </a:p>
        </p:txBody>
      </p:sp>
      <p:sp>
        <p:nvSpPr>
          <p:cNvPr id="38" name="object 38"/>
          <p:cNvSpPr txBox="1"/>
          <p:nvPr/>
        </p:nvSpPr>
        <p:spPr>
          <a:xfrm>
            <a:off x="5264944" y="2263902"/>
            <a:ext cx="1386840" cy="148117"/>
          </a:xfrm>
          <a:prstGeom prst="rect">
            <a:avLst/>
          </a:prstGeom>
        </p:spPr>
        <p:txBody>
          <a:bodyPr vert="horz" wrap="square" lIns="0" tIns="9525" rIns="0" bIns="0" rtlCol="0">
            <a:spAutoFit/>
          </a:bodyPr>
          <a:lstStyle/>
          <a:p>
            <a:pPr marL="9525">
              <a:spcBef>
                <a:spcPts val="75"/>
              </a:spcBef>
            </a:pPr>
            <a:r>
              <a:rPr sz="900" spc="-34">
                <a:solidFill>
                  <a:srgbClr val="404040"/>
                </a:solidFill>
                <a:latin typeface="Trebuchet MS"/>
                <a:cs typeface="Trebuchet MS"/>
              </a:rPr>
              <a:t>Clock</a:t>
            </a:r>
            <a:r>
              <a:rPr sz="900">
                <a:solidFill>
                  <a:srgbClr val="404040"/>
                </a:solidFill>
                <a:latin typeface="Trebuchet MS"/>
                <a:cs typeface="Trebuchet MS"/>
              </a:rPr>
              <a:t> </a:t>
            </a:r>
            <a:r>
              <a:rPr sz="900" spc="-53">
                <a:solidFill>
                  <a:srgbClr val="404040"/>
                </a:solidFill>
                <a:latin typeface="Trebuchet MS"/>
                <a:cs typeface="Trebuchet MS"/>
              </a:rPr>
              <a:t>Rate</a:t>
            </a:r>
            <a:r>
              <a:rPr sz="900" spc="-23">
                <a:solidFill>
                  <a:srgbClr val="404040"/>
                </a:solidFill>
                <a:latin typeface="Trebuchet MS"/>
                <a:cs typeface="Trebuchet MS"/>
              </a:rPr>
              <a:t> </a:t>
            </a:r>
            <a:r>
              <a:rPr sz="900" spc="-41">
                <a:solidFill>
                  <a:srgbClr val="404040"/>
                </a:solidFill>
                <a:latin typeface="Trebuchet MS"/>
                <a:cs typeface="Trebuchet MS"/>
              </a:rPr>
              <a:t>(Frequency</a:t>
            </a:r>
            <a:r>
              <a:rPr sz="900" spc="-11">
                <a:solidFill>
                  <a:srgbClr val="404040"/>
                </a:solidFill>
                <a:latin typeface="Trebuchet MS"/>
                <a:cs typeface="Trebuchet MS"/>
              </a:rPr>
              <a:t> </a:t>
            </a:r>
            <a:r>
              <a:rPr sz="900" spc="-41">
                <a:solidFill>
                  <a:srgbClr val="404040"/>
                </a:solidFill>
                <a:latin typeface="Trebuchet MS"/>
                <a:cs typeface="Trebuchet MS"/>
              </a:rPr>
              <a:t>in</a:t>
            </a:r>
            <a:r>
              <a:rPr sz="900" spc="-19">
                <a:solidFill>
                  <a:srgbClr val="404040"/>
                </a:solidFill>
                <a:latin typeface="Trebuchet MS"/>
                <a:cs typeface="Trebuchet MS"/>
              </a:rPr>
              <a:t> Hz)</a:t>
            </a:r>
            <a:endParaRPr sz="900">
              <a:latin typeface="Trebuchet MS"/>
              <a:cs typeface="Trebuchet MS"/>
            </a:endParaRPr>
          </a:p>
        </p:txBody>
      </p:sp>
      <p:sp>
        <p:nvSpPr>
          <p:cNvPr id="39" name="Rectangle 38"/>
          <p:cNvSpPr/>
          <p:nvPr/>
        </p:nvSpPr>
        <p:spPr>
          <a:xfrm>
            <a:off x="2225429" y="302192"/>
            <a:ext cx="5001690" cy="523220"/>
          </a:xfrm>
          <a:prstGeom prst="rect">
            <a:avLst/>
          </a:prstGeom>
        </p:spPr>
        <p:txBody>
          <a:bodyPr wrap="none">
            <a:spAutoFit/>
          </a:bodyPr>
          <a:lstStyle/>
          <a:p>
            <a:r>
              <a:rPr lang="en-US" sz="2800">
                <a:latin typeface="Algerian" pitchFamily="82" charset="0"/>
              </a:rPr>
              <a:t>Measure of performance:</a:t>
            </a:r>
          </a:p>
        </p:txBody>
      </p:sp>
      <p:pic>
        <p:nvPicPr>
          <p:cNvPr id="40" name="Picture 39" descr="Screenshot 2025-01-20 204549.png"/>
          <p:cNvPicPr>
            <a:picLocks noChangeAspect="1"/>
          </p:cNvPicPr>
          <p:nvPr/>
        </p:nvPicPr>
        <p:blipFill>
          <a:blip r:embed="rId4"/>
          <a:stretch>
            <a:fillRect/>
          </a:stretch>
        </p:blipFill>
        <p:spPr>
          <a:xfrm>
            <a:off x="202022" y="2086632"/>
            <a:ext cx="3486637" cy="261974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35232" y="376626"/>
            <a:ext cx="4647426" cy="523220"/>
          </a:xfrm>
          <a:prstGeom prst="rect">
            <a:avLst/>
          </a:prstGeom>
        </p:spPr>
        <p:txBody>
          <a:bodyPr wrap="none">
            <a:spAutoFit/>
          </a:bodyPr>
          <a:lstStyle/>
          <a:p>
            <a:r>
              <a:rPr lang="en-US" sz="2800">
                <a:latin typeface="Algerian" pitchFamily="82" charset="0"/>
              </a:rPr>
              <a:t>Execution Time Formula</a:t>
            </a:r>
          </a:p>
        </p:txBody>
      </p:sp>
      <p:sp>
        <p:nvSpPr>
          <p:cNvPr id="3" name="Rectangle 2"/>
          <p:cNvSpPr/>
          <p:nvPr/>
        </p:nvSpPr>
        <p:spPr>
          <a:xfrm>
            <a:off x="457200" y="1226586"/>
            <a:ext cx="5786582" cy="523220"/>
          </a:xfrm>
          <a:prstGeom prst="rect">
            <a:avLst/>
          </a:prstGeom>
        </p:spPr>
        <p:txBody>
          <a:bodyPr wrap="square">
            <a:spAutoFit/>
          </a:bodyPr>
          <a:lstStyle/>
          <a:p>
            <a:r>
              <a:rPr lang="en-US"/>
              <a:t>Program Execution Time Formula:</a:t>
            </a:r>
          </a:p>
          <a:p>
            <a:endParaRPr lang="en-US"/>
          </a:p>
        </p:txBody>
      </p:sp>
      <p:pic>
        <p:nvPicPr>
          <p:cNvPr id="4" name="Picture 3" descr="Screenshot 2025-01-20 205233.png"/>
          <p:cNvPicPr>
            <a:picLocks noChangeAspect="1"/>
          </p:cNvPicPr>
          <p:nvPr/>
        </p:nvPicPr>
        <p:blipFill>
          <a:blip r:embed="rId2"/>
          <a:stretch>
            <a:fillRect/>
          </a:stretch>
        </p:blipFill>
        <p:spPr>
          <a:xfrm>
            <a:off x="3427309" y="1490474"/>
            <a:ext cx="1476581" cy="647790"/>
          </a:xfrm>
          <a:prstGeom prst="rect">
            <a:avLst/>
          </a:prstGeom>
        </p:spPr>
      </p:pic>
      <p:sp>
        <p:nvSpPr>
          <p:cNvPr id="6" name="Rectangle 5"/>
          <p:cNvSpPr/>
          <p:nvPr/>
        </p:nvSpPr>
        <p:spPr>
          <a:xfrm>
            <a:off x="392545" y="2261059"/>
            <a:ext cx="4572000" cy="1077218"/>
          </a:xfrm>
          <a:prstGeom prst="rect">
            <a:avLst/>
          </a:prstGeom>
        </p:spPr>
        <p:txBody>
          <a:bodyPr>
            <a:spAutoFit/>
          </a:bodyPr>
          <a:lstStyle/>
          <a:p>
            <a:r>
              <a:rPr lang="en-US" sz="1600">
                <a:latin typeface="Calibri" pitchFamily="34" charset="0"/>
                <a:ea typeface="Calibri" pitchFamily="34" charset="0"/>
                <a:cs typeface="Calibri" pitchFamily="34" charset="0"/>
              </a:rPr>
              <a:t>T: Execution time (in seconds).</a:t>
            </a:r>
          </a:p>
          <a:p>
            <a:r>
              <a:rPr lang="en-US" sz="1600">
                <a:latin typeface="Calibri" pitchFamily="34" charset="0"/>
                <a:ea typeface="Calibri" pitchFamily="34" charset="0"/>
                <a:cs typeface="Calibri" pitchFamily="34" charset="0"/>
              </a:rPr>
              <a:t>N: Total number of instructions.</a:t>
            </a:r>
          </a:p>
          <a:p>
            <a:r>
              <a:rPr lang="en-US" sz="1600">
                <a:latin typeface="Calibri" pitchFamily="34" charset="0"/>
                <a:ea typeface="Calibri" pitchFamily="34" charset="0"/>
                <a:cs typeface="Calibri" pitchFamily="34" charset="0"/>
              </a:rPr>
              <a:t>CPI: Average clock cycles per instruction.</a:t>
            </a:r>
          </a:p>
          <a:p>
            <a:r>
              <a:rPr lang="en-US" sz="1600">
                <a:latin typeface="Calibri" pitchFamily="34" charset="0"/>
                <a:ea typeface="Calibri" pitchFamily="34" charset="0"/>
                <a:cs typeface="Calibri" pitchFamily="34" charset="0"/>
              </a:rPr>
              <a:t>f: Clock frequency (in MHz).</a:t>
            </a:r>
          </a:p>
        </p:txBody>
      </p:sp>
      <p:pic>
        <p:nvPicPr>
          <p:cNvPr id="8" name="Picture 7" descr="Screenshot 2025-01-20 210139.png"/>
          <p:cNvPicPr>
            <a:picLocks noChangeAspect="1"/>
          </p:cNvPicPr>
          <p:nvPr/>
        </p:nvPicPr>
        <p:blipFill>
          <a:blip r:embed="rId3"/>
          <a:stretch>
            <a:fillRect/>
          </a:stretch>
        </p:blipFill>
        <p:spPr>
          <a:xfrm>
            <a:off x="447891" y="3837380"/>
            <a:ext cx="6341265" cy="725384"/>
          </a:xfrm>
          <a:prstGeom prst="rect">
            <a:avLst/>
          </a:prstGeom>
        </p:spPr>
      </p:pic>
      <p:sp>
        <p:nvSpPr>
          <p:cNvPr id="9" name="TextBox 8"/>
          <p:cNvSpPr txBox="1"/>
          <p:nvPr/>
        </p:nvSpPr>
        <p:spPr>
          <a:xfrm>
            <a:off x="424873" y="3435927"/>
            <a:ext cx="1893454" cy="307777"/>
          </a:xfrm>
          <a:prstGeom prst="rect">
            <a:avLst/>
          </a:prstGeom>
          <a:noFill/>
        </p:spPr>
        <p:txBody>
          <a:bodyPr wrap="square" rtlCol="0">
            <a:spAutoFit/>
          </a:bodyPr>
          <a:lstStyle/>
          <a:p>
            <a:r>
              <a:rPr lang="en-US"/>
              <a:t>Problem 01: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4103" y="505934"/>
            <a:ext cx="8331206" cy="4031873"/>
          </a:xfrm>
          <a:prstGeom prst="rect">
            <a:avLst/>
          </a:prstGeom>
        </p:spPr>
        <p:txBody>
          <a:bodyPr wrap="square">
            <a:spAutoFit/>
          </a:bodyPr>
          <a:lstStyle/>
          <a:p>
            <a:r>
              <a:rPr lang="en-US" sz="1800">
                <a:latin typeface="Calibri" pitchFamily="34" charset="0"/>
                <a:ea typeface="Calibri" pitchFamily="34" charset="0"/>
                <a:cs typeface="Calibri" pitchFamily="34" charset="0"/>
              </a:rPr>
              <a:t>MIPS (Million Instructions Per Second): </a:t>
            </a:r>
          </a:p>
          <a:p>
            <a:r>
              <a:rPr lang="en-US" sz="1600">
                <a:latin typeface="Calibri" pitchFamily="34" charset="0"/>
                <a:ea typeface="Calibri" pitchFamily="34" charset="0"/>
                <a:cs typeface="Calibri" pitchFamily="34" charset="0"/>
              </a:rPr>
              <a:t>Measures how many instructions a CPU executes per second.</a:t>
            </a:r>
          </a:p>
          <a:p>
            <a:r>
              <a:rPr lang="en-US" sz="1600">
                <a:latin typeface="Calibri" pitchFamily="34" charset="0"/>
                <a:ea typeface="Calibri" pitchFamily="34" charset="0"/>
                <a:cs typeface="Calibri" pitchFamily="34" charset="0"/>
              </a:rPr>
              <a:t>Formula: </a:t>
            </a: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Problem 01: </a:t>
            </a: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Problem 02: </a:t>
            </a:r>
          </a:p>
          <a:p>
            <a:endParaRPr lang="en-US" sz="1600">
              <a:latin typeface="Calibri" pitchFamily="34" charset="0"/>
              <a:ea typeface="Calibri" pitchFamily="34" charset="0"/>
              <a:cs typeface="Calibri" pitchFamily="34" charset="0"/>
            </a:endParaRPr>
          </a:p>
          <a:p>
            <a:endParaRPr lang="en-US" sz="1600">
              <a:latin typeface="Calibri" pitchFamily="34" charset="0"/>
              <a:ea typeface="Calibri" pitchFamily="34" charset="0"/>
              <a:cs typeface="Calibri" pitchFamily="34" charset="0"/>
            </a:endParaRPr>
          </a:p>
          <a:p>
            <a:endParaRPr lang="en-US">
              <a:latin typeface="Calibri" pitchFamily="34" charset="0"/>
              <a:ea typeface="Calibri" pitchFamily="34" charset="0"/>
              <a:cs typeface="Calibri" pitchFamily="34" charset="0"/>
            </a:endParaRPr>
          </a:p>
        </p:txBody>
      </p:sp>
      <p:pic>
        <p:nvPicPr>
          <p:cNvPr id="4" name="Picture 3" descr="Screenshot 2025-01-20 210755.png"/>
          <p:cNvPicPr>
            <a:picLocks noChangeAspect="1"/>
          </p:cNvPicPr>
          <p:nvPr/>
        </p:nvPicPr>
        <p:blipFill>
          <a:blip r:embed="rId2"/>
          <a:stretch>
            <a:fillRect/>
          </a:stretch>
        </p:blipFill>
        <p:spPr>
          <a:xfrm>
            <a:off x="523151" y="2379193"/>
            <a:ext cx="5378885" cy="664668"/>
          </a:xfrm>
          <a:prstGeom prst="rect">
            <a:avLst/>
          </a:prstGeom>
        </p:spPr>
      </p:pic>
      <p:pic>
        <p:nvPicPr>
          <p:cNvPr id="5" name="Picture 4" descr="Screenshot 2025-01-20 210817.png"/>
          <p:cNvPicPr>
            <a:picLocks noChangeAspect="1"/>
          </p:cNvPicPr>
          <p:nvPr/>
        </p:nvPicPr>
        <p:blipFill>
          <a:blip r:embed="rId3"/>
          <a:stretch>
            <a:fillRect/>
          </a:stretch>
        </p:blipFill>
        <p:spPr>
          <a:xfrm>
            <a:off x="462139" y="3937695"/>
            <a:ext cx="7444188" cy="481466"/>
          </a:xfrm>
          <a:prstGeom prst="rect">
            <a:avLst/>
          </a:prstGeom>
        </p:spPr>
      </p:pic>
      <p:pic>
        <p:nvPicPr>
          <p:cNvPr id="6" name="Picture 5" descr="Screenshot 2025-01-20 211256.png"/>
          <p:cNvPicPr>
            <a:picLocks noChangeAspect="1"/>
          </p:cNvPicPr>
          <p:nvPr/>
        </p:nvPicPr>
        <p:blipFill>
          <a:blip r:embed="rId4"/>
          <a:stretch>
            <a:fillRect/>
          </a:stretch>
        </p:blipFill>
        <p:spPr>
          <a:xfrm>
            <a:off x="1708093" y="1174116"/>
            <a:ext cx="6503035" cy="74118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3309" y="427174"/>
            <a:ext cx="8382000" cy="1077218"/>
          </a:xfrm>
          <a:prstGeom prst="rect">
            <a:avLst/>
          </a:prstGeom>
        </p:spPr>
        <p:txBody>
          <a:bodyPr wrap="square">
            <a:spAutoFit/>
          </a:bodyPr>
          <a:lstStyle/>
          <a:p>
            <a:r>
              <a:rPr lang="en-US" sz="1600">
                <a:latin typeface="Calibri" pitchFamily="34" charset="0"/>
                <a:ea typeface="Calibri" pitchFamily="34" charset="0"/>
                <a:cs typeface="Calibri" pitchFamily="34" charset="0"/>
              </a:rPr>
              <a:t>Example 03:</a:t>
            </a:r>
          </a:p>
          <a:p>
            <a:r>
              <a:rPr lang="en-US" sz="1600">
                <a:latin typeface="Calibri" pitchFamily="34" charset="0"/>
                <a:ea typeface="Calibri" pitchFamily="34" charset="0"/>
                <a:cs typeface="Calibri" pitchFamily="34" charset="0"/>
              </a:rPr>
              <a:t>Machine A has a clock cycle time of 10 ns. and a CPI of 2.0</a:t>
            </a:r>
          </a:p>
          <a:p>
            <a:r>
              <a:rPr lang="en-US" sz="1600">
                <a:latin typeface="Calibri" pitchFamily="34" charset="0"/>
                <a:ea typeface="Calibri" pitchFamily="34" charset="0"/>
                <a:cs typeface="Calibri" pitchFamily="34" charset="0"/>
              </a:rPr>
              <a:t>Machine B has a clock cycle time of 20 ns. and a CPI of 1.2 Which machine is faster for this program, and by how much?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7855" y="1029936"/>
            <a:ext cx="8414328" cy="2554545"/>
          </a:xfrm>
          <a:prstGeom prst="rect">
            <a:avLst/>
          </a:prstGeom>
        </p:spPr>
        <p:txBody>
          <a:bodyPr wrap="square">
            <a:spAutoFit/>
          </a:bodyPr>
          <a:lstStyle/>
          <a:p>
            <a:pPr marL="400050" indent="-400050">
              <a:buFont typeface="+mj-lt"/>
              <a:buAutoNum type="romanUcPeriod"/>
            </a:pPr>
            <a:r>
              <a:rPr lang="en-US" sz="1600" b="1">
                <a:latin typeface="Calibri" pitchFamily="34" charset="0"/>
                <a:ea typeface="Calibri" pitchFamily="34" charset="0"/>
                <a:cs typeface="Calibri" pitchFamily="34" charset="0"/>
              </a:rPr>
              <a:t>Software: </a:t>
            </a:r>
            <a:r>
              <a:rPr lang="en-US" sz="1600">
                <a:latin typeface="Calibri" pitchFamily="34" charset="0"/>
                <a:ea typeface="Calibri" pitchFamily="34" charset="0"/>
                <a:cs typeface="Calibri" pitchFamily="34" charset="0"/>
              </a:rPr>
              <a:t>The efficiency with which the programs are written and compiled into object code influences N, the number of instructions executed. Other factors being equal, reducing N tends to reduce the overall execution time T.</a:t>
            </a:r>
          </a:p>
          <a:p>
            <a:pPr marL="400050" indent="-400050">
              <a:buFont typeface="+mj-lt"/>
              <a:buAutoNum type="romanUcPeriod"/>
            </a:pPr>
            <a:endParaRPr lang="en-US" sz="1600">
              <a:latin typeface="Calibri" pitchFamily="34" charset="0"/>
              <a:ea typeface="Calibri" pitchFamily="34" charset="0"/>
              <a:cs typeface="Calibri" pitchFamily="34" charset="0"/>
            </a:endParaRPr>
          </a:p>
          <a:p>
            <a:pPr marL="400050" indent="-400050">
              <a:buFont typeface="+mj-lt"/>
              <a:buAutoNum type="romanUcPeriod"/>
            </a:pPr>
            <a:r>
              <a:rPr lang="en-US" sz="1600" b="1">
                <a:latin typeface="Calibri" pitchFamily="34" charset="0"/>
                <a:ea typeface="Calibri" pitchFamily="34" charset="0"/>
                <a:cs typeface="Calibri" pitchFamily="34" charset="0"/>
              </a:rPr>
              <a:t> Architecture: </a:t>
            </a:r>
            <a:r>
              <a:rPr lang="en-US" sz="1600">
                <a:latin typeface="Calibri" pitchFamily="34" charset="0"/>
                <a:ea typeface="Calibri" pitchFamily="34" charset="0"/>
                <a:cs typeface="Calibri" pitchFamily="34" charset="0"/>
              </a:rPr>
              <a:t>The efficiency with which individual instructions are processed directly affects CPI, the number of cycles per instruction executed. Reducing CPI also tends to reduce T.</a:t>
            </a:r>
          </a:p>
          <a:p>
            <a:pPr marL="400050" indent="-400050">
              <a:buFont typeface="+mj-lt"/>
              <a:buAutoNum type="romanUcPeriod"/>
            </a:pPr>
            <a:endParaRPr lang="en-US" sz="1600" b="1">
              <a:latin typeface="Calibri" pitchFamily="34" charset="0"/>
              <a:ea typeface="Calibri" pitchFamily="34" charset="0"/>
              <a:cs typeface="Calibri" pitchFamily="34" charset="0"/>
            </a:endParaRPr>
          </a:p>
          <a:p>
            <a:pPr marL="400050" indent="-400050">
              <a:buFont typeface="+mj-lt"/>
              <a:buAutoNum type="romanUcPeriod"/>
            </a:pPr>
            <a:r>
              <a:rPr lang="en-US" sz="1600" b="1">
                <a:latin typeface="Calibri" pitchFamily="34" charset="0"/>
                <a:ea typeface="Calibri" pitchFamily="34" charset="0"/>
                <a:cs typeface="Calibri" pitchFamily="34" charset="0"/>
              </a:rPr>
              <a:t>Hardware: </a:t>
            </a:r>
            <a:r>
              <a:rPr lang="en-US" sz="1600">
                <a:latin typeface="Calibri" pitchFamily="34" charset="0"/>
                <a:ea typeface="Calibri" pitchFamily="34" charset="0"/>
                <a:cs typeface="Calibri" pitchFamily="34" charset="0"/>
              </a:rPr>
              <a:t>The raw speed of the processor circuits determines f, the clock frequency. Increasing ƒ tends to reduce T.</a:t>
            </a:r>
          </a:p>
          <a:p>
            <a:pPr marL="400050" indent="-400050"/>
            <a:endParaRPr lang="en-US" sz="1600">
              <a:latin typeface="Calibri" pitchFamily="34" charset="0"/>
              <a:ea typeface="Calibri" pitchFamily="34" charset="0"/>
              <a:cs typeface="Calibri" pitchFamily="34" charset="0"/>
            </a:endParaRPr>
          </a:p>
        </p:txBody>
      </p:sp>
      <p:sp>
        <p:nvSpPr>
          <p:cNvPr id="3" name="Rectangle 2"/>
          <p:cNvSpPr/>
          <p:nvPr/>
        </p:nvSpPr>
        <p:spPr>
          <a:xfrm>
            <a:off x="1525330" y="404335"/>
            <a:ext cx="6272871" cy="523220"/>
          </a:xfrm>
          <a:prstGeom prst="rect">
            <a:avLst/>
          </a:prstGeom>
        </p:spPr>
        <p:txBody>
          <a:bodyPr wrap="none">
            <a:spAutoFit/>
          </a:bodyPr>
          <a:lstStyle/>
          <a:p>
            <a:r>
              <a:rPr lang="en-US" sz="2800">
                <a:latin typeface="Algerian" pitchFamily="82" charset="0"/>
              </a:rPr>
              <a:t>Factors Affecting Performance</a:t>
            </a:r>
          </a:p>
        </p:txBody>
      </p:sp>
      <p:sp>
        <p:nvSpPr>
          <p:cNvPr id="4" name="TextBox 3"/>
          <p:cNvSpPr txBox="1"/>
          <p:nvPr/>
        </p:nvSpPr>
        <p:spPr>
          <a:xfrm>
            <a:off x="258618" y="3500581"/>
            <a:ext cx="8442036" cy="1077218"/>
          </a:xfrm>
          <a:prstGeom prst="rect">
            <a:avLst/>
          </a:prstGeom>
          <a:noFill/>
        </p:spPr>
        <p:txBody>
          <a:bodyPr wrap="square" rtlCol="0">
            <a:spAutoFit/>
          </a:bodyPr>
          <a:lstStyle/>
          <a:p>
            <a:r>
              <a:rPr lang="en-US" sz="1600">
                <a:latin typeface="Calibri" pitchFamily="34" charset="0"/>
                <a:ea typeface="Calibri" pitchFamily="34" charset="0"/>
                <a:cs typeface="Calibri" pitchFamily="34" charset="0"/>
              </a:rPr>
              <a:t>In general, the complex instruction sets of CISC processors aim to reduce N at the expense of CPI, whereas RISC processors aim to reduce CPI at the expense of N. Advances in VLSI technology affecting all types of computers tend to increase f.</a:t>
            </a:r>
          </a:p>
          <a:p>
            <a:endParaRPr lang="en-US" sz="16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5018" y="323273"/>
            <a:ext cx="7832436" cy="523220"/>
          </a:xfrm>
          <a:prstGeom prst="rect">
            <a:avLst/>
          </a:prstGeom>
          <a:noFill/>
        </p:spPr>
        <p:txBody>
          <a:bodyPr wrap="square" rtlCol="0">
            <a:spAutoFit/>
          </a:bodyPr>
          <a:lstStyle/>
          <a:p>
            <a:pPr algn="ctr"/>
            <a:r>
              <a:rPr lang="en-US" sz="2800">
                <a:latin typeface="Algerian" pitchFamily="82" charset="0"/>
              </a:rPr>
              <a:t>Speedup Techniques</a:t>
            </a:r>
          </a:p>
        </p:txBody>
      </p:sp>
      <p:sp>
        <p:nvSpPr>
          <p:cNvPr id="1025" name="Rectangle 1"/>
          <p:cNvSpPr>
            <a:spLocks noChangeArrowheads="1"/>
          </p:cNvSpPr>
          <p:nvPr/>
        </p:nvSpPr>
        <p:spPr bwMode="auto">
          <a:xfrm>
            <a:off x="304800" y="858983"/>
            <a:ext cx="8580582" cy="403187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endPar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endParaRPr>
          </a:p>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Cache Memory</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Objective</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Provide faster access to instructions and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Description</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Cache is a smaller, faster memory closer to the CPU than main memory. It reduces the time required to fetch frequently used instructions or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Pipelining</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Objective</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Increase performance by allowing multiple stages of instruction processing to overlap.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Description</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The CPU divides instruction execution into stages (e.g., fetch, decode, execute). While one instruction is being executed, the next can be fetched or decoded simultaneously.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Superscalar Processing</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Objective</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Increase performance by processing multiple instructions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1" i="0" u="none" strike="noStrike" cap="none" normalizeH="0" baseline="0">
                <a:ln>
                  <a:noFill/>
                </a:ln>
                <a:solidFill>
                  <a:schemeClr val="tx1"/>
                </a:solidFill>
                <a:effectLst/>
                <a:latin typeface="Calibri" pitchFamily="34" charset="0"/>
                <a:ea typeface="Calibri" pitchFamily="34" charset="0"/>
                <a:cs typeface="Calibri" pitchFamily="34" charset="0"/>
              </a:rPr>
              <a:t>Description</a:t>
            </a:r>
            <a:r>
              <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rPr>
              <a:t>: Multiple pipelines are used to execute several instructions in parallel, enabling better utilization of CPU resources.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Calibri" pitchFamily="34" charset="0"/>
              <a:ea typeface="Calibri" pitchFamily="34" charset="0"/>
              <a:cs typeface="Calibri"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9455" y="517235"/>
            <a:ext cx="8331200" cy="2431435"/>
          </a:xfrm>
          <a:prstGeom prst="rect">
            <a:avLst/>
          </a:prstGeom>
        </p:spPr>
        <p:txBody>
          <a:bodyPr wrap="square">
            <a:spAutoFit/>
          </a:bodyPr>
          <a:lstStyle/>
          <a:p>
            <a:pPr algn="ctr"/>
            <a:r>
              <a:rPr lang="en-US" sz="2800">
                <a:latin typeface="Algerian" pitchFamily="82" charset="0"/>
                <a:ea typeface="Calibri" pitchFamily="34" charset="0"/>
                <a:cs typeface="Calibri" pitchFamily="34" charset="0"/>
              </a:rPr>
              <a:t>Pipelining in Detail</a:t>
            </a:r>
          </a:p>
          <a:p>
            <a:endParaRPr lang="en-US">
              <a:latin typeface="Calibri" pitchFamily="34" charset="0"/>
              <a:ea typeface="Calibri" pitchFamily="34" charset="0"/>
              <a:cs typeface="Calibri" pitchFamily="34" charset="0"/>
            </a:endParaRPr>
          </a:p>
          <a:p>
            <a:endParaRPr lang="en-US">
              <a:latin typeface="Calibri" pitchFamily="34" charset="0"/>
              <a:ea typeface="Calibri" pitchFamily="34" charset="0"/>
              <a:cs typeface="Calibri" pitchFamily="34" charset="0"/>
            </a:endParaRPr>
          </a:p>
          <a:p>
            <a:r>
              <a:rPr lang="en-US" sz="1600">
                <a:latin typeface="Calibri" pitchFamily="34" charset="0"/>
                <a:ea typeface="Calibri" pitchFamily="34" charset="0"/>
                <a:cs typeface="Calibri" pitchFamily="34" charset="0"/>
              </a:rPr>
              <a:t>Stages of Instruction Execution in a Pipeline:</a:t>
            </a:r>
          </a:p>
          <a:p>
            <a:pPr marL="400050" indent="-400050">
              <a:buFont typeface="+mj-lt"/>
              <a:buAutoNum type="romanUcPeriod"/>
            </a:pPr>
            <a:r>
              <a:rPr lang="en-US" sz="1600" b="1">
                <a:latin typeface="Calibri" pitchFamily="34" charset="0"/>
                <a:ea typeface="Calibri" pitchFamily="34" charset="0"/>
                <a:cs typeface="Calibri" pitchFamily="34" charset="0"/>
              </a:rPr>
              <a:t>Instruction Fetch (IF): </a:t>
            </a:r>
            <a:r>
              <a:rPr lang="en-US" sz="1600">
                <a:latin typeface="Calibri" pitchFamily="34" charset="0"/>
                <a:ea typeface="Calibri" pitchFamily="34" charset="0"/>
                <a:cs typeface="Calibri" pitchFamily="34" charset="0"/>
              </a:rPr>
              <a:t>Fetch the instruction from memory.</a:t>
            </a:r>
          </a:p>
          <a:p>
            <a:pPr marL="400050" indent="-400050">
              <a:buFont typeface="+mj-lt"/>
              <a:buAutoNum type="romanUcPeriod"/>
            </a:pPr>
            <a:r>
              <a:rPr lang="en-US" sz="1600" b="1">
                <a:latin typeface="Calibri" pitchFamily="34" charset="0"/>
                <a:ea typeface="Calibri" pitchFamily="34" charset="0"/>
                <a:cs typeface="Calibri" pitchFamily="34" charset="0"/>
              </a:rPr>
              <a:t>Instruction Decode (ID): </a:t>
            </a:r>
            <a:r>
              <a:rPr lang="en-US" sz="1600">
                <a:latin typeface="Calibri" pitchFamily="34" charset="0"/>
                <a:ea typeface="Calibri" pitchFamily="34" charset="0"/>
                <a:cs typeface="Calibri" pitchFamily="34" charset="0"/>
              </a:rPr>
              <a:t>Decode the fetched instruction.</a:t>
            </a:r>
          </a:p>
          <a:p>
            <a:pPr marL="400050" indent="-400050">
              <a:buFont typeface="+mj-lt"/>
              <a:buAutoNum type="romanUcPeriod"/>
            </a:pPr>
            <a:r>
              <a:rPr lang="en-US" sz="1600" b="1">
                <a:latin typeface="Calibri" pitchFamily="34" charset="0"/>
                <a:ea typeface="Calibri" pitchFamily="34" charset="0"/>
                <a:cs typeface="Calibri" pitchFamily="34" charset="0"/>
              </a:rPr>
              <a:t>Operand Load (OL): </a:t>
            </a:r>
            <a:r>
              <a:rPr lang="en-US" sz="1600">
                <a:latin typeface="Calibri" pitchFamily="34" charset="0"/>
                <a:ea typeface="Calibri" pitchFamily="34" charset="0"/>
                <a:cs typeface="Calibri" pitchFamily="34" charset="0"/>
              </a:rPr>
              <a:t>Load operands required for the instruction.</a:t>
            </a:r>
          </a:p>
          <a:p>
            <a:pPr marL="400050" indent="-400050">
              <a:buFont typeface="+mj-lt"/>
              <a:buAutoNum type="romanUcPeriod"/>
            </a:pPr>
            <a:r>
              <a:rPr lang="en-US" sz="1600" b="1">
                <a:latin typeface="Calibri" pitchFamily="34" charset="0"/>
                <a:ea typeface="Calibri" pitchFamily="34" charset="0"/>
                <a:cs typeface="Calibri" pitchFamily="34" charset="0"/>
              </a:rPr>
              <a:t>Execution (EX): </a:t>
            </a:r>
            <a:r>
              <a:rPr lang="en-US" sz="1600">
                <a:latin typeface="Calibri" pitchFamily="34" charset="0"/>
                <a:ea typeface="Calibri" pitchFamily="34" charset="0"/>
                <a:cs typeface="Calibri" pitchFamily="34" charset="0"/>
              </a:rPr>
              <a:t>Perform the operation.</a:t>
            </a:r>
          </a:p>
          <a:p>
            <a:pPr marL="400050" indent="-400050">
              <a:buFont typeface="+mj-lt"/>
              <a:buAutoNum type="romanUcPeriod"/>
            </a:pPr>
            <a:r>
              <a:rPr lang="en-US" sz="1600" b="1">
                <a:latin typeface="Calibri" pitchFamily="34" charset="0"/>
                <a:ea typeface="Calibri" pitchFamily="34" charset="0"/>
                <a:cs typeface="Calibri" pitchFamily="34" charset="0"/>
              </a:rPr>
              <a:t>Operand Store (OS): </a:t>
            </a:r>
            <a:r>
              <a:rPr lang="en-US" sz="1600">
                <a:latin typeface="Calibri" pitchFamily="34" charset="0"/>
                <a:ea typeface="Calibri" pitchFamily="34" charset="0"/>
                <a:cs typeface="Calibri" pitchFamily="34" charset="0"/>
              </a:rPr>
              <a:t>Store the result back into memory.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55855" y="544945"/>
            <a:ext cx="2974109" cy="1323439"/>
          </a:xfrm>
          <a:prstGeom prst="rect">
            <a:avLst/>
          </a:prstGeom>
          <a:noFill/>
        </p:spPr>
        <p:txBody>
          <a:bodyPr wrap="square" rtlCol="0">
            <a:spAutoFit/>
          </a:bodyPr>
          <a:lstStyle/>
          <a:p>
            <a:r>
              <a:rPr lang="en-US" sz="1600">
                <a:latin typeface="Calibri" pitchFamily="34" charset="0"/>
                <a:ea typeface="Calibri" pitchFamily="34" charset="0"/>
                <a:cs typeface="Calibri" pitchFamily="34" charset="0"/>
              </a:rPr>
              <a:t>In a </a:t>
            </a:r>
            <a:r>
              <a:rPr lang="en-US" sz="1600" b="1">
                <a:latin typeface="Calibri" pitchFamily="34" charset="0"/>
                <a:ea typeface="Calibri" pitchFamily="34" charset="0"/>
                <a:cs typeface="Calibri" pitchFamily="34" charset="0"/>
              </a:rPr>
              <a:t>non-pipelined processor</a:t>
            </a:r>
            <a:r>
              <a:rPr lang="en-US" sz="1600">
                <a:latin typeface="Calibri" pitchFamily="34" charset="0"/>
                <a:ea typeface="Calibri" pitchFamily="34" charset="0"/>
                <a:cs typeface="Calibri" pitchFamily="34" charset="0"/>
              </a:rPr>
              <a:t>, each instruction completes all stages before the next one begins.</a:t>
            </a:r>
          </a:p>
          <a:p>
            <a:endParaRPr lang="en-US" sz="1600">
              <a:latin typeface="Calibri" pitchFamily="34" charset="0"/>
              <a:ea typeface="Calibri" pitchFamily="34" charset="0"/>
              <a:cs typeface="Calibri" pitchFamily="34" charset="0"/>
            </a:endParaRPr>
          </a:p>
        </p:txBody>
      </p:sp>
      <p:sp>
        <p:nvSpPr>
          <p:cNvPr id="5" name="TextBox 4"/>
          <p:cNvSpPr txBox="1"/>
          <p:nvPr/>
        </p:nvSpPr>
        <p:spPr>
          <a:xfrm>
            <a:off x="5938982" y="2318327"/>
            <a:ext cx="3011054" cy="3046988"/>
          </a:xfrm>
          <a:prstGeom prst="rect">
            <a:avLst/>
          </a:prstGeom>
          <a:noFill/>
        </p:spPr>
        <p:txBody>
          <a:bodyPr wrap="square" rtlCol="0">
            <a:spAutoFit/>
          </a:bodyPr>
          <a:lstStyle/>
          <a:p>
            <a:pPr algn="just"/>
            <a:r>
              <a:rPr lang="en-US" sz="1600">
                <a:latin typeface="Calibri" pitchFamily="34" charset="0"/>
                <a:ea typeface="Calibri" pitchFamily="34" charset="0"/>
                <a:cs typeface="Calibri" pitchFamily="34" charset="0"/>
              </a:rPr>
              <a:t>In a pipelined processor, multiple instructions are in different stages simultaneously:</a:t>
            </a:r>
          </a:p>
          <a:p>
            <a:pPr algn="just"/>
            <a:r>
              <a:rPr lang="en-US" sz="1600">
                <a:latin typeface="Calibri" pitchFamily="34" charset="0"/>
                <a:ea typeface="Calibri" pitchFamily="34" charset="0"/>
                <a:cs typeface="Calibri" pitchFamily="34" charset="0"/>
              </a:rPr>
              <a:t>At clock cycle 1, instruction I1 is in the fetch stage.</a:t>
            </a:r>
          </a:p>
          <a:p>
            <a:pPr algn="just"/>
            <a:r>
              <a:rPr lang="en-US" sz="1600">
                <a:latin typeface="Calibri" pitchFamily="34" charset="0"/>
                <a:ea typeface="Calibri" pitchFamily="34" charset="0"/>
                <a:cs typeface="Calibri" pitchFamily="34" charset="0"/>
              </a:rPr>
              <a:t>At clock cycle 2, I1​ moves to the decode stage while I2 starts fetching.</a:t>
            </a:r>
          </a:p>
          <a:p>
            <a:pPr algn="just"/>
            <a:r>
              <a:rPr lang="en-US" sz="1600">
                <a:latin typeface="Calibri" pitchFamily="34" charset="0"/>
                <a:ea typeface="Calibri" pitchFamily="34" charset="0"/>
                <a:cs typeface="Calibri" pitchFamily="34" charset="0"/>
              </a:rPr>
              <a:t>This overlap continues, improving throughput.</a:t>
            </a:r>
          </a:p>
          <a:p>
            <a:pPr algn="just"/>
            <a:endParaRPr lang="en-US" sz="1600">
              <a:latin typeface="Calibri" pitchFamily="34" charset="0"/>
              <a:ea typeface="Calibri" pitchFamily="34" charset="0"/>
              <a:cs typeface="Calibri" pitchFamily="34" charset="0"/>
            </a:endParaRPr>
          </a:p>
          <a:p>
            <a:pPr algn="just"/>
            <a:endParaRPr lang="en-US" sz="1600">
              <a:latin typeface="Calibri" pitchFamily="34" charset="0"/>
              <a:ea typeface="Calibri" pitchFamily="34" charset="0"/>
              <a:cs typeface="Calibri" pitchFamily="34" charset="0"/>
            </a:endParaRPr>
          </a:p>
        </p:txBody>
      </p:sp>
      <p:pic>
        <p:nvPicPr>
          <p:cNvPr id="6" name="Picture 5" descr="Screenshot 2025-01-20 214809.jpg"/>
          <p:cNvPicPr>
            <a:picLocks noChangeAspect="1"/>
          </p:cNvPicPr>
          <p:nvPr/>
        </p:nvPicPr>
        <p:blipFill>
          <a:blip r:embed="rId2"/>
          <a:stretch>
            <a:fillRect/>
          </a:stretch>
        </p:blipFill>
        <p:spPr>
          <a:xfrm>
            <a:off x="276225" y="243320"/>
            <a:ext cx="5553336" cy="405158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018" y="1232708"/>
            <a:ext cx="8224982" cy="1077218"/>
          </a:xfrm>
          <a:prstGeom prst="rect">
            <a:avLst/>
          </a:prstGeom>
        </p:spPr>
        <p:txBody>
          <a:bodyPr wrap="square">
            <a:spAutoFit/>
          </a:bodyPr>
          <a:lstStyle/>
          <a:p>
            <a:pPr algn="just"/>
            <a:r>
              <a:rPr lang="en-US" sz="1600">
                <a:latin typeface="Calibri" pitchFamily="34" charset="0"/>
                <a:ea typeface="Calibri" pitchFamily="34" charset="0"/>
                <a:cs typeface="Calibri" pitchFamily="34" charset="0"/>
              </a:rPr>
              <a:t>Superscalar architecture is a type of CPU design that allows a processor to execute </a:t>
            </a:r>
            <a:r>
              <a:rPr lang="en-US" sz="1600" b="1">
                <a:latin typeface="Calibri" pitchFamily="34" charset="0"/>
                <a:ea typeface="Calibri" pitchFamily="34" charset="0"/>
                <a:cs typeface="Calibri" pitchFamily="34" charset="0"/>
              </a:rPr>
              <a:t>multiple instructions simultaneously</a:t>
            </a:r>
            <a:r>
              <a:rPr lang="en-US" sz="1600">
                <a:latin typeface="Calibri" pitchFamily="34" charset="0"/>
                <a:ea typeface="Calibri" pitchFamily="34" charset="0"/>
                <a:cs typeface="Calibri" pitchFamily="34" charset="0"/>
              </a:rPr>
              <a:t> during a single clock cycle. It achieves this by having multiple execution units, such as arithmetic units, floating-point units, and memory access units, operating in parallel.</a:t>
            </a:r>
          </a:p>
        </p:txBody>
      </p:sp>
      <p:sp>
        <p:nvSpPr>
          <p:cNvPr id="3" name="Rectangle 2"/>
          <p:cNvSpPr/>
          <p:nvPr/>
        </p:nvSpPr>
        <p:spPr>
          <a:xfrm>
            <a:off x="2136494" y="395098"/>
            <a:ext cx="4642618" cy="461665"/>
          </a:xfrm>
          <a:prstGeom prst="rect">
            <a:avLst/>
          </a:prstGeom>
        </p:spPr>
        <p:txBody>
          <a:bodyPr wrap="none">
            <a:spAutoFit/>
          </a:bodyPr>
          <a:lstStyle/>
          <a:p>
            <a:r>
              <a:rPr lang="en-US" sz="2400">
                <a:latin typeface="Algerian" pitchFamily="82" charset="0"/>
              </a:rPr>
              <a:t>Superscalar architecture </a:t>
            </a:r>
          </a:p>
        </p:txBody>
      </p:sp>
      <p:sp>
        <p:nvSpPr>
          <p:cNvPr id="8" name="Rectangle 7"/>
          <p:cNvSpPr/>
          <p:nvPr/>
        </p:nvSpPr>
        <p:spPr>
          <a:xfrm>
            <a:off x="350982" y="2261595"/>
            <a:ext cx="8552872" cy="2554545"/>
          </a:xfrm>
          <a:prstGeom prst="rect">
            <a:avLst/>
          </a:prstGeom>
        </p:spPr>
        <p:txBody>
          <a:bodyPr wrap="square">
            <a:spAutoFit/>
          </a:bodyPr>
          <a:lstStyle/>
          <a:p>
            <a:pPr algn="just"/>
            <a:endParaRPr lang="en-US" sz="1600">
              <a:latin typeface="Calibri" pitchFamily="34" charset="0"/>
              <a:ea typeface="Calibri" pitchFamily="34" charset="0"/>
              <a:cs typeface="Calibri" pitchFamily="34" charset="0"/>
            </a:endParaRPr>
          </a:p>
          <a:p>
            <a:pPr algn="just"/>
            <a:r>
              <a:rPr lang="en-US" sz="1600">
                <a:latin typeface="Calibri" pitchFamily="34" charset="0"/>
                <a:ea typeface="Calibri" pitchFamily="34" charset="0"/>
                <a:cs typeface="Calibri" pitchFamily="34" charset="0"/>
              </a:rPr>
              <a:t>In other words, the instructions can be completely overlapped. CPUs with this capability are said to be superscalar. (Note that two instructions in the same pipeline must be issued sequentially rather than in parallel.) For example, if the logic needed for the IF, ID, OL, EX, and OS steps is duplicated (with or without pipelining), then two instructions can be issued simultaneously. However, if the instructions are not independent, for example, if they share the same operands or one takes as input a result computed by the other, then delays not unlike those illustrated in Figure 1.24b can occur. Pipelining and superscalar design are both instances of instruction-level parallelism. The logic circuits needed to deal with parallelism of this kind add considerable complexity to the CPU's program control and execution units.</a:t>
            </a:r>
          </a:p>
        </p:txBody>
      </p:sp>
    </p:spTree>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4C64532606B24FAB5D656F866C042E" ma:contentTypeVersion="7" ma:contentTypeDescription="Create a new document." ma:contentTypeScope="" ma:versionID="e09d2cf455fbf8f69db67da1420b95fc">
  <xsd:schema xmlns:xsd="http://www.w3.org/2001/XMLSchema" xmlns:xs="http://www.w3.org/2001/XMLSchema" xmlns:p="http://schemas.microsoft.com/office/2006/metadata/properties" xmlns:ns2="f8536b80-1d83-40b8-bf9c-7fc7a3b1d835" targetNamespace="http://schemas.microsoft.com/office/2006/metadata/properties" ma:root="true" ma:fieldsID="2669715d9414c83cbf40c50fdf684965" ns2:_="">
    <xsd:import namespace="f8536b80-1d83-40b8-bf9c-7fc7a3b1d83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536b80-1d83-40b8-bf9c-7fc7a3b1d8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58CC41-9029-46E6-ABBC-E1D8FF617139}"/>
</file>

<file path=customXml/itemProps2.xml><?xml version="1.0" encoding="utf-8"?>
<ds:datastoreItem xmlns:ds="http://schemas.openxmlformats.org/officeDocument/2006/customXml" ds:itemID="{B30AC27A-F1B4-49A6-996F-A87ABA6C55B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306D576-A350-4356-AA29-BA2B61A007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42</Slides>
  <Notes>3</Notes>
  <HiddenSlides>0</HiddenSlide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Elegant Black &amp; White Thesis Defense by Slidesgo</vt:lpstr>
      <vt:lpstr>Computer Architecture</vt:lpstr>
      <vt:lpstr>PowerPoint Presentation</vt:lpstr>
      <vt:lpstr>PowerPoint Presentation</vt:lpstr>
      <vt:lpstr>PowerPoint Presentation</vt:lpstr>
      <vt:lpstr>PowerPoint Presentation</vt:lpstr>
      <vt:lpstr>PowerPoint Presentation</vt:lpstr>
      <vt:lpstr>Introduction</vt:lpstr>
      <vt:lpstr>Introduction</vt:lpstr>
      <vt:lpstr>Introduction</vt:lpstr>
      <vt:lpstr>PowerPoint Presentation</vt:lpstr>
      <vt:lpstr>PowerPoint Presentation</vt:lpstr>
      <vt:lpstr>PowerPoint Presentation</vt:lpstr>
      <vt:lpstr>Why Study Computer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dc:title>
  <cp:revision>1</cp:revision>
  <dcterms:modified xsi:type="dcterms:W3CDTF">2026-01-25T18:02:29Z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0x010100DA4C64532606B24FAB5D656F866C042E</vt:lpwstr>
  </property>
</Properties>
</file>