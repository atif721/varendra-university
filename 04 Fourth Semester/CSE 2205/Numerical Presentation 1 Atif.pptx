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Assistant Bold" charset="1" panose="00000800000000000000"/>
      <p:regular r:id="rId15"/>
    </p:embeddedFont>
    <p:embeddedFont>
      <p:font typeface="Dynamo Medium" charset="1" panose="020B060402020A080404"/>
      <p:regular r:id="rId16"/>
    </p:embeddedFont>
    <p:embeddedFont>
      <p:font typeface="Source Sans Pro Bold" charset="1" panose="020B0703030403020204"/>
      <p:regular r:id="rId17"/>
    </p:embeddedFont>
    <p:embeddedFont>
      <p:font typeface="Source Sans Pro" charset="1" panose="020B0503030403020204"/>
      <p:regular r:id="rId18"/>
    </p:embeddedFont>
    <p:embeddedFont>
      <p:font typeface="Times New Roman MT Condensed Bold" charset="1" panose="02030806070405020303"/>
      <p:regular r:id="rId19"/>
    </p:embeddedFont>
    <p:embeddedFont>
      <p:font typeface="League Spartan" charset="1" panose="00000800000000000000"/>
      <p:regular r:id="rId20"/>
    </p:embeddedFont>
    <p:embeddedFont>
      <p:font typeface="Archivo Black" charset="1" panose="020B0A03020202020B04"/>
      <p:regular r:id="rId21"/>
    </p:embeddedFont>
    <p:embeddedFont>
      <p:font typeface="Poppins Bold" charset="1" panose="000008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https://app.presentations.ai/undefined" TargetMode="External" Type="http://schemas.openxmlformats.org/officeDocument/2006/relationships/hyperlink"/><Relationship Id="rId3" Target="https://app.presentations.ai/undefined"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CFEFF"/>
        </a:solidFill>
      </p:bgPr>
    </p:bg>
    <p:spTree>
      <p:nvGrpSpPr>
        <p:cNvPr id="1" name=""/>
        <p:cNvGrpSpPr/>
        <p:nvPr/>
      </p:nvGrpSpPr>
      <p:grpSpPr>
        <a:xfrm>
          <a:off x="0" y="0"/>
          <a:ext cx="0" cy="0"/>
          <a:chOff x="0" y="0"/>
          <a:chExt cx="0" cy="0"/>
        </a:xfrm>
      </p:grpSpPr>
      <p:grpSp>
        <p:nvGrpSpPr>
          <p:cNvPr name="Group 2" id="2"/>
          <p:cNvGrpSpPr/>
          <p:nvPr/>
        </p:nvGrpSpPr>
        <p:grpSpPr>
          <a:xfrm rot="0">
            <a:off x="12787664" y="2795642"/>
            <a:ext cx="4062340" cy="4062324"/>
            <a:chOff x="0" y="0"/>
            <a:chExt cx="6350000" cy="6349975"/>
          </a:xfrm>
        </p:grpSpPr>
        <p:sp>
          <p:nvSpPr>
            <p:cNvPr name="Freeform 3" id="3"/>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l="0" t="-16666" r="0" b="-16666"/>
              </a:stretch>
            </a:blipFill>
          </p:spPr>
        </p:sp>
      </p:grpSp>
      <p:sp>
        <p:nvSpPr>
          <p:cNvPr name="Freeform 4" id="4"/>
          <p:cNvSpPr/>
          <p:nvPr/>
        </p:nvSpPr>
        <p:spPr>
          <a:xfrm flipH="false" flipV="false" rot="5808836">
            <a:off x="-6914419" y="655315"/>
            <a:ext cx="12716270" cy="6635581"/>
          </a:xfrm>
          <a:custGeom>
            <a:avLst/>
            <a:gdLst/>
            <a:ahLst/>
            <a:cxnLst/>
            <a:rect r="r" b="b" t="t" l="l"/>
            <a:pathLst>
              <a:path h="6635581" w="12716270">
                <a:moveTo>
                  <a:pt x="0" y="0"/>
                </a:moveTo>
                <a:lnTo>
                  <a:pt x="12716270" y="0"/>
                </a:lnTo>
                <a:lnTo>
                  <a:pt x="12716270" y="6635580"/>
                </a:lnTo>
                <a:lnTo>
                  <a:pt x="0" y="6635580"/>
                </a:lnTo>
                <a:lnTo>
                  <a:pt x="0" y="0"/>
                </a:lnTo>
                <a:close/>
              </a:path>
            </a:pathLst>
          </a:custGeom>
          <a:blipFill>
            <a:blip r:embed="rId3">
              <a:alphaModFix amt="87000"/>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5" id="5"/>
          <p:cNvSpPr/>
          <p:nvPr/>
        </p:nvSpPr>
        <p:spPr>
          <a:xfrm flipH="true" flipV="true" rot="8289110">
            <a:off x="-5082338" y="919111"/>
            <a:ext cx="12716270" cy="6635581"/>
          </a:xfrm>
          <a:custGeom>
            <a:avLst/>
            <a:gdLst/>
            <a:ahLst/>
            <a:cxnLst/>
            <a:rect r="r" b="b" t="t" l="l"/>
            <a:pathLst>
              <a:path h="6635581" w="12716270">
                <a:moveTo>
                  <a:pt x="12716270" y="6635581"/>
                </a:moveTo>
                <a:lnTo>
                  <a:pt x="0" y="6635581"/>
                </a:lnTo>
                <a:lnTo>
                  <a:pt x="0" y="0"/>
                </a:lnTo>
                <a:lnTo>
                  <a:pt x="12716270" y="0"/>
                </a:lnTo>
                <a:lnTo>
                  <a:pt x="12716270" y="6635581"/>
                </a:lnTo>
                <a:close/>
              </a:path>
            </a:pathLst>
          </a:custGeom>
          <a:blipFill>
            <a:blip r:embed="rId5">
              <a:alphaModFix amt="87000"/>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6" id="6"/>
          <p:cNvGrpSpPr/>
          <p:nvPr/>
        </p:nvGrpSpPr>
        <p:grpSpPr>
          <a:xfrm rot="0">
            <a:off x="11042532" y="6949554"/>
            <a:ext cx="7009358" cy="3095242"/>
            <a:chOff x="0" y="0"/>
            <a:chExt cx="9345810" cy="4126989"/>
          </a:xfrm>
        </p:grpSpPr>
        <p:grpSp>
          <p:nvGrpSpPr>
            <p:cNvPr name="Group 7" id="7"/>
            <p:cNvGrpSpPr/>
            <p:nvPr/>
          </p:nvGrpSpPr>
          <p:grpSpPr>
            <a:xfrm rot="0">
              <a:off x="0" y="875364"/>
              <a:ext cx="9345810" cy="1546271"/>
              <a:chOff x="0" y="0"/>
              <a:chExt cx="1250766" cy="206940"/>
            </a:xfrm>
          </p:grpSpPr>
          <p:sp>
            <p:nvSpPr>
              <p:cNvPr name="Freeform 8" id="8"/>
              <p:cNvSpPr/>
              <p:nvPr/>
            </p:nvSpPr>
            <p:spPr>
              <a:xfrm flipH="false" flipV="false" rot="0">
                <a:off x="11494" y="0"/>
                <a:ext cx="1227777" cy="206940"/>
              </a:xfrm>
              <a:custGeom>
                <a:avLst/>
                <a:gdLst/>
                <a:ahLst/>
                <a:cxnLst/>
                <a:rect r="r" b="b" t="t" l="l"/>
                <a:pathLst>
                  <a:path h="206940" w="1227777">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solidFill>
                <a:srgbClr val="3275C5"/>
              </a:solidFill>
            </p:spPr>
          </p:sp>
          <p:sp>
            <p:nvSpPr>
              <p:cNvPr name="TextBox 9" id="9"/>
              <p:cNvSpPr txBox="true"/>
              <p:nvPr/>
            </p:nvSpPr>
            <p:spPr>
              <a:xfrm>
                <a:off x="101600" y="19050"/>
                <a:ext cx="1047566" cy="187890"/>
              </a:xfrm>
              <a:prstGeom prst="rect">
                <a:avLst/>
              </a:prstGeom>
            </p:spPr>
            <p:txBody>
              <a:bodyPr anchor="ctr" rtlCol="false" tIns="83282" lIns="83282" bIns="83282" rIns="83282"/>
              <a:lstStyle/>
              <a:p>
                <a:pPr algn="ctr">
                  <a:lnSpc>
                    <a:spcPts val="1993"/>
                  </a:lnSpc>
                </a:pPr>
              </a:p>
            </p:txBody>
          </p:sp>
        </p:grpSp>
        <p:grpSp>
          <p:nvGrpSpPr>
            <p:cNvPr name="Group 10" id="10"/>
            <p:cNvGrpSpPr/>
            <p:nvPr/>
          </p:nvGrpSpPr>
          <p:grpSpPr>
            <a:xfrm rot="0">
              <a:off x="4451974" y="2045859"/>
              <a:ext cx="4192850" cy="693710"/>
              <a:chOff x="0" y="0"/>
              <a:chExt cx="1250766" cy="206940"/>
            </a:xfrm>
          </p:grpSpPr>
          <p:sp>
            <p:nvSpPr>
              <p:cNvPr name="Freeform 11" id="11"/>
              <p:cNvSpPr/>
              <p:nvPr/>
            </p:nvSpPr>
            <p:spPr>
              <a:xfrm flipH="false" flipV="false" rot="0">
                <a:off x="13485" y="0"/>
                <a:ext cx="1223797" cy="206940"/>
              </a:xfrm>
              <a:custGeom>
                <a:avLst/>
                <a:gdLst/>
                <a:ahLst/>
                <a:cxnLst/>
                <a:rect r="r" b="b" t="t" l="l"/>
                <a:pathLst>
                  <a:path h="206940" w="1223797">
                    <a:moveTo>
                      <a:pt x="214334" y="0"/>
                    </a:moveTo>
                    <a:lnTo>
                      <a:pt x="1212662" y="0"/>
                    </a:lnTo>
                    <a:cubicBezTo>
                      <a:pt x="1216822" y="0"/>
                      <a:pt x="1220577" y="2496"/>
                      <a:pt x="1222187" y="6333"/>
                    </a:cubicBezTo>
                    <a:cubicBezTo>
                      <a:pt x="1223796" y="10170"/>
                      <a:pt x="1222947" y="14598"/>
                      <a:pt x="1220032" y="17567"/>
                    </a:cubicBezTo>
                    <a:lnTo>
                      <a:pt x="1051330" y="189373"/>
                    </a:lnTo>
                    <a:cubicBezTo>
                      <a:pt x="1040297" y="200610"/>
                      <a:pt x="1025210" y="206940"/>
                      <a:pt x="1009462" y="206940"/>
                    </a:cubicBezTo>
                    <a:lnTo>
                      <a:pt x="11134" y="206940"/>
                    </a:lnTo>
                    <a:cubicBezTo>
                      <a:pt x="6974" y="206940"/>
                      <a:pt x="3219" y="204444"/>
                      <a:pt x="1609" y="200607"/>
                    </a:cubicBezTo>
                    <a:cubicBezTo>
                      <a:pt x="0" y="196770"/>
                      <a:pt x="849" y="192342"/>
                      <a:pt x="3764" y="189373"/>
                    </a:cubicBezTo>
                    <a:lnTo>
                      <a:pt x="172466" y="17567"/>
                    </a:lnTo>
                    <a:cubicBezTo>
                      <a:pt x="183499" y="6330"/>
                      <a:pt x="198586" y="0"/>
                      <a:pt x="214334" y="0"/>
                    </a:cubicBezTo>
                    <a:close/>
                  </a:path>
                </a:pathLst>
              </a:custGeom>
              <a:solidFill>
                <a:srgbClr val="64CAF4"/>
              </a:solidFill>
            </p:spPr>
          </p:sp>
          <p:sp>
            <p:nvSpPr>
              <p:cNvPr name="TextBox 12" id="12"/>
              <p:cNvSpPr txBox="true"/>
              <p:nvPr/>
            </p:nvSpPr>
            <p:spPr>
              <a:xfrm>
                <a:off x="101600" y="19050"/>
                <a:ext cx="1047566" cy="187890"/>
              </a:xfrm>
              <a:prstGeom prst="rect">
                <a:avLst/>
              </a:prstGeom>
            </p:spPr>
            <p:txBody>
              <a:bodyPr anchor="ctr" rtlCol="false" tIns="83282" lIns="83282" bIns="83282" rIns="83282"/>
              <a:lstStyle/>
              <a:p>
                <a:pPr algn="ctr">
                  <a:lnSpc>
                    <a:spcPts val="1993"/>
                  </a:lnSpc>
                </a:pPr>
                <a:r>
                  <a:rPr lang="en-US" b="true" sz="1763">
                    <a:solidFill>
                      <a:srgbClr val="FCFEFF"/>
                    </a:solidFill>
                    <a:latin typeface="Assistant Bold"/>
                    <a:ea typeface="Assistant Bold"/>
                    <a:cs typeface="Assistant Bold"/>
                    <a:sym typeface="Assistant Bold"/>
                  </a:rPr>
                  <a:t>ID : 241311051</a:t>
                </a:r>
              </a:p>
            </p:txBody>
          </p:sp>
        </p:grpSp>
        <p:sp>
          <p:nvSpPr>
            <p:cNvPr name="TextBox 13" id="13"/>
            <p:cNvSpPr txBox="true"/>
            <p:nvPr/>
          </p:nvSpPr>
          <p:spPr>
            <a:xfrm rot="0">
              <a:off x="1851379" y="19050"/>
              <a:ext cx="3669908" cy="588010"/>
            </a:xfrm>
            <a:prstGeom prst="rect">
              <a:avLst/>
            </a:prstGeom>
          </p:spPr>
          <p:txBody>
            <a:bodyPr anchor="t" rtlCol="false" tIns="0" lIns="0" bIns="0" rIns="0">
              <a:spAutoFit/>
            </a:bodyPr>
            <a:lstStyle/>
            <a:p>
              <a:pPr algn="l">
                <a:lnSpc>
                  <a:spcPts val="3389"/>
                </a:lnSpc>
              </a:pPr>
              <a:r>
                <a:rPr lang="en-US" sz="2999">
                  <a:solidFill>
                    <a:srgbClr val="64CAF4"/>
                  </a:solidFill>
                  <a:latin typeface="Dynamo Medium"/>
                  <a:ea typeface="Dynamo Medium"/>
                  <a:cs typeface="Dynamo Medium"/>
                  <a:sym typeface="Dynamo Medium"/>
                </a:rPr>
                <a:t>Presented by:</a:t>
              </a:r>
            </a:p>
          </p:txBody>
        </p:sp>
        <p:sp>
          <p:nvSpPr>
            <p:cNvPr name="TextBox 14" id="14"/>
            <p:cNvSpPr txBox="true"/>
            <p:nvPr/>
          </p:nvSpPr>
          <p:spPr>
            <a:xfrm rot="0">
              <a:off x="1851379" y="1112157"/>
              <a:ext cx="6163952" cy="973667"/>
            </a:xfrm>
            <a:prstGeom prst="rect">
              <a:avLst/>
            </a:prstGeom>
          </p:spPr>
          <p:txBody>
            <a:bodyPr anchor="t" rtlCol="false" tIns="0" lIns="0" bIns="0" rIns="0">
              <a:spAutoFit/>
            </a:bodyPr>
            <a:lstStyle/>
            <a:p>
              <a:pPr algn="l">
                <a:lnSpc>
                  <a:spcPts val="5650"/>
                </a:lnSpc>
              </a:pPr>
              <a:r>
                <a:rPr lang="en-US" sz="5000" b="true">
                  <a:solidFill>
                    <a:srgbClr val="FCFEFF"/>
                  </a:solidFill>
                  <a:latin typeface="Source Sans Pro Bold"/>
                  <a:ea typeface="Source Sans Pro Bold"/>
                  <a:cs typeface="Source Sans Pro Bold"/>
                  <a:sym typeface="Source Sans Pro Bold"/>
                </a:rPr>
                <a:t>Abdullah Atif</a:t>
              </a:r>
            </a:p>
          </p:txBody>
        </p:sp>
        <p:grpSp>
          <p:nvGrpSpPr>
            <p:cNvPr name="Group 15" id="15"/>
            <p:cNvGrpSpPr/>
            <p:nvPr/>
          </p:nvGrpSpPr>
          <p:grpSpPr>
            <a:xfrm rot="0">
              <a:off x="4451974" y="2739569"/>
              <a:ext cx="4192850" cy="693710"/>
              <a:chOff x="0" y="0"/>
              <a:chExt cx="1250766" cy="206940"/>
            </a:xfrm>
          </p:grpSpPr>
          <p:sp>
            <p:nvSpPr>
              <p:cNvPr name="Freeform 16" id="16"/>
              <p:cNvSpPr/>
              <p:nvPr/>
            </p:nvSpPr>
            <p:spPr>
              <a:xfrm flipH="false" flipV="false" rot="0">
                <a:off x="13485" y="0"/>
                <a:ext cx="1223797" cy="206940"/>
              </a:xfrm>
              <a:custGeom>
                <a:avLst/>
                <a:gdLst/>
                <a:ahLst/>
                <a:cxnLst/>
                <a:rect r="r" b="b" t="t" l="l"/>
                <a:pathLst>
                  <a:path h="206940" w="1223797">
                    <a:moveTo>
                      <a:pt x="214334" y="0"/>
                    </a:moveTo>
                    <a:lnTo>
                      <a:pt x="1212662" y="0"/>
                    </a:lnTo>
                    <a:cubicBezTo>
                      <a:pt x="1216822" y="0"/>
                      <a:pt x="1220577" y="2496"/>
                      <a:pt x="1222187" y="6333"/>
                    </a:cubicBezTo>
                    <a:cubicBezTo>
                      <a:pt x="1223796" y="10170"/>
                      <a:pt x="1222947" y="14598"/>
                      <a:pt x="1220032" y="17567"/>
                    </a:cubicBezTo>
                    <a:lnTo>
                      <a:pt x="1051330" y="189373"/>
                    </a:lnTo>
                    <a:cubicBezTo>
                      <a:pt x="1040297" y="200610"/>
                      <a:pt x="1025210" y="206940"/>
                      <a:pt x="1009462" y="206940"/>
                    </a:cubicBezTo>
                    <a:lnTo>
                      <a:pt x="11134" y="206940"/>
                    </a:lnTo>
                    <a:cubicBezTo>
                      <a:pt x="6974" y="206940"/>
                      <a:pt x="3219" y="204444"/>
                      <a:pt x="1609" y="200607"/>
                    </a:cubicBezTo>
                    <a:cubicBezTo>
                      <a:pt x="0" y="196770"/>
                      <a:pt x="849" y="192342"/>
                      <a:pt x="3764" y="189373"/>
                    </a:cubicBezTo>
                    <a:lnTo>
                      <a:pt x="172466" y="17567"/>
                    </a:lnTo>
                    <a:cubicBezTo>
                      <a:pt x="183499" y="6330"/>
                      <a:pt x="198586" y="0"/>
                      <a:pt x="214334" y="0"/>
                    </a:cubicBezTo>
                    <a:close/>
                  </a:path>
                </a:pathLst>
              </a:custGeom>
              <a:solidFill>
                <a:srgbClr val="64CAF4"/>
              </a:solidFill>
            </p:spPr>
          </p:sp>
          <p:sp>
            <p:nvSpPr>
              <p:cNvPr name="TextBox 17" id="17"/>
              <p:cNvSpPr txBox="true"/>
              <p:nvPr/>
            </p:nvSpPr>
            <p:spPr>
              <a:xfrm>
                <a:off x="101600" y="19050"/>
                <a:ext cx="1047566" cy="187890"/>
              </a:xfrm>
              <a:prstGeom prst="rect">
                <a:avLst/>
              </a:prstGeom>
            </p:spPr>
            <p:txBody>
              <a:bodyPr anchor="ctr" rtlCol="false" tIns="83282" lIns="83282" bIns="83282" rIns="83282"/>
              <a:lstStyle/>
              <a:p>
                <a:pPr algn="ctr">
                  <a:lnSpc>
                    <a:spcPts val="1993"/>
                  </a:lnSpc>
                </a:pPr>
                <a:r>
                  <a:rPr lang="en-US" b="true" sz="1763">
                    <a:solidFill>
                      <a:srgbClr val="FCFEFF"/>
                    </a:solidFill>
                    <a:latin typeface="Assistant Bold"/>
                    <a:ea typeface="Assistant Bold"/>
                    <a:cs typeface="Assistant Bold"/>
                    <a:sym typeface="Assistant Bold"/>
                  </a:rPr>
                  <a:t>SECTION : B</a:t>
                </a:r>
              </a:p>
            </p:txBody>
          </p:sp>
        </p:grpSp>
        <p:grpSp>
          <p:nvGrpSpPr>
            <p:cNvPr name="Group 18" id="18"/>
            <p:cNvGrpSpPr/>
            <p:nvPr/>
          </p:nvGrpSpPr>
          <p:grpSpPr>
            <a:xfrm rot="0">
              <a:off x="4451974" y="3433279"/>
              <a:ext cx="4192850" cy="693710"/>
              <a:chOff x="0" y="0"/>
              <a:chExt cx="1250766" cy="206940"/>
            </a:xfrm>
          </p:grpSpPr>
          <p:sp>
            <p:nvSpPr>
              <p:cNvPr name="Freeform 19" id="19"/>
              <p:cNvSpPr/>
              <p:nvPr/>
            </p:nvSpPr>
            <p:spPr>
              <a:xfrm flipH="false" flipV="false" rot="0">
                <a:off x="13485" y="0"/>
                <a:ext cx="1223797" cy="206940"/>
              </a:xfrm>
              <a:custGeom>
                <a:avLst/>
                <a:gdLst/>
                <a:ahLst/>
                <a:cxnLst/>
                <a:rect r="r" b="b" t="t" l="l"/>
                <a:pathLst>
                  <a:path h="206940" w="1223797">
                    <a:moveTo>
                      <a:pt x="214334" y="0"/>
                    </a:moveTo>
                    <a:lnTo>
                      <a:pt x="1212662" y="0"/>
                    </a:lnTo>
                    <a:cubicBezTo>
                      <a:pt x="1216822" y="0"/>
                      <a:pt x="1220577" y="2496"/>
                      <a:pt x="1222187" y="6333"/>
                    </a:cubicBezTo>
                    <a:cubicBezTo>
                      <a:pt x="1223796" y="10170"/>
                      <a:pt x="1222947" y="14598"/>
                      <a:pt x="1220032" y="17567"/>
                    </a:cubicBezTo>
                    <a:lnTo>
                      <a:pt x="1051330" y="189373"/>
                    </a:lnTo>
                    <a:cubicBezTo>
                      <a:pt x="1040297" y="200610"/>
                      <a:pt x="1025210" y="206940"/>
                      <a:pt x="1009462" y="206940"/>
                    </a:cubicBezTo>
                    <a:lnTo>
                      <a:pt x="11134" y="206940"/>
                    </a:lnTo>
                    <a:cubicBezTo>
                      <a:pt x="6974" y="206940"/>
                      <a:pt x="3219" y="204444"/>
                      <a:pt x="1609" y="200607"/>
                    </a:cubicBezTo>
                    <a:cubicBezTo>
                      <a:pt x="0" y="196770"/>
                      <a:pt x="849" y="192342"/>
                      <a:pt x="3764" y="189373"/>
                    </a:cubicBezTo>
                    <a:lnTo>
                      <a:pt x="172466" y="17567"/>
                    </a:lnTo>
                    <a:cubicBezTo>
                      <a:pt x="183499" y="6330"/>
                      <a:pt x="198586" y="0"/>
                      <a:pt x="214334" y="0"/>
                    </a:cubicBezTo>
                    <a:close/>
                  </a:path>
                </a:pathLst>
              </a:custGeom>
              <a:solidFill>
                <a:srgbClr val="64CAF4"/>
              </a:solidFill>
            </p:spPr>
          </p:sp>
          <p:sp>
            <p:nvSpPr>
              <p:cNvPr name="TextBox 20" id="20"/>
              <p:cNvSpPr txBox="true"/>
              <p:nvPr/>
            </p:nvSpPr>
            <p:spPr>
              <a:xfrm>
                <a:off x="101600" y="19050"/>
                <a:ext cx="1047566" cy="187890"/>
              </a:xfrm>
              <a:prstGeom prst="rect">
                <a:avLst/>
              </a:prstGeom>
            </p:spPr>
            <p:txBody>
              <a:bodyPr anchor="ctr" rtlCol="false" tIns="83282" lIns="83282" bIns="83282" rIns="83282"/>
              <a:lstStyle/>
              <a:p>
                <a:pPr algn="ctr">
                  <a:lnSpc>
                    <a:spcPts val="1993"/>
                  </a:lnSpc>
                </a:pPr>
                <a:r>
                  <a:rPr lang="en-US" b="true" sz="1763">
                    <a:solidFill>
                      <a:srgbClr val="FCFEFF"/>
                    </a:solidFill>
                    <a:latin typeface="Assistant Bold"/>
                    <a:ea typeface="Assistant Bold"/>
                    <a:cs typeface="Assistant Bold"/>
                    <a:sym typeface="Assistant Bold"/>
                  </a:rPr>
                  <a:t>4TH SEMESTER </a:t>
                </a:r>
              </a:p>
            </p:txBody>
          </p:sp>
        </p:grpSp>
      </p:grpSp>
      <p:sp>
        <p:nvSpPr>
          <p:cNvPr name="TextBox 21" id="21"/>
          <p:cNvSpPr txBox="true"/>
          <p:nvPr/>
        </p:nvSpPr>
        <p:spPr>
          <a:xfrm rot="0">
            <a:off x="5965229" y="258763"/>
            <a:ext cx="7004506" cy="1377949"/>
          </a:xfrm>
          <a:prstGeom prst="rect">
            <a:avLst/>
          </a:prstGeom>
        </p:spPr>
        <p:txBody>
          <a:bodyPr anchor="t" rtlCol="false" tIns="0" lIns="0" bIns="0" rIns="0">
            <a:spAutoFit/>
          </a:bodyPr>
          <a:lstStyle/>
          <a:p>
            <a:pPr algn="l">
              <a:lnSpc>
                <a:spcPts val="11200"/>
              </a:lnSpc>
            </a:pPr>
            <a:r>
              <a:rPr lang="en-US" sz="8000" b="true">
                <a:solidFill>
                  <a:srgbClr val="3275C5"/>
                </a:solidFill>
                <a:latin typeface="Source Sans Pro Bold"/>
                <a:ea typeface="Source Sans Pro Bold"/>
                <a:cs typeface="Source Sans Pro Bold"/>
                <a:sym typeface="Source Sans Pro Bold"/>
              </a:rPr>
              <a:t>PRESENTATION</a:t>
            </a:r>
          </a:p>
        </p:txBody>
      </p:sp>
      <p:sp>
        <p:nvSpPr>
          <p:cNvPr name="TextBox 22" id="22"/>
          <p:cNvSpPr txBox="true"/>
          <p:nvPr/>
        </p:nvSpPr>
        <p:spPr>
          <a:xfrm rot="0">
            <a:off x="4874160" y="1758323"/>
            <a:ext cx="9186645" cy="1037319"/>
          </a:xfrm>
          <a:prstGeom prst="rect">
            <a:avLst/>
          </a:prstGeom>
        </p:spPr>
        <p:txBody>
          <a:bodyPr anchor="t" rtlCol="false" tIns="0" lIns="0" bIns="0" rIns="0">
            <a:spAutoFit/>
          </a:bodyPr>
          <a:lstStyle/>
          <a:p>
            <a:pPr algn="l">
              <a:lnSpc>
                <a:spcPts val="8449"/>
              </a:lnSpc>
            </a:pPr>
            <a:r>
              <a:rPr lang="en-US" b="true" sz="6035" spc="24">
                <a:solidFill>
                  <a:srgbClr val="56AAF0"/>
                </a:solidFill>
                <a:latin typeface="Dynamo Medium"/>
                <a:ea typeface="Dynamo Medium"/>
                <a:cs typeface="Dynamo Medium"/>
                <a:sym typeface="Dynamo Medium"/>
              </a:rPr>
              <a:t>TOPIC : BISECTION METHOD</a:t>
            </a:r>
          </a:p>
        </p:txBody>
      </p:sp>
      <p:grpSp>
        <p:nvGrpSpPr>
          <p:cNvPr name="Group 23" id="23"/>
          <p:cNvGrpSpPr/>
          <p:nvPr/>
        </p:nvGrpSpPr>
        <p:grpSpPr>
          <a:xfrm rot="0">
            <a:off x="2961377" y="3332856"/>
            <a:ext cx="6506105" cy="1280499"/>
            <a:chOff x="0" y="0"/>
            <a:chExt cx="8674807" cy="1707331"/>
          </a:xfrm>
        </p:grpSpPr>
        <p:sp>
          <p:nvSpPr>
            <p:cNvPr name="TextBox 24" id="24"/>
            <p:cNvSpPr txBox="true"/>
            <p:nvPr/>
          </p:nvSpPr>
          <p:spPr>
            <a:xfrm rot="0">
              <a:off x="0" y="28575"/>
              <a:ext cx="6147606" cy="659991"/>
            </a:xfrm>
            <a:prstGeom prst="rect">
              <a:avLst/>
            </a:prstGeom>
          </p:spPr>
          <p:txBody>
            <a:bodyPr anchor="t" rtlCol="false" tIns="0" lIns="0" bIns="0" rIns="0">
              <a:spAutoFit/>
            </a:bodyPr>
            <a:lstStyle/>
            <a:p>
              <a:pPr algn="l">
                <a:lnSpc>
                  <a:spcPts val="3895"/>
                </a:lnSpc>
              </a:pPr>
              <a:r>
                <a:rPr lang="en-US" sz="3447" b="true">
                  <a:solidFill>
                    <a:srgbClr val="64CAF4"/>
                  </a:solidFill>
                  <a:latin typeface="Source Sans Pro Bold"/>
                  <a:ea typeface="Source Sans Pro Bold"/>
                  <a:cs typeface="Source Sans Pro Bold"/>
                  <a:sym typeface="Source Sans Pro Bold"/>
                </a:rPr>
                <a:t>Course Code: CSE 2205</a:t>
              </a:r>
            </a:p>
          </p:txBody>
        </p:sp>
        <p:sp>
          <p:nvSpPr>
            <p:cNvPr name="TextBox 25" id="25"/>
            <p:cNvSpPr txBox="true"/>
            <p:nvPr/>
          </p:nvSpPr>
          <p:spPr>
            <a:xfrm rot="0">
              <a:off x="0" y="1047341"/>
              <a:ext cx="8674807" cy="659991"/>
            </a:xfrm>
            <a:prstGeom prst="rect">
              <a:avLst/>
            </a:prstGeom>
          </p:spPr>
          <p:txBody>
            <a:bodyPr anchor="t" rtlCol="false" tIns="0" lIns="0" bIns="0" rIns="0">
              <a:spAutoFit/>
            </a:bodyPr>
            <a:lstStyle/>
            <a:p>
              <a:pPr algn="l">
                <a:lnSpc>
                  <a:spcPts val="3895"/>
                </a:lnSpc>
              </a:pPr>
              <a:r>
                <a:rPr lang="en-US" sz="3447" b="true">
                  <a:solidFill>
                    <a:srgbClr val="64CAF4"/>
                  </a:solidFill>
                  <a:latin typeface="Source Sans Pro Bold"/>
                  <a:ea typeface="Source Sans Pro Bold"/>
                  <a:cs typeface="Source Sans Pro Bold"/>
                  <a:sym typeface="Source Sans Pro Bold"/>
                </a:rPr>
                <a:t>Course Title: Numerical Methods</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CFEFF"/>
        </a:solidFill>
      </p:bgPr>
    </p:bg>
    <p:spTree>
      <p:nvGrpSpPr>
        <p:cNvPr id="1" name=""/>
        <p:cNvGrpSpPr/>
        <p:nvPr/>
      </p:nvGrpSpPr>
      <p:grpSpPr>
        <a:xfrm>
          <a:off x="0" y="0"/>
          <a:ext cx="0" cy="0"/>
          <a:chOff x="0" y="0"/>
          <a:chExt cx="0" cy="0"/>
        </a:xfrm>
      </p:grpSpPr>
      <p:sp>
        <p:nvSpPr>
          <p:cNvPr name="TextBox 2" id="2"/>
          <p:cNvSpPr txBox="true"/>
          <p:nvPr/>
        </p:nvSpPr>
        <p:spPr>
          <a:xfrm rot="0">
            <a:off x="1028700" y="3000375"/>
            <a:ext cx="10049671" cy="4238625"/>
          </a:xfrm>
          <a:prstGeom prst="rect">
            <a:avLst/>
          </a:prstGeom>
        </p:spPr>
        <p:txBody>
          <a:bodyPr anchor="t" rtlCol="false" tIns="0" lIns="0" bIns="0" rIns="0">
            <a:spAutoFit/>
          </a:bodyPr>
          <a:lstStyle/>
          <a:p>
            <a:pPr algn="just">
              <a:lnSpc>
                <a:spcPts val="4199"/>
              </a:lnSpc>
            </a:pPr>
            <a:r>
              <a:rPr lang="en-US" sz="2999" spc="11">
                <a:solidFill>
                  <a:srgbClr val="3275C5"/>
                </a:solidFill>
                <a:latin typeface="Source Sans Pro"/>
                <a:ea typeface="Source Sans Pro"/>
                <a:cs typeface="Source Sans Pro"/>
                <a:sym typeface="Source Sans Pro"/>
              </a:rPr>
              <a:t>The bisection method is a numerical technique used to find an approximate root (zero) of a continuous function within a specified interval where the function changes sign (i.e., the function values at the interval's endpoints have opposite signs). The method works by repeatedly dividing the interval in half, checking which subinterval contains the root, and narrowing down the range until the desired accuracy is reached.</a:t>
            </a:r>
          </a:p>
        </p:txBody>
      </p:sp>
      <p:sp>
        <p:nvSpPr>
          <p:cNvPr name="TextBox 3" id="3"/>
          <p:cNvSpPr txBox="true"/>
          <p:nvPr/>
        </p:nvSpPr>
        <p:spPr>
          <a:xfrm rot="0">
            <a:off x="3499462" y="258763"/>
            <a:ext cx="11289077" cy="1377949"/>
          </a:xfrm>
          <a:prstGeom prst="rect">
            <a:avLst/>
          </a:prstGeom>
        </p:spPr>
        <p:txBody>
          <a:bodyPr anchor="t" rtlCol="false" tIns="0" lIns="0" bIns="0" rIns="0">
            <a:spAutoFit/>
          </a:bodyPr>
          <a:lstStyle/>
          <a:p>
            <a:pPr algn="l">
              <a:lnSpc>
                <a:spcPts val="11200"/>
              </a:lnSpc>
            </a:pPr>
            <a:r>
              <a:rPr lang="en-US" sz="8000" b="true">
                <a:solidFill>
                  <a:srgbClr val="56AAF0"/>
                </a:solidFill>
                <a:latin typeface="Dynamo Medium"/>
                <a:ea typeface="Dynamo Medium"/>
                <a:cs typeface="Dynamo Medium"/>
                <a:sym typeface="Dynamo Medium"/>
              </a:rPr>
              <a:t>What is Bisection Method? </a:t>
            </a:r>
          </a:p>
        </p:txBody>
      </p:sp>
      <p:sp>
        <p:nvSpPr>
          <p:cNvPr name="Freeform 4" id="4"/>
          <p:cNvSpPr/>
          <p:nvPr/>
        </p:nvSpPr>
        <p:spPr>
          <a:xfrm flipH="true" flipV="true" rot="8289110">
            <a:off x="-6122747" y="-187339"/>
            <a:ext cx="12716270" cy="6635581"/>
          </a:xfrm>
          <a:custGeom>
            <a:avLst/>
            <a:gdLst/>
            <a:ahLst/>
            <a:cxnLst/>
            <a:rect r="r" b="b" t="t" l="l"/>
            <a:pathLst>
              <a:path h="6635581" w="12716270">
                <a:moveTo>
                  <a:pt x="12716270" y="6635580"/>
                </a:moveTo>
                <a:lnTo>
                  <a:pt x="0" y="6635580"/>
                </a:lnTo>
                <a:lnTo>
                  <a:pt x="0" y="0"/>
                </a:lnTo>
                <a:lnTo>
                  <a:pt x="12716270" y="0"/>
                </a:lnTo>
                <a:lnTo>
                  <a:pt x="12716270" y="6635580"/>
                </a:lnTo>
                <a:close/>
              </a:path>
            </a:pathLst>
          </a:custGeom>
          <a:blipFill>
            <a:blip r:embed="rId2">
              <a:alphaModFix amt="87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8289110">
            <a:off x="11466713" y="3993804"/>
            <a:ext cx="12716270" cy="6635581"/>
          </a:xfrm>
          <a:custGeom>
            <a:avLst/>
            <a:gdLst/>
            <a:ahLst/>
            <a:cxnLst/>
            <a:rect r="r" b="b" t="t" l="l"/>
            <a:pathLst>
              <a:path h="6635581" w="12716270">
                <a:moveTo>
                  <a:pt x="0" y="0"/>
                </a:moveTo>
                <a:lnTo>
                  <a:pt x="12716270" y="0"/>
                </a:lnTo>
                <a:lnTo>
                  <a:pt x="12716270" y="6635581"/>
                </a:lnTo>
                <a:lnTo>
                  <a:pt x="0" y="6635581"/>
                </a:lnTo>
                <a:lnTo>
                  <a:pt x="0" y="0"/>
                </a:lnTo>
                <a:close/>
              </a:path>
            </a:pathLst>
          </a:custGeom>
          <a:blipFill>
            <a:blip r:embed="rId2">
              <a:alphaModFix amt="87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11523949" y="2580982"/>
            <a:ext cx="6300899" cy="4730612"/>
          </a:xfrm>
          <a:custGeom>
            <a:avLst/>
            <a:gdLst/>
            <a:ahLst/>
            <a:cxnLst/>
            <a:rect r="r" b="b" t="t" l="l"/>
            <a:pathLst>
              <a:path h="4730612" w="6300899">
                <a:moveTo>
                  <a:pt x="0" y="0"/>
                </a:moveTo>
                <a:lnTo>
                  <a:pt x="6300899" y="0"/>
                </a:lnTo>
                <a:lnTo>
                  <a:pt x="6300899" y="4730613"/>
                </a:lnTo>
                <a:lnTo>
                  <a:pt x="0" y="4730613"/>
                </a:lnTo>
                <a:lnTo>
                  <a:pt x="0" y="0"/>
                </a:lnTo>
                <a:close/>
              </a:path>
            </a:pathLst>
          </a:custGeom>
          <a:blipFill>
            <a:blip r:embed="rId4"/>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CFEFF"/>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12592738" y="-611740"/>
            <a:ext cx="5871820" cy="3280879"/>
          </a:xfrm>
          <a:custGeom>
            <a:avLst/>
            <a:gdLst/>
            <a:ahLst/>
            <a:cxnLst/>
            <a:rect r="r" b="b" t="t" l="l"/>
            <a:pathLst>
              <a:path h="3280879" w="5871820">
                <a:moveTo>
                  <a:pt x="0" y="0"/>
                </a:moveTo>
                <a:lnTo>
                  <a:pt x="5871820" y="0"/>
                </a:lnTo>
                <a:lnTo>
                  <a:pt x="5871820" y="3280880"/>
                </a:lnTo>
                <a:lnTo>
                  <a:pt x="0" y="3280880"/>
                </a:lnTo>
                <a:lnTo>
                  <a:pt x="0" y="0"/>
                </a:lnTo>
                <a:close/>
              </a:path>
            </a:pathLst>
          </a:custGeom>
          <a:blipFill>
            <a:blip r:embed="rId2">
              <a:alphaModFix amt="69000"/>
            </a:blip>
            <a:stretch>
              <a:fillRect l="0" t="0" r="0" b="0"/>
            </a:stretch>
          </a:blipFill>
        </p:spPr>
      </p:sp>
      <p:sp>
        <p:nvSpPr>
          <p:cNvPr name="Freeform 3" id="3"/>
          <p:cNvSpPr/>
          <p:nvPr/>
        </p:nvSpPr>
        <p:spPr>
          <a:xfrm flipH="true" flipV="true" rot="-10800000">
            <a:off x="-203655" y="7617860"/>
            <a:ext cx="5871820" cy="3280879"/>
          </a:xfrm>
          <a:custGeom>
            <a:avLst/>
            <a:gdLst/>
            <a:ahLst/>
            <a:cxnLst/>
            <a:rect r="r" b="b" t="t" l="l"/>
            <a:pathLst>
              <a:path h="3280879" w="5871820">
                <a:moveTo>
                  <a:pt x="5871820" y="3280880"/>
                </a:moveTo>
                <a:lnTo>
                  <a:pt x="0" y="3280880"/>
                </a:lnTo>
                <a:lnTo>
                  <a:pt x="0" y="0"/>
                </a:lnTo>
                <a:lnTo>
                  <a:pt x="5871820" y="0"/>
                </a:lnTo>
                <a:lnTo>
                  <a:pt x="5871820" y="3280880"/>
                </a:lnTo>
                <a:close/>
              </a:path>
            </a:pathLst>
          </a:custGeom>
          <a:blipFill>
            <a:blip r:embed="rId2">
              <a:alphaModFix amt="69000"/>
            </a:blip>
            <a:stretch>
              <a:fillRect l="0" t="0" r="0" b="0"/>
            </a:stretch>
          </a:blipFill>
        </p:spPr>
      </p:sp>
      <p:grpSp>
        <p:nvGrpSpPr>
          <p:cNvPr name="Group 4" id="4"/>
          <p:cNvGrpSpPr/>
          <p:nvPr/>
        </p:nvGrpSpPr>
        <p:grpSpPr>
          <a:xfrm rot="0">
            <a:off x="4043798" y="3261685"/>
            <a:ext cx="9364577" cy="4922582"/>
            <a:chOff x="0" y="0"/>
            <a:chExt cx="12486103" cy="6563442"/>
          </a:xfrm>
        </p:grpSpPr>
        <p:sp>
          <p:nvSpPr>
            <p:cNvPr name="TextBox 5" id="5"/>
            <p:cNvSpPr txBox="true"/>
            <p:nvPr/>
          </p:nvSpPr>
          <p:spPr>
            <a:xfrm rot="0">
              <a:off x="2462186" y="-66675"/>
              <a:ext cx="9833175" cy="2170725"/>
            </a:xfrm>
            <a:prstGeom prst="rect">
              <a:avLst/>
            </a:prstGeom>
          </p:spPr>
          <p:txBody>
            <a:bodyPr anchor="t" rtlCol="false" tIns="0" lIns="0" bIns="0" rIns="0">
              <a:spAutoFit/>
            </a:bodyPr>
            <a:lstStyle/>
            <a:p>
              <a:pPr algn="ctr">
                <a:lnSpc>
                  <a:spcPts val="4371"/>
                </a:lnSpc>
              </a:pPr>
              <a:r>
                <a:rPr lang="en-US" sz="3122" spc="156">
                  <a:solidFill>
                    <a:srgbClr val="000000"/>
                  </a:solidFill>
                  <a:latin typeface="Dynamo Medium"/>
                  <a:ea typeface="Dynamo Medium"/>
                  <a:cs typeface="Dynamo Medium"/>
                  <a:sym typeface="Dynamo Medium"/>
                </a:rPr>
                <a:t>Root finding is vital in science and engineering for solving real-world equation models</a:t>
              </a:r>
            </a:p>
          </p:txBody>
        </p:sp>
        <p:sp>
          <p:nvSpPr>
            <p:cNvPr name="Freeform 6" id="6"/>
            <p:cNvSpPr/>
            <p:nvPr/>
          </p:nvSpPr>
          <p:spPr>
            <a:xfrm flipH="false" flipV="false" rot="0">
              <a:off x="0" y="344572"/>
              <a:ext cx="2462186" cy="1123652"/>
            </a:xfrm>
            <a:custGeom>
              <a:avLst/>
              <a:gdLst/>
              <a:ahLst/>
              <a:cxnLst/>
              <a:rect r="r" b="b" t="t" l="l"/>
              <a:pathLst>
                <a:path h="1123652" w="2462186">
                  <a:moveTo>
                    <a:pt x="0" y="0"/>
                  </a:moveTo>
                  <a:lnTo>
                    <a:pt x="2462186" y="0"/>
                  </a:lnTo>
                  <a:lnTo>
                    <a:pt x="2462186" y="1123652"/>
                  </a:lnTo>
                  <a:lnTo>
                    <a:pt x="0" y="11236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652928" y="2800433"/>
              <a:ext cx="9833175" cy="1329773"/>
            </a:xfrm>
            <a:prstGeom prst="rect">
              <a:avLst/>
            </a:prstGeom>
          </p:spPr>
          <p:txBody>
            <a:bodyPr anchor="t" rtlCol="false" tIns="0" lIns="0" bIns="0" rIns="0">
              <a:spAutoFit/>
            </a:bodyPr>
            <a:lstStyle/>
            <a:p>
              <a:pPr algn="ctr">
                <a:lnSpc>
                  <a:spcPts val="4091"/>
                </a:lnSpc>
              </a:pPr>
              <a:r>
                <a:rPr lang="en-US" sz="2922" spc="146">
                  <a:solidFill>
                    <a:srgbClr val="000000"/>
                  </a:solidFill>
                  <a:latin typeface="Dynamo Medium"/>
                  <a:ea typeface="Dynamo Medium"/>
                  <a:cs typeface="Dynamo Medium"/>
                  <a:sym typeface="Dynamo Medium"/>
                </a:rPr>
                <a:t>Bisection method offers simple implementation and clear understanding</a:t>
              </a:r>
            </a:p>
          </p:txBody>
        </p:sp>
        <p:sp>
          <p:nvSpPr>
            <p:cNvPr name="Freeform 8" id="8"/>
            <p:cNvSpPr/>
            <p:nvPr/>
          </p:nvSpPr>
          <p:spPr>
            <a:xfrm flipH="false" flipV="false" rot="0">
              <a:off x="0" y="2932068"/>
              <a:ext cx="2462186" cy="1123652"/>
            </a:xfrm>
            <a:custGeom>
              <a:avLst/>
              <a:gdLst/>
              <a:ahLst/>
              <a:cxnLst/>
              <a:rect r="r" b="b" t="t" l="l"/>
              <a:pathLst>
                <a:path h="1123652" w="2462186">
                  <a:moveTo>
                    <a:pt x="0" y="0"/>
                  </a:moveTo>
                  <a:lnTo>
                    <a:pt x="2462186" y="0"/>
                  </a:lnTo>
                  <a:lnTo>
                    <a:pt x="2462186" y="1123652"/>
                  </a:lnTo>
                  <a:lnTo>
                    <a:pt x="0" y="11236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2652928" y="5233669"/>
              <a:ext cx="9833175" cy="1329773"/>
            </a:xfrm>
            <a:prstGeom prst="rect">
              <a:avLst/>
            </a:prstGeom>
          </p:spPr>
          <p:txBody>
            <a:bodyPr anchor="t" rtlCol="false" tIns="0" lIns="0" bIns="0" rIns="0">
              <a:spAutoFit/>
            </a:bodyPr>
            <a:lstStyle/>
            <a:p>
              <a:pPr algn="ctr">
                <a:lnSpc>
                  <a:spcPts val="4091"/>
                </a:lnSpc>
              </a:pPr>
              <a:r>
                <a:rPr lang="en-US" sz="2922" spc="146">
                  <a:solidFill>
                    <a:srgbClr val="000000"/>
                  </a:solidFill>
                  <a:latin typeface="Dynamo Medium"/>
                  <a:ea typeface="Dynamo Medium"/>
                  <a:cs typeface="Dynamo Medium"/>
                  <a:sym typeface="Dynamo Medium"/>
                </a:rPr>
                <a:t>Ensures reliable convergence when initial conditions are satisfied</a:t>
              </a:r>
            </a:p>
          </p:txBody>
        </p:sp>
        <p:sp>
          <p:nvSpPr>
            <p:cNvPr name="Freeform 10" id="10"/>
            <p:cNvSpPr/>
            <p:nvPr/>
          </p:nvSpPr>
          <p:spPr>
            <a:xfrm flipH="false" flipV="false" rot="0">
              <a:off x="0" y="5290819"/>
              <a:ext cx="2462186" cy="1123652"/>
            </a:xfrm>
            <a:custGeom>
              <a:avLst/>
              <a:gdLst/>
              <a:ahLst/>
              <a:cxnLst/>
              <a:rect r="r" b="b" t="t" l="l"/>
              <a:pathLst>
                <a:path h="1123652" w="2462186">
                  <a:moveTo>
                    <a:pt x="0" y="0"/>
                  </a:moveTo>
                  <a:lnTo>
                    <a:pt x="2462186" y="0"/>
                  </a:lnTo>
                  <a:lnTo>
                    <a:pt x="2462186" y="1123653"/>
                  </a:lnTo>
                  <a:lnTo>
                    <a:pt x="0" y="11236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TextBox 11" id="11"/>
          <p:cNvSpPr txBox="true"/>
          <p:nvPr/>
        </p:nvSpPr>
        <p:spPr>
          <a:xfrm rot="0">
            <a:off x="1366833" y="357530"/>
            <a:ext cx="14718508" cy="2024375"/>
          </a:xfrm>
          <a:prstGeom prst="rect">
            <a:avLst/>
          </a:prstGeom>
        </p:spPr>
        <p:txBody>
          <a:bodyPr anchor="t" rtlCol="false" tIns="0" lIns="0" bIns="0" rIns="0">
            <a:spAutoFit/>
          </a:bodyPr>
          <a:lstStyle/>
          <a:p>
            <a:pPr algn="ctr">
              <a:lnSpc>
                <a:spcPts val="8120"/>
              </a:lnSpc>
            </a:pPr>
            <a:r>
              <a:rPr lang="en-US" sz="5800">
                <a:solidFill>
                  <a:srgbClr val="042EA2"/>
                </a:solidFill>
                <a:latin typeface="Dynamo Medium"/>
                <a:ea typeface="Dynamo Medium"/>
                <a:cs typeface="Dynamo Medium"/>
                <a:sym typeface="Dynamo Medium"/>
              </a:rPr>
              <a:t>Why the Bisection Method matters:</a:t>
            </a:r>
          </a:p>
          <a:p>
            <a:pPr algn="ctr">
              <a:lnSpc>
                <a:spcPts val="8120"/>
              </a:lnSpc>
            </a:pPr>
            <a:r>
              <a:rPr lang="en-US" sz="5800">
                <a:solidFill>
                  <a:srgbClr val="042EA2"/>
                </a:solidFill>
                <a:latin typeface="Dynamo Medium"/>
                <a:ea typeface="Dynamo Medium"/>
                <a:cs typeface="Dynamo Medium"/>
                <a:sym typeface="Dynamo Medium"/>
              </a:rPr>
              <a:t>Key Benefits and Learning Goals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CFEFF"/>
        </a:solidFill>
      </p:bgPr>
    </p:bg>
    <p:spTree>
      <p:nvGrpSpPr>
        <p:cNvPr id="1" name=""/>
        <p:cNvGrpSpPr/>
        <p:nvPr/>
      </p:nvGrpSpPr>
      <p:grpSpPr>
        <a:xfrm>
          <a:off x="0" y="0"/>
          <a:ext cx="0" cy="0"/>
          <a:chOff x="0" y="0"/>
          <a:chExt cx="0" cy="0"/>
        </a:xfrm>
      </p:grpSpPr>
      <p:sp>
        <p:nvSpPr>
          <p:cNvPr name="TextBox 2" id="2"/>
          <p:cNvSpPr txBox="true"/>
          <p:nvPr/>
        </p:nvSpPr>
        <p:spPr>
          <a:xfrm rot="0">
            <a:off x="2885813" y="-29047"/>
            <a:ext cx="12254509" cy="1133475"/>
          </a:xfrm>
          <a:prstGeom prst="rect">
            <a:avLst/>
          </a:prstGeom>
        </p:spPr>
        <p:txBody>
          <a:bodyPr anchor="t" rtlCol="false" tIns="0" lIns="0" bIns="0" rIns="0">
            <a:spAutoFit/>
          </a:bodyPr>
          <a:lstStyle/>
          <a:p>
            <a:pPr algn="ctr">
              <a:lnSpc>
                <a:spcPts val="8399"/>
              </a:lnSpc>
            </a:pPr>
            <a:r>
              <a:rPr lang="en-US" sz="5999" b="true">
                <a:solidFill>
                  <a:srgbClr val="56AAF0"/>
                </a:solidFill>
                <a:latin typeface="Times New Roman MT Condensed Bold"/>
                <a:ea typeface="Times New Roman MT Condensed Bold"/>
                <a:cs typeface="Times New Roman MT Condensed Bold"/>
                <a:sym typeface="Times New Roman MT Condensed Bold"/>
              </a:rPr>
              <a:t>Precise Iterations of the Bisection Algorithm</a:t>
            </a:r>
          </a:p>
        </p:txBody>
      </p:sp>
      <p:grpSp>
        <p:nvGrpSpPr>
          <p:cNvPr name="Group 3" id="3"/>
          <p:cNvGrpSpPr/>
          <p:nvPr/>
        </p:nvGrpSpPr>
        <p:grpSpPr>
          <a:xfrm rot="0">
            <a:off x="-4006574" y="-369454"/>
            <a:ext cx="7009358" cy="1159703"/>
            <a:chOff x="0" y="0"/>
            <a:chExt cx="1250766" cy="206940"/>
          </a:xfrm>
        </p:grpSpPr>
        <p:sp>
          <p:nvSpPr>
            <p:cNvPr name="Freeform 4" id="4"/>
            <p:cNvSpPr/>
            <p:nvPr/>
          </p:nvSpPr>
          <p:spPr>
            <a:xfrm flipH="false" flipV="false" rot="0">
              <a:off x="11494" y="0"/>
              <a:ext cx="1227777" cy="206940"/>
            </a:xfrm>
            <a:custGeom>
              <a:avLst/>
              <a:gdLst/>
              <a:ahLst/>
              <a:cxnLst/>
              <a:rect r="r" b="b" t="t" l="l"/>
              <a:pathLst>
                <a:path h="206940" w="1227777">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solidFill>
              <a:srgbClr val="3275C5"/>
            </a:solidFill>
          </p:spPr>
        </p:sp>
        <p:sp>
          <p:nvSpPr>
            <p:cNvPr name="TextBox 5" id="5"/>
            <p:cNvSpPr txBox="true"/>
            <p:nvPr/>
          </p:nvSpPr>
          <p:spPr>
            <a:xfrm>
              <a:off x="101600" y="19050"/>
              <a:ext cx="1047566" cy="187890"/>
            </a:xfrm>
            <a:prstGeom prst="rect">
              <a:avLst/>
            </a:prstGeom>
          </p:spPr>
          <p:txBody>
            <a:bodyPr anchor="ctr" rtlCol="false" tIns="83282" lIns="83282" bIns="83282" rIns="83282"/>
            <a:lstStyle/>
            <a:p>
              <a:pPr algn="ctr">
                <a:lnSpc>
                  <a:spcPts val="1993"/>
                </a:lnSpc>
              </a:pPr>
            </a:p>
          </p:txBody>
        </p:sp>
      </p:grpSp>
      <p:grpSp>
        <p:nvGrpSpPr>
          <p:cNvPr name="Group 6" id="6"/>
          <p:cNvGrpSpPr/>
          <p:nvPr/>
        </p:nvGrpSpPr>
        <p:grpSpPr>
          <a:xfrm rot="0">
            <a:off x="-1748459" y="508418"/>
            <a:ext cx="3144637" cy="520282"/>
            <a:chOff x="0" y="0"/>
            <a:chExt cx="1250766" cy="206940"/>
          </a:xfrm>
        </p:grpSpPr>
        <p:sp>
          <p:nvSpPr>
            <p:cNvPr name="Freeform 7" id="7"/>
            <p:cNvSpPr/>
            <p:nvPr/>
          </p:nvSpPr>
          <p:spPr>
            <a:xfrm flipH="false" flipV="false" rot="0">
              <a:off x="13485" y="0"/>
              <a:ext cx="1223797" cy="206940"/>
            </a:xfrm>
            <a:custGeom>
              <a:avLst/>
              <a:gdLst/>
              <a:ahLst/>
              <a:cxnLst/>
              <a:rect r="r" b="b" t="t" l="l"/>
              <a:pathLst>
                <a:path h="206940" w="1223797">
                  <a:moveTo>
                    <a:pt x="214334" y="0"/>
                  </a:moveTo>
                  <a:lnTo>
                    <a:pt x="1212662" y="0"/>
                  </a:lnTo>
                  <a:cubicBezTo>
                    <a:pt x="1216822" y="0"/>
                    <a:pt x="1220577" y="2496"/>
                    <a:pt x="1222187" y="6333"/>
                  </a:cubicBezTo>
                  <a:cubicBezTo>
                    <a:pt x="1223796" y="10170"/>
                    <a:pt x="1222947" y="14598"/>
                    <a:pt x="1220032" y="17567"/>
                  </a:cubicBezTo>
                  <a:lnTo>
                    <a:pt x="1051330" y="189373"/>
                  </a:lnTo>
                  <a:cubicBezTo>
                    <a:pt x="1040297" y="200610"/>
                    <a:pt x="1025210" y="206940"/>
                    <a:pt x="1009462" y="206940"/>
                  </a:cubicBezTo>
                  <a:lnTo>
                    <a:pt x="11134" y="206940"/>
                  </a:lnTo>
                  <a:cubicBezTo>
                    <a:pt x="6974" y="206940"/>
                    <a:pt x="3219" y="204444"/>
                    <a:pt x="1609" y="200607"/>
                  </a:cubicBezTo>
                  <a:cubicBezTo>
                    <a:pt x="0" y="196770"/>
                    <a:pt x="849" y="192342"/>
                    <a:pt x="3764" y="189373"/>
                  </a:cubicBezTo>
                  <a:lnTo>
                    <a:pt x="172466" y="17567"/>
                  </a:lnTo>
                  <a:cubicBezTo>
                    <a:pt x="183499" y="6330"/>
                    <a:pt x="198586" y="0"/>
                    <a:pt x="214334" y="0"/>
                  </a:cubicBezTo>
                  <a:close/>
                </a:path>
              </a:pathLst>
            </a:custGeom>
            <a:solidFill>
              <a:srgbClr val="64CAF4"/>
            </a:solidFill>
          </p:spPr>
        </p:sp>
        <p:sp>
          <p:nvSpPr>
            <p:cNvPr name="TextBox 8" id="8"/>
            <p:cNvSpPr txBox="true"/>
            <p:nvPr/>
          </p:nvSpPr>
          <p:spPr>
            <a:xfrm>
              <a:off x="101600" y="19050"/>
              <a:ext cx="1047566" cy="187890"/>
            </a:xfrm>
            <a:prstGeom prst="rect">
              <a:avLst/>
            </a:prstGeom>
          </p:spPr>
          <p:txBody>
            <a:bodyPr anchor="ctr" rtlCol="false" tIns="83282" lIns="83282" bIns="83282" rIns="83282"/>
            <a:lstStyle/>
            <a:p>
              <a:pPr algn="ctr">
                <a:lnSpc>
                  <a:spcPts val="1993"/>
                </a:lnSpc>
              </a:pPr>
            </a:p>
          </p:txBody>
        </p:sp>
      </p:grpSp>
      <p:grpSp>
        <p:nvGrpSpPr>
          <p:cNvPr name="Group 9" id="9"/>
          <p:cNvGrpSpPr/>
          <p:nvPr/>
        </p:nvGrpSpPr>
        <p:grpSpPr>
          <a:xfrm rot="0">
            <a:off x="14410002" y="-369454"/>
            <a:ext cx="7009358" cy="1138013"/>
            <a:chOff x="0" y="0"/>
            <a:chExt cx="812800" cy="131963"/>
          </a:xfrm>
        </p:grpSpPr>
        <p:sp>
          <p:nvSpPr>
            <p:cNvPr name="Freeform 10" id="10"/>
            <p:cNvSpPr/>
            <p:nvPr/>
          </p:nvSpPr>
          <p:spPr>
            <a:xfrm flipH="false" flipV="false" rot="0">
              <a:off x="14243" y="0"/>
              <a:ext cx="784313" cy="131963"/>
            </a:xfrm>
            <a:custGeom>
              <a:avLst/>
              <a:gdLst/>
              <a:ahLst/>
              <a:cxnLst/>
              <a:rect r="r" b="b" t="t" l="l"/>
              <a:pathLst>
                <a:path h="131963" w="784313">
                  <a:moveTo>
                    <a:pt x="574371" y="0"/>
                  </a:moveTo>
                  <a:lnTo>
                    <a:pt x="6743" y="0"/>
                  </a:lnTo>
                  <a:cubicBezTo>
                    <a:pt x="3990" y="0"/>
                    <a:pt x="1564" y="1811"/>
                    <a:pt x="782" y="4451"/>
                  </a:cubicBezTo>
                  <a:cubicBezTo>
                    <a:pt x="0" y="7091"/>
                    <a:pt x="1048" y="9930"/>
                    <a:pt x="3357" y="11430"/>
                  </a:cubicBezTo>
                  <a:lnTo>
                    <a:pt x="171357" y="120533"/>
                  </a:lnTo>
                  <a:cubicBezTo>
                    <a:pt x="182844" y="127993"/>
                    <a:pt x="196246" y="131963"/>
                    <a:pt x="209943" y="131963"/>
                  </a:cubicBezTo>
                  <a:lnTo>
                    <a:pt x="777571" y="131963"/>
                  </a:lnTo>
                  <a:cubicBezTo>
                    <a:pt x="780324" y="131963"/>
                    <a:pt x="782750" y="130152"/>
                    <a:pt x="783532" y="127512"/>
                  </a:cubicBezTo>
                  <a:cubicBezTo>
                    <a:pt x="784314" y="124873"/>
                    <a:pt x="783266" y="122033"/>
                    <a:pt x="780957" y="120533"/>
                  </a:cubicBezTo>
                  <a:lnTo>
                    <a:pt x="612957" y="11430"/>
                  </a:lnTo>
                  <a:cubicBezTo>
                    <a:pt x="601470" y="3970"/>
                    <a:pt x="588068" y="0"/>
                    <a:pt x="574371" y="0"/>
                  </a:cubicBezTo>
                  <a:close/>
                </a:path>
              </a:pathLst>
            </a:custGeom>
            <a:solidFill>
              <a:srgbClr val="3275C5"/>
            </a:solidFill>
          </p:spPr>
        </p:sp>
        <p:sp>
          <p:nvSpPr>
            <p:cNvPr name="TextBox 11" id="11"/>
            <p:cNvSpPr txBox="true"/>
            <p:nvPr/>
          </p:nvSpPr>
          <p:spPr>
            <a:xfrm>
              <a:off x="101600" y="19050"/>
              <a:ext cx="609600" cy="112913"/>
            </a:xfrm>
            <a:prstGeom prst="rect">
              <a:avLst/>
            </a:prstGeom>
          </p:spPr>
          <p:txBody>
            <a:bodyPr anchor="ctr" rtlCol="false" tIns="83282" lIns="83282" bIns="83282" rIns="83282"/>
            <a:lstStyle/>
            <a:p>
              <a:pPr algn="ctr">
                <a:lnSpc>
                  <a:spcPts val="1993"/>
                </a:lnSpc>
              </a:pPr>
            </a:p>
          </p:txBody>
        </p:sp>
      </p:grpSp>
      <p:grpSp>
        <p:nvGrpSpPr>
          <p:cNvPr name="Group 12" id="12"/>
          <p:cNvGrpSpPr/>
          <p:nvPr/>
        </p:nvGrpSpPr>
        <p:grpSpPr>
          <a:xfrm rot="0">
            <a:off x="16629956" y="508418"/>
            <a:ext cx="3144637" cy="520282"/>
            <a:chOff x="0" y="0"/>
            <a:chExt cx="812800" cy="134478"/>
          </a:xfrm>
        </p:grpSpPr>
        <p:sp>
          <p:nvSpPr>
            <p:cNvPr name="Freeform 13" id="13"/>
            <p:cNvSpPr/>
            <p:nvPr/>
          </p:nvSpPr>
          <p:spPr>
            <a:xfrm flipH="false" flipV="false" rot="0">
              <a:off x="26532" y="0"/>
              <a:ext cx="759735" cy="134478"/>
            </a:xfrm>
            <a:custGeom>
              <a:avLst/>
              <a:gdLst/>
              <a:ahLst/>
              <a:cxnLst/>
              <a:rect r="r" b="b" t="t" l="l"/>
              <a:pathLst>
                <a:path h="134478" w="759735">
                  <a:moveTo>
                    <a:pt x="543677" y="0"/>
                  </a:moveTo>
                  <a:lnTo>
                    <a:pt x="12859" y="0"/>
                  </a:lnTo>
                  <a:cubicBezTo>
                    <a:pt x="7628" y="0"/>
                    <a:pt x="3015" y="3429"/>
                    <a:pt x="1508" y="8438"/>
                  </a:cubicBezTo>
                  <a:cubicBezTo>
                    <a:pt x="0" y="13447"/>
                    <a:pt x="1955" y="18853"/>
                    <a:pt x="6317" y="21740"/>
                  </a:cubicBezTo>
                  <a:lnTo>
                    <a:pt x="143819" y="112739"/>
                  </a:lnTo>
                  <a:cubicBezTo>
                    <a:pt x="165244" y="126918"/>
                    <a:pt x="190367" y="134478"/>
                    <a:pt x="216059" y="134478"/>
                  </a:cubicBezTo>
                  <a:lnTo>
                    <a:pt x="746877" y="134478"/>
                  </a:lnTo>
                  <a:cubicBezTo>
                    <a:pt x="752108" y="134478"/>
                    <a:pt x="756721" y="131049"/>
                    <a:pt x="758228" y="126040"/>
                  </a:cubicBezTo>
                  <a:cubicBezTo>
                    <a:pt x="759736" y="121031"/>
                    <a:pt x="757781" y="115626"/>
                    <a:pt x="753419" y="112739"/>
                  </a:cubicBezTo>
                  <a:lnTo>
                    <a:pt x="615917" y="21740"/>
                  </a:lnTo>
                  <a:cubicBezTo>
                    <a:pt x="594492" y="7561"/>
                    <a:pt x="569369" y="0"/>
                    <a:pt x="543677" y="0"/>
                  </a:cubicBezTo>
                  <a:close/>
                </a:path>
              </a:pathLst>
            </a:custGeom>
            <a:solidFill>
              <a:srgbClr val="64CAF4"/>
            </a:solidFill>
          </p:spPr>
        </p:sp>
        <p:sp>
          <p:nvSpPr>
            <p:cNvPr name="TextBox 14" id="14"/>
            <p:cNvSpPr txBox="true"/>
            <p:nvPr/>
          </p:nvSpPr>
          <p:spPr>
            <a:xfrm>
              <a:off x="101600" y="19050"/>
              <a:ext cx="609600" cy="115428"/>
            </a:xfrm>
            <a:prstGeom prst="rect">
              <a:avLst/>
            </a:prstGeom>
          </p:spPr>
          <p:txBody>
            <a:bodyPr anchor="ctr" rtlCol="false" tIns="83282" lIns="83282" bIns="83282" rIns="83282"/>
            <a:lstStyle/>
            <a:p>
              <a:pPr algn="ctr">
                <a:lnSpc>
                  <a:spcPts val="1993"/>
                </a:lnSpc>
              </a:pPr>
            </a:p>
          </p:txBody>
        </p:sp>
      </p:grpSp>
      <p:grpSp>
        <p:nvGrpSpPr>
          <p:cNvPr name="Group 15" id="15"/>
          <p:cNvGrpSpPr/>
          <p:nvPr/>
        </p:nvGrpSpPr>
        <p:grpSpPr>
          <a:xfrm rot="0">
            <a:off x="1793381" y="2005153"/>
            <a:ext cx="13430957" cy="1160820"/>
            <a:chOff x="0" y="0"/>
            <a:chExt cx="17907943" cy="1547760"/>
          </a:xfrm>
        </p:grpSpPr>
        <p:grpSp>
          <p:nvGrpSpPr>
            <p:cNvPr name="Group 16" id="16"/>
            <p:cNvGrpSpPr/>
            <p:nvPr/>
          </p:nvGrpSpPr>
          <p:grpSpPr>
            <a:xfrm rot="0">
              <a:off x="0" y="148844"/>
              <a:ext cx="1398916" cy="139891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8" id="18"/>
              <p:cNvSpPr txBox="true"/>
              <p:nvPr/>
            </p:nvSpPr>
            <p:spPr>
              <a:xfrm>
                <a:off x="76200" y="28575"/>
                <a:ext cx="660400" cy="708025"/>
              </a:xfrm>
              <a:prstGeom prst="rect">
                <a:avLst/>
              </a:prstGeom>
            </p:spPr>
            <p:txBody>
              <a:bodyPr anchor="ctr" rtlCol="false" tIns="28528" lIns="28528" bIns="28528" rIns="28528"/>
              <a:lstStyle/>
              <a:p>
                <a:pPr algn="ctr">
                  <a:lnSpc>
                    <a:spcPts val="2659"/>
                  </a:lnSpc>
                </a:pPr>
              </a:p>
            </p:txBody>
          </p:sp>
        </p:grpSp>
        <p:sp>
          <p:nvSpPr>
            <p:cNvPr name="TextBox 19" id="19"/>
            <p:cNvSpPr txBox="true"/>
            <p:nvPr/>
          </p:nvSpPr>
          <p:spPr>
            <a:xfrm rot="0">
              <a:off x="85896" y="397912"/>
              <a:ext cx="1227124" cy="971961"/>
            </a:xfrm>
            <a:prstGeom prst="rect">
              <a:avLst/>
            </a:prstGeom>
          </p:spPr>
          <p:txBody>
            <a:bodyPr anchor="t" rtlCol="false" tIns="0" lIns="0" bIns="0" rIns="0">
              <a:spAutoFit/>
            </a:bodyPr>
            <a:lstStyle/>
            <a:p>
              <a:pPr algn="ctr">
                <a:lnSpc>
                  <a:spcPts val="6179"/>
                </a:lnSpc>
              </a:pPr>
              <a:r>
                <a:rPr lang="en-US" sz="4413">
                  <a:solidFill>
                    <a:srgbClr val="000000"/>
                  </a:solidFill>
                  <a:latin typeface="League Spartan"/>
                  <a:ea typeface="League Spartan"/>
                  <a:cs typeface="League Spartan"/>
                  <a:sym typeface="League Spartan"/>
                </a:rPr>
                <a:t>1</a:t>
              </a:r>
            </a:p>
          </p:txBody>
        </p:sp>
        <p:grpSp>
          <p:nvGrpSpPr>
            <p:cNvPr name="Group 20" id="20"/>
            <p:cNvGrpSpPr/>
            <p:nvPr/>
          </p:nvGrpSpPr>
          <p:grpSpPr>
            <a:xfrm rot="0">
              <a:off x="1623666" y="0"/>
              <a:ext cx="16284277" cy="1547760"/>
              <a:chOff x="0" y="0"/>
              <a:chExt cx="3116221" cy="296185"/>
            </a:xfrm>
          </p:grpSpPr>
          <p:sp>
            <p:nvSpPr>
              <p:cNvPr name="Freeform 21" id="21"/>
              <p:cNvSpPr/>
              <p:nvPr/>
            </p:nvSpPr>
            <p:spPr>
              <a:xfrm flipH="false" flipV="false" rot="0">
                <a:off x="0" y="0"/>
                <a:ext cx="3116221" cy="296185"/>
              </a:xfrm>
              <a:custGeom>
                <a:avLst/>
                <a:gdLst/>
                <a:ahLst/>
                <a:cxnLst/>
                <a:rect r="r" b="b" t="t" l="l"/>
                <a:pathLst>
                  <a:path h="296185" w="3116221">
                    <a:moveTo>
                      <a:pt x="32329" y="0"/>
                    </a:moveTo>
                    <a:lnTo>
                      <a:pt x="3083892" y="0"/>
                    </a:lnTo>
                    <a:cubicBezTo>
                      <a:pt x="3092467" y="0"/>
                      <a:pt x="3100690" y="3406"/>
                      <a:pt x="3106752" y="9469"/>
                    </a:cubicBezTo>
                    <a:cubicBezTo>
                      <a:pt x="3112815" y="15532"/>
                      <a:pt x="3116221" y="23755"/>
                      <a:pt x="3116221" y="32329"/>
                    </a:cubicBezTo>
                    <a:lnTo>
                      <a:pt x="3116221" y="263856"/>
                    </a:lnTo>
                    <a:cubicBezTo>
                      <a:pt x="3116221" y="281711"/>
                      <a:pt x="3101747" y="296185"/>
                      <a:pt x="3083892" y="296185"/>
                    </a:cubicBezTo>
                    <a:lnTo>
                      <a:pt x="32329" y="296185"/>
                    </a:lnTo>
                    <a:cubicBezTo>
                      <a:pt x="14474" y="296185"/>
                      <a:pt x="0" y="281711"/>
                      <a:pt x="0" y="263856"/>
                    </a:cubicBezTo>
                    <a:lnTo>
                      <a:pt x="0" y="32329"/>
                    </a:lnTo>
                    <a:cubicBezTo>
                      <a:pt x="0" y="14474"/>
                      <a:pt x="14474" y="0"/>
                      <a:pt x="32329" y="0"/>
                    </a:cubicBezTo>
                    <a:close/>
                  </a:path>
                </a:pathLst>
              </a:custGeom>
              <a:solidFill>
                <a:srgbClr val="64CAF4"/>
              </a:solidFill>
            </p:spPr>
          </p:sp>
          <p:sp>
            <p:nvSpPr>
              <p:cNvPr name="TextBox 22" id="22"/>
              <p:cNvSpPr txBox="true"/>
              <p:nvPr/>
            </p:nvSpPr>
            <p:spPr>
              <a:xfrm>
                <a:off x="0" y="-57150"/>
                <a:ext cx="3116221" cy="353335"/>
              </a:xfrm>
              <a:prstGeom prst="rect">
                <a:avLst/>
              </a:prstGeom>
            </p:spPr>
            <p:txBody>
              <a:bodyPr anchor="ctr" rtlCol="false" tIns="52437" lIns="52437" bIns="52437" rIns="52437"/>
              <a:lstStyle/>
              <a:p>
                <a:pPr algn="ctr">
                  <a:lnSpc>
                    <a:spcPts val="3499"/>
                  </a:lnSpc>
                </a:pPr>
                <a:r>
                  <a:rPr lang="en-US" sz="2499">
                    <a:solidFill>
                      <a:srgbClr val="000000"/>
                    </a:solidFill>
                    <a:latin typeface="Archivo Black"/>
                    <a:ea typeface="Archivo Black"/>
                    <a:cs typeface="Archivo Black"/>
                    <a:sym typeface="Archivo Black"/>
                  </a:rPr>
                  <a:t>-Identify Initial Interval-</a:t>
                </a:r>
              </a:p>
              <a:p>
                <a:pPr algn="ctr">
                  <a:lnSpc>
                    <a:spcPts val="2799"/>
                  </a:lnSpc>
                </a:pPr>
                <a:r>
                  <a:rPr lang="en-US" b="true" sz="1999">
                    <a:solidFill>
                      <a:srgbClr val="000000"/>
                    </a:solidFill>
                    <a:latin typeface="Poppins Bold"/>
                    <a:ea typeface="Poppins Bold"/>
                    <a:cs typeface="Poppins Bold"/>
                    <a:sym typeface="Poppins Bold"/>
                  </a:rPr>
                  <a:t>Select a, b where f(a) and f(b) have opposite signs (f(a)*f(b) &lt; 0), ensuring a root lies within.</a:t>
                </a:r>
              </a:p>
            </p:txBody>
          </p:sp>
        </p:grpSp>
      </p:grpSp>
      <p:grpSp>
        <p:nvGrpSpPr>
          <p:cNvPr name="Group 23" id="23"/>
          <p:cNvGrpSpPr/>
          <p:nvPr/>
        </p:nvGrpSpPr>
        <p:grpSpPr>
          <a:xfrm rot="0">
            <a:off x="1793381" y="3661272"/>
            <a:ext cx="13430957" cy="1160820"/>
            <a:chOff x="0" y="0"/>
            <a:chExt cx="17907943" cy="1547760"/>
          </a:xfrm>
        </p:grpSpPr>
        <p:grpSp>
          <p:nvGrpSpPr>
            <p:cNvPr name="Group 24" id="24"/>
            <p:cNvGrpSpPr/>
            <p:nvPr/>
          </p:nvGrpSpPr>
          <p:grpSpPr>
            <a:xfrm rot="0">
              <a:off x="0" y="148844"/>
              <a:ext cx="1398916" cy="1398916"/>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26" id="26"/>
              <p:cNvSpPr txBox="true"/>
              <p:nvPr/>
            </p:nvSpPr>
            <p:spPr>
              <a:xfrm>
                <a:off x="76200" y="28575"/>
                <a:ext cx="660400" cy="708025"/>
              </a:xfrm>
              <a:prstGeom prst="rect">
                <a:avLst/>
              </a:prstGeom>
            </p:spPr>
            <p:txBody>
              <a:bodyPr anchor="ctr" rtlCol="false" tIns="28528" lIns="28528" bIns="28528" rIns="28528"/>
              <a:lstStyle/>
              <a:p>
                <a:pPr algn="ctr">
                  <a:lnSpc>
                    <a:spcPts val="2659"/>
                  </a:lnSpc>
                </a:pPr>
              </a:p>
            </p:txBody>
          </p:sp>
        </p:grpSp>
        <p:sp>
          <p:nvSpPr>
            <p:cNvPr name="TextBox 27" id="27"/>
            <p:cNvSpPr txBox="true"/>
            <p:nvPr/>
          </p:nvSpPr>
          <p:spPr>
            <a:xfrm rot="0">
              <a:off x="85896" y="397912"/>
              <a:ext cx="1227124" cy="971961"/>
            </a:xfrm>
            <a:prstGeom prst="rect">
              <a:avLst/>
            </a:prstGeom>
          </p:spPr>
          <p:txBody>
            <a:bodyPr anchor="t" rtlCol="false" tIns="0" lIns="0" bIns="0" rIns="0">
              <a:spAutoFit/>
            </a:bodyPr>
            <a:lstStyle/>
            <a:p>
              <a:pPr algn="ctr">
                <a:lnSpc>
                  <a:spcPts val="6179"/>
                </a:lnSpc>
              </a:pPr>
              <a:r>
                <a:rPr lang="en-US" sz="4413">
                  <a:solidFill>
                    <a:srgbClr val="000000"/>
                  </a:solidFill>
                  <a:latin typeface="League Spartan"/>
                  <a:ea typeface="League Spartan"/>
                  <a:cs typeface="League Spartan"/>
                  <a:sym typeface="League Spartan"/>
                </a:rPr>
                <a:t>2</a:t>
              </a:r>
            </a:p>
          </p:txBody>
        </p:sp>
        <p:grpSp>
          <p:nvGrpSpPr>
            <p:cNvPr name="Group 28" id="28"/>
            <p:cNvGrpSpPr/>
            <p:nvPr/>
          </p:nvGrpSpPr>
          <p:grpSpPr>
            <a:xfrm rot="0">
              <a:off x="1623666" y="0"/>
              <a:ext cx="16284277" cy="1547760"/>
              <a:chOff x="0" y="0"/>
              <a:chExt cx="3116221" cy="296185"/>
            </a:xfrm>
          </p:grpSpPr>
          <p:sp>
            <p:nvSpPr>
              <p:cNvPr name="Freeform 29" id="29"/>
              <p:cNvSpPr/>
              <p:nvPr/>
            </p:nvSpPr>
            <p:spPr>
              <a:xfrm flipH="false" flipV="false" rot="0">
                <a:off x="0" y="0"/>
                <a:ext cx="3116221" cy="296185"/>
              </a:xfrm>
              <a:custGeom>
                <a:avLst/>
                <a:gdLst/>
                <a:ahLst/>
                <a:cxnLst/>
                <a:rect r="r" b="b" t="t" l="l"/>
                <a:pathLst>
                  <a:path h="296185" w="3116221">
                    <a:moveTo>
                      <a:pt x="32329" y="0"/>
                    </a:moveTo>
                    <a:lnTo>
                      <a:pt x="3083892" y="0"/>
                    </a:lnTo>
                    <a:cubicBezTo>
                      <a:pt x="3092467" y="0"/>
                      <a:pt x="3100690" y="3406"/>
                      <a:pt x="3106752" y="9469"/>
                    </a:cubicBezTo>
                    <a:cubicBezTo>
                      <a:pt x="3112815" y="15532"/>
                      <a:pt x="3116221" y="23755"/>
                      <a:pt x="3116221" y="32329"/>
                    </a:cubicBezTo>
                    <a:lnTo>
                      <a:pt x="3116221" y="263856"/>
                    </a:lnTo>
                    <a:cubicBezTo>
                      <a:pt x="3116221" y="281711"/>
                      <a:pt x="3101747" y="296185"/>
                      <a:pt x="3083892" y="296185"/>
                    </a:cubicBezTo>
                    <a:lnTo>
                      <a:pt x="32329" y="296185"/>
                    </a:lnTo>
                    <a:cubicBezTo>
                      <a:pt x="14474" y="296185"/>
                      <a:pt x="0" y="281711"/>
                      <a:pt x="0" y="263856"/>
                    </a:cubicBezTo>
                    <a:lnTo>
                      <a:pt x="0" y="32329"/>
                    </a:lnTo>
                    <a:cubicBezTo>
                      <a:pt x="0" y="14474"/>
                      <a:pt x="14474" y="0"/>
                      <a:pt x="32329" y="0"/>
                    </a:cubicBezTo>
                    <a:close/>
                  </a:path>
                </a:pathLst>
              </a:custGeom>
              <a:solidFill>
                <a:srgbClr val="64CAF4"/>
              </a:solidFill>
            </p:spPr>
          </p:sp>
          <p:sp>
            <p:nvSpPr>
              <p:cNvPr name="TextBox 30" id="30"/>
              <p:cNvSpPr txBox="true"/>
              <p:nvPr/>
            </p:nvSpPr>
            <p:spPr>
              <a:xfrm>
                <a:off x="0" y="-57150"/>
                <a:ext cx="3116221" cy="353335"/>
              </a:xfrm>
              <a:prstGeom prst="rect">
                <a:avLst/>
              </a:prstGeom>
            </p:spPr>
            <p:txBody>
              <a:bodyPr anchor="ctr" rtlCol="false" tIns="52437" lIns="52437" bIns="52437" rIns="52437"/>
              <a:lstStyle/>
              <a:p>
                <a:pPr algn="ctr">
                  <a:lnSpc>
                    <a:spcPts val="3499"/>
                  </a:lnSpc>
                </a:pPr>
                <a:r>
                  <a:rPr lang="en-US" sz="2499">
                    <a:solidFill>
                      <a:srgbClr val="000000"/>
                    </a:solidFill>
                    <a:latin typeface="Archivo Black"/>
                    <a:ea typeface="Archivo Black"/>
                    <a:cs typeface="Archivo Black"/>
                    <a:sym typeface="Archivo Black"/>
                  </a:rPr>
                  <a:t>   -Compute Midpoint-</a:t>
                </a:r>
              </a:p>
              <a:p>
                <a:pPr algn="ctr">
                  <a:lnSpc>
                    <a:spcPts val="2799"/>
                  </a:lnSpc>
                </a:pPr>
                <a:r>
                  <a:rPr lang="en-US" b="true" sz="1999">
                    <a:solidFill>
                      <a:srgbClr val="000000"/>
                    </a:solidFill>
                    <a:latin typeface="Poppins Bold"/>
                    <a:ea typeface="Poppins Bold"/>
                    <a:cs typeface="Poppins Bold"/>
                    <a:sym typeface="Poppins Bold"/>
                  </a:rPr>
                  <a:t>Ca</a:t>
                </a:r>
                <a:r>
                  <a:rPr lang="en-US" b="true" sz="1999">
                    <a:solidFill>
                      <a:srgbClr val="000000"/>
                    </a:solidFill>
                    <a:latin typeface="Poppins Bold"/>
                    <a:ea typeface="Poppins Bold"/>
                    <a:cs typeface="Poppins Bold"/>
                    <a:sym typeface="Poppins Bold"/>
                  </a:rPr>
                  <a:t>lculate c = (a + b) / 2 as the candidate root to test.</a:t>
                </a:r>
              </a:p>
            </p:txBody>
          </p:sp>
        </p:grpSp>
      </p:grpSp>
      <p:grpSp>
        <p:nvGrpSpPr>
          <p:cNvPr name="Group 31" id="31"/>
          <p:cNvGrpSpPr/>
          <p:nvPr/>
        </p:nvGrpSpPr>
        <p:grpSpPr>
          <a:xfrm rot="0">
            <a:off x="1793381" y="5317392"/>
            <a:ext cx="13430957" cy="1160820"/>
            <a:chOff x="0" y="0"/>
            <a:chExt cx="17907943" cy="1547760"/>
          </a:xfrm>
        </p:grpSpPr>
        <p:grpSp>
          <p:nvGrpSpPr>
            <p:cNvPr name="Group 32" id="32"/>
            <p:cNvGrpSpPr/>
            <p:nvPr/>
          </p:nvGrpSpPr>
          <p:grpSpPr>
            <a:xfrm rot="0">
              <a:off x="0" y="148844"/>
              <a:ext cx="1398916" cy="1398916"/>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34" id="34"/>
              <p:cNvSpPr txBox="true"/>
              <p:nvPr/>
            </p:nvSpPr>
            <p:spPr>
              <a:xfrm>
                <a:off x="76200" y="28575"/>
                <a:ext cx="660400" cy="708025"/>
              </a:xfrm>
              <a:prstGeom prst="rect">
                <a:avLst/>
              </a:prstGeom>
            </p:spPr>
            <p:txBody>
              <a:bodyPr anchor="ctr" rtlCol="false" tIns="28528" lIns="28528" bIns="28528" rIns="28528"/>
              <a:lstStyle/>
              <a:p>
                <a:pPr algn="ctr">
                  <a:lnSpc>
                    <a:spcPts val="2659"/>
                  </a:lnSpc>
                </a:pPr>
              </a:p>
            </p:txBody>
          </p:sp>
        </p:grpSp>
        <p:sp>
          <p:nvSpPr>
            <p:cNvPr name="TextBox 35" id="35"/>
            <p:cNvSpPr txBox="true"/>
            <p:nvPr/>
          </p:nvSpPr>
          <p:spPr>
            <a:xfrm rot="0">
              <a:off x="85896" y="397912"/>
              <a:ext cx="1227124" cy="971961"/>
            </a:xfrm>
            <a:prstGeom prst="rect">
              <a:avLst/>
            </a:prstGeom>
          </p:spPr>
          <p:txBody>
            <a:bodyPr anchor="t" rtlCol="false" tIns="0" lIns="0" bIns="0" rIns="0">
              <a:spAutoFit/>
            </a:bodyPr>
            <a:lstStyle/>
            <a:p>
              <a:pPr algn="ctr">
                <a:lnSpc>
                  <a:spcPts val="6179"/>
                </a:lnSpc>
              </a:pPr>
              <a:r>
                <a:rPr lang="en-US" sz="4413">
                  <a:solidFill>
                    <a:srgbClr val="000000"/>
                  </a:solidFill>
                  <a:latin typeface="League Spartan"/>
                  <a:ea typeface="League Spartan"/>
                  <a:cs typeface="League Spartan"/>
                  <a:sym typeface="League Spartan"/>
                </a:rPr>
                <a:t>3</a:t>
              </a:r>
            </a:p>
          </p:txBody>
        </p:sp>
        <p:grpSp>
          <p:nvGrpSpPr>
            <p:cNvPr name="Group 36" id="36"/>
            <p:cNvGrpSpPr/>
            <p:nvPr/>
          </p:nvGrpSpPr>
          <p:grpSpPr>
            <a:xfrm rot="0">
              <a:off x="1623666" y="0"/>
              <a:ext cx="16284277" cy="1547760"/>
              <a:chOff x="0" y="0"/>
              <a:chExt cx="3116221" cy="296185"/>
            </a:xfrm>
          </p:grpSpPr>
          <p:sp>
            <p:nvSpPr>
              <p:cNvPr name="Freeform 37" id="37"/>
              <p:cNvSpPr/>
              <p:nvPr/>
            </p:nvSpPr>
            <p:spPr>
              <a:xfrm flipH="false" flipV="false" rot="0">
                <a:off x="0" y="0"/>
                <a:ext cx="3116221" cy="296185"/>
              </a:xfrm>
              <a:custGeom>
                <a:avLst/>
                <a:gdLst/>
                <a:ahLst/>
                <a:cxnLst/>
                <a:rect r="r" b="b" t="t" l="l"/>
                <a:pathLst>
                  <a:path h="296185" w="3116221">
                    <a:moveTo>
                      <a:pt x="32329" y="0"/>
                    </a:moveTo>
                    <a:lnTo>
                      <a:pt x="3083892" y="0"/>
                    </a:lnTo>
                    <a:cubicBezTo>
                      <a:pt x="3092467" y="0"/>
                      <a:pt x="3100690" y="3406"/>
                      <a:pt x="3106752" y="9469"/>
                    </a:cubicBezTo>
                    <a:cubicBezTo>
                      <a:pt x="3112815" y="15532"/>
                      <a:pt x="3116221" y="23755"/>
                      <a:pt x="3116221" y="32329"/>
                    </a:cubicBezTo>
                    <a:lnTo>
                      <a:pt x="3116221" y="263856"/>
                    </a:lnTo>
                    <a:cubicBezTo>
                      <a:pt x="3116221" y="281711"/>
                      <a:pt x="3101747" y="296185"/>
                      <a:pt x="3083892" y="296185"/>
                    </a:cubicBezTo>
                    <a:lnTo>
                      <a:pt x="32329" y="296185"/>
                    </a:lnTo>
                    <a:cubicBezTo>
                      <a:pt x="14474" y="296185"/>
                      <a:pt x="0" y="281711"/>
                      <a:pt x="0" y="263856"/>
                    </a:cubicBezTo>
                    <a:lnTo>
                      <a:pt x="0" y="32329"/>
                    </a:lnTo>
                    <a:cubicBezTo>
                      <a:pt x="0" y="14474"/>
                      <a:pt x="14474" y="0"/>
                      <a:pt x="32329" y="0"/>
                    </a:cubicBezTo>
                    <a:close/>
                  </a:path>
                </a:pathLst>
              </a:custGeom>
              <a:solidFill>
                <a:srgbClr val="64CAF4"/>
              </a:solidFill>
            </p:spPr>
          </p:sp>
          <p:sp>
            <p:nvSpPr>
              <p:cNvPr name="TextBox 38" id="38"/>
              <p:cNvSpPr txBox="true"/>
              <p:nvPr/>
            </p:nvSpPr>
            <p:spPr>
              <a:xfrm>
                <a:off x="0" y="-57150"/>
                <a:ext cx="3116221" cy="353335"/>
              </a:xfrm>
              <a:prstGeom prst="rect">
                <a:avLst/>
              </a:prstGeom>
            </p:spPr>
            <p:txBody>
              <a:bodyPr anchor="ctr" rtlCol="false" tIns="52437" lIns="52437" bIns="52437" rIns="52437"/>
              <a:lstStyle/>
              <a:p>
                <a:pPr algn="ctr">
                  <a:lnSpc>
                    <a:spcPts val="3499"/>
                  </a:lnSpc>
                </a:pPr>
                <a:r>
                  <a:rPr lang="en-US" sz="2499">
                    <a:solidFill>
                      <a:srgbClr val="000000"/>
                    </a:solidFill>
                    <a:latin typeface="Archivo Black"/>
                    <a:ea typeface="Archivo Black"/>
                    <a:cs typeface="Archivo Black"/>
                    <a:sym typeface="Archivo Black"/>
                  </a:rPr>
                  <a:t>-Evaluate Function at Midpoint-</a:t>
                </a:r>
              </a:p>
              <a:p>
                <a:pPr algn="ctr">
                  <a:lnSpc>
                    <a:spcPts val="2799"/>
                  </a:lnSpc>
                </a:pPr>
                <a:r>
                  <a:rPr lang="en-US" b="true" sz="1999">
                    <a:solidFill>
                      <a:srgbClr val="000000"/>
                    </a:solidFill>
                    <a:latin typeface="Poppins Bold"/>
                    <a:ea typeface="Poppins Bold"/>
                    <a:cs typeface="Poppins Bold"/>
                    <a:sym typeface="Poppins Bold"/>
                  </a:rPr>
                  <a:t>D</a:t>
                </a:r>
                <a:r>
                  <a:rPr lang="en-US" b="true" sz="1999">
                    <a:solidFill>
                      <a:srgbClr val="000000"/>
                    </a:solidFill>
                    <a:latin typeface="Poppins Bold"/>
                    <a:ea typeface="Poppins Bold"/>
                    <a:cs typeface="Poppins Bold"/>
                    <a:sym typeface="Poppins Bold"/>
                  </a:rPr>
                  <a:t>etermine f(c) to check the sign and proximity to zero.</a:t>
                </a:r>
              </a:p>
            </p:txBody>
          </p:sp>
        </p:grpSp>
      </p:grpSp>
      <p:grpSp>
        <p:nvGrpSpPr>
          <p:cNvPr name="Group 39" id="39"/>
          <p:cNvGrpSpPr/>
          <p:nvPr/>
        </p:nvGrpSpPr>
        <p:grpSpPr>
          <a:xfrm rot="0">
            <a:off x="1793381" y="6973512"/>
            <a:ext cx="13430957" cy="1160820"/>
            <a:chOff x="0" y="0"/>
            <a:chExt cx="17907943" cy="1547760"/>
          </a:xfrm>
        </p:grpSpPr>
        <p:grpSp>
          <p:nvGrpSpPr>
            <p:cNvPr name="Group 40" id="40"/>
            <p:cNvGrpSpPr/>
            <p:nvPr/>
          </p:nvGrpSpPr>
          <p:grpSpPr>
            <a:xfrm rot="0">
              <a:off x="0" y="148844"/>
              <a:ext cx="1398916" cy="1398916"/>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42" id="42"/>
              <p:cNvSpPr txBox="true"/>
              <p:nvPr/>
            </p:nvSpPr>
            <p:spPr>
              <a:xfrm>
                <a:off x="76200" y="28575"/>
                <a:ext cx="660400" cy="708025"/>
              </a:xfrm>
              <a:prstGeom prst="rect">
                <a:avLst/>
              </a:prstGeom>
            </p:spPr>
            <p:txBody>
              <a:bodyPr anchor="ctr" rtlCol="false" tIns="28528" lIns="28528" bIns="28528" rIns="28528"/>
              <a:lstStyle/>
              <a:p>
                <a:pPr algn="ctr">
                  <a:lnSpc>
                    <a:spcPts val="2659"/>
                  </a:lnSpc>
                </a:pPr>
              </a:p>
            </p:txBody>
          </p:sp>
        </p:grpSp>
        <p:sp>
          <p:nvSpPr>
            <p:cNvPr name="TextBox 43" id="43"/>
            <p:cNvSpPr txBox="true"/>
            <p:nvPr/>
          </p:nvSpPr>
          <p:spPr>
            <a:xfrm rot="0">
              <a:off x="85896" y="397912"/>
              <a:ext cx="1227124" cy="971961"/>
            </a:xfrm>
            <a:prstGeom prst="rect">
              <a:avLst/>
            </a:prstGeom>
          </p:spPr>
          <p:txBody>
            <a:bodyPr anchor="t" rtlCol="false" tIns="0" lIns="0" bIns="0" rIns="0">
              <a:spAutoFit/>
            </a:bodyPr>
            <a:lstStyle/>
            <a:p>
              <a:pPr algn="ctr">
                <a:lnSpc>
                  <a:spcPts val="6179"/>
                </a:lnSpc>
              </a:pPr>
              <a:r>
                <a:rPr lang="en-US" sz="4413">
                  <a:solidFill>
                    <a:srgbClr val="000000"/>
                  </a:solidFill>
                  <a:latin typeface="League Spartan"/>
                  <a:ea typeface="League Spartan"/>
                  <a:cs typeface="League Spartan"/>
                  <a:sym typeface="League Spartan"/>
                </a:rPr>
                <a:t>4</a:t>
              </a:r>
            </a:p>
          </p:txBody>
        </p:sp>
        <p:grpSp>
          <p:nvGrpSpPr>
            <p:cNvPr name="Group 44" id="44"/>
            <p:cNvGrpSpPr/>
            <p:nvPr/>
          </p:nvGrpSpPr>
          <p:grpSpPr>
            <a:xfrm rot="0">
              <a:off x="1623666" y="0"/>
              <a:ext cx="16284277" cy="1547760"/>
              <a:chOff x="0" y="0"/>
              <a:chExt cx="3116221" cy="296185"/>
            </a:xfrm>
          </p:grpSpPr>
          <p:sp>
            <p:nvSpPr>
              <p:cNvPr name="Freeform 45" id="45"/>
              <p:cNvSpPr/>
              <p:nvPr/>
            </p:nvSpPr>
            <p:spPr>
              <a:xfrm flipH="false" flipV="false" rot="0">
                <a:off x="0" y="0"/>
                <a:ext cx="3116221" cy="296185"/>
              </a:xfrm>
              <a:custGeom>
                <a:avLst/>
                <a:gdLst/>
                <a:ahLst/>
                <a:cxnLst/>
                <a:rect r="r" b="b" t="t" l="l"/>
                <a:pathLst>
                  <a:path h="296185" w="3116221">
                    <a:moveTo>
                      <a:pt x="32329" y="0"/>
                    </a:moveTo>
                    <a:lnTo>
                      <a:pt x="3083892" y="0"/>
                    </a:lnTo>
                    <a:cubicBezTo>
                      <a:pt x="3092467" y="0"/>
                      <a:pt x="3100690" y="3406"/>
                      <a:pt x="3106752" y="9469"/>
                    </a:cubicBezTo>
                    <a:cubicBezTo>
                      <a:pt x="3112815" y="15532"/>
                      <a:pt x="3116221" y="23755"/>
                      <a:pt x="3116221" y="32329"/>
                    </a:cubicBezTo>
                    <a:lnTo>
                      <a:pt x="3116221" y="263856"/>
                    </a:lnTo>
                    <a:cubicBezTo>
                      <a:pt x="3116221" y="281711"/>
                      <a:pt x="3101747" y="296185"/>
                      <a:pt x="3083892" y="296185"/>
                    </a:cubicBezTo>
                    <a:lnTo>
                      <a:pt x="32329" y="296185"/>
                    </a:lnTo>
                    <a:cubicBezTo>
                      <a:pt x="14474" y="296185"/>
                      <a:pt x="0" y="281711"/>
                      <a:pt x="0" y="263856"/>
                    </a:cubicBezTo>
                    <a:lnTo>
                      <a:pt x="0" y="32329"/>
                    </a:lnTo>
                    <a:cubicBezTo>
                      <a:pt x="0" y="14474"/>
                      <a:pt x="14474" y="0"/>
                      <a:pt x="32329" y="0"/>
                    </a:cubicBezTo>
                    <a:close/>
                  </a:path>
                </a:pathLst>
              </a:custGeom>
              <a:solidFill>
                <a:srgbClr val="64CAF4"/>
              </a:solidFill>
            </p:spPr>
          </p:sp>
          <p:sp>
            <p:nvSpPr>
              <p:cNvPr name="TextBox 46" id="46"/>
              <p:cNvSpPr txBox="true"/>
              <p:nvPr/>
            </p:nvSpPr>
            <p:spPr>
              <a:xfrm>
                <a:off x="0" y="-57150"/>
                <a:ext cx="3116221" cy="353335"/>
              </a:xfrm>
              <a:prstGeom prst="rect">
                <a:avLst/>
              </a:prstGeom>
            </p:spPr>
            <p:txBody>
              <a:bodyPr anchor="ctr" rtlCol="false" tIns="52437" lIns="52437" bIns="52437" rIns="52437"/>
              <a:lstStyle/>
              <a:p>
                <a:pPr algn="ctr">
                  <a:lnSpc>
                    <a:spcPts val="3499"/>
                  </a:lnSpc>
                </a:pPr>
                <a:r>
                  <a:rPr lang="en-US" sz="2499">
                    <a:solidFill>
                      <a:srgbClr val="000000"/>
                    </a:solidFill>
                    <a:latin typeface="Archivo Black"/>
                    <a:ea typeface="Archivo Black"/>
                    <a:cs typeface="Archivo Black"/>
                    <a:sym typeface="Archivo Black"/>
                  </a:rPr>
                  <a:t>-Select Subinterval-</a:t>
                </a:r>
              </a:p>
              <a:p>
                <a:pPr algn="ctr">
                  <a:lnSpc>
                    <a:spcPts val="2799"/>
                  </a:lnSpc>
                </a:pPr>
                <a:r>
                  <a:rPr lang="en-US" b="true" sz="1999">
                    <a:solidFill>
                      <a:srgbClr val="000000"/>
                    </a:solidFill>
                    <a:latin typeface="Poppins Bold"/>
                    <a:ea typeface="Poppins Bold"/>
                    <a:cs typeface="Poppins Bold"/>
                    <a:sym typeface="Poppins Bold"/>
                  </a:rPr>
                  <a:t>If</a:t>
                </a:r>
                <a:r>
                  <a:rPr lang="en-US" b="true" sz="1999">
                    <a:solidFill>
                      <a:srgbClr val="000000"/>
                    </a:solidFill>
                    <a:latin typeface="Poppins Bold"/>
                    <a:ea typeface="Poppins Bold"/>
                    <a:cs typeface="Poppins Bold"/>
                    <a:sym typeface="Poppins Bold"/>
                  </a:rPr>
                  <a:t> f(a)*f(c) &lt; 0, root lies in </a:t>
                </a:r>
                <a:r>
                  <a:rPr lang="en-US" b="true" sz="1999" u="sng">
                    <a:solidFill>
                      <a:srgbClr val="000000"/>
                    </a:solidFill>
                    <a:latin typeface="Poppins Bold"/>
                    <a:ea typeface="Poppins Bold"/>
                    <a:cs typeface="Poppins Bold"/>
                    <a:sym typeface="Poppins Bold"/>
                    <a:hlinkClick r:id="rId2" tooltip="https://app.presentations.ai/undefined"/>
                  </a:rPr>
                  <a:t>a, c</a:t>
                </a:r>
                <a:r>
                  <a:rPr lang="en-US" b="true" sz="1999">
                    <a:solidFill>
                      <a:srgbClr val="000000"/>
                    </a:solidFill>
                    <a:latin typeface="Poppins Bold"/>
                    <a:ea typeface="Poppins Bold"/>
                    <a:cs typeface="Poppins Bold"/>
                    <a:sym typeface="Poppins Bold"/>
                  </a:rPr>
                  <a:t>; otherwise, it lies in </a:t>
                </a:r>
                <a:r>
                  <a:rPr lang="en-US" b="true" sz="1999" u="sng">
                    <a:solidFill>
                      <a:srgbClr val="000000"/>
                    </a:solidFill>
                    <a:latin typeface="Poppins Bold"/>
                    <a:ea typeface="Poppins Bold"/>
                    <a:cs typeface="Poppins Bold"/>
                    <a:sym typeface="Poppins Bold"/>
                    <a:hlinkClick r:id="rId3" tooltip="https://app.presentations.ai/undefined"/>
                  </a:rPr>
                  <a:t>c, b</a:t>
                </a:r>
                <a:r>
                  <a:rPr lang="en-US" b="true" sz="1999">
                    <a:solidFill>
                      <a:srgbClr val="000000"/>
                    </a:solidFill>
                    <a:latin typeface="Poppins Bold"/>
                    <a:ea typeface="Poppins Bold"/>
                    <a:cs typeface="Poppins Bold"/>
                    <a:sym typeface="Poppins Bold"/>
                  </a:rPr>
                  <a:t>.</a:t>
                </a:r>
              </a:p>
            </p:txBody>
          </p:sp>
        </p:grpSp>
      </p:grpSp>
      <p:grpSp>
        <p:nvGrpSpPr>
          <p:cNvPr name="Group 47" id="47"/>
          <p:cNvGrpSpPr/>
          <p:nvPr/>
        </p:nvGrpSpPr>
        <p:grpSpPr>
          <a:xfrm rot="0">
            <a:off x="1793381" y="8629632"/>
            <a:ext cx="13430957" cy="1316365"/>
            <a:chOff x="0" y="0"/>
            <a:chExt cx="17907943" cy="1755153"/>
          </a:xfrm>
        </p:grpSpPr>
        <p:grpSp>
          <p:nvGrpSpPr>
            <p:cNvPr name="Group 48" id="48"/>
            <p:cNvGrpSpPr/>
            <p:nvPr/>
          </p:nvGrpSpPr>
          <p:grpSpPr>
            <a:xfrm rot="0">
              <a:off x="0" y="148844"/>
              <a:ext cx="1398916" cy="1398916"/>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50" id="50"/>
              <p:cNvSpPr txBox="true"/>
              <p:nvPr/>
            </p:nvSpPr>
            <p:spPr>
              <a:xfrm>
                <a:off x="76200" y="28575"/>
                <a:ext cx="660400" cy="708025"/>
              </a:xfrm>
              <a:prstGeom prst="rect">
                <a:avLst/>
              </a:prstGeom>
            </p:spPr>
            <p:txBody>
              <a:bodyPr anchor="ctr" rtlCol="false" tIns="28528" lIns="28528" bIns="28528" rIns="28528"/>
              <a:lstStyle/>
              <a:p>
                <a:pPr algn="ctr">
                  <a:lnSpc>
                    <a:spcPts val="2659"/>
                  </a:lnSpc>
                </a:pPr>
              </a:p>
            </p:txBody>
          </p:sp>
        </p:grpSp>
        <p:sp>
          <p:nvSpPr>
            <p:cNvPr name="TextBox 51" id="51"/>
            <p:cNvSpPr txBox="true"/>
            <p:nvPr/>
          </p:nvSpPr>
          <p:spPr>
            <a:xfrm rot="0">
              <a:off x="85896" y="397912"/>
              <a:ext cx="1227124" cy="971961"/>
            </a:xfrm>
            <a:prstGeom prst="rect">
              <a:avLst/>
            </a:prstGeom>
          </p:spPr>
          <p:txBody>
            <a:bodyPr anchor="t" rtlCol="false" tIns="0" lIns="0" bIns="0" rIns="0">
              <a:spAutoFit/>
            </a:bodyPr>
            <a:lstStyle/>
            <a:p>
              <a:pPr algn="ctr">
                <a:lnSpc>
                  <a:spcPts val="6179"/>
                </a:lnSpc>
              </a:pPr>
              <a:r>
                <a:rPr lang="en-US" sz="4413">
                  <a:solidFill>
                    <a:srgbClr val="000000"/>
                  </a:solidFill>
                  <a:latin typeface="League Spartan"/>
                  <a:ea typeface="League Spartan"/>
                  <a:cs typeface="League Spartan"/>
                  <a:sym typeface="League Spartan"/>
                </a:rPr>
                <a:t>5</a:t>
              </a:r>
            </a:p>
          </p:txBody>
        </p:sp>
        <p:grpSp>
          <p:nvGrpSpPr>
            <p:cNvPr name="Group 52" id="52"/>
            <p:cNvGrpSpPr/>
            <p:nvPr/>
          </p:nvGrpSpPr>
          <p:grpSpPr>
            <a:xfrm rot="0">
              <a:off x="1623666" y="0"/>
              <a:ext cx="16284277" cy="1755153"/>
              <a:chOff x="0" y="0"/>
              <a:chExt cx="3116221" cy="335873"/>
            </a:xfrm>
          </p:grpSpPr>
          <p:sp>
            <p:nvSpPr>
              <p:cNvPr name="Freeform 53" id="53"/>
              <p:cNvSpPr/>
              <p:nvPr/>
            </p:nvSpPr>
            <p:spPr>
              <a:xfrm flipH="false" flipV="false" rot="0">
                <a:off x="0" y="0"/>
                <a:ext cx="3116221" cy="335873"/>
              </a:xfrm>
              <a:custGeom>
                <a:avLst/>
                <a:gdLst/>
                <a:ahLst/>
                <a:cxnLst/>
                <a:rect r="r" b="b" t="t" l="l"/>
                <a:pathLst>
                  <a:path h="335873" w="3116221">
                    <a:moveTo>
                      <a:pt x="32329" y="0"/>
                    </a:moveTo>
                    <a:lnTo>
                      <a:pt x="3083892" y="0"/>
                    </a:lnTo>
                    <a:cubicBezTo>
                      <a:pt x="3092467" y="0"/>
                      <a:pt x="3100690" y="3406"/>
                      <a:pt x="3106752" y="9469"/>
                    </a:cubicBezTo>
                    <a:cubicBezTo>
                      <a:pt x="3112815" y="15532"/>
                      <a:pt x="3116221" y="23755"/>
                      <a:pt x="3116221" y="32329"/>
                    </a:cubicBezTo>
                    <a:lnTo>
                      <a:pt x="3116221" y="303544"/>
                    </a:lnTo>
                    <a:cubicBezTo>
                      <a:pt x="3116221" y="321399"/>
                      <a:pt x="3101747" y="335873"/>
                      <a:pt x="3083892" y="335873"/>
                    </a:cubicBezTo>
                    <a:lnTo>
                      <a:pt x="32329" y="335873"/>
                    </a:lnTo>
                    <a:cubicBezTo>
                      <a:pt x="14474" y="335873"/>
                      <a:pt x="0" y="321399"/>
                      <a:pt x="0" y="303544"/>
                    </a:cubicBezTo>
                    <a:lnTo>
                      <a:pt x="0" y="32329"/>
                    </a:lnTo>
                    <a:cubicBezTo>
                      <a:pt x="0" y="14474"/>
                      <a:pt x="14474" y="0"/>
                      <a:pt x="32329" y="0"/>
                    </a:cubicBezTo>
                    <a:close/>
                  </a:path>
                </a:pathLst>
              </a:custGeom>
              <a:solidFill>
                <a:srgbClr val="64CAF4"/>
              </a:solidFill>
            </p:spPr>
          </p:sp>
          <p:sp>
            <p:nvSpPr>
              <p:cNvPr name="TextBox 54" id="54"/>
              <p:cNvSpPr txBox="true"/>
              <p:nvPr/>
            </p:nvSpPr>
            <p:spPr>
              <a:xfrm>
                <a:off x="0" y="-57150"/>
                <a:ext cx="3116221" cy="393023"/>
              </a:xfrm>
              <a:prstGeom prst="rect">
                <a:avLst/>
              </a:prstGeom>
            </p:spPr>
            <p:txBody>
              <a:bodyPr anchor="ctr" rtlCol="false" tIns="52437" lIns="52437" bIns="52437" rIns="52437"/>
              <a:lstStyle/>
              <a:p>
                <a:pPr algn="ctr">
                  <a:lnSpc>
                    <a:spcPts val="3499"/>
                  </a:lnSpc>
                </a:pPr>
                <a:r>
                  <a:rPr lang="en-US" sz="2499">
                    <a:solidFill>
                      <a:srgbClr val="000000"/>
                    </a:solidFill>
                    <a:latin typeface="Archivo Black"/>
                    <a:ea typeface="Archivo Black"/>
                    <a:cs typeface="Archivo Black"/>
                    <a:sym typeface="Archivo Black"/>
                  </a:rPr>
                  <a:t>-Iterate Until Convergence-</a:t>
                </a:r>
              </a:p>
              <a:p>
                <a:pPr algn="ctr">
                  <a:lnSpc>
                    <a:spcPts val="2799"/>
                  </a:lnSpc>
                </a:pPr>
                <a:r>
                  <a:rPr lang="en-US" b="true" sz="1999">
                    <a:solidFill>
                      <a:srgbClr val="000000"/>
                    </a:solidFill>
                    <a:latin typeface="Poppins Bold"/>
                    <a:ea typeface="Poppins Bold"/>
                    <a:cs typeface="Poppins Bold"/>
                    <a:sym typeface="Poppins Bold"/>
                  </a:rPr>
                  <a:t>R</a:t>
                </a:r>
                <a:r>
                  <a:rPr lang="en-US" b="true" sz="1999">
                    <a:solidFill>
                      <a:srgbClr val="000000"/>
                    </a:solidFill>
                    <a:latin typeface="Poppins Bold"/>
                    <a:ea typeface="Poppins Bold"/>
                    <a:cs typeface="Poppins Bold"/>
                    <a:sym typeface="Poppins Bold"/>
                  </a:rPr>
                  <a:t>epeat midpoint calculation and interval narrowing until the interval is sufficiently small or f(c) is near zero, achieving desired accuracy.</a:t>
                </a:r>
              </a:p>
            </p:txBody>
          </p:sp>
        </p:gr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4156520">
            <a:off x="-5194272" y="2810547"/>
            <a:ext cx="11530160" cy="6016647"/>
          </a:xfrm>
          <a:custGeom>
            <a:avLst/>
            <a:gdLst/>
            <a:ahLst/>
            <a:cxnLst/>
            <a:rect r="r" b="b" t="t" l="l"/>
            <a:pathLst>
              <a:path h="6016647" w="11530160">
                <a:moveTo>
                  <a:pt x="0" y="6016647"/>
                </a:moveTo>
                <a:lnTo>
                  <a:pt x="11530160" y="6016647"/>
                </a:lnTo>
                <a:lnTo>
                  <a:pt x="11530160" y="0"/>
                </a:lnTo>
                <a:lnTo>
                  <a:pt x="0" y="0"/>
                </a:lnTo>
                <a:lnTo>
                  <a:pt x="0" y="6016647"/>
                </a:lnTo>
                <a:close/>
              </a:path>
            </a:pathLst>
          </a:custGeom>
          <a:blipFill>
            <a:blip r:embed="rId2">
              <a:alphaModFix amt="87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true" flipV="false" rot="3213757">
            <a:off x="11202007" y="1787048"/>
            <a:ext cx="12114586" cy="6321611"/>
          </a:xfrm>
          <a:custGeom>
            <a:avLst/>
            <a:gdLst/>
            <a:ahLst/>
            <a:cxnLst/>
            <a:rect r="r" b="b" t="t" l="l"/>
            <a:pathLst>
              <a:path h="6321611" w="12114586">
                <a:moveTo>
                  <a:pt x="12114586" y="0"/>
                </a:moveTo>
                <a:lnTo>
                  <a:pt x="0" y="0"/>
                </a:lnTo>
                <a:lnTo>
                  <a:pt x="0" y="6321612"/>
                </a:lnTo>
                <a:lnTo>
                  <a:pt x="12114586" y="6321612"/>
                </a:lnTo>
                <a:lnTo>
                  <a:pt x="12114586" y="0"/>
                </a:lnTo>
                <a:close/>
              </a:path>
            </a:pathLst>
          </a:custGeom>
          <a:blipFill>
            <a:blip r:embed="rId2">
              <a:alphaModFix amt="87000"/>
              <a:extLst>
                <a:ext uri="{96DAC541-7B7A-43D3-8B79-37D633B846F1}">
                  <asvg:svgBlip xmlns:asvg="http://schemas.microsoft.com/office/drawing/2016/SVG/main" r:embed="rId3"/>
                </a:ext>
              </a:extLst>
            </a:blip>
            <a:stretch>
              <a:fillRect l="0" t="0" r="0" b="0"/>
            </a:stretch>
          </a:blipFill>
          <a:ln cap="sq">
            <a:noFill/>
            <a:prstDash val="solid"/>
            <a:miter/>
          </a:ln>
        </p:spPr>
      </p:sp>
      <p:graphicFrame>
        <p:nvGraphicFramePr>
          <p:cNvPr name="Table 4" id="4"/>
          <p:cNvGraphicFramePr>
            <a:graphicFrameLocks noGrp="true"/>
          </p:cNvGraphicFramePr>
          <p:nvPr/>
        </p:nvGraphicFramePr>
        <p:xfrm>
          <a:off x="1193731" y="2756583"/>
          <a:ext cx="15367329" cy="6124575"/>
        </p:xfrm>
        <a:graphic>
          <a:graphicData uri="http://schemas.openxmlformats.org/drawingml/2006/table">
            <a:tbl>
              <a:tblPr/>
              <a:tblGrid>
                <a:gridCol w="2008043"/>
                <a:gridCol w="1896947"/>
                <a:gridCol w="2052783"/>
                <a:gridCol w="2049850"/>
                <a:gridCol w="2644557"/>
                <a:gridCol w="2360242"/>
                <a:gridCol w="2354908"/>
              </a:tblGrid>
              <a:tr h="1020762">
                <a:tc>
                  <a:txBody>
                    <a:bodyPr anchor="t" rtlCol="false"/>
                    <a:lstStyle/>
                    <a:p>
                      <a:pPr algn="l">
                        <a:lnSpc>
                          <a:spcPts val="3449"/>
                        </a:lnSpc>
                        <a:defRPr/>
                      </a:pPr>
                      <a:r>
                        <a:rPr lang="en-US" sz="2463">
                          <a:solidFill>
                            <a:srgbClr val="000000"/>
                          </a:solidFill>
                          <a:latin typeface="Archivo Black"/>
                          <a:ea typeface="Archivo Black"/>
                          <a:cs typeface="Archivo Black"/>
                          <a:sym typeface="Archivo Black"/>
                        </a:rPr>
                        <a:t>Iterations</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64CAF4"/>
                    </a:solidFill>
                  </a:tcPr>
                </a:tc>
                <a:tc>
                  <a:txBody>
                    <a:bodyPr anchor="t" rtlCol="false"/>
                    <a:lstStyle/>
                    <a:p>
                      <a:pPr algn="ctr">
                        <a:lnSpc>
                          <a:spcPts val="4429"/>
                        </a:lnSpc>
                        <a:defRPr/>
                      </a:pPr>
                      <a:r>
                        <a:rPr lang="en-US" sz="3163">
                          <a:solidFill>
                            <a:srgbClr val="000000"/>
                          </a:solidFill>
                          <a:latin typeface="Archivo Black"/>
                          <a:ea typeface="Archivo Black"/>
                          <a:cs typeface="Archivo Black"/>
                          <a:sym typeface="Archivo Black"/>
                        </a:rPr>
                        <a:t>a</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64CAF4"/>
                    </a:solidFill>
                  </a:tcPr>
                </a:tc>
                <a:tc>
                  <a:txBody>
                    <a:bodyPr anchor="t" rtlCol="false"/>
                    <a:lstStyle/>
                    <a:p>
                      <a:pPr algn="ctr">
                        <a:lnSpc>
                          <a:spcPts val="4429"/>
                        </a:lnSpc>
                        <a:defRPr/>
                      </a:pPr>
                      <a:r>
                        <a:rPr lang="en-US" sz="3163">
                          <a:solidFill>
                            <a:srgbClr val="000000"/>
                          </a:solidFill>
                          <a:latin typeface="Archivo Black"/>
                          <a:ea typeface="Archivo Black"/>
                          <a:cs typeface="Archivo Black"/>
                          <a:sym typeface="Archivo Black"/>
                        </a:rPr>
                        <a:t>b</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64CAF4"/>
                    </a:solidFill>
                  </a:tcPr>
                </a:tc>
                <a:tc>
                  <a:txBody>
                    <a:bodyPr anchor="t" rtlCol="false"/>
                    <a:lstStyle/>
                    <a:p>
                      <a:pPr algn="ctr">
                        <a:lnSpc>
                          <a:spcPts val="4429"/>
                        </a:lnSpc>
                        <a:defRPr/>
                      </a:pPr>
                      <a:r>
                        <a:rPr lang="en-US" sz="3163">
                          <a:solidFill>
                            <a:srgbClr val="000000"/>
                          </a:solidFill>
                          <a:latin typeface="Archivo Black"/>
                          <a:ea typeface="Archivo Black"/>
                          <a:cs typeface="Archivo Black"/>
                          <a:sym typeface="Archivo Black"/>
                        </a:rPr>
                        <a:t>f(a)</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64CAF4"/>
                    </a:solidFill>
                  </a:tcPr>
                </a:tc>
                <a:tc>
                  <a:txBody>
                    <a:bodyPr anchor="t" rtlCol="false"/>
                    <a:lstStyle/>
                    <a:p>
                      <a:pPr algn="ctr">
                        <a:lnSpc>
                          <a:spcPts val="4429"/>
                        </a:lnSpc>
                        <a:defRPr/>
                      </a:pPr>
                      <a:r>
                        <a:rPr lang="en-US" sz="3163">
                          <a:solidFill>
                            <a:srgbClr val="000000"/>
                          </a:solidFill>
                          <a:latin typeface="Archivo Black"/>
                          <a:ea typeface="Archivo Black"/>
                          <a:cs typeface="Archivo Black"/>
                          <a:sym typeface="Archivo Black"/>
                        </a:rPr>
                        <a:t>f(b)</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64CAF4"/>
                    </a:solidFill>
                  </a:tcPr>
                </a:tc>
                <a:tc>
                  <a:txBody>
                    <a:bodyPr anchor="t" rtlCol="false"/>
                    <a:lstStyle/>
                    <a:p>
                      <a:pPr algn="ctr">
                        <a:lnSpc>
                          <a:spcPts val="4429"/>
                        </a:lnSpc>
                        <a:defRPr/>
                      </a:pPr>
                      <a:r>
                        <a:rPr lang="en-US" sz="3163">
                          <a:solidFill>
                            <a:srgbClr val="000000"/>
                          </a:solidFill>
                          <a:latin typeface="Archivo Black"/>
                          <a:ea typeface="Archivo Black"/>
                          <a:cs typeface="Archivo Black"/>
                          <a:sym typeface="Archivo Black"/>
                        </a:rPr>
                        <a:t>c</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64CAF4"/>
                    </a:solidFill>
                  </a:tcPr>
                </a:tc>
                <a:tc>
                  <a:txBody>
                    <a:bodyPr anchor="t" rtlCol="false"/>
                    <a:lstStyle/>
                    <a:p>
                      <a:pPr algn="ctr">
                        <a:lnSpc>
                          <a:spcPts val="4429"/>
                        </a:lnSpc>
                        <a:defRPr/>
                      </a:pPr>
                      <a:r>
                        <a:rPr lang="en-US" sz="3163">
                          <a:solidFill>
                            <a:srgbClr val="000000"/>
                          </a:solidFill>
                          <a:latin typeface="Archivo Black"/>
                          <a:ea typeface="Archivo Black"/>
                          <a:cs typeface="Archivo Black"/>
                          <a:sym typeface="Archivo Black"/>
                        </a:rPr>
                        <a:t>f(c)</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64CAF4"/>
                    </a:solidFill>
                  </a:tcPr>
                </a:tc>
              </a:tr>
              <a:tr h="1020762">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1</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D4DBDB"/>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0</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D4DBDB"/>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1</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D4DBDB"/>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-1</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D4DBDB"/>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4</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D4DBDB"/>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0.5</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D4DBDB"/>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0.125</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D4DBDB"/>
                    </a:solidFill>
                  </a:tcPr>
                </a:tc>
              </a:tr>
              <a:tr h="1020762">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2</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FFFFFF"/>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0</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FFFFFF"/>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0.5</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FFFFFF"/>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-1</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FFFFFF"/>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0.125</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FFFFFF"/>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0.25</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FFFFFF"/>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-0.73438</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FFFFFF"/>
                    </a:solidFill>
                  </a:tcPr>
                </a:tc>
              </a:tr>
              <a:tr h="1020762">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3</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E5E5E5"/>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0.25</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E5E5E5"/>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0.5</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E5E5E5"/>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-0.73438</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E5E5E5"/>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0.125</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E5E5E5"/>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0.375</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E5E5E5"/>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-0.38477</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E5E5E5"/>
                    </a:solidFill>
                  </a:tcPr>
                </a:tc>
              </a:tr>
              <a:tr h="1020762">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FFFFFF"/>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FFFFFF"/>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FFFFFF"/>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FFFFFF"/>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FFFFFF"/>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FFFFFF"/>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FFFFFF"/>
                    </a:solidFill>
                  </a:tcPr>
                </a:tc>
              </a:tr>
              <a:tr h="1020762">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7</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E5E5E5"/>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0.46875</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E5E5E5"/>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0.484375</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E5E5E5"/>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-0.018097</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E5E5E5"/>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0.05212</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E5E5E5"/>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0.476563</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E5E5E5"/>
                    </a:solidFill>
                  </a:tcPr>
                </a:tc>
                <a:tc>
                  <a:txBody>
                    <a:bodyPr anchor="t" rtlCol="false"/>
                    <a:lstStyle/>
                    <a:p>
                      <a:pPr algn="ctr">
                        <a:lnSpc>
                          <a:spcPts val="4009"/>
                        </a:lnSpc>
                        <a:defRPr/>
                      </a:pPr>
                      <a:r>
                        <a:rPr lang="en-US" sz="2863" b="true">
                          <a:solidFill>
                            <a:srgbClr val="000000"/>
                          </a:solidFill>
                          <a:latin typeface="Dynamo Medium"/>
                          <a:ea typeface="Dynamo Medium"/>
                          <a:cs typeface="Dynamo Medium"/>
                          <a:sym typeface="Dynamo Medium"/>
                        </a:rPr>
                        <a:t>0.01668</a:t>
                      </a:r>
                      <a:endParaRPr lang="en-US" sz="1100"/>
                    </a:p>
                  </a:txBody>
                  <a:tcPr marL="161925" marR="161925" marT="161925" marB="161925" anchor="ctr">
                    <a:lnL cmpd="sng" algn="ctr" cap="flat" w="9525">
                      <a:solidFill>
                        <a:srgbClr val="3275C5"/>
                      </a:solidFill>
                      <a:prstDash val="solid"/>
                      <a:round/>
                      <a:headEnd type="none" w="med" len="med"/>
                      <a:tailEnd type="none" w="med" len="med"/>
                    </a:lnL>
                    <a:lnR cmpd="sng" algn="ctr" cap="flat" w="9525">
                      <a:solidFill>
                        <a:srgbClr val="3275C5"/>
                      </a:solidFill>
                      <a:prstDash val="solid"/>
                      <a:round/>
                      <a:headEnd type="none" w="med" len="med"/>
                      <a:tailEnd type="none" w="med" len="med"/>
                    </a:lnR>
                    <a:lnT cmpd="sng" algn="ctr" cap="flat" w="9525">
                      <a:solidFill>
                        <a:srgbClr val="3275C5"/>
                      </a:solidFill>
                      <a:prstDash val="solid"/>
                      <a:round/>
                      <a:headEnd type="none" w="med" len="med"/>
                      <a:tailEnd type="none" w="med" len="med"/>
                    </a:lnT>
                    <a:lnB cmpd="sng" algn="ctr" cap="flat" w="9525">
                      <a:solidFill>
                        <a:srgbClr val="3275C5"/>
                      </a:solidFill>
                      <a:prstDash val="solid"/>
                      <a:round/>
                      <a:headEnd type="none" w="med" len="med"/>
                      <a:tailEnd type="none" w="med" len="med"/>
                    </a:lnB>
                    <a:solidFill>
                      <a:srgbClr val="E5E5E5"/>
                    </a:solidFill>
                  </a:tcPr>
                </a:tc>
              </a:tr>
            </a:tbl>
          </a:graphicData>
        </a:graphic>
      </p:graphicFrame>
      <p:sp>
        <p:nvSpPr>
          <p:cNvPr name="TextBox 5" id="5"/>
          <p:cNvSpPr txBox="true"/>
          <p:nvPr/>
        </p:nvSpPr>
        <p:spPr>
          <a:xfrm rot="0">
            <a:off x="666306" y="-5483"/>
            <a:ext cx="15563840" cy="2157090"/>
          </a:xfrm>
          <a:prstGeom prst="rect">
            <a:avLst/>
          </a:prstGeom>
        </p:spPr>
        <p:txBody>
          <a:bodyPr anchor="t" rtlCol="false" tIns="0" lIns="0" bIns="0" rIns="0">
            <a:spAutoFit/>
          </a:bodyPr>
          <a:lstStyle/>
          <a:p>
            <a:pPr algn="ctr">
              <a:lnSpc>
                <a:spcPts val="8680"/>
              </a:lnSpc>
            </a:pPr>
            <a:r>
              <a:rPr lang="en-US" sz="6200" b="true">
                <a:solidFill>
                  <a:srgbClr val="56AAF0"/>
                </a:solidFill>
                <a:latin typeface="Dynamo Medium"/>
                <a:ea typeface="Dynamo Medium"/>
                <a:cs typeface="Dynamo Medium"/>
                <a:sym typeface="Dynamo Medium"/>
              </a:rPr>
              <a:t>Stepwise Bisection Method: </a:t>
            </a:r>
          </a:p>
          <a:p>
            <a:pPr algn="ctr">
              <a:lnSpc>
                <a:spcPts val="8680"/>
              </a:lnSpc>
            </a:pPr>
            <a:r>
              <a:rPr lang="en-US" sz="6200" b="true">
                <a:solidFill>
                  <a:srgbClr val="56AAF0"/>
                </a:solidFill>
                <a:latin typeface="Dynamo Medium"/>
                <a:ea typeface="Dynamo Medium"/>
                <a:cs typeface="Dynamo Medium"/>
                <a:sym typeface="Dynamo Medium"/>
              </a:rPr>
              <a:t>Solving f(x) = x³ + 4x² - 1</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CFEFF"/>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4751090" y="1897973"/>
            <a:ext cx="10511830" cy="6491055"/>
          </a:xfrm>
          <a:custGeom>
            <a:avLst/>
            <a:gdLst/>
            <a:ahLst/>
            <a:cxnLst/>
            <a:rect r="r" b="b" t="t" l="l"/>
            <a:pathLst>
              <a:path h="6491055" w="10511830">
                <a:moveTo>
                  <a:pt x="0" y="0"/>
                </a:moveTo>
                <a:lnTo>
                  <a:pt x="10511830" y="0"/>
                </a:lnTo>
                <a:lnTo>
                  <a:pt x="10511830" y="6491054"/>
                </a:lnTo>
                <a:lnTo>
                  <a:pt x="0" y="6491054"/>
                </a:lnTo>
                <a:lnTo>
                  <a:pt x="0" y="0"/>
                </a:lnTo>
                <a:close/>
              </a:path>
            </a:pathLst>
          </a:custGeom>
          <a:blipFill>
            <a:blip r:embed="rId2"/>
            <a:stretch>
              <a:fillRect l="0" t="0" r="0" b="0"/>
            </a:stretch>
          </a:blipFill>
        </p:spPr>
      </p:sp>
      <p:grpSp>
        <p:nvGrpSpPr>
          <p:cNvPr name="Group 3" id="3"/>
          <p:cNvGrpSpPr/>
          <p:nvPr/>
        </p:nvGrpSpPr>
        <p:grpSpPr>
          <a:xfrm rot="0">
            <a:off x="5902408" y="3750473"/>
            <a:ext cx="7312762" cy="1304399"/>
            <a:chOff x="0" y="0"/>
            <a:chExt cx="1925995" cy="343545"/>
          </a:xfrm>
        </p:grpSpPr>
        <p:sp>
          <p:nvSpPr>
            <p:cNvPr name="Freeform 4" id="4"/>
            <p:cNvSpPr/>
            <p:nvPr/>
          </p:nvSpPr>
          <p:spPr>
            <a:xfrm flipH="false" flipV="false" rot="0">
              <a:off x="0" y="0"/>
              <a:ext cx="1925995" cy="343545"/>
            </a:xfrm>
            <a:custGeom>
              <a:avLst/>
              <a:gdLst/>
              <a:ahLst/>
              <a:cxnLst/>
              <a:rect r="r" b="b" t="t" l="l"/>
              <a:pathLst>
                <a:path h="343545" w="1925995">
                  <a:moveTo>
                    <a:pt x="53993" y="0"/>
                  </a:moveTo>
                  <a:lnTo>
                    <a:pt x="1872002" y="0"/>
                  </a:lnTo>
                  <a:cubicBezTo>
                    <a:pt x="1886322" y="0"/>
                    <a:pt x="1900055" y="5689"/>
                    <a:pt x="1910181" y="15814"/>
                  </a:cubicBezTo>
                  <a:cubicBezTo>
                    <a:pt x="1920306" y="25940"/>
                    <a:pt x="1925995" y="39673"/>
                    <a:pt x="1925995" y="53993"/>
                  </a:cubicBezTo>
                  <a:lnTo>
                    <a:pt x="1925995" y="289552"/>
                  </a:lnTo>
                  <a:cubicBezTo>
                    <a:pt x="1925995" y="319372"/>
                    <a:pt x="1901822" y="343545"/>
                    <a:pt x="1872002" y="343545"/>
                  </a:cubicBezTo>
                  <a:lnTo>
                    <a:pt x="53993" y="343545"/>
                  </a:lnTo>
                  <a:cubicBezTo>
                    <a:pt x="24173" y="343545"/>
                    <a:pt x="0" y="319372"/>
                    <a:pt x="0" y="289552"/>
                  </a:cubicBezTo>
                  <a:lnTo>
                    <a:pt x="0" y="53993"/>
                  </a:lnTo>
                  <a:cubicBezTo>
                    <a:pt x="0" y="24173"/>
                    <a:pt x="24173" y="0"/>
                    <a:pt x="53993" y="0"/>
                  </a:cubicBezTo>
                  <a:close/>
                </a:path>
              </a:pathLst>
            </a:custGeom>
            <a:solidFill>
              <a:srgbClr val="56AAF0"/>
            </a:solidFill>
          </p:spPr>
        </p:sp>
        <p:sp>
          <p:nvSpPr>
            <p:cNvPr name="TextBox 5" id="5"/>
            <p:cNvSpPr txBox="true"/>
            <p:nvPr/>
          </p:nvSpPr>
          <p:spPr>
            <a:xfrm>
              <a:off x="0" y="19050"/>
              <a:ext cx="1925995" cy="324495"/>
            </a:xfrm>
            <a:prstGeom prst="rect">
              <a:avLst/>
            </a:prstGeom>
          </p:spPr>
          <p:txBody>
            <a:bodyPr anchor="ctr" rtlCol="false" tIns="50800" lIns="50800" bIns="50800" rIns="50800"/>
            <a:lstStyle/>
            <a:p>
              <a:pPr algn="ctr">
                <a:lnSpc>
                  <a:spcPts val="3349"/>
                </a:lnSpc>
              </a:pPr>
              <a:r>
                <a:rPr lang="en-US" b="true" sz="2963">
                  <a:solidFill>
                    <a:srgbClr val="FFFFFF"/>
                  </a:solidFill>
                  <a:latin typeface="Assistant Bold"/>
                  <a:ea typeface="Assistant Bold"/>
                  <a:cs typeface="Assistant Bold"/>
                  <a:sym typeface="Assistant Bold"/>
                </a:rPr>
                <a:t>The interval progressively narrows, converging on the root near 0.472834</a:t>
              </a:r>
            </a:p>
          </p:txBody>
        </p:sp>
      </p:grpSp>
      <p:grpSp>
        <p:nvGrpSpPr>
          <p:cNvPr name="Group 6" id="6"/>
          <p:cNvGrpSpPr/>
          <p:nvPr/>
        </p:nvGrpSpPr>
        <p:grpSpPr>
          <a:xfrm rot="-5400000">
            <a:off x="8491166" y="1803630"/>
            <a:ext cx="2135247" cy="1758439"/>
            <a:chOff x="0" y="0"/>
            <a:chExt cx="647700" cy="533400"/>
          </a:xfrm>
        </p:grpSpPr>
        <p:sp>
          <p:nvSpPr>
            <p:cNvPr name="Freeform 7" id="7"/>
            <p:cNvSpPr/>
            <p:nvPr/>
          </p:nvSpPr>
          <p:spPr>
            <a:xfrm flipH="false" flipV="false" rot="0">
              <a:off x="0" y="0"/>
              <a:ext cx="647700" cy="533400"/>
            </a:xfrm>
            <a:custGeom>
              <a:avLst/>
              <a:gdLst/>
              <a:ahLst/>
              <a:cxnLst/>
              <a:rect r="r" b="b" t="t" l="l"/>
              <a:pathLst>
                <a:path h="533400" w="647700">
                  <a:moveTo>
                    <a:pt x="239386" y="166418"/>
                  </a:moveTo>
                  <a:lnTo>
                    <a:pt x="647700" y="166418"/>
                  </a:lnTo>
                  <a:lnTo>
                    <a:pt x="647700" y="366942"/>
                  </a:lnTo>
                  <a:lnTo>
                    <a:pt x="239373" y="366942"/>
                  </a:lnTo>
                  <a:lnTo>
                    <a:pt x="302255" y="533400"/>
                  </a:lnTo>
                  <a:lnTo>
                    <a:pt x="0" y="266700"/>
                  </a:lnTo>
                  <a:lnTo>
                    <a:pt x="302255" y="0"/>
                  </a:lnTo>
                  <a:lnTo>
                    <a:pt x="239386" y="166418"/>
                  </a:lnTo>
                  <a:close/>
                </a:path>
              </a:pathLst>
            </a:custGeom>
            <a:solidFill>
              <a:srgbClr val="3275C5"/>
            </a:solidFill>
          </p:spPr>
        </p:sp>
        <p:sp>
          <p:nvSpPr>
            <p:cNvPr name="TextBox 8" id="8"/>
            <p:cNvSpPr txBox="true"/>
            <p:nvPr/>
          </p:nvSpPr>
          <p:spPr>
            <a:xfrm>
              <a:off x="120650" y="184150"/>
              <a:ext cx="527050" cy="184150"/>
            </a:xfrm>
            <a:prstGeom prst="rect">
              <a:avLst/>
            </a:prstGeom>
          </p:spPr>
          <p:txBody>
            <a:bodyPr anchor="ctr" rtlCol="false" tIns="50800" lIns="50800" bIns="50800" rIns="50800"/>
            <a:lstStyle/>
            <a:p>
              <a:pPr algn="ctr">
                <a:lnSpc>
                  <a:spcPts val="1993"/>
                </a:lnSpc>
              </a:pPr>
            </a:p>
          </p:txBody>
        </p:sp>
      </p:grpSp>
      <p:grpSp>
        <p:nvGrpSpPr>
          <p:cNvPr name="Group 9" id="9"/>
          <p:cNvGrpSpPr/>
          <p:nvPr/>
        </p:nvGrpSpPr>
        <p:grpSpPr>
          <a:xfrm rot="0">
            <a:off x="5902408" y="414868"/>
            <a:ext cx="7312762" cy="1200358"/>
            <a:chOff x="0" y="0"/>
            <a:chExt cx="1925995" cy="316144"/>
          </a:xfrm>
        </p:grpSpPr>
        <p:sp>
          <p:nvSpPr>
            <p:cNvPr name="Freeform 10" id="10"/>
            <p:cNvSpPr/>
            <p:nvPr/>
          </p:nvSpPr>
          <p:spPr>
            <a:xfrm flipH="false" flipV="false" rot="0">
              <a:off x="0" y="0"/>
              <a:ext cx="1925995" cy="316144"/>
            </a:xfrm>
            <a:custGeom>
              <a:avLst/>
              <a:gdLst/>
              <a:ahLst/>
              <a:cxnLst/>
              <a:rect r="r" b="b" t="t" l="l"/>
              <a:pathLst>
                <a:path h="316144" w="1925995">
                  <a:moveTo>
                    <a:pt x="53993" y="0"/>
                  </a:moveTo>
                  <a:lnTo>
                    <a:pt x="1872002" y="0"/>
                  </a:lnTo>
                  <a:cubicBezTo>
                    <a:pt x="1886322" y="0"/>
                    <a:pt x="1900055" y="5689"/>
                    <a:pt x="1910181" y="15814"/>
                  </a:cubicBezTo>
                  <a:cubicBezTo>
                    <a:pt x="1920306" y="25940"/>
                    <a:pt x="1925995" y="39673"/>
                    <a:pt x="1925995" y="53993"/>
                  </a:cubicBezTo>
                  <a:lnTo>
                    <a:pt x="1925995" y="262151"/>
                  </a:lnTo>
                  <a:cubicBezTo>
                    <a:pt x="1925995" y="291970"/>
                    <a:pt x="1901822" y="316144"/>
                    <a:pt x="1872002" y="316144"/>
                  </a:cubicBezTo>
                  <a:lnTo>
                    <a:pt x="53993" y="316144"/>
                  </a:lnTo>
                  <a:cubicBezTo>
                    <a:pt x="24173" y="316144"/>
                    <a:pt x="0" y="291970"/>
                    <a:pt x="0" y="262151"/>
                  </a:cubicBezTo>
                  <a:lnTo>
                    <a:pt x="0" y="53993"/>
                  </a:lnTo>
                  <a:cubicBezTo>
                    <a:pt x="0" y="24173"/>
                    <a:pt x="24173" y="0"/>
                    <a:pt x="53993" y="0"/>
                  </a:cubicBezTo>
                  <a:close/>
                </a:path>
              </a:pathLst>
            </a:custGeom>
            <a:solidFill>
              <a:srgbClr val="56AAF0"/>
            </a:solidFill>
          </p:spPr>
        </p:sp>
        <p:sp>
          <p:nvSpPr>
            <p:cNvPr name="TextBox 11" id="11"/>
            <p:cNvSpPr txBox="true"/>
            <p:nvPr/>
          </p:nvSpPr>
          <p:spPr>
            <a:xfrm>
              <a:off x="0" y="28575"/>
              <a:ext cx="1925995" cy="287569"/>
            </a:xfrm>
            <a:prstGeom prst="rect">
              <a:avLst/>
            </a:prstGeom>
          </p:spPr>
          <p:txBody>
            <a:bodyPr anchor="ctr" rtlCol="false" tIns="50800" lIns="50800" bIns="50800" rIns="50800"/>
            <a:lstStyle/>
            <a:p>
              <a:pPr algn="ctr">
                <a:lnSpc>
                  <a:spcPts val="4931"/>
                </a:lnSpc>
              </a:pPr>
              <a:r>
                <a:rPr lang="en-US" b="true" sz="4363">
                  <a:solidFill>
                    <a:srgbClr val="FFFFFF"/>
                  </a:solidFill>
                  <a:latin typeface="Assistant Bold"/>
                  <a:ea typeface="Assistant Bold"/>
                  <a:cs typeface="Assistant Bold"/>
                  <a:sym typeface="Assistant Bold"/>
                </a:rPr>
                <a:t>FROM THE TABLE</a:t>
              </a:r>
            </a:p>
          </p:txBody>
        </p:sp>
      </p:grpSp>
      <p:grpSp>
        <p:nvGrpSpPr>
          <p:cNvPr name="Group 12" id="12"/>
          <p:cNvGrpSpPr/>
          <p:nvPr/>
        </p:nvGrpSpPr>
        <p:grpSpPr>
          <a:xfrm rot="0">
            <a:off x="5902408" y="7190120"/>
            <a:ext cx="7312762" cy="1304399"/>
            <a:chOff x="0" y="0"/>
            <a:chExt cx="1925995" cy="343545"/>
          </a:xfrm>
        </p:grpSpPr>
        <p:sp>
          <p:nvSpPr>
            <p:cNvPr name="Freeform 13" id="13"/>
            <p:cNvSpPr/>
            <p:nvPr/>
          </p:nvSpPr>
          <p:spPr>
            <a:xfrm flipH="false" flipV="false" rot="0">
              <a:off x="0" y="0"/>
              <a:ext cx="1925995" cy="343545"/>
            </a:xfrm>
            <a:custGeom>
              <a:avLst/>
              <a:gdLst/>
              <a:ahLst/>
              <a:cxnLst/>
              <a:rect r="r" b="b" t="t" l="l"/>
              <a:pathLst>
                <a:path h="343545" w="1925995">
                  <a:moveTo>
                    <a:pt x="53993" y="0"/>
                  </a:moveTo>
                  <a:lnTo>
                    <a:pt x="1872002" y="0"/>
                  </a:lnTo>
                  <a:cubicBezTo>
                    <a:pt x="1886322" y="0"/>
                    <a:pt x="1900055" y="5689"/>
                    <a:pt x="1910181" y="15814"/>
                  </a:cubicBezTo>
                  <a:cubicBezTo>
                    <a:pt x="1920306" y="25940"/>
                    <a:pt x="1925995" y="39673"/>
                    <a:pt x="1925995" y="53993"/>
                  </a:cubicBezTo>
                  <a:lnTo>
                    <a:pt x="1925995" y="289552"/>
                  </a:lnTo>
                  <a:cubicBezTo>
                    <a:pt x="1925995" y="319372"/>
                    <a:pt x="1901822" y="343545"/>
                    <a:pt x="1872002" y="343545"/>
                  </a:cubicBezTo>
                  <a:lnTo>
                    <a:pt x="53993" y="343545"/>
                  </a:lnTo>
                  <a:cubicBezTo>
                    <a:pt x="24173" y="343545"/>
                    <a:pt x="0" y="319372"/>
                    <a:pt x="0" y="289552"/>
                  </a:cubicBezTo>
                  <a:lnTo>
                    <a:pt x="0" y="53993"/>
                  </a:lnTo>
                  <a:cubicBezTo>
                    <a:pt x="0" y="24173"/>
                    <a:pt x="24173" y="0"/>
                    <a:pt x="53993" y="0"/>
                  </a:cubicBezTo>
                  <a:close/>
                </a:path>
              </a:pathLst>
            </a:custGeom>
            <a:solidFill>
              <a:srgbClr val="56AAF0"/>
            </a:solidFill>
          </p:spPr>
        </p:sp>
        <p:sp>
          <p:nvSpPr>
            <p:cNvPr name="TextBox 14" id="14"/>
            <p:cNvSpPr txBox="true"/>
            <p:nvPr/>
          </p:nvSpPr>
          <p:spPr>
            <a:xfrm>
              <a:off x="0" y="19050"/>
              <a:ext cx="1925995" cy="324495"/>
            </a:xfrm>
            <a:prstGeom prst="rect">
              <a:avLst/>
            </a:prstGeom>
          </p:spPr>
          <p:txBody>
            <a:bodyPr anchor="ctr" rtlCol="false" tIns="50800" lIns="50800" bIns="50800" rIns="50800"/>
            <a:lstStyle/>
            <a:p>
              <a:pPr algn="ctr">
                <a:lnSpc>
                  <a:spcPts val="3349"/>
                </a:lnSpc>
              </a:pPr>
              <a:r>
                <a:rPr lang="en-US" b="true" sz="2963">
                  <a:solidFill>
                    <a:srgbClr val="FFFFFF"/>
                  </a:solidFill>
                  <a:latin typeface="Assistant Bold"/>
                  <a:ea typeface="Assistant Bold"/>
                  <a:cs typeface="Assistant Bold"/>
                  <a:sym typeface="Assistant Bold"/>
                </a:rPr>
                <a:t>Signs of f(c) at midpoints guide interval updates to maintain root bracketing</a:t>
              </a:r>
            </a:p>
          </p:txBody>
        </p:sp>
      </p:grpSp>
      <p:grpSp>
        <p:nvGrpSpPr>
          <p:cNvPr name="Group 15" id="15"/>
          <p:cNvGrpSpPr/>
          <p:nvPr/>
        </p:nvGrpSpPr>
        <p:grpSpPr>
          <a:xfrm rot="-5400000">
            <a:off x="8491166" y="5243277"/>
            <a:ext cx="2135247" cy="1758439"/>
            <a:chOff x="0" y="0"/>
            <a:chExt cx="647700" cy="533400"/>
          </a:xfrm>
        </p:grpSpPr>
        <p:sp>
          <p:nvSpPr>
            <p:cNvPr name="Freeform 16" id="16"/>
            <p:cNvSpPr/>
            <p:nvPr/>
          </p:nvSpPr>
          <p:spPr>
            <a:xfrm flipH="false" flipV="false" rot="0">
              <a:off x="0" y="0"/>
              <a:ext cx="647700" cy="533400"/>
            </a:xfrm>
            <a:custGeom>
              <a:avLst/>
              <a:gdLst/>
              <a:ahLst/>
              <a:cxnLst/>
              <a:rect r="r" b="b" t="t" l="l"/>
              <a:pathLst>
                <a:path h="533400" w="647700">
                  <a:moveTo>
                    <a:pt x="239386" y="166418"/>
                  </a:moveTo>
                  <a:lnTo>
                    <a:pt x="647700" y="166418"/>
                  </a:lnTo>
                  <a:lnTo>
                    <a:pt x="647700" y="366942"/>
                  </a:lnTo>
                  <a:lnTo>
                    <a:pt x="239373" y="366942"/>
                  </a:lnTo>
                  <a:lnTo>
                    <a:pt x="302255" y="533400"/>
                  </a:lnTo>
                  <a:lnTo>
                    <a:pt x="0" y="266700"/>
                  </a:lnTo>
                  <a:lnTo>
                    <a:pt x="302255" y="0"/>
                  </a:lnTo>
                  <a:lnTo>
                    <a:pt x="239386" y="166418"/>
                  </a:lnTo>
                  <a:close/>
                </a:path>
              </a:pathLst>
            </a:custGeom>
            <a:solidFill>
              <a:srgbClr val="3275C5"/>
            </a:solidFill>
          </p:spPr>
        </p:sp>
        <p:sp>
          <p:nvSpPr>
            <p:cNvPr name="TextBox 17" id="17"/>
            <p:cNvSpPr txBox="true"/>
            <p:nvPr/>
          </p:nvSpPr>
          <p:spPr>
            <a:xfrm>
              <a:off x="120650" y="184150"/>
              <a:ext cx="527050" cy="184150"/>
            </a:xfrm>
            <a:prstGeom prst="rect">
              <a:avLst/>
            </a:prstGeom>
          </p:spPr>
          <p:txBody>
            <a:bodyPr anchor="ctr" rtlCol="false" tIns="50800" lIns="50800" bIns="50800" rIns="50800"/>
            <a:lstStyle/>
            <a:p>
              <a:pPr algn="ctr">
                <a:lnSpc>
                  <a:spcPts val="1993"/>
                </a:lnSpc>
              </a:pPr>
            </a:p>
          </p:txBody>
        </p:sp>
      </p:grpSp>
      <p:sp>
        <p:nvSpPr>
          <p:cNvPr name="Freeform 18" id="18"/>
          <p:cNvSpPr/>
          <p:nvPr/>
        </p:nvSpPr>
        <p:spPr>
          <a:xfrm flipH="true" flipV="true" rot="0">
            <a:off x="13806867" y="0"/>
            <a:ext cx="4481133" cy="2503833"/>
          </a:xfrm>
          <a:custGeom>
            <a:avLst/>
            <a:gdLst/>
            <a:ahLst/>
            <a:cxnLst/>
            <a:rect r="r" b="b" t="t" l="l"/>
            <a:pathLst>
              <a:path h="2503833" w="4481133">
                <a:moveTo>
                  <a:pt x="4481133" y="2503833"/>
                </a:moveTo>
                <a:lnTo>
                  <a:pt x="0" y="2503833"/>
                </a:lnTo>
                <a:lnTo>
                  <a:pt x="0" y="0"/>
                </a:lnTo>
                <a:lnTo>
                  <a:pt x="4481133" y="0"/>
                </a:lnTo>
                <a:lnTo>
                  <a:pt x="4481133" y="2503833"/>
                </a:lnTo>
                <a:close/>
              </a:path>
            </a:pathLst>
          </a:custGeom>
          <a:blipFill>
            <a:blip r:embed="rId3">
              <a:alphaModFix amt="69000"/>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CFEFF"/>
        </a:solidFill>
      </p:bgPr>
    </p:bg>
    <p:spTree>
      <p:nvGrpSpPr>
        <p:cNvPr id="1" name=""/>
        <p:cNvGrpSpPr/>
        <p:nvPr/>
      </p:nvGrpSpPr>
      <p:grpSpPr>
        <a:xfrm>
          <a:off x="0" y="0"/>
          <a:ext cx="0" cy="0"/>
          <a:chOff x="0" y="0"/>
          <a:chExt cx="0" cy="0"/>
        </a:xfrm>
      </p:grpSpPr>
      <p:sp>
        <p:nvSpPr>
          <p:cNvPr name="Freeform 2" id="2"/>
          <p:cNvSpPr/>
          <p:nvPr/>
        </p:nvSpPr>
        <p:spPr>
          <a:xfrm flipH="false" flipV="true" rot="5400000">
            <a:off x="8554384" y="553384"/>
            <a:ext cx="10399415" cy="9067817"/>
          </a:xfrm>
          <a:custGeom>
            <a:avLst/>
            <a:gdLst/>
            <a:ahLst/>
            <a:cxnLst/>
            <a:rect r="r" b="b" t="t" l="l"/>
            <a:pathLst>
              <a:path h="9067817" w="10399415">
                <a:moveTo>
                  <a:pt x="0" y="9067817"/>
                </a:moveTo>
                <a:lnTo>
                  <a:pt x="10399415" y="9067817"/>
                </a:lnTo>
                <a:lnTo>
                  <a:pt x="10399415" y="0"/>
                </a:lnTo>
                <a:lnTo>
                  <a:pt x="0" y="0"/>
                </a:lnTo>
                <a:lnTo>
                  <a:pt x="0" y="9067817"/>
                </a:lnTo>
                <a:close/>
              </a:path>
            </a:pathLst>
          </a:custGeom>
          <a:blipFill>
            <a:blip r:embed="rId2"/>
            <a:stretch>
              <a:fillRect l="-138917" t="0" r="-138917" b="-167575"/>
            </a:stretch>
          </a:blipFill>
        </p:spPr>
      </p:sp>
      <p:grpSp>
        <p:nvGrpSpPr>
          <p:cNvPr name="Group 3" id="3"/>
          <p:cNvGrpSpPr/>
          <p:nvPr/>
        </p:nvGrpSpPr>
        <p:grpSpPr>
          <a:xfrm rot="0">
            <a:off x="1866092" y="3750131"/>
            <a:ext cx="7277908" cy="2309028"/>
            <a:chOff x="0" y="0"/>
            <a:chExt cx="1995051" cy="632961"/>
          </a:xfrm>
        </p:grpSpPr>
        <p:sp>
          <p:nvSpPr>
            <p:cNvPr name="Freeform 4" id="4"/>
            <p:cNvSpPr/>
            <p:nvPr/>
          </p:nvSpPr>
          <p:spPr>
            <a:xfrm flipH="false" flipV="false" rot="0">
              <a:off x="4321" y="0"/>
              <a:ext cx="1986409" cy="632961"/>
            </a:xfrm>
            <a:custGeom>
              <a:avLst/>
              <a:gdLst/>
              <a:ahLst/>
              <a:cxnLst/>
              <a:rect r="r" b="b" t="t" l="l"/>
              <a:pathLst>
                <a:path h="632961" w="1986409">
                  <a:moveTo>
                    <a:pt x="242255" y="0"/>
                  </a:moveTo>
                  <a:lnTo>
                    <a:pt x="1974342" y="0"/>
                  </a:lnTo>
                  <a:cubicBezTo>
                    <a:pt x="1978086" y="0"/>
                    <a:pt x="1981595" y="1826"/>
                    <a:pt x="1983744" y="4893"/>
                  </a:cubicBezTo>
                  <a:cubicBezTo>
                    <a:pt x="1985892" y="7961"/>
                    <a:pt x="1986409" y="11883"/>
                    <a:pt x="1985129" y="15402"/>
                  </a:cubicBezTo>
                  <a:lnTo>
                    <a:pt x="1766144" y="617559"/>
                  </a:lnTo>
                  <a:cubicBezTo>
                    <a:pt x="1762781" y="626806"/>
                    <a:pt x="1753993" y="632961"/>
                    <a:pt x="1744154" y="632961"/>
                  </a:cubicBezTo>
                  <a:lnTo>
                    <a:pt x="12067" y="632961"/>
                  </a:lnTo>
                  <a:cubicBezTo>
                    <a:pt x="8323" y="632961"/>
                    <a:pt x="4814" y="631134"/>
                    <a:pt x="2666" y="628067"/>
                  </a:cubicBezTo>
                  <a:cubicBezTo>
                    <a:pt x="517" y="625000"/>
                    <a:pt x="0" y="621078"/>
                    <a:pt x="1280" y="617559"/>
                  </a:cubicBezTo>
                  <a:lnTo>
                    <a:pt x="220265" y="15402"/>
                  </a:lnTo>
                  <a:cubicBezTo>
                    <a:pt x="223628" y="6155"/>
                    <a:pt x="232416" y="0"/>
                    <a:pt x="242255" y="0"/>
                  </a:cubicBezTo>
                  <a:close/>
                </a:path>
              </a:pathLst>
            </a:custGeom>
            <a:solidFill>
              <a:srgbClr val="3275C5"/>
            </a:solidFill>
          </p:spPr>
        </p:sp>
        <p:sp>
          <p:nvSpPr>
            <p:cNvPr name="TextBox 5" id="5"/>
            <p:cNvSpPr txBox="true"/>
            <p:nvPr/>
          </p:nvSpPr>
          <p:spPr>
            <a:xfrm>
              <a:off x="254000" y="28575"/>
              <a:ext cx="1487051" cy="604386"/>
            </a:xfrm>
            <a:prstGeom prst="rect">
              <a:avLst/>
            </a:prstGeom>
          </p:spPr>
          <p:txBody>
            <a:bodyPr anchor="ctr" rtlCol="false" tIns="50800" lIns="50800" bIns="50800" rIns="50800"/>
            <a:lstStyle/>
            <a:p>
              <a:pPr algn="ctr">
                <a:lnSpc>
                  <a:spcPts val="2784"/>
                </a:lnSpc>
              </a:pPr>
              <a:r>
                <a:rPr lang="en-US" b="true" sz="2463">
                  <a:solidFill>
                    <a:srgbClr val="FCFEFF"/>
                  </a:solidFill>
                  <a:latin typeface="Assistant Bold"/>
                  <a:ea typeface="Assistant Bold"/>
                  <a:cs typeface="Assistant Bold"/>
                  <a:sym typeface="Assistant Bold"/>
                </a:rPr>
                <a:t>UNCONDITIONAL ROBUSTNESS</a:t>
              </a:r>
            </a:p>
            <a:p>
              <a:pPr algn="ctr">
                <a:lnSpc>
                  <a:spcPts val="2784"/>
                </a:lnSpc>
              </a:pPr>
            </a:p>
            <a:p>
              <a:pPr algn="ctr">
                <a:lnSpc>
                  <a:spcPts val="2784"/>
                </a:lnSpc>
              </a:pPr>
              <a:r>
                <a:rPr lang="en-US" b="true" sz="2463">
                  <a:solidFill>
                    <a:srgbClr val="FCFEFF"/>
                  </a:solidFill>
                  <a:latin typeface="Assistant Bold"/>
                  <a:ea typeface="Assistant Bold"/>
                  <a:cs typeface="Assistant Bold"/>
                  <a:sym typeface="Assistant Bold"/>
                </a:rPr>
                <a:t>Convergence is guaranteed as long as the initial interval brackets a root. It is highly stable and cannot diverge.</a:t>
              </a:r>
            </a:p>
          </p:txBody>
        </p:sp>
      </p:grpSp>
      <p:sp>
        <p:nvSpPr>
          <p:cNvPr name="TextBox 6" id="6"/>
          <p:cNvSpPr txBox="true"/>
          <p:nvPr/>
        </p:nvSpPr>
        <p:spPr>
          <a:xfrm rot="0">
            <a:off x="2213984" y="355602"/>
            <a:ext cx="15933429" cy="1203321"/>
          </a:xfrm>
          <a:prstGeom prst="rect">
            <a:avLst/>
          </a:prstGeom>
        </p:spPr>
        <p:txBody>
          <a:bodyPr anchor="t" rtlCol="false" tIns="0" lIns="0" bIns="0" rIns="0">
            <a:spAutoFit/>
          </a:bodyPr>
          <a:lstStyle/>
          <a:p>
            <a:pPr algn="l">
              <a:lnSpc>
                <a:spcPts val="9800"/>
              </a:lnSpc>
            </a:pPr>
            <a:r>
              <a:rPr lang="en-US" sz="7000" b="true">
                <a:solidFill>
                  <a:srgbClr val="042EA2"/>
                </a:solidFill>
                <a:latin typeface="Dynamo Medium"/>
                <a:ea typeface="Dynamo Medium"/>
                <a:cs typeface="Dynamo Medium"/>
                <a:sym typeface="Dynamo Medium"/>
              </a:rPr>
              <a:t>ADVANTAGES</a:t>
            </a:r>
            <a:r>
              <a:rPr lang="en-US" sz="7000" b="true">
                <a:solidFill>
                  <a:srgbClr val="FFFFFF"/>
                </a:solidFill>
                <a:latin typeface="Dynamo Medium"/>
                <a:ea typeface="Dynamo Medium"/>
                <a:cs typeface="Dynamo Medium"/>
                <a:sym typeface="Dynamo Medium"/>
              </a:rPr>
              <a:t> </a:t>
            </a:r>
            <a:r>
              <a:rPr lang="en-US" sz="7000" b="true">
                <a:solidFill>
                  <a:srgbClr val="042EA2"/>
                </a:solidFill>
                <a:latin typeface="Dynamo Medium"/>
                <a:ea typeface="Dynamo Medium"/>
                <a:cs typeface="Dynamo Medium"/>
                <a:sym typeface="Dynamo Medium"/>
              </a:rPr>
              <a:t>OF THE BISECTION METHOD</a:t>
            </a:r>
          </a:p>
        </p:txBody>
      </p:sp>
      <p:sp>
        <p:nvSpPr>
          <p:cNvPr name="TextBox 7" id="7"/>
          <p:cNvSpPr txBox="true"/>
          <p:nvPr/>
        </p:nvSpPr>
        <p:spPr>
          <a:xfrm rot="0">
            <a:off x="1028700" y="2084300"/>
            <a:ext cx="15206339" cy="1073778"/>
          </a:xfrm>
          <a:prstGeom prst="rect">
            <a:avLst/>
          </a:prstGeom>
        </p:spPr>
        <p:txBody>
          <a:bodyPr anchor="t" rtlCol="false" tIns="0" lIns="0" bIns="0" rIns="0">
            <a:spAutoFit/>
          </a:bodyPr>
          <a:lstStyle/>
          <a:p>
            <a:pPr algn="just">
              <a:lnSpc>
                <a:spcPts val="4340"/>
              </a:lnSpc>
              <a:spcBef>
                <a:spcPct val="0"/>
              </a:spcBef>
            </a:pPr>
            <a:r>
              <a:rPr lang="en-US" b="true" sz="3100">
                <a:solidFill>
                  <a:srgbClr val="000000"/>
                </a:solidFill>
                <a:latin typeface="Dynamo Medium"/>
                <a:ea typeface="Dynamo Medium"/>
                <a:cs typeface="Dynamo Medium"/>
                <a:sym typeface="Dynamo Medium"/>
              </a:rPr>
              <a:t>Despite its </a:t>
            </a:r>
            <a:r>
              <a:rPr lang="en-US" b="true" sz="3100">
                <a:solidFill>
                  <a:srgbClr val="000000"/>
                </a:solidFill>
                <a:latin typeface="Dynamo Medium"/>
                <a:ea typeface="Dynamo Medium"/>
                <a:cs typeface="Dynamo Medium"/>
                <a:sym typeface="Dynamo Medium"/>
              </a:rPr>
              <a:t>relatively slow speed compared to advanced methods, the Bisection Method remains a fundamental tool due to its intrinsic reliability. e.g.</a:t>
            </a:r>
          </a:p>
        </p:txBody>
      </p:sp>
      <p:grpSp>
        <p:nvGrpSpPr>
          <p:cNvPr name="Group 8" id="8"/>
          <p:cNvGrpSpPr/>
          <p:nvPr/>
        </p:nvGrpSpPr>
        <p:grpSpPr>
          <a:xfrm rot="0">
            <a:off x="9144000" y="3750131"/>
            <a:ext cx="7277908" cy="2309028"/>
            <a:chOff x="0" y="0"/>
            <a:chExt cx="1995051" cy="632961"/>
          </a:xfrm>
        </p:grpSpPr>
        <p:sp>
          <p:nvSpPr>
            <p:cNvPr name="Freeform 9" id="9"/>
            <p:cNvSpPr/>
            <p:nvPr/>
          </p:nvSpPr>
          <p:spPr>
            <a:xfrm flipH="false" flipV="false" rot="0">
              <a:off x="4321" y="0"/>
              <a:ext cx="1986409" cy="632961"/>
            </a:xfrm>
            <a:custGeom>
              <a:avLst/>
              <a:gdLst/>
              <a:ahLst/>
              <a:cxnLst/>
              <a:rect r="r" b="b" t="t" l="l"/>
              <a:pathLst>
                <a:path h="632961" w="1986409">
                  <a:moveTo>
                    <a:pt x="242255" y="0"/>
                  </a:moveTo>
                  <a:lnTo>
                    <a:pt x="1974342" y="0"/>
                  </a:lnTo>
                  <a:cubicBezTo>
                    <a:pt x="1978086" y="0"/>
                    <a:pt x="1981595" y="1826"/>
                    <a:pt x="1983744" y="4893"/>
                  </a:cubicBezTo>
                  <a:cubicBezTo>
                    <a:pt x="1985892" y="7961"/>
                    <a:pt x="1986409" y="11883"/>
                    <a:pt x="1985129" y="15402"/>
                  </a:cubicBezTo>
                  <a:lnTo>
                    <a:pt x="1766144" y="617559"/>
                  </a:lnTo>
                  <a:cubicBezTo>
                    <a:pt x="1762781" y="626806"/>
                    <a:pt x="1753993" y="632961"/>
                    <a:pt x="1744154" y="632961"/>
                  </a:cubicBezTo>
                  <a:lnTo>
                    <a:pt x="12067" y="632961"/>
                  </a:lnTo>
                  <a:cubicBezTo>
                    <a:pt x="8323" y="632961"/>
                    <a:pt x="4814" y="631134"/>
                    <a:pt x="2666" y="628067"/>
                  </a:cubicBezTo>
                  <a:cubicBezTo>
                    <a:pt x="517" y="625000"/>
                    <a:pt x="0" y="621078"/>
                    <a:pt x="1280" y="617559"/>
                  </a:cubicBezTo>
                  <a:lnTo>
                    <a:pt x="220265" y="15402"/>
                  </a:lnTo>
                  <a:cubicBezTo>
                    <a:pt x="223628" y="6155"/>
                    <a:pt x="232416" y="0"/>
                    <a:pt x="242255" y="0"/>
                  </a:cubicBezTo>
                  <a:close/>
                </a:path>
              </a:pathLst>
            </a:custGeom>
            <a:solidFill>
              <a:srgbClr val="3275C5"/>
            </a:solidFill>
          </p:spPr>
        </p:sp>
        <p:sp>
          <p:nvSpPr>
            <p:cNvPr name="TextBox 10" id="10"/>
            <p:cNvSpPr txBox="true"/>
            <p:nvPr/>
          </p:nvSpPr>
          <p:spPr>
            <a:xfrm>
              <a:off x="254000" y="28575"/>
              <a:ext cx="1487051" cy="604386"/>
            </a:xfrm>
            <a:prstGeom prst="rect">
              <a:avLst/>
            </a:prstGeom>
          </p:spPr>
          <p:txBody>
            <a:bodyPr anchor="ctr" rtlCol="false" tIns="50800" lIns="50800" bIns="50800" rIns="50800"/>
            <a:lstStyle/>
            <a:p>
              <a:pPr algn="ctr">
                <a:lnSpc>
                  <a:spcPts val="2784"/>
                </a:lnSpc>
              </a:pPr>
              <a:r>
                <a:rPr lang="en-US" b="true" sz="2463">
                  <a:solidFill>
                    <a:srgbClr val="FCFEFF"/>
                  </a:solidFill>
                  <a:latin typeface="Assistant Bold"/>
                  <a:ea typeface="Assistant Bold"/>
                  <a:cs typeface="Assistant Bold"/>
                  <a:sym typeface="Assistant Bold"/>
                </a:rPr>
                <a:t>COMPUTATIONAL SIMPLICITY</a:t>
              </a:r>
            </a:p>
            <a:p>
              <a:pPr algn="ctr">
                <a:lnSpc>
                  <a:spcPts val="2784"/>
                </a:lnSpc>
              </a:pPr>
            </a:p>
            <a:p>
              <a:pPr algn="ctr">
                <a:lnSpc>
                  <a:spcPts val="2784"/>
                </a:lnSpc>
              </a:pPr>
              <a:r>
                <a:rPr lang="en-US" b="true" sz="2463">
                  <a:solidFill>
                    <a:srgbClr val="FCFEFF"/>
                  </a:solidFill>
                  <a:latin typeface="Assistant Bold"/>
                  <a:ea typeface="Assistant Bold"/>
                  <a:cs typeface="Assistant Bold"/>
                  <a:sym typeface="Assistant Bold"/>
                </a:rPr>
                <a:t>TH</a:t>
              </a:r>
              <a:r>
                <a:rPr lang="en-US" b="true" sz="2463">
                  <a:solidFill>
                    <a:srgbClr val="FCFEFF"/>
                  </a:solidFill>
                  <a:latin typeface="Assistant Bold"/>
                  <a:ea typeface="Assistant Bold"/>
                  <a:cs typeface="Assistant Bold"/>
                  <a:sym typeface="Assistant Bold"/>
                </a:rPr>
                <a:t>e method only requires function evaluations and simple arithmetic (addition and division), making it easy to implement.</a:t>
              </a:r>
            </a:p>
          </p:txBody>
        </p:sp>
      </p:grpSp>
      <p:grpSp>
        <p:nvGrpSpPr>
          <p:cNvPr name="Group 11" id="11"/>
          <p:cNvGrpSpPr/>
          <p:nvPr/>
        </p:nvGrpSpPr>
        <p:grpSpPr>
          <a:xfrm rot="0">
            <a:off x="4992915" y="6491446"/>
            <a:ext cx="7277908" cy="2309028"/>
            <a:chOff x="0" y="0"/>
            <a:chExt cx="1995051" cy="632961"/>
          </a:xfrm>
        </p:grpSpPr>
        <p:sp>
          <p:nvSpPr>
            <p:cNvPr name="Freeform 12" id="12"/>
            <p:cNvSpPr/>
            <p:nvPr/>
          </p:nvSpPr>
          <p:spPr>
            <a:xfrm flipH="false" flipV="false" rot="0">
              <a:off x="4321" y="0"/>
              <a:ext cx="1986409" cy="632961"/>
            </a:xfrm>
            <a:custGeom>
              <a:avLst/>
              <a:gdLst/>
              <a:ahLst/>
              <a:cxnLst/>
              <a:rect r="r" b="b" t="t" l="l"/>
              <a:pathLst>
                <a:path h="632961" w="1986409">
                  <a:moveTo>
                    <a:pt x="242255" y="0"/>
                  </a:moveTo>
                  <a:lnTo>
                    <a:pt x="1974342" y="0"/>
                  </a:lnTo>
                  <a:cubicBezTo>
                    <a:pt x="1978086" y="0"/>
                    <a:pt x="1981595" y="1826"/>
                    <a:pt x="1983744" y="4893"/>
                  </a:cubicBezTo>
                  <a:cubicBezTo>
                    <a:pt x="1985892" y="7961"/>
                    <a:pt x="1986409" y="11883"/>
                    <a:pt x="1985129" y="15402"/>
                  </a:cubicBezTo>
                  <a:lnTo>
                    <a:pt x="1766144" y="617559"/>
                  </a:lnTo>
                  <a:cubicBezTo>
                    <a:pt x="1762781" y="626806"/>
                    <a:pt x="1753993" y="632961"/>
                    <a:pt x="1744154" y="632961"/>
                  </a:cubicBezTo>
                  <a:lnTo>
                    <a:pt x="12067" y="632961"/>
                  </a:lnTo>
                  <a:cubicBezTo>
                    <a:pt x="8323" y="632961"/>
                    <a:pt x="4814" y="631134"/>
                    <a:pt x="2666" y="628067"/>
                  </a:cubicBezTo>
                  <a:cubicBezTo>
                    <a:pt x="517" y="625000"/>
                    <a:pt x="0" y="621078"/>
                    <a:pt x="1280" y="617559"/>
                  </a:cubicBezTo>
                  <a:lnTo>
                    <a:pt x="220265" y="15402"/>
                  </a:lnTo>
                  <a:cubicBezTo>
                    <a:pt x="223628" y="6155"/>
                    <a:pt x="232416" y="0"/>
                    <a:pt x="242255" y="0"/>
                  </a:cubicBezTo>
                  <a:close/>
                </a:path>
              </a:pathLst>
            </a:custGeom>
            <a:solidFill>
              <a:srgbClr val="3275C5"/>
            </a:solidFill>
          </p:spPr>
        </p:sp>
        <p:sp>
          <p:nvSpPr>
            <p:cNvPr name="TextBox 13" id="13"/>
            <p:cNvSpPr txBox="true"/>
            <p:nvPr/>
          </p:nvSpPr>
          <p:spPr>
            <a:xfrm>
              <a:off x="254000" y="28575"/>
              <a:ext cx="1487051" cy="604386"/>
            </a:xfrm>
            <a:prstGeom prst="rect">
              <a:avLst/>
            </a:prstGeom>
          </p:spPr>
          <p:txBody>
            <a:bodyPr anchor="ctr" rtlCol="false" tIns="50800" lIns="50800" bIns="50800" rIns="50800"/>
            <a:lstStyle/>
            <a:p>
              <a:pPr algn="ctr">
                <a:lnSpc>
                  <a:spcPts val="2784"/>
                </a:lnSpc>
              </a:pPr>
              <a:r>
                <a:rPr lang="en-US" b="true" sz="2463">
                  <a:solidFill>
                    <a:srgbClr val="FCFEFF"/>
                  </a:solidFill>
                  <a:latin typeface="Assistant Bold"/>
                  <a:ea typeface="Assistant Bold"/>
                  <a:cs typeface="Assistant Bold"/>
                  <a:sym typeface="Assistant Bold"/>
                </a:rPr>
                <a:t>PREDICTABLE ERROR</a:t>
              </a:r>
            </a:p>
            <a:p>
              <a:pPr algn="ctr">
                <a:lnSpc>
                  <a:spcPts val="2784"/>
                </a:lnSpc>
              </a:pPr>
            </a:p>
            <a:p>
              <a:pPr algn="ctr">
                <a:lnSpc>
                  <a:spcPts val="2784"/>
                </a:lnSpc>
              </a:pPr>
              <a:r>
                <a:rPr lang="en-US" b="true" sz="2463">
                  <a:solidFill>
                    <a:srgbClr val="FCFEFF"/>
                  </a:solidFill>
                  <a:latin typeface="Assistant Bold"/>
                  <a:ea typeface="Assistant Bold"/>
                  <a:cs typeface="Assistant Bold"/>
                  <a:sym typeface="Assistant Bold"/>
                </a:rPr>
                <a:t>THE ERR</a:t>
              </a:r>
              <a:r>
                <a:rPr lang="en-US" b="true" sz="2463">
                  <a:solidFill>
                    <a:srgbClr val="FCFEFF"/>
                  </a:solidFill>
                  <a:latin typeface="Assistant Bold"/>
                  <a:ea typeface="Assistant Bold"/>
                  <a:cs typeface="Assistant Bold"/>
                  <a:sym typeface="Assistant Bold"/>
                </a:rPr>
                <a:t>or bound is known precisely before the iterations begin, allowing one to pre-calculate the necessary number of steps for a desired accuracy.</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CFEFF"/>
        </a:solidFill>
      </p:bgPr>
    </p:bg>
    <p:spTree>
      <p:nvGrpSpPr>
        <p:cNvPr id="1" name=""/>
        <p:cNvGrpSpPr/>
        <p:nvPr/>
      </p:nvGrpSpPr>
      <p:grpSpPr>
        <a:xfrm>
          <a:off x="0" y="0"/>
          <a:ext cx="0" cy="0"/>
          <a:chOff x="0" y="0"/>
          <a:chExt cx="0" cy="0"/>
        </a:xfrm>
      </p:grpSpPr>
      <p:sp>
        <p:nvSpPr>
          <p:cNvPr name="Freeform 2" id="2"/>
          <p:cNvSpPr/>
          <p:nvPr/>
        </p:nvSpPr>
        <p:spPr>
          <a:xfrm flipH="false" flipV="true" rot="-5400000">
            <a:off x="-665799" y="609592"/>
            <a:ext cx="10399415" cy="9067817"/>
          </a:xfrm>
          <a:custGeom>
            <a:avLst/>
            <a:gdLst/>
            <a:ahLst/>
            <a:cxnLst/>
            <a:rect r="r" b="b" t="t" l="l"/>
            <a:pathLst>
              <a:path h="9067817" w="10399415">
                <a:moveTo>
                  <a:pt x="0" y="9067816"/>
                </a:moveTo>
                <a:lnTo>
                  <a:pt x="10399415" y="9067816"/>
                </a:lnTo>
                <a:lnTo>
                  <a:pt x="10399415" y="0"/>
                </a:lnTo>
                <a:lnTo>
                  <a:pt x="0" y="0"/>
                </a:lnTo>
                <a:lnTo>
                  <a:pt x="0" y="9067816"/>
                </a:lnTo>
                <a:close/>
              </a:path>
            </a:pathLst>
          </a:custGeom>
          <a:blipFill>
            <a:blip r:embed="rId2"/>
            <a:stretch>
              <a:fillRect l="-138917" t="0" r="-138917" b="-167575"/>
            </a:stretch>
          </a:blipFill>
        </p:spPr>
      </p:sp>
      <p:grpSp>
        <p:nvGrpSpPr>
          <p:cNvPr name="Group 3" id="3"/>
          <p:cNvGrpSpPr/>
          <p:nvPr/>
        </p:nvGrpSpPr>
        <p:grpSpPr>
          <a:xfrm rot="0">
            <a:off x="1866092" y="3750131"/>
            <a:ext cx="7277908" cy="2661453"/>
            <a:chOff x="0" y="0"/>
            <a:chExt cx="1995051" cy="729569"/>
          </a:xfrm>
        </p:grpSpPr>
        <p:sp>
          <p:nvSpPr>
            <p:cNvPr name="Freeform 4" id="4"/>
            <p:cNvSpPr/>
            <p:nvPr/>
          </p:nvSpPr>
          <p:spPr>
            <a:xfrm flipH="false" flipV="false" rot="0">
              <a:off x="3779" y="0"/>
              <a:ext cx="1987492" cy="729569"/>
            </a:xfrm>
            <a:custGeom>
              <a:avLst/>
              <a:gdLst/>
              <a:ahLst/>
              <a:cxnLst/>
              <a:rect r="r" b="b" t="t" l="l"/>
              <a:pathLst>
                <a:path h="729569" w="1987492">
                  <a:moveTo>
                    <a:pt x="242797" y="0"/>
                  </a:moveTo>
                  <a:lnTo>
                    <a:pt x="1974884" y="0"/>
                  </a:lnTo>
                  <a:cubicBezTo>
                    <a:pt x="1978711" y="0"/>
                    <a:pt x="1982310" y="1824"/>
                    <a:pt x="1984573" y="4911"/>
                  </a:cubicBezTo>
                  <a:cubicBezTo>
                    <a:pt x="1986836" y="7998"/>
                    <a:pt x="1987493" y="11979"/>
                    <a:pt x="1986341" y="15629"/>
                  </a:cubicBezTo>
                  <a:lnTo>
                    <a:pt x="1766016" y="713940"/>
                  </a:lnTo>
                  <a:cubicBezTo>
                    <a:pt x="1763081" y="723243"/>
                    <a:pt x="1754452" y="729569"/>
                    <a:pt x="1744696" y="729569"/>
                  </a:cubicBezTo>
                  <a:lnTo>
                    <a:pt x="12609" y="729569"/>
                  </a:lnTo>
                  <a:cubicBezTo>
                    <a:pt x="8782" y="729569"/>
                    <a:pt x="5183" y="727745"/>
                    <a:pt x="2920" y="724658"/>
                  </a:cubicBezTo>
                  <a:cubicBezTo>
                    <a:pt x="657" y="721571"/>
                    <a:pt x="0" y="717590"/>
                    <a:pt x="1152" y="713940"/>
                  </a:cubicBezTo>
                  <a:lnTo>
                    <a:pt x="221477" y="15629"/>
                  </a:lnTo>
                  <a:cubicBezTo>
                    <a:pt x="224413" y="6326"/>
                    <a:pt x="233042" y="0"/>
                    <a:pt x="242797" y="0"/>
                  </a:cubicBezTo>
                  <a:close/>
                </a:path>
              </a:pathLst>
            </a:custGeom>
            <a:solidFill>
              <a:srgbClr val="3275C5"/>
            </a:solidFill>
          </p:spPr>
        </p:sp>
        <p:sp>
          <p:nvSpPr>
            <p:cNvPr name="TextBox 5" id="5"/>
            <p:cNvSpPr txBox="true"/>
            <p:nvPr/>
          </p:nvSpPr>
          <p:spPr>
            <a:xfrm>
              <a:off x="254000" y="28575"/>
              <a:ext cx="1487051" cy="700994"/>
            </a:xfrm>
            <a:prstGeom prst="rect">
              <a:avLst/>
            </a:prstGeom>
          </p:spPr>
          <p:txBody>
            <a:bodyPr anchor="ctr" rtlCol="false" tIns="50800" lIns="50800" bIns="50800" rIns="50800"/>
            <a:lstStyle/>
            <a:p>
              <a:pPr algn="ctr">
                <a:lnSpc>
                  <a:spcPts val="2784"/>
                </a:lnSpc>
              </a:pPr>
              <a:r>
                <a:rPr lang="en-US" b="true" sz="2463">
                  <a:solidFill>
                    <a:srgbClr val="FCFEFF"/>
                  </a:solidFill>
                  <a:latin typeface="Assistant Bold"/>
                  <a:ea typeface="Assistant Bold"/>
                  <a:cs typeface="Assistant Bold"/>
                  <a:sym typeface="Assistant Bold"/>
                </a:rPr>
                <a:t>SLOW CONVERGENCE</a:t>
              </a:r>
            </a:p>
            <a:p>
              <a:pPr algn="ctr">
                <a:lnSpc>
                  <a:spcPts val="2784"/>
                </a:lnSpc>
              </a:pPr>
            </a:p>
            <a:p>
              <a:pPr algn="ctr">
                <a:lnSpc>
                  <a:spcPts val="2784"/>
                </a:lnSpc>
              </a:pPr>
              <a:r>
                <a:rPr lang="en-US" b="true" sz="2463">
                  <a:solidFill>
                    <a:srgbClr val="FCFEFF"/>
                  </a:solidFill>
                  <a:latin typeface="Assistant Bold"/>
                  <a:ea typeface="Assistant Bold"/>
                  <a:cs typeface="Assistant Bold"/>
                  <a:sym typeface="Assistant Bold"/>
                </a:rPr>
                <a:t>TH</a:t>
              </a:r>
              <a:r>
                <a:rPr lang="en-US" b="true" sz="2463">
                  <a:solidFill>
                    <a:srgbClr val="FCFEFF"/>
                  </a:solidFill>
                  <a:latin typeface="Assistant Bold"/>
                  <a:ea typeface="Assistant Bold"/>
                  <a:cs typeface="Assistant Bold"/>
                  <a:sym typeface="Assistant Bold"/>
                </a:rPr>
                <a:t>e linear rate of convergence means it takes many iterations to achieve high precision, especially compared to quadratic methods like Newton-Raphson.</a:t>
              </a:r>
            </a:p>
          </p:txBody>
        </p:sp>
      </p:grpSp>
      <p:sp>
        <p:nvSpPr>
          <p:cNvPr name="TextBox 6" id="6"/>
          <p:cNvSpPr txBox="true"/>
          <p:nvPr/>
        </p:nvSpPr>
        <p:spPr>
          <a:xfrm rot="0">
            <a:off x="2213984" y="355602"/>
            <a:ext cx="15933429" cy="1203321"/>
          </a:xfrm>
          <a:prstGeom prst="rect">
            <a:avLst/>
          </a:prstGeom>
        </p:spPr>
        <p:txBody>
          <a:bodyPr anchor="t" rtlCol="false" tIns="0" lIns="0" bIns="0" rIns="0">
            <a:spAutoFit/>
          </a:bodyPr>
          <a:lstStyle/>
          <a:p>
            <a:pPr algn="l">
              <a:lnSpc>
                <a:spcPts val="9800"/>
              </a:lnSpc>
            </a:pPr>
            <a:r>
              <a:rPr lang="en-US" sz="7000" b="true">
                <a:solidFill>
                  <a:srgbClr val="042EA2"/>
                </a:solidFill>
                <a:latin typeface="Dynamo Medium"/>
                <a:ea typeface="Dynamo Medium"/>
                <a:cs typeface="Dynamo Medium"/>
                <a:sym typeface="Dynamo Medium"/>
              </a:rPr>
              <a:t>LIMITATIONS</a:t>
            </a:r>
            <a:r>
              <a:rPr lang="en-US" sz="7000" b="true">
                <a:solidFill>
                  <a:srgbClr val="FFFFFF"/>
                </a:solidFill>
                <a:latin typeface="Dynamo Medium"/>
                <a:ea typeface="Dynamo Medium"/>
                <a:cs typeface="Dynamo Medium"/>
                <a:sym typeface="Dynamo Medium"/>
              </a:rPr>
              <a:t> </a:t>
            </a:r>
            <a:r>
              <a:rPr lang="en-US" sz="7000" b="true">
                <a:solidFill>
                  <a:srgbClr val="042EA2"/>
                </a:solidFill>
                <a:latin typeface="Dynamo Medium"/>
                <a:ea typeface="Dynamo Medium"/>
                <a:cs typeface="Dynamo Medium"/>
                <a:sym typeface="Dynamo Medium"/>
              </a:rPr>
              <a:t>OF THE BISECTION METHOD</a:t>
            </a:r>
          </a:p>
        </p:txBody>
      </p:sp>
      <p:sp>
        <p:nvSpPr>
          <p:cNvPr name="TextBox 7" id="7"/>
          <p:cNvSpPr txBox="true"/>
          <p:nvPr/>
        </p:nvSpPr>
        <p:spPr>
          <a:xfrm rot="0">
            <a:off x="1028700" y="2084300"/>
            <a:ext cx="15206339" cy="1073778"/>
          </a:xfrm>
          <a:prstGeom prst="rect">
            <a:avLst/>
          </a:prstGeom>
        </p:spPr>
        <p:txBody>
          <a:bodyPr anchor="t" rtlCol="false" tIns="0" lIns="0" bIns="0" rIns="0">
            <a:spAutoFit/>
          </a:bodyPr>
          <a:lstStyle/>
          <a:p>
            <a:pPr algn="just">
              <a:lnSpc>
                <a:spcPts val="4340"/>
              </a:lnSpc>
              <a:spcBef>
                <a:spcPct val="0"/>
              </a:spcBef>
            </a:pPr>
            <a:r>
              <a:rPr lang="en-US" b="true" sz="3100">
                <a:solidFill>
                  <a:srgbClr val="000000"/>
                </a:solidFill>
                <a:latin typeface="Dynamo Medium"/>
                <a:ea typeface="Dynamo Medium"/>
                <a:cs typeface="Dynamo Medium"/>
                <a:sym typeface="Dynamo Medium"/>
              </a:rPr>
              <a:t>While </a:t>
            </a:r>
            <a:r>
              <a:rPr lang="en-US" b="true" sz="3100">
                <a:solidFill>
                  <a:srgbClr val="000000"/>
                </a:solidFill>
                <a:latin typeface="Dynamo Medium"/>
                <a:ea typeface="Dynamo Medium"/>
                <a:cs typeface="Dynamo Medium"/>
                <a:sym typeface="Dynamo Medium"/>
              </a:rPr>
              <a:t>reliable, the Bisection Method has drawbacks that make other techniques preferable when speed and specific root types are required. e.g.</a:t>
            </a:r>
          </a:p>
        </p:txBody>
      </p:sp>
      <p:grpSp>
        <p:nvGrpSpPr>
          <p:cNvPr name="Group 8" id="8"/>
          <p:cNvGrpSpPr/>
          <p:nvPr/>
        </p:nvGrpSpPr>
        <p:grpSpPr>
          <a:xfrm rot="0">
            <a:off x="9144000" y="3748629"/>
            <a:ext cx="7277908" cy="2662956"/>
            <a:chOff x="0" y="0"/>
            <a:chExt cx="1995051" cy="729981"/>
          </a:xfrm>
        </p:grpSpPr>
        <p:sp>
          <p:nvSpPr>
            <p:cNvPr name="Freeform 9" id="9"/>
            <p:cNvSpPr/>
            <p:nvPr/>
          </p:nvSpPr>
          <p:spPr>
            <a:xfrm flipH="false" flipV="false" rot="0">
              <a:off x="3777" y="0"/>
              <a:ext cx="1987497" cy="729981"/>
            </a:xfrm>
            <a:custGeom>
              <a:avLst/>
              <a:gdLst/>
              <a:ahLst/>
              <a:cxnLst/>
              <a:rect r="r" b="b" t="t" l="l"/>
              <a:pathLst>
                <a:path h="729981" w="1987497">
                  <a:moveTo>
                    <a:pt x="242799" y="0"/>
                  </a:moveTo>
                  <a:lnTo>
                    <a:pt x="1974886" y="0"/>
                  </a:lnTo>
                  <a:cubicBezTo>
                    <a:pt x="1978714" y="0"/>
                    <a:pt x="1982313" y="1824"/>
                    <a:pt x="1984576" y="4911"/>
                  </a:cubicBezTo>
                  <a:cubicBezTo>
                    <a:pt x="1986840" y="7998"/>
                    <a:pt x="1987497" y="11979"/>
                    <a:pt x="1986346" y="15630"/>
                  </a:cubicBezTo>
                  <a:lnTo>
                    <a:pt x="1766015" y="714351"/>
                  </a:lnTo>
                  <a:cubicBezTo>
                    <a:pt x="1763082" y="723654"/>
                    <a:pt x="1754453" y="729981"/>
                    <a:pt x="1744698" y="729981"/>
                  </a:cubicBezTo>
                  <a:lnTo>
                    <a:pt x="12611" y="729981"/>
                  </a:lnTo>
                  <a:cubicBezTo>
                    <a:pt x="8783" y="729981"/>
                    <a:pt x="5185" y="728157"/>
                    <a:pt x="2921" y="725070"/>
                  </a:cubicBezTo>
                  <a:cubicBezTo>
                    <a:pt x="658" y="721983"/>
                    <a:pt x="0" y="718002"/>
                    <a:pt x="1152" y="714351"/>
                  </a:cubicBezTo>
                  <a:lnTo>
                    <a:pt x="221482" y="15630"/>
                  </a:lnTo>
                  <a:cubicBezTo>
                    <a:pt x="224416" y="6326"/>
                    <a:pt x="233044" y="0"/>
                    <a:pt x="242799" y="0"/>
                  </a:cubicBezTo>
                  <a:close/>
                </a:path>
              </a:pathLst>
            </a:custGeom>
            <a:solidFill>
              <a:srgbClr val="3275C5"/>
            </a:solidFill>
          </p:spPr>
        </p:sp>
        <p:sp>
          <p:nvSpPr>
            <p:cNvPr name="TextBox 10" id="10"/>
            <p:cNvSpPr txBox="true"/>
            <p:nvPr/>
          </p:nvSpPr>
          <p:spPr>
            <a:xfrm>
              <a:off x="254000" y="28575"/>
              <a:ext cx="1487051" cy="701406"/>
            </a:xfrm>
            <a:prstGeom prst="rect">
              <a:avLst/>
            </a:prstGeom>
          </p:spPr>
          <p:txBody>
            <a:bodyPr anchor="ctr" rtlCol="false" tIns="50800" lIns="50800" bIns="50800" rIns="50800"/>
            <a:lstStyle/>
            <a:p>
              <a:pPr algn="ctr">
                <a:lnSpc>
                  <a:spcPts val="2784"/>
                </a:lnSpc>
              </a:pPr>
              <a:r>
                <a:rPr lang="en-US" b="true" sz="2463">
                  <a:solidFill>
                    <a:srgbClr val="FCFEFF"/>
                  </a:solidFill>
                  <a:latin typeface="Assistant Bold"/>
                  <a:ea typeface="Assistant Bold"/>
                  <a:cs typeface="Assistant Bold"/>
                  <a:sym typeface="Assistant Bold"/>
                </a:rPr>
                <a:t>PREREQUISITE CONSTRAINTS</a:t>
              </a:r>
            </a:p>
            <a:p>
              <a:pPr algn="ctr">
                <a:lnSpc>
                  <a:spcPts val="2784"/>
                </a:lnSpc>
              </a:pPr>
            </a:p>
            <a:p>
              <a:pPr algn="ctr">
                <a:lnSpc>
                  <a:spcPts val="2784"/>
                </a:lnSpc>
              </a:pPr>
              <a:r>
                <a:rPr lang="en-US" b="true" sz="2463">
                  <a:solidFill>
                    <a:srgbClr val="FCFEFF"/>
                  </a:solidFill>
                  <a:latin typeface="Assistant Bold"/>
                  <a:ea typeface="Assistant Bold"/>
                  <a:cs typeface="Assistant Bold"/>
                  <a:sym typeface="Assistant Bold"/>
                </a:rPr>
                <a:t>It requires that the function must be continuous and that the initial interval must satisfy the sign change condition (f(a) \cdot f(b) &lt; 0).</a:t>
              </a:r>
            </a:p>
          </p:txBody>
        </p:sp>
      </p:grpSp>
      <p:grpSp>
        <p:nvGrpSpPr>
          <p:cNvPr name="Group 11" id="11"/>
          <p:cNvGrpSpPr/>
          <p:nvPr/>
        </p:nvGrpSpPr>
        <p:grpSpPr>
          <a:xfrm rot="0">
            <a:off x="4732813" y="7002135"/>
            <a:ext cx="7277908" cy="2661453"/>
            <a:chOff x="0" y="0"/>
            <a:chExt cx="1995051" cy="729569"/>
          </a:xfrm>
        </p:grpSpPr>
        <p:sp>
          <p:nvSpPr>
            <p:cNvPr name="Freeform 12" id="12"/>
            <p:cNvSpPr/>
            <p:nvPr/>
          </p:nvSpPr>
          <p:spPr>
            <a:xfrm flipH="false" flipV="false" rot="0">
              <a:off x="3779" y="0"/>
              <a:ext cx="1987492" cy="729569"/>
            </a:xfrm>
            <a:custGeom>
              <a:avLst/>
              <a:gdLst/>
              <a:ahLst/>
              <a:cxnLst/>
              <a:rect r="r" b="b" t="t" l="l"/>
              <a:pathLst>
                <a:path h="729569" w="1987492">
                  <a:moveTo>
                    <a:pt x="242797" y="0"/>
                  </a:moveTo>
                  <a:lnTo>
                    <a:pt x="1974884" y="0"/>
                  </a:lnTo>
                  <a:cubicBezTo>
                    <a:pt x="1978711" y="0"/>
                    <a:pt x="1982310" y="1824"/>
                    <a:pt x="1984573" y="4911"/>
                  </a:cubicBezTo>
                  <a:cubicBezTo>
                    <a:pt x="1986836" y="7998"/>
                    <a:pt x="1987493" y="11979"/>
                    <a:pt x="1986341" y="15629"/>
                  </a:cubicBezTo>
                  <a:lnTo>
                    <a:pt x="1766016" y="713940"/>
                  </a:lnTo>
                  <a:cubicBezTo>
                    <a:pt x="1763081" y="723243"/>
                    <a:pt x="1754452" y="729569"/>
                    <a:pt x="1744696" y="729569"/>
                  </a:cubicBezTo>
                  <a:lnTo>
                    <a:pt x="12609" y="729569"/>
                  </a:lnTo>
                  <a:cubicBezTo>
                    <a:pt x="8782" y="729569"/>
                    <a:pt x="5183" y="727745"/>
                    <a:pt x="2920" y="724658"/>
                  </a:cubicBezTo>
                  <a:cubicBezTo>
                    <a:pt x="657" y="721571"/>
                    <a:pt x="0" y="717590"/>
                    <a:pt x="1152" y="713940"/>
                  </a:cubicBezTo>
                  <a:lnTo>
                    <a:pt x="221477" y="15629"/>
                  </a:lnTo>
                  <a:cubicBezTo>
                    <a:pt x="224413" y="6326"/>
                    <a:pt x="233042" y="0"/>
                    <a:pt x="242797" y="0"/>
                  </a:cubicBezTo>
                  <a:close/>
                </a:path>
              </a:pathLst>
            </a:custGeom>
            <a:solidFill>
              <a:srgbClr val="3275C5"/>
            </a:solidFill>
          </p:spPr>
        </p:sp>
        <p:sp>
          <p:nvSpPr>
            <p:cNvPr name="TextBox 13" id="13"/>
            <p:cNvSpPr txBox="true"/>
            <p:nvPr/>
          </p:nvSpPr>
          <p:spPr>
            <a:xfrm>
              <a:off x="254000" y="28575"/>
              <a:ext cx="1487051" cy="700994"/>
            </a:xfrm>
            <a:prstGeom prst="rect">
              <a:avLst/>
            </a:prstGeom>
          </p:spPr>
          <p:txBody>
            <a:bodyPr anchor="ctr" rtlCol="false" tIns="50800" lIns="50800" bIns="50800" rIns="50800"/>
            <a:lstStyle/>
            <a:p>
              <a:pPr algn="ctr">
                <a:lnSpc>
                  <a:spcPts val="2784"/>
                </a:lnSpc>
              </a:pPr>
              <a:r>
                <a:rPr lang="en-US" b="true" sz="2463">
                  <a:solidFill>
                    <a:srgbClr val="FCFEFF"/>
                  </a:solidFill>
                  <a:latin typeface="Assistant Bold"/>
                  <a:ea typeface="Assistant Bold"/>
                  <a:cs typeface="Assistant Bold"/>
                  <a:sym typeface="Assistant Bold"/>
                </a:rPr>
                <a:t>INABILITY TO FIND EVEN-MULTIPLICITY ROOTS</a:t>
              </a:r>
            </a:p>
            <a:p>
              <a:pPr algn="ctr">
                <a:lnSpc>
                  <a:spcPts val="2784"/>
                </a:lnSpc>
              </a:pPr>
            </a:p>
            <a:p>
              <a:pPr algn="ctr">
                <a:lnSpc>
                  <a:spcPts val="2784"/>
                </a:lnSpc>
              </a:pPr>
              <a:r>
                <a:rPr lang="en-US" b="true" sz="2463">
                  <a:solidFill>
                    <a:srgbClr val="FCFEFF"/>
                  </a:solidFill>
                  <a:latin typeface="Assistant Bold"/>
                  <a:ea typeface="Assistant Bold"/>
                  <a:cs typeface="Assistant Bold"/>
                  <a:sym typeface="Assistant Bold"/>
                </a:rPr>
                <a:t>If a root has even multiplicity (the function only touches the x-axis and doesn't cross), there is no sign change, and the method cannot be applied.</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CFEFF"/>
        </a:solidFill>
      </p:bgPr>
    </p:bg>
    <p:spTree>
      <p:nvGrpSpPr>
        <p:cNvPr id="1" name=""/>
        <p:cNvGrpSpPr/>
        <p:nvPr/>
      </p:nvGrpSpPr>
      <p:grpSpPr>
        <a:xfrm>
          <a:off x="0" y="0"/>
          <a:ext cx="0" cy="0"/>
          <a:chOff x="0" y="0"/>
          <a:chExt cx="0" cy="0"/>
        </a:xfrm>
      </p:grpSpPr>
      <p:sp>
        <p:nvSpPr>
          <p:cNvPr name="TextBox 2" id="2"/>
          <p:cNvSpPr txBox="true"/>
          <p:nvPr/>
        </p:nvSpPr>
        <p:spPr>
          <a:xfrm rot="0">
            <a:off x="8596420" y="3602644"/>
            <a:ext cx="7004506" cy="2057400"/>
          </a:xfrm>
          <a:prstGeom prst="rect">
            <a:avLst/>
          </a:prstGeom>
        </p:spPr>
        <p:txBody>
          <a:bodyPr anchor="t" rtlCol="false" tIns="0" lIns="0" bIns="0" rIns="0">
            <a:spAutoFit/>
          </a:bodyPr>
          <a:lstStyle/>
          <a:p>
            <a:pPr algn="l">
              <a:lnSpc>
                <a:spcPts val="16799"/>
              </a:lnSpc>
            </a:pPr>
            <a:r>
              <a:rPr lang="en-US" sz="11999" b="true">
                <a:solidFill>
                  <a:srgbClr val="3275C5"/>
                </a:solidFill>
                <a:latin typeface="Dynamo Medium"/>
                <a:ea typeface="Dynamo Medium"/>
                <a:cs typeface="Dynamo Medium"/>
                <a:sym typeface="Dynamo Medium"/>
              </a:rPr>
              <a:t>THANK</a:t>
            </a:r>
          </a:p>
        </p:txBody>
      </p:sp>
      <p:sp>
        <p:nvSpPr>
          <p:cNvPr name="TextBox 3" id="3"/>
          <p:cNvSpPr txBox="true"/>
          <p:nvPr/>
        </p:nvSpPr>
        <p:spPr>
          <a:xfrm rot="0">
            <a:off x="13172220" y="3602644"/>
            <a:ext cx="3440472" cy="2057400"/>
          </a:xfrm>
          <a:prstGeom prst="rect">
            <a:avLst/>
          </a:prstGeom>
        </p:spPr>
        <p:txBody>
          <a:bodyPr anchor="t" rtlCol="false" tIns="0" lIns="0" bIns="0" rIns="0">
            <a:spAutoFit/>
          </a:bodyPr>
          <a:lstStyle/>
          <a:p>
            <a:pPr algn="l">
              <a:lnSpc>
                <a:spcPts val="16799"/>
              </a:lnSpc>
            </a:pPr>
            <a:r>
              <a:rPr lang="en-US" b="true" sz="11999" spc="47">
                <a:solidFill>
                  <a:srgbClr val="56AAF0"/>
                </a:solidFill>
                <a:latin typeface="Dynamo Medium"/>
                <a:ea typeface="Dynamo Medium"/>
                <a:cs typeface="Dynamo Medium"/>
                <a:sym typeface="Dynamo Medium"/>
              </a:rPr>
              <a:t>YOU</a:t>
            </a:r>
          </a:p>
        </p:txBody>
      </p:sp>
      <p:sp>
        <p:nvSpPr>
          <p:cNvPr name="TextBox 4" id="4"/>
          <p:cNvSpPr txBox="true"/>
          <p:nvPr/>
        </p:nvSpPr>
        <p:spPr>
          <a:xfrm rot="0">
            <a:off x="9271632" y="7665970"/>
            <a:ext cx="4622964" cy="588010"/>
          </a:xfrm>
          <a:prstGeom prst="rect">
            <a:avLst/>
          </a:prstGeom>
        </p:spPr>
        <p:txBody>
          <a:bodyPr anchor="t" rtlCol="false" tIns="0" lIns="0" bIns="0" rIns="0">
            <a:spAutoFit/>
          </a:bodyPr>
          <a:lstStyle/>
          <a:p>
            <a:pPr algn="l">
              <a:lnSpc>
                <a:spcPts val="4519"/>
              </a:lnSpc>
            </a:pPr>
            <a:r>
              <a:rPr lang="en-US" sz="3999" b="true">
                <a:solidFill>
                  <a:srgbClr val="FCFEFF"/>
                </a:solidFill>
                <a:latin typeface="Source Sans Pro Bold"/>
                <a:ea typeface="Source Sans Pro Bold"/>
                <a:cs typeface="Source Sans Pro Bold"/>
                <a:sym typeface="Source Sans Pro Bold"/>
              </a:rPr>
              <a:t>reallygreatsite.com</a:t>
            </a:r>
          </a:p>
        </p:txBody>
      </p:sp>
      <p:sp>
        <p:nvSpPr>
          <p:cNvPr name="Freeform 5" id="5"/>
          <p:cNvSpPr/>
          <p:nvPr/>
        </p:nvSpPr>
        <p:spPr>
          <a:xfrm flipH="false" flipV="true" rot="5256964">
            <a:off x="12399459" y="1053603"/>
            <a:ext cx="12716270" cy="6635581"/>
          </a:xfrm>
          <a:custGeom>
            <a:avLst/>
            <a:gdLst/>
            <a:ahLst/>
            <a:cxnLst/>
            <a:rect r="r" b="b" t="t" l="l"/>
            <a:pathLst>
              <a:path h="6635581" w="12716270">
                <a:moveTo>
                  <a:pt x="0" y="6635581"/>
                </a:moveTo>
                <a:lnTo>
                  <a:pt x="12716270" y="6635581"/>
                </a:lnTo>
                <a:lnTo>
                  <a:pt x="12716270" y="0"/>
                </a:lnTo>
                <a:lnTo>
                  <a:pt x="0" y="0"/>
                </a:lnTo>
                <a:lnTo>
                  <a:pt x="0" y="6635581"/>
                </a:lnTo>
                <a:close/>
              </a:path>
            </a:pathLst>
          </a:custGeom>
          <a:blipFill>
            <a:blip r:embed="rId2">
              <a:alphaModFix amt="87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4556641">
            <a:off x="9863264" y="-772850"/>
            <a:ext cx="12716270" cy="6635581"/>
          </a:xfrm>
          <a:custGeom>
            <a:avLst/>
            <a:gdLst/>
            <a:ahLst/>
            <a:cxnLst/>
            <a:rect r="r" b="b" t="t" l="l"/>
            <a:pathLst>
              <a:path h="6635581" w="12716270">
                <a:moveTo>
                  <a:pt x="0" y="0"/>
                </a:moveTo>
                <a:lnTo>
                  <a:pt x="12716269" y="0"/>
                </a:lnTo>
                <a:lnTo>
                  <a:pt x="12716269" y="6635581"/>
                </a:lnTo>
                <a:lnTo>
                  <a:pt x="0" y="6635581"/>
                </a:lnTo>
                <a:lnTo>
                  <a:pt x="0" y="0"/>
                </a:lnTo>
                <a:close/>
              </a:path>
            </a:pathLst>
          </a:custGeom>
          <a:blipFill>
            <a:blip r:embed="rId4">
              <a:alphaModFix amt="87000"/>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5400000">
            <a:off x="-4751090" y="1897973"/>
            <a:ext cx="10511830" cy="6491055"/>
          </a:xfrm>
          <a:custGeom>
            <a:avLst/>
            <a:gdLst/>
            <a:ahLst/>
            <a:cxnLst/>
            <a:rect r="r" b="b" t="t" l="l"/>
            <a:pathLst>
              <a:path h="6491055" w="10511830">
                <a:moveTo>
                  <a:pt x="0" y="0"/>
                </a:moveTo>
                <a:lnTo>
                  <a:pt x="10511830" y="0"/>
                </a:lnTo>
                <a:lnTo>
                  <a:pt x="10511830" y="6491054"/>
                </a:lnTo>
                <a:lnTo>
                  <a:pt x="0" y="6491054"/>
                </a:lnTo>
                <a:lnTo>
                  <a:pt x="0" y="0"/>
                </a:lnTo>
                <a:close/>
              </a:path>
            </a:pathLst>
          </a:custGeom>
          <a:blipFill>
            <a:blip r:embed="rId6"/>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DAG1lYCiNY0</dc:identifier>
  <dcterms:modified xsi:type="dcterms:W3CDTF">2011-08-01T06:04:30Z</dcterms:modified>
  <cp:revision>1</cp:revision>
  <dc:title>Wardiere</dc:title>
</cp:coreProperties>
</file>