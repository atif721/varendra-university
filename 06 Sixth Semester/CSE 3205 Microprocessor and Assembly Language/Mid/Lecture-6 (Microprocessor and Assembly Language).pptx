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2" r:id="rId4"/>
    <p:sldId id="273" r:id="rId5"/>
    <p:sldId id="275" r:id="rId6"/>
    <p:sldId id="276" r:id="rId7"/>
    <p:sldId id="277" r:id="rId8"/>
    <p:sldId id="278" r:id="rId9"/>
    <p:sldId id="274" r:id="rId10"/>
    <p:sldId id="281" r:id="rId11"/>
    <p:sldId id="279" r:id="rId12"/>
    <p:sldId id="280" r:id="rId13"/>
    <p:sldId id="282" r:id="rId14"/>
    <p:sldId id="283" r:id="rId15"/>
    <p:sldId id="284" r:id="rId16"/>
    <p:sldId id="285" r:id="rId17"/>
    <p:sldId id="286" r:id="rId18"/>
    <p:sldId id="287" r:id="rId19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The Processor Status and the Flag Register (Chapter-5)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Flag Register.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Overflow.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How Instructions Affect the Flags.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Overflow Math.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Practice Problem.    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99010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For the 8086 processor, the processor state is implemented as nine individual bits called flags.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Each decision made by the 8086 is based on the values of these flags.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flags are placed in the FLAG register and they are classified as either status flags or control flags.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status flags reflect the result of a computation.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control flags are used to enable or disable certain operations of the processor. </a:t>
            </a:r>
          </a:p>
        </p:txBody>
      </p:sp>
    </p:spTree>
    <p:extLst>
      <p:ext uri="{BB962C8B-B14F-4D97-AF65-F5344CB8AC3E}">
        <p14:creationId xmlns:p14="http://schemas.microsoft.com/office/powerpoint/2010/main" val="765249382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99010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Flag register are two types, 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Status Flag. 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Control Flag.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status flags are located in bits 0, 2, 4, 6, 7, and 11. 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control flags are located in bit 8, 9, and 10.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6701C-7C23-49F5-8D36-EB28DD1CF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64" y="2313291"/>
            <a:ext cx="8812378" cy="203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30123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7359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2DE13-1BFF-4A28-9A55-7DC7EF23E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14" y="799483"/>
            <a:ext cx="7182221" cy="554280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46905457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99010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Status Flag: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processor uses status flags to reflect the result of an operation.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Carry Flag (CF):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CF = 1, if there is a carry out from the most significant bit (MSB) on addition, or there is a borrow into the MSB on subtraction. Otherwise, it is 0.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CF is also affected by shift and rotate instructions.  </a:t>
            </a:r>
          </a:p>
        </p:txBody>
      </p:sp>
    </p:spTree>
    <p:extLst>
      <p:ext uri="{BB962C8B-B14F-4D97-AF65-F5344CB8AC3E}">
        <p14:creationId xmlns:p14="http://schemas.microsoft.com/office/powerpoint/2010/main" val="866191756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884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97905"/>
            <a:ext cx="99010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Parity Flag (PF):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PF = 1, if the low byte of a result has an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even number of one </a:t>
            </a:r>
            <a:r>
              <a:rPr lang="en-US" sz="2800" dirty="0">
                <a:latin typeface="Cambria" panose="02040503050406030204" pitchFamily="18" charset="0"/>
              </a:rPr>
              <a:t>bits (even parity).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It is 0 if the low byte has odd parity. </a:t>
            </a: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For example,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If the result of a word addition is </a:t>
            </a:r>
            <a:r>
              <a:rPr lang="en-US" sz="2800" dirty="0" err="1">
                <a:latin typeface="Cambria" panose="02040503050406030204" pitchFamily="18" charset="0"/>
              </a:rPr>
              <a:t>FFFEh</a:t>
            </a:r>
            <a:r>
              <a:rPr lang="en-US" sz="2800" dirty="0">
                <a:latin typeface="Cambria" panose="02040503050406030204" pitchFamily="18" charset="0"/>
              </a:rPr>
              <a:t> (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1111 1111 </a:t>
            </a:r>
            <a:r>
              <a:rPr lang="en-US" sz="2800" b="1" dirty="0">
                <a:solidFill>
                  <a:srgbClr val="00B050"/>
                </a:solidFill>
                <a:latin typeface="Cambria" panose="02040503050406030204" pitchFamily="18" charset="0"/>
              </a:rPr>
              <a:t>1111 1110</a:t>
            </a:r>
            <a:r>
              <a:rPr lang="en-US" sz="2800" dirty="0">
                <a:latin typeface="Cambria" panose="02040503050406030204" pitchFamily="18" charset="0"/>
              </a:rPr>
              <a:t>), then the low byte contains 7 one bits, so PF = 0.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Auxiliary Flag (AF):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AF = 1, if there is a carry out from bit 3 on addition, or a borrow into bit 3 on subtraction.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AF is used in binary-coded decimal (BCD) operations. </a:t>
            </a:r>
          </a:p>
        </p:txBody>
      </p:sp>
    </p:spTree>
    <p:extLst>
      <p:ext uri="{BB962C8B-B14F-4D97-AF65-F5344CB8AC3E}">
        <p14:creationId xmlns:p14="http://schemas.microsoft.com/office/powerpoint/2010/main" val="2750610820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Flag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99010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Zero Flag (ZF):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ZF = 1 for a zero result.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ZF = 0 for a nonzero result.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Sign Flag (SF):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SF = 1, if the MSB of a result is 1 (It means the result is negative)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SF = 0, if the MSB is 0 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Overflow Flag (OF):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OF = 1, if signed overflow occurred, otherwise it is 0. </a:t>
            </a:r>
          </a:p>
        </p:txBody>
      </p:sp>
    </p:spTree>
    <p:extLst>
      <p:ext uri="{BB962C8B-B14F-4D97-AF65-F5344CB8AC3E}">
        <p14:creationId xmlns:p14="http://schemas.microsoft.com/office/powerpoint/2010/main" val="2361785522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908925"/>
            <a:ext cx="99010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Unsigned Overflow: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On addition, unsigned overflow occurs when there is a carry out of the MSB.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On subtraction, unsigned overflow occurs when there is a borrow into the MSB. </a:t>
            </a:r>
          </a:p>
        </p:txBody>
      </p:sp>
    </p:spTree>
    <p:extLst>
      <p:ext uri="{BB962C8B-B14F-4D97-AF65-F5344CB8AC3E}">
        <p14:creationId xmlns:p14="http://schemas.microsoft.com/office/powerpoint/2010/main" val="62516241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0325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83837"/>
            <a:ext cx="99010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Signed Overflow: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On addition of numbers with the same sign, signed overflow occurs when the sum has a different sign. </a:t>
            </a:r>
            <a:r>
              <a:rPr lang="en-US" sz="2800" b="1" dirty="0">
                <a:latin typeface="Cambria" panose="02040503050406030204" pitchFamily="18" charset="0"/>
              </a:rPr>
              <a:t>For example, </a:t>
            </a:r>
            <a:r>
              <a:rPr lang="en-US" sz="2800" dirty="0">
                <a:latin typeface="Cambria" panose="02040503050406030204" pitchFamily="18" charset="0"/>
              </a:rPr>
              <a:t>when we add 7FFFh and 7FFFh (two positive numbers), but got </a:t>
            </a:r>
            <a:r>
              <a:rPr lang="en-US" sz="2800" dirty="0" err="1">
                <a:latin typeface="Cambria" panose="02040503050406030204" pitchFamily="18" charset="0"/>
              </a:rPr>
              <a:t>FFFEh</a:t>
            </a:r>
            <a:r>
              <a:rPr lang="en-US" sz="2800" dirty="0">
                <a:latin typeface="Cambria" panose="02040503050406030204" pitchFamily="18" charset="0"/>
              </a:rPr>
              <a:t> (a negative result).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Subtraction of numbers with different signs is like adding numbers of the same sign. For example, A - ( -B) = A + B and  -A -(+B) = -A + -B. Signed overflow occurs if the result has a different sign than expected.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In addition of numbers with different signs, overflow is impossible. </a:t>
            </a:r>
          </a:p>
        </p:txBody>
      </p:sp>
    </p:spTree>
    <p:extLst>
      <p:ext uri="{BB962C8B-B14F-4D97-AF65-F5344CB8AC3E}">
        <p14:creationId xmlns:p14="http://schemas.microsoft.com/office/powerpoint/2010/main" val="3095398274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How Instructions Affect the Flags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6E4C5-A3FB-4467-A6CB-FF68067B4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8" y="1211075"/>
            <a:ext cx="8773338" cy="333278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77943255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Overflow Math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A438901B-4DEF-491B-B471-8D736177721A}"/>
              </a:ext>
            </a:extLst>
          </p:cNvPr>
          <p:cNvSpPr/>
          <p:nvPr/>
        </p:nvSpPr>
        <p:spPr>
          <a:xfrm>
            <a:off x="2159894" y="1391423"/>
            <a:ext cx="5281915" cy="3538883"/>
          </a:xfrm>
          <a:prstGeom prst="cloudCallout">
            <a:avLst>
              <a:gd name="adj1" fmla="val 49376"/>
              <a:gd name="adj2" fmla="val 66575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Follow Class Note </a:t>
            </a:r>
          </a:p>
        </p:txBody>
      </p:sp>
    </p:spTree>
    <p:extLst>
      <p:ext uri="{BB962C8B-B14F-4D97-AF65-F5344CB8AC3E}">
        <p14:creationId xmlns:p14="http://schemas.microsoft.com/office/powerpoint/2010/main" val="950118712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768245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5.1: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EFE0F-30A0-4A81-A457-2D50FA7FD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85" y="1298376"/>
            <a:ext cx="8307264" cy="507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58174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292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55704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5.2: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BCA62E-C458-467B-9914-06938A3302D8}"/>
              </a:ext>
            </a:extLst>
          </p:cNvPr>
          <p:cNvGrpSpPr/>
          <p:nvPr/>
        </p:nvGrpSpPr>
        <p:grpSpPr>
          <a:xfrm>
            <a:off x="707049" y="1352768"/>
            <a:ext cx="8734231" cy="4849528"/>
            <a:chOff x="681038" y="1717893"/>
            <a:chExt cx="6554115" cy="36390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4BA76AF-E21F-49C1-B77B-5FE8079B8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038" y="1717893"/>
              <a:ext cx="6268325" cy="13717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5E3728-CDCB-4415-82CA-E13FE35F3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038" y="3089684"/>
              <a:ext cx="6554115" cy="2267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0792120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512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13497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5.3: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09C8A-D0CD-42A3-8CD2-8ECF6F66A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97" y="1125400"/>
            <a:ext cx="8107975" cy="52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72861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291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571299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5.4: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C0C0C-C4B2-457E-9190-3F74DCB1F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61" y="1250585"/>
            <a:ext cx="9220882" cy="381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97711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1732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711973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5.5: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F5D6E-C522-4C46-B626-BDA54B280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47" y="1379511"/>
            <a:ext cx="6266081" cy="204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64079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8/18/2026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3139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Practice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97905"/>
            <a:ext cx="990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Example 5.6: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E17C9-6038-4ED9-AA05-9185ECA924B3}"/>
              </a:ext>
            </a:extLst>
          </p:cNvPr>
          <p:cNvGrpSpPr/>
          <p:nvPr/>
        </p:nvGrpSpPr>
        <p:grpSpPr>
          <a:xfrm>
            <a:off x="666970" y="1282680"/>
            <a:ext cx="8883136" cy="4938970"/>
            <a:chOff x="888610" y="1221125"/>
            <a:chExt cx="8336353" cy="46349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606527-0B4B-4178-A997-BCE97EA7C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610" y="1221125"/>
              <a:ext cx="5852695" cy="7358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C73A4C-1BE3-49AF-B052-3BA22D097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610" y="1797146"/>
              <a:ext cx="8336353" cy="4058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887593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2468</TotalTime>
  <Words>882</Words>
  <Application>Microsoft Office PowerPoint</Application>
  <PresentationFormat>A4 Paper (210x297 mm)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284</cp:revision>
  <dcterms:created xsi:type="dcterms:W3CDTF">2025-01-23T20:11:31Z</dcterms:created>
  <dcterms:modified xsi:type="dcterms:W3CDTF">2026-08-18T03:56:57Z</dcterms:modified>
</cp:coreProperties>
</file>