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79" r:id="rId4"/>
    <p:sldId id="310" r:id="rId5"/>
    <p:sldId id="307" r:id="rId6"/>
    <p:sldId id="308" r:id="rId7"/>
    <p:sldId id="309" r:id="rId8"/>
    <p:sldId id="280" r:id="rId9"/>
    <p:sldId id="282" r:id="rId10"/>
    <p:sldId id="283" r:id="rId11"/>
    <p:sldId id="284" r:id="rId12"/>
    <p:sldId id="281" r:id="rId13"/>
    <p:sldId id="285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86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86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33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4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84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25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90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40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5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2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68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85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40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53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83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73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4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69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01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39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95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39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933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45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596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10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628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815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435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96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122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181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31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Addressing Mode and Mathematical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  <a:endParaRPr lang="en-US" sz="2200" b="1" dirty="0">
              <a:solidFill>
                <a:srgbClr val="7030A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042219"/>
            <a:ext cx="990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Addressing Mode.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Memory Segmentation.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Segment and Offset.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Physical Address and Logical Address Calculation.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Address Line and Data Line Calculation. </a:t>
            </a:r>
          </a:p>
        </p:txBody>
      </p:sp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manner in which operand is given an instruction is called addressing mode.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Example: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MOV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AX, BX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Opcode</a:t>
            </a:r>
            <a:r>
              <a:rPr lang="en-US" sz="2800" dirty="0">
                <a:latin typeface="Cambria" panose="02040503050406030204" pitchFamily="18" charset="0"/>
              </a:rPr>
              <a:t> 		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Operand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MOV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ADD 			Opcode (Operation)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SUB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11BD47-7013-442A-B37D-F810B77BBD98}"/>
              </a:ext>
            </a:extLst>
          </p:cNvPr>
          <p:cNvCxnSpPr/>
          <p:nvPr/>
        </p:nvCxnSpPr>
        <p:spPr>
          <a:xfrm>
            <a:off x="984738" y="2855741"/>
            <a:ext cx="0" cy="8581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DF2548-F584-4EF8-BBCF-D6F9B6AC6C73}"/>
              </a:ext>
            </a:extLst>
          </p:cNvPr>
          <p:cNvCxnSpPr/>
          <p:nvPr/>
        </p:nvCxnSpPr>
        <p:spPr>
          <a:xfrm>
            <a:off x="1885071" y="2855741"/>
            <a:ext cx="858129" cy="8581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55936D-8B17-4D29-9C9C-DB88B1CA4C27}"/>
              </a:ext>
            </a:extLst>
          </p:cNvPr>
          <p:cNvGrpSpPr/>
          <p:nvPr/>
        </p:nvGrpSpPr>
        <p:grpSpPr>
          <a:xfrm>
            <a:off x="1392703" y="4712678"/>
            <a:ext cx="844062" cy="900331"/>
            <a:chOff x="1322363" y="4684542"/>
            <a:chExt cx="844062" cy="90033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4C23A8C-8FC9-4BB9-9321-135E9EA97BF0}"/>
                </a:ext>
              </a:extLst>
            </p:cNvPr>
            <p:cNvCxnSpPr/>
            <p:nvPr/>
          </p:nvCxnSpPr>
          <p:spPr>
            <a:xfrm>
              <a:off x="1420837" y="4684542"/>
              <a:ext cx="717452" cy="4501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FB87C2-3918-4D99-90C8-2A012C5C5663}"/>
                </a:ext>
              </a:extLst>
            </p:cNvPr>
            <p:cNvCxnSpPr/>
            <p:nvPr/>
          </p:nvCxnSpPr>
          <p:spPr>
            <a:xfrm flipH="1">
              <a:off x="1322363" y="5134707"/>
              <a:ext cx="844062" cy="4501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222468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manner in which operand is given an instruction is called addressing mode.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 err="1">
                <a:latin typeface="Cambria" panose="02040503050406030204" pitchFamily="18" charset="0"/>
              </a:rPr>
              <a:t>i</a:t>
            </a:r>
            <a:r>
              <a:rPr lang="en-US" sz="2800" dirty="0">
                <a:latin typeface="Cambria" panose="02040503050406030204" pitchFamily="18" charset="0"/>
              </a:rPr>
              <a:t>) </a:t>
            </a:r>
            <a:r>
              <a:rPr lang="en-US" sz="2800" b="1" u="sng" dirty="0">
                <a:latin typeface="Cambria" panose="02040503050406030204" pitchFamily="18" charset="0"/>
              </a:rPr>
              <a:t>Immediate mode: </a:t>
            </a:r>
            <a:r>
              <a:rPr lang="en-US" sz="2800" dirty="0">
                <a:latin typeface="Cambria" panose="02040503050406030204" pitchFamily="18" charset="0"/>
              </a:rPr>
              <a:t>Data is given in instruction.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AL, 25H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BX, 2000H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ii) </a:t>
            </a:r>
            <a:r>
              <a:rPr lang="en-US" sz="2800" b="1" u="sng" dirty="0">
                <a:latin typeface="Cambria" panose="02040503050406030204" pitchFamily="18" charset="0"/>
              </a:rPr>
              <a:t>Register mode: </a:t>
            </a:r>
            <a:r>
              <a:rPr lang="en-US" sz="2800" dirty="0">
                <a:latin typeface="Cambria" panose="02040503050406030204" pitchFamily="18" charset="0"/>
              </a:rPr>
              <a:t>Data is given in register.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AL, BL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AX, BX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iii) </a:t>
            </a:r>
            <a:r>
              <a:rPr lang="en-US" sz="2800" b="1" u="sng" dirty="0">
                <a:latin typeface="Cambria" panose="02040503050406030204" pitchFamily="18" charset="0"/>
              </a:rPr>
              <a:t>Direct mode: </a:t>
            </a:r>
            <a:r>
              <a:rPr lang="en-US" sz="2800" dirty="0">
                <a:latin typeface="Cambria" panose="02040503050406030204" pitchFamily="18" charset="0"/>
              </a:rPr>
              <a:t>Address is given in instruction.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AX, [2000H]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iv) </a:t>
            </a:r>
            <a:r>
              <a:rPr lang="en-US" sz="2800" b="1" u="sng" dirty="0">
                <a:latin typeface="Cambria" panose="02040503050406030204" pitchFamily="18" charset="0"/>
              </a:rPr>
              <a:t>Indirect mode: </a:t>
            </a:r>
            <a:r>
              <a:rPr lang="en-US" sz="2800" dirty="0">
                <a:latin typeface="Cambria" panose="02040503050406030204" pitchFamily="18" charset="0"/>
              </a:rPr>
              <a:t>Address is given in register.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AL, [BX]</a:t>
            </a:r>
          </a:p>
        </p:txBody>
      </p:sp>
    </p:spTree>
    <p:extLst>
      <p:ext uri="{BB962C8B-B14F-4D97-AF65-F5344CB8AC3E}">
        <p14:creationId xmlns:p14="http://schemas.microsoft.com/office/powerpoint/2010/main" val="1564033281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Indirect mode: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u="sng" dirty="0">
                <a:latin typeface="Cambria" panose="02040503050406030204" pitchFamily="18" charset="0"/>
              </a:rPr>
              <a:t>Register mode: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Physical address = Segment address + Effective address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AL, [BX]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u="sng" dirty="0">
                <a:latin typeface="Cambria" panose="02040503050406030204" pitchFamily="18" charset="0"/>
              </a:rPr>
              <a:t>Base indexed: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Effective address = Base register + Index register</a:t>
            </a:r>
          </a:p>
          <a:p>
            <a:pPr lvl="1"/>
            <a:r>
              <a:rPr lang="en-US" sz="2800" i="1" dirty="0">
                <a:solidFill>
                  <a:srgbClr val="002060"/>
                </a:solidFill>
                <a:latin typeface="Cambria" panose="02040503050406030204" pitchFamily="18" charset="0"/>
              </a:rPr>
              <a:t>Base register = BX, BP</a:t>
            </a:r>
          </a:p>
          <a:p>
            <a:pPr lvl="1"/>
            <a:r>
              <a:rPr lang="en-US" sz="2800" i="1" dirty="0">
                <a:solidFill>
                  <a:srgbClr val="002060"/>
                </a:solidFill>
                <a:latin typeface="Cambria" panose="02040503050406030204" pitchFamily="18" charset="0"/>
              </a:rPr>
              <a:t>Index register = SI, DI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AX, [BX+SI]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AL, [BP+SI]</a:t>
            </a:r>
          </a:p>
        </p:txBody>
      </p:sp>
    </p:spTree>
    <p:extLst>
      <p:ext uri="{BB962C8B-B14F-4D97-AF65-F5344CB8AC3E}">
        <p14:creationId xmlns:p14="http://schemas.microsoft.com/office/powerpoint/2010/main" val="1800161368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Indirect mode: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u="sng" dirty="0">
                <a:latin typeface="Cambria" panose="02040503050406030204" pitchFamily="18" charset="0"/>
              </a:rPr>
              <a:t>Indexed mode: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Effective address = Index register + Displacement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AX, [SI+2000]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u="sng" dirty="0">
                <a:latin typeface="Cambria" panose="02040503050406030204" pitchFamily="18" charset="0"/>
              </a:rPr>
              <a:t>Base mode: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Effective address = Base register + Displacement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AL, [BP+2000]</a:t>
            </a:r>
          </a:p>
        </p:txBody>
      </p:sp>
    </p:spTree>
    <p:extLst>
      <p:ext uri="{BB962C8B-B14F-4D97-AF65-F5344CB8AC3E}">
        <p14:creationId xmlns:p14="http://schemas.microsoft.com/office/powerpoint/2010/main" val="3308559026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Indirect mode: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u="sng" dirty="0">
                <a:latin typeface="Cambria" panose="02040503050406030204" pitchFamily="18" charset="0"/>
              </a:rPr>
              <a:t>Base indexed displacement: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Effective address = Index register + Base register + Displacement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MOV AL, [SI+ BP+ 2000]</a:t>
            </a:r>
          </a:p>
        </p:txBody>
      </p:sp>
    </p:spTree>
    <p:extLst>
      <p:ext uri="{BB962C8B-B14F-4D97-AF65-F5344CB8AC3E}">
        <p14:creationId xmlns:p14="http://schemas.microsoft.com/office/powerpoint/2010/main" val="2624422548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Memory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Segmentation </a:t>
            </a:r>
            <a:r>
              <a:rPr lang="en-US" sz="2800" dirty="0">
                <a:latin typeface="Cambria" panose="02040503050406030204" pitchFamily="18" charset="0"/>
              </a:rPr>
              <a:t>is the process in which the main memory of the computer is logically divided into different segments.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Total memory size is divided into segments of various sizes is called </a:t>
            </a:r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memory segmentation</a:t>
            </a:r>
            <a:r>
              <a:rPr lang="en-US" sz="2800" dirty="0">
                <a:latin typeface="Cambria" panose="02040503050406030204" pitchFamily="18" charset="0"/>
              </a:rPr>
              <a:t>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It helps in organizing and managing memory efficiently.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Advantage 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Efficient Memory Utilization.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Protection.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Faster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075728378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Memory Segmentation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In memory, data is stored as bytes.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8086 microprocessor has 20 lines address bus. 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mbria" panose="02040503050406030204" pitchFamily="18" charset="0"/>
                  </a:rPr>
                  <a:t>Data bus 16-bit.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mbria" panose="02040503050406030204" pitchFamily="18" charset="0"/>
                  </a:rPr>
                  <a:t>Address bus 20-bit. 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20 address lines the memory can be addressed as, </a:t>
                </a:r>
              </a:p>
              <a:p>
                <a:pPr lvl="1" algn="just"/>
                <a:r>
                  <a:rPr lang="en-US" sz="2800" dirty="0"/>
                  <a:t>		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bytes = 1 MB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Address raging from 00000H to FFFFFH. 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Each register stores the base address (Starting Address) because segment resister cannot store 20 bits.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blipFill>
                <a:blip r:embed="rId3"/>
                <a:stretch>
                  <a:fillRect t="-1536" b="-3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9398716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Segment and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Memory address is specified using two components,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mbria" panose="02040503050406030204" pitchFamily="18" charset="0"/>
              </a:rPr>
              <a:t>Segment: </a:t>
            </a:r>
            <a:r>
              <a:rPr lang="en-US" sz="2800" dirty="0">
                <a:latin typeface="Cambria" panose="02040503050406030204" pitchFamily="18" charset="0"/>
              </a:rPr>
              <a:t>Identifies the starting location (base address).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mbria" panose="02040503050406030204" pitchFamily="18" charset="0"/>
              </a:rPr>
              <a:t>Offset: </a:t>
            </a:r>
            <a:r>
              <a:rPr lang="en-US" sz="2800" dirty="0">
                <a:latin typeface="Cambria" panose="02040503050406030204" pitchFamily="18" charset="0"/>
              </a:rPr>
              <a:t>Specifies the position within that segment.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8086 has 4 different types of segment,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Code Segment (CS).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Data Segment (DS).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Stack Segment (SS).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Extra Segment (ES).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02237-EDFD-437D-8445-F68379F84D22}"/>
              </a:ext>
            </a:extLst>
          </p:cNvPr>
          <p:cNvSpPr txBox="1"/>
          <p:nvPr/>
        </p:nvSpPr>
        <p:spPr>
          <a:xfrm>
            <a:off x="0" y="3667402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												16-bit 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B7871A93-970E-41DF-B806-60F31856AB4F}"/>
              </a:ext>
            </a:extLst>
          </p:cNvPr>
          <p:cNvSpPr/>
          <p:nvPr/>
        </p:nvSpPr>
        <p:spPr>
          <a:xfrm>
            <a:off x="5275385" y="3108960"/>
            <a:ext cx="492369" cy="1697094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93630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Segment and Offset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0155C936-90D2-4C6D-9A35-20011A89B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292725"/>
              </p:ext>
            </p:extLst>
          </p:nvPr>
        </p:nvGraphicFramePr>
        <p:xfrm>
          <a:off x="1636939" y="887147"/>
          <a:ext cx="6604000" cy="2590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5564533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77164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Segment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Offset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134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BX, DI, 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40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SP, 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858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05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644403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Formula: 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Physical Address 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= Base Address of Segment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10H + Offset</a:t>
                </a:r>
              </a:p>
              <a:p>
                <a:pPr lvl="1" algn="ctr"/>
                <a:r>
                  <a:rPr lang="en-US" sz="2800" dirty="0">
                    <a:latin typeface="Cambria" panose="02040503050406030204" pitchFamily="18" charset="0"/>
                  </a:rPr>
                  <a:t>Or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Physical address 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= Segment address of (Register Name)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10H + Offset Address </a:t>
                </a:r>
              </a:p>
              <a:p>
                <a:pPr lvl="1"/>
                <a:endParaRPr lang="en-US" sz="28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Logical Address 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= Segment : Offset 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Base Address (Starting Address)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blipFill>
                <a:blip r:embed="rId3"/>
                <a:stretch>
                  <a:fillRect t="-1536" r="-492" b="-3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956511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1: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 content of following registers are,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CS = 1111H		DS = 1678H		SS = 6789H		ES = 1298H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IP = 6721H		BX = 7865H		DI = 1235H		BP = 7821H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Calculate the corresponding physical and logical address from address bytes in CS, DS, SS &amp; ES.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Segment: CS, DS, SS, ES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Offset: IP, BP, DI, BX </a:t>
            </a:r>
          </a:p>
        </p:txBody>
      </p:sp>
    </p:spTree>
    <p:extLst>
      <p:ext uri="{BB962C8B-B14F-4D97-AF65-F5344CB8AC3E}">
        <p14:creationId xmlns:p14="http://schemas.microsoft.com/office/powerpoint/2010/main" val="383338342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Problem 1: </a:t>
                </a:r>
              </a:p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 </a:t>
                </a:r>
              </a:p>
              <a:p>
                <a:pPr lvl="1"/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Physical address of CS </a:t>
                </a:r>
                <a:r>
                  <a:rPr lang="en-US" sz="2800" dirty="0">
                    <a:latin typeface="Cambria" panose="02040503050406030204" pitchFamily="18" charset="0"/>
                  </a:rPr>
                  <a:t>= Segment address of CS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10H + 										Offset Address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							   = 1111H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10H + 6721H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							   = 17831 H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Logical address of CS </a:t>
                </a:r>
                <a:r>
                  <a:rPr lang="en-US" sz="2800" dirty="0">
                    <a:latin typeface="Cambria" panose="02040503050406030204" pitchFamily="18" charset="0"/>
                  </a:rPr>
                  <a:t>= Segment : </a:t>
                </a:r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Offset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							= CS : IP</a:t>
                </a:r>
              </a:p>
              <a:p>
                <a:pPr lvl="1"/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							= 1111</a:t>
                </a:r>
                <a:r>
                  <a:rPr lang="en-US" sz="2800" dirty="0">
                    <a:latin typeface="Cambria" panose="02040503050406030204" pitchFamily="18" charset="0"/>
                  </a:rPr>
                  <a:t>H : 6721H </a:t>
                </a:r>
              </a:p>
              <a:p>
                <a:pPr lvl="1"/>
                <a:endParaRPr lang="en-US" sz="28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b="1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Logical address is generated by CPU.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5262979"/>
              </a:xfrm>
              <a:prstGeom prst="rect">
                <a:avLst/>
              </a:prstGeom>
              <a:blipFill>
                <a:blip r:embed="rId3"/>
                <a:stretch>
                  <a:fillRect t="-1159" b="-2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662561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Problem 1: </a:t>
                </a:r>
              </a:p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 </a:t>
                </a:r>
              </a:p>
              <a:p>
                <a:pPr lvl="1"/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Physical address of ES </a:t>
                </a:r>
                <a:r>
                  <a:rPr lang="en-US" sz="2800" dirty="0">
                    <a:latin typeface="Cambria" panose="02040503050406030204" pitchFamily="18" charset="0"/>
                  </a:rPr>
                  <a:t>= Segment address of ES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10H + 										Offset Address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							   = 1298H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10H + </a:t>
                </a:r>
                <a:r>
                  <a:rPr lang="en-US" sz="2800" dirty="0">
                    <a:latin typeface="Cambria" panose="02040503050406030204" pitchFamily="18" charset="0"/>
                  </a:rPr>
                  <a:t>1235</a:t>
                </a:r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H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     							   = 13BB5H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Logical address of ES </a:t>
                </a:r>
                <a:r>
                  <a:rPr lang="en-US" sz="2800" dirty="0">
                    <a:latin typeface="Cambria" panose="02040503050406030204" pitchFamily="18" charset="0"/>
                  </a:rPr>
                  <a:t>= Segment : </a:t>
                </a:r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Offset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							= ES : DI</a:t>
                </a:r>
              </a:p>
              <a:p>
                <a:pPr lvl="1"/>
                <a:r>
                  <a:rPr lang="en-US" sz="28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							= 1298H : 1235H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blipFill>
                <a:blip r:embed="rId3"/>
                <a:stretch>
                  <a:fillRect t="-1261" b="-2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261814D-CE79-4D36-A943-D8CEBBC7C82A}"/>
              </a:ext>
            </a:extLst>
          </p:cNvPr>
          <p:cNvGrpSpPr/>
          <p:nvPr/>
        </p:nvGrpSpPr>
        <p:grpSpPr>
          <a:xfrm>
            <a:off x="7469944" y="3100764"/>
            <a:ext cx="2228850" cy="2259826"/>
            <a:chOff x="6780627" y="2299087"/>
            <a:chExt cx="2228850" cy="225982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8ADFC8F-E20E-446F-A14D-CE2981B5824B}"/>
                </a:ext>
              </a:extLst>
            </p:cNvPr>
            <p:cNvSpPr/>
            <p:nvPr/>
          </p:nvSpPr>
          <p:spPr>
            <a:xfrm>
              <a:off x="6780627" y="2299087"/>
              <a:ext cx="2228850" cy="22598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en-US" sz="2800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  <a:p>
              <a:pPr lvl="1"/>
              <a:r>
                <a:rPr lang="en-US" sz="2800" dirty="0">
                  <a:solidFill>
                    <a:schemeClr val="tx1"/>
                  </a:solidFill>
                  <a:latin typeface="Cambria" panose="02040503050406030204" pitchFamily="18" charset="0"/>
                </a:rPr>
                <a:t>1 2 9 8 0</a:t>
              </a:r>
            </a:p>
            <a:p>
              <a:pPr lvl="1"/>
              <a:r>
                <a:rPr lang="en-US" sz="2800" dirty="0">
                  <a:solidFill>
                    <a:schemeClr val="tx1"/>
                  </a:solidFill>
                  <a:latin typeface="Cambria" panose="02040503050406030204" pitchFamily="18" charset="0"/>
                </a:rPr>
                <a:t>   1 2  3 5</a:t>
              </a:r>
            </a:p>
            <a:p>
              <a:pPr lvl="1"/>
              <a:r>
                <a:rPr lang="en-US" sz="2800" dirty="0">
                  <a:solidFill>
                    <a:schemeClr val="tx1"/>
                  </a:solidFill>
                  <a:latin typeface="Cambria" panose="02040503050406030204" pitchFamily="18" charset="0"/>
                </a:rPr>
                <a:t>1 3 B </a:t>
              </a:r>
              <a:r>
                <a:rPr lang="en-US" sz="2800" dirty="0" err="1">
                  <a:solidFill>
                    <a:schemeClr val="tx1"/>
                  </a:solidFill>
                  <a:latin typeface="Cambria" panose="02040503050406030204" pitchFamily="18" charset="0"/>
                </a:rPr>
                <a:t>B</a:t>
              </a:r>
              <a:r>
                <a:rPr lang="en-US" sz="2800" dirty="0">
                  <a:solidFill>
                    <a:schemeClr val="tx1"/>
                  </a:solidFill>
                  <a:latin typeface="Cambria" panose="02040503050406030204" pitchFamily="18" charset="0"/>
                </a:rPr>
                <a:t> 5</a:t>
              </a:r>
            </a:p>
            <a:p>
              <a:pPr algn="ctr"/>
              <a:endParaRPr lang="en-US" sz="2800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2B1594F-0255-4616-92CE-A106A3923D0B}"/>
                </a:ext>
              </a:extLst>
            </p:cNvPr>
            <p:cNvCxnSpPr/>
            <p:nvPr/>
          </p:nvCxnSpPr>
          <p:spPr>
            <a:xfrm>
              <a:off x="6780627" y="3640465"/>
              <a:ext cx="222885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9948617"/>
      </p:ext>
    </p:extLst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1: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Physical address and Logical address of DS and SS. 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AA3CBD57-002B-4AFF-BDEC-0456654A4E43}"/>
              </a:ext>
            </a:extLst>
          </p:cNvPr>
          <p:cNvSpPr/>
          <p:nvPr/>
        </p:nvSpPr>
        <p:spPr>
          <a:xfrm>
            <a:off x="3018023" y="2220784"/>
            <a:ext cx="3606615" cy="2416432"/>
          </a:xfrm>
          <a:prstGeom prst="cloudCallout">
            <a:avLst>
              <a:gd name="adj1" fmla="val 49376"/>
              <a:gd name="adj2" fmla="val 66575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Try Yourself </a:t>
            </a:r>
          </a:p>
        </p:txBody>
      </p:sp>
    </p:spTree>
    <p:extLst>
      <p:ext uri="{BB962C8B-B14F-4D97-AF65-F5344CB8AC3E}">
        <p14:creationId xmlns:p14="http://schemas.microsoft.com/office/powerpoint/2010/main" val="1754611904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Problem 2: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Given a physical address and offset address. Calculate the corresponding segment address of ES. 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Physical address = 13BB5H		 Offset address = 1235H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</a:t>
                </a:r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</a:p>
              <a:p>
                <a:pPr lvl="1"/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Physical address </a:t>
                </a:r>
                <a:r>
                  <a:rPr lang="en-US" sz="2800" dirty="0">
                    <a:latin typeface="Cambria" panose="02040503050406030204" pitchFamily="18" charset="0"/>
                  </a:rPr>
                  <a:t>= Segment address of ES × 10H + Offset 								 Address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		    13BB5H = Segment address of ES × 10H + 1235H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Segment address of ES = 1298H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blipFill>
                <a:blip r:embed="rId3"/>
                <a:stretch>
                  <a:fillRect t="-1261" b="-2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163333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3: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Calculate the physical address for following register.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SS = 3864H 			SP = 1735H 		BP = 4826H </a:t>
            </a:r>
          </a:p>
          <a:p>
            <a:pPr lvl="1"/>
            <a:endParaRPr lang="en-US" sz="2800" b="1" dirty="0">
              <a:solidFill>
                <a:srgbClr val="7030A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b="1" i="1" dirty="0">
                <a:latin typeface="Cambria" panose="02040503050406030204" pitchFamily="18" charset="0"/>
              </a:rPr>
              <a:t>Case 1: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of SS × 10H + Offset 								 Address (SP) 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 			    = 3864H × 10H + 1735H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= 39D75H </a:t>
            </a:r>
          </a:p>
        </p:txBody>
      </p:sp>
    </p:spTree>
    <p:extLst>
      <p:ext uri="{BB962C8B-B14F-4D97-AF65-F5344CB8AC3E}">
        <p14:creationId xmlns:p14="http://schemas.microsoft.com/office/powerpoint/2010/main" val="2207754524"/>
      </p:ext>
    </p:extLst>
  </p:cSld>
  <p:clrMapOvr>
    <a:masterClrMapping/>
  </p:clrMapOvr>
  <p:transition spd="med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3: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Calculate the physical address for following register.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SS = 3864H 			SP = 1735H 		BP = 4826H </a:t>
            </a:r>
          </a:p>
          <a:p>
            <a:pPr lvl="1"/>
            <a:endParaRPr lang="en-US" sz="2800" b="1" dirty="0">
              <a:solidFill>
                <a:srgbClr val="7030A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b="1" i="1" dirty="0">
                <a:latin typeface="Cambria" panose="02040503050406030204" pitchFamily="18" charset="0"/>
              </a:rPr>
              <a:t>Case 2: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of SS × 10H + Offset 								 Address (BP) 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 			    = 3864H × 10H + 4826H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</a:t>
            </a:r>
            <a:r>
              <a:rPr lang="en-US" sz="2800">
                <a:latin typeface="Cambria" panose="02040503050406030204" pitchFamily="18" charset="0"/>
              </a:rPr>
              <a:t>= 3CE66H 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876610"/>
      </p:ext>
    </p:extLst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4: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Calculate the physical address for following instruction.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DS = 1000H 	SS = 7000H 		ES = 4000H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BP = 0100H 	SI = 0020H 		DI = 0200H 		BX = 0700H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Value (Displacement = 0500H) </a:t>
            </a:r>
          </a:p>
          <a:p>
            <a:pPr lvl="1"/>
            <a:endParaRPr lang="en-US" sz="2800" b="1" dirty="0">
              <a:solidFill>
                <a:srgbClr val="7030A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b="1" dirty="0" err="1">
                <a:latin typeface="Cambria" panose="02040503050406030204" pitchFamily="18" charset="0"/>
              </a:rPr>
              <a:t>i</a:t>
            </a:r>
            <a:r>
              <a:rPr lang="en-US" sz="2800" b="1" dirty="0">
                <a:latin typeface="Cambria" panose="02040503050406030204" pitchFamily="18" charset="0"/>
              </a:rPr>
              <a:t>) MOV AX, [BX][SI]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of DS × 10H + [BX+SI]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 			    = 1000H × 10H + [0700H+0020H]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= 10720H </a:t>
            </a: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Offset BX, SI = DS </a:t>
            </a:r>
          </a:p>
        </p:txBody>
      </p:sp>
    </p:spTree>
    <p:extLst>
      <p:ext uri="{BB962C8B-B14F-4D97-AF65-F5344CB8AC3E}">
        <p14:creationId xmlns:p14="http://schemas.microsoft.com/office/powerpoint/2010/main" val="2518780502"/>
      </p:ext>
    </p:extLst>
  </p:cSld>
  <p:clrMapOvr>
    <a:masterClrMapping/>
  </p:clrMapOvr>
  <p:transition spd="med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4: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Calculate the physical address for following instruction.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DS = 1000H 	SS = 7000H 		ES = 4000H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BP = 0100H 	SI = 0020H 		DI = 0200H 		BX = 0700H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Value (Displacement = 0500H) </a:t>
            </a:r>
          </a:p>
          <a:p>
            <a:pPr lvl="1"/>
            <a:endParaRPr lang="en-US" sz="2800" b="1" dirty="0">
              <a:solidFill>
                <a:srgbClr val="7030A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ii) ADD AL, (BP+40H)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of SS × 10H + (BP+40H)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 			    = 7000H × 10H + (0100H+40H)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= 70140H </a:t>
            </a: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Offset BP = SS </a:t>
            </a:r>
          </a:p>
        </p:txBody>
      </p:sp>
    </p:spTree>
    <p:extLst>
      <p:ext uri="{BB962C8B-B14F-4D97-AF65-F5344CB8AC3E}">
        <p14:creationId xmlns:p14="http://schemas.microsoft.com/office/powerpoint/2010/main" val="2891541660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4: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Calculate the physical address for following instruction.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DS = 1000H 	SS = 7000H 		ES = 4000H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BP = 0100H 	SI = 0020H 		DI = 0200H 		BX = 0700H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Value (Displacement = 0500H) </a:t>
            </a:r>
          </a:p>
          <a:p>
            <a:pPr lvl="1"/>
            <a:endParaRPr lang="en-US" sz="2800" b="1" dirty="0">
              <a:solidFill>
                <a:srgbClr val="7030A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iii) MOV CX, Values[BP]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of SS × 10H + 										 [BP + Values]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 			    = 7000H × 10H + (0100H+0500H)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= 70600H </a:t>
            </a: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Offset BP = SS </a:t>
            </a:r>
          </a:p>
        </p:txBody>
      </p:sp>
    </p:spTree>
    <p:extLst>
      <p:ext uri="{BB962C8B-B14F-4D97-AF65-F5344CB8AC3E}">
        <p14:creationId xmlns:p14="http://schemas.microsoft.com/office/powerpoint/2010/main" val="1381204909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4: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Calculate the physical address for following instruction.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DS = 1000H 	SS = 7000H 		ES = 4000H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BP = 0100H 	SI = 0020H 		DI = 0200H 		BX = 0700H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Value (Displacement = 0500H) </a:t>
            </a:r>
          </a:p>
          <a:p>
            <a:pPr lvl="1"/>
            <a:endParaRPr lang="en-US" sz="2800" b="1" dirty="0">
              <a:solidFill>
                <a:srgbClr val="7030A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iv) MOV ES:[1000H], AL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of ES × 10H + [1000H] 						    = 4000H × 10H + [1000H]					   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= 41000H </a:t>
            </a:r>
          </a:p>
        </p:txBody>
      </p:sp>
    </p:spTree>
    <p:extLst>
      <p:ext uri="{BB962C8B-B14F-4D97-AF65-F5344CB8AC3E}">
        <p14:creationId xmlns:p14="http://schemas.microsoft.com/office/powerpoint/2010/main" val="915649142"/>
      </p:ext>
    </p:extLst>
  </p:cSld>
  <p:clrMapOvr>
    <a:masterClrMapping/>
  </p:clrMapOvr>
  <p:transition spd="med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5: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Logical address is 8000H : 0000H. Calculate the physical address.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× 10H + Offset 						    			    = 8000H × 10H + 0000H 					   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= 80000H </a:t>
            </a:r>
          </a:p>
        </p:txBody>
      </p:sp>
    </p:spTree>
    <p:extLst>
      <p:ext uri="{BB962C8B-B14F-4D97-AF65-F5344CB8AC3E}">
        <p14:creationId xmlns:p14="http://schemas.microsoft.com/office/powerpoint/2010/main" val="2528237916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Problem 6: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What is the physical address of 6</a:t>
            </a:r>
            <a:r>
              <a:rPr lang="en-US" sz="2800" baseline="30000" dirty="0">
                <a:latin typeface="Cambria" panose="02040503050406030204" pitchFamily="18" charset="0"/>
              </a:rPr>
              <a:t>th</a:t>
            </a:r>
            <a:r>
              <a:rPr lang="en-US" sz="2800" dirty="0">
                <a:latin typeface="Cambria" panose="02040503050406030204" pitchFamily="18" charset="0"/>
              </a:rPr>
              <a:t> segment for location 250?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Segment = 5000H </a:t>
            </a:r>
            <a:r>
              <a:rPr lang="en-US" sz="2800" b="1" dirty="0">
                <a:latin typeface="Cambria" panose="02040503050406030204" pitchFamily="18" charset="0"/>
              </a:rPr>
              <a:t>(Segment starts from 0. So, 5)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Offset = 249 </a:t>
            </a:r>
            <a:r>
              <a:rPr lang="en-US" sz="2800" b="1" dirty="0">
                <a:latin typeface="Cambria" panose="02040503050406030204" pitchFamily="18" charset="0"/>
              </a:rPr>
              <a:t>(Start from 0. So, 249)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 = 00F9H </a:t>
            </a:r>
            <a:r>
              <a:rPr lang="en-US" sz="2800" b="1" dirty="0">
                <a:latin typeface="Cambria" panose="02040503050406030204" pitchFamily="18" charset="0"/>
              </a:rPr>
              <a:t>(Hexadecimal value)</a:t>
            </a:r>
          </a:p>
          <a:p>
            <a:pPr lvl="1"/>
            <a:endParaRPr lang="en-US" sz="2800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Physical address </a:t>
            </a:r>
            <a:r>
              <a:rPr lang="en-US" sz="2800" dirty="0">
                <a:latin typeface="Cambria" panose="02040503050406030204" pitchFamily="18" charset="0"/>
              </a:rPr>
              <a:t>= Segment address × 10H + Offset 						    			    = 5000H × 10H + 00F9H					   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    = 500F9H </a:t>
            </a:r>
          </a:p>
        </p:txBody>
      </p:sp>
    </p:spTree>
    <p:extLst>
      <p:ext uri="{BB962C8B-B14F-4D97-AF65-F5344CB8AC3E}">
        <p14:creationId xmlns:p14="http://schemas.microsoft.com/office/powerpoint/2010/main" val="3794000439"/>
      </p:ext>
    </p:extLst>
  </p:cSld>
  <p:clrMapOvr>
    <a:masterClrMapping/>
  </p:clrMapOvr>
  <p:transition spd="med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Should be remembered, </a:t>
                </a:r>
              </a:p>
              <a:p>
                <a:pPr lvl="1" algn="ctr"/>
                <a:r>
                  <a:rPr lang="en-US" sz="2800" dirty="0">
                    <a:latin typeface="Cambria" panose="02040503050406030204" pitchFamily="18" charset="0"/>
                  </a:rPr>
                  <a:t>K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	(KB)</a:t>
                </a:r>
              </a:p>
              <a:p>
                <a:pPr lvl="1" algn="ctr"/>
                <a:r>
                  <a:rPr lang="en-US" sz="2800" dirty="0">
                    <a:latin typeface="Cambria" panose="02040503050406030204" pitchFamily="18" charset="0"/>
                  </a:rPr>
                  <a:t>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	(MB)</a:t>
                </a:r>
              </a:p>
              <a:p>
                <a:pPr lvl="1" algn="ctr"/>
                <a:r>
                  <a:rPr lang="en-US" sz="2800" dirty="0">
                    <a:latin typeface="Cambria" panose="02040503050406030204" pitchFamily="18" charset="0"/>
                  </a:rPr>
                  <a:t>G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	(GB)</a:t>
                </a:r>
              </a:p>
              <a:p>
                <a:pPr lvl="1" algn="ctr"/>
                <a:r>
                  <a:rPr lang="en-US" sz="2800" dirty="0">
                    <a:latin typeface="Cambria" panose="02040503050406030204" pitchFamily="18" charset="0"/>
                  </a:rPr>
                  <a:t>T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	(TB)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2246769"/>
              </a:xfrm>
              <a:prstGeom prst="rect">
                <a:avLst/>
              </a:prstGeom>
              <a:blipFill>
                <a:blip r:embed="rId3"/>
                <a:stretch>
                  <a:fillRect t="-2710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919198"/>
      </p:ext>
    </p:extLst>
  </p:cSld>
  <p:clrMapOvr>
    <a:masterClrMapping/>
  </p:clrMapOvr>
  <p:transition spd="med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2852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memory units that follows are specified by the number of </a:t>
            </a:r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words</a:t>
            </a:r>
            <a:r>
              <a:rPr lang="en-US" sz="2800" dirty="0">
                <a:latin typeface="Cambria" panose="02040503050406030204" pitchFamily="18" charset="0"/>
              </a:rPr>
              <a:t> times, the number of </a:t>
            </a:r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bits</a:t>
            </a:r>
            <a:r>
              <a:rPr lang="en-US" sz="2800" dirty="0">
                <a:latin typeface="Cambria" panose="02040503050406030204" pitchFamily="18" charset="0"/>
              </a:rPr>
              <a:t> per word. How many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address lines </a:t>
            </a:r>
            <a:r>
              <a:rPr lang="en-US" sz="2800" dirty="0">
                <a:latin typeface="Cambria" panose="02040503050406030204" pitchFamily="18" charset="0"/>
              </a:rPr>
              <a:t>and input output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data lines </a:t>
            </a:r>
            <a:r>
              <a:rPr lang="en-US" sz="2800" dirty="0">
                <a:latin typeface="Cambria" panose="02040503050406030204" pitchFamily="18" charset="0"/>
              </a:rPr>
              <a:t>are needed in each case?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a) 8K × 16 				b) 2G × 8 			c) 16M × 32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d) 256K × 64 			e) 64K × 8 			f) 2T × 8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 algn="ctr"/>
            <a:r>
              <a:rPr lang="en-US" sz="2800" dirty="0">
                <a:latin typeface="Cambria" panose="02040503050406030204" pitchFamily="18" charset="0"/>
              </a:rPr>
              <a:t>8K × 16</a:t>
            </a:r>
          </a:p>
          <a:p>
            <a:pPr lvl="1" algn="ctr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						       Word              Bit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Data line is obtained from </a:t>
            </a:r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“bit value”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Address line is obtained from </a:t>
            </a:r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“Word value”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F2E28B1-DA26-4353-905F-3B98D2A7710E}"/>
              </a:ext>
            </a:extLst>
          </p:cNvPr>
          <p:cNvCxnSpPr/>
          <p:nvPr/>
        </p:nvCxnSpPr>
        <p:spPr>
          <a:xfrm flipH="1">
            <a:off x="4318782" y="4529793"/>
            <a:ext cx="436098" cy="4360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D13139-7E3B-412D-92D0-CAE2118F65A8}"/>
              </a:ext>
            </a:extLst>
          </p:cNvPr>
          <p:cNvCxnSpPr/>
          <p:nvPr/>
        </p:nvCxnSpPr>
        <p:spPr>
          <a:xfrm>
            <a:off x="5613009" y="4501657"/>
            <a:ext cx="492369" cy="4923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587071"/>
      </p:ext>
    </p:extLst>
  </p:cSld>
  <p:clrMapOvr>
    <a:masterClrMapping/>
  </p:clrMapOvr>
  <p:transition spd="med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memory units that follows are specified by the number of </a:t>
            </a:r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words</a:t>
            </a:r>
            <a:r>
              <a:rPr lang="en-US" sz="2800" dirty="0">
                <a:latin typeface="Cambria" panose="02040503050406030204" pitchFamily="18" charset="0"/>
              </a:rPr>
              <a:t> times, the number of </a:t>
            </a:r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bits</a:t>
            </a:r>
            <a:r>
              <a:rPr lang="en-US" sz="2800" dirty="0">
                <a:latin typeface="Cambria" panose="02040503050406030204" pitchFamily="18" charset="0"/>
              </a:rPr>
              <a:t> per word. How many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address lines </a:t>
            </a:r>
            <a:r>
              <a:rPr lang="en-US" sz="2800" dirty="0">
                <a:latin typeface="Cambria" panose="02040503050406030204" pitchFamily="18" charset="0"/>
              </a:rPr>
              <a:t>and input output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data lines </a:t>
            </a:r>
            <a:r>
              <a:rPr lang="en-US" sz="2800" dirty="0">
                <a:latin typeface="Cambria" panose="02040503050406030204" pitchFamily="18" charset="0"/>
              </a:rPr>
              <a:t>are needed in each case?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a) 8K × 16 				b) 2G × 8 			c) 16M × 32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d) 256K × 64 			e) 64K × 8 			f) 2T × 8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Solution: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Let, address line is denoted by “A” and data line is denoted by “D”. </a:t>
            </a:r>
          </a:p>
        </p:txBody>
      </p:sp>
    </p:spTree>
    <p:extLst>
      <p:ext uri="{BB962C8B-B14F-4D97-AF65-F5344CB8AC3E}">
        <p14:creationId xmlns:p14="http://schemas.microsoft.com/office/powerpoint/2010/main" val="2773604086"/>
      </p:ext>
    </p:extLst>
  </p:cSld>
  <p:clrMapOvr>
    <a:masterClrMapping/>
  </p:clrMapOvr>
  <p:transition spd="med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</a:t>
                </a:r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a) 8K × 16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D = 16 (Data Line)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8K × 16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16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16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A = 13 (Address Line)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blipFill>
                <a:blip r:embed="rId3"/>
                <a:stretch>
                  <a:fillRect t="-1721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802694"/>
      </p:ext>
    </p:extLst>
  </p:cSld>
  <p:clrMapOvr>
    <a:masterClrMapping/>
  </p:clrMapOvr>
  <p:transition spd="med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</a:t>
                </a:r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b) 2G × 8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D = 8 (Data Line)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2G × 8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8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8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A = 31 (Address Line)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blipFill>
                <a:blip r:embed="rId3"/>
                <a:stretch>
                  <a:fillRect t="-1721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188863"/>
      </p:ext>
    </p:extLst>
  </p:cSld>
  <p:clrMapOvr>
    <a:masterClrMapping/>
  </p:clrMapOvr>
  <p:transition spd="med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</a:t>
                </a:r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c) 16M × 32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D = 32 (Data Line)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16M × 32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32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32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A = 24 (Address Line)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blipFill>
                <a:blip r:embed="rId3"/>
                <a:stretch>
                  <a:fillRect t="-1721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446176"/>
      </p:ext>
    </p:extLst>
  </p:cSld>
  <p:clrMapOvr>
    <a:masterClrMapping/>
  </p:clrMapOvr>
  <p:transition spd="med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</a:t>
                </a:r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d) 256K × 64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D = 64 (Data Line)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256K × 64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64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64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A = 18 (Address Line)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blipFill>
                <a:blip r:embed="rId3"/>
                <a:stretch>
                  <a:fillRect t="-1721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567214"/>
      </p:ext>
    </p:extLst>
  </p:cSld>
  <p:clrMapOvr>
    <a:masterClrMapping/>
  </p:clrMapOvr>
  <p:transition spd="med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</a:t>
                </a:r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e) 64K × 8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D = 8 (Data Line)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64K × 8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8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8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A = 16 (Address Line)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blipFill>
                <a:blip r:embed="rId3"/>
                <a:stretch>
                  <a:fillRect t="-1721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884681"/>
      </p:ext>
    </p:extLst>
  </p:cSld>
  <p:clrMapOvr>
    <a:masterClrMapping/>
  </p:clrMapOvr>
  <p:transition spd="med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11/4/2025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Address Line and Data Line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Solution:</a:t>
                </a:r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f) 2T × 8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D = 8 (Data Line)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2T × 8 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8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8</a:t>
                </a:r>
              </a:p>
              <a:p>
                <a:pPr lvl="1"/>
                <a:r>
                  <a:rPr lang="en-US" sz="2800" dirty="0">
                    <a:latin typeface="Cambria" panose="02040503050406030204" pitchFamily="18" charset="0"/>
                  </a:rPr>
                  <a:t>A = 41 (Address Line)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blipFill>
                <a:blip r:embed="rId3"/>
                <a:stretch>
                  <a:fillRect t="-1721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44988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2503</TotalTime>
  <Words>2740</Words>
  <Application>Microsoft Office PowerPoint</Application>
  <PresentationFormat>A4 Paper (210x297 mm)</PresentationFormat>
  <Paragraphs>467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Md. Adnan Sami</cp:lastModifiedBy>
  <cp:revision>393</cp:revision>
  <dcterms:created xsi:type="dcterms:W3CDTF">2025-01-23T20:11:31Z</dcterms:created>
  <dcterms:modified xsi:type="dcterms:W3CDTF">2025-11-04T04:56:57Z</dcterms:modified>
</cp:coreProperties>
</file>