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7" r:id="rId3"/>
    <p:sldId id="279" r:id="rId4"/>
    <p:sldId id="281" r:id="rId5"/>
    <p:sldId id="280" r:id="rId6"/>
    <p:sldId id="282" r:id="rId7"/>
    <p:sldId id="283" r:id="rId8"/>
    <p:sldId id="284" r:id="rId9"/>
    <p:sldId id="285" r:id="rId10"/>
    <p:sldId id="286" r:id="rId11"/>
    <p:sldId id="287" r:id="rId12"/>
    <p:sldId id="288" r:id="rId13"/>
    <p:sldId id="289" r:id="rId14"/>
    <p:sldId id="291" r:id="rId15"/>
    <p:sldId id="292" r:id="rId16"/>
    <p:sldId id="293" r:id="rId17"/>
    <p:sldId id="294" r:id="rId18"/>
    <p:sldId id="295" r:id="rId19"/>
    <p:sldId id="305" r:id="rId20"/>
    <p:sldId id="306" r:id="rId21"/>
    <p:sldId id="307" r:id="rId22"/>
    <p:sldId id="296" r:id="rId23"/>
    <p:sldId id="297" r:id="rId24"/>
    <p:sldId id="298" r:id="rId25"/>
    <p:sldId id="299" r:id="rId26"/>
    <p:sldId id="300" r:id="rId27"/>
    <p:sldId id="301" r:id="rId28"/>
    <p:sldId id="302" r:id="rId29"/>
    <p:sldId id="303" r:id="rId30"/>
    <p:sldId id="304" r:id="rId31"/>
    <p:sldId id="308" r:id="rId32"/>
    <p:sldId id="311" r:id="rId33"/>
    <p:sldId id="310" r:id="rId34"/>
    <p:sldId id="290" r:id="rId35"/>
  </p:sldIdLst>
  <p:sldSz cx="9906000" cy="6858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633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3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00C9C90-C7B7-41AD-B1B1-5387A5B2466D}" type="datetimeFigureOut">
              <a:rPr lang="en-US" smtClean="0"/>
              <a:t>11/1/2025</a:t>
            </a:fld>
            <a:endParaRPr lang="en-US"/>
          </a:p>
        </p:txBody>
      </p:sp>
      <p:sp>
        <p:nvSpPr>
          <p:cNvPr id="4" name="Slide Image Placeholder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BE2461A-9855-48E6-8F62-3A205CD09D93}" type="slidenum">
              <a:rPr lang="en-US" smtClean="0"/>
              <a:t>‹#›</a:t>
            </a:fld>
            <a:endParaRPr lang="en-US"/>
          </a:p>
        </p:txBody>
      </p:sp>
    </p:spTree>
    <p:extLst>
      <p:ext uri="{BB962C8B-B14F-4D97-AF65-F5344CB8AC3E}">
        <p14:creationId xmlns:p14="http://schemas.microsoft.com/office/powerpoint/2010/main" val="53561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a:t>
            </a:fld>
            <a:endParaRPr lang="en-US"/>
          </a:p>
        </p:txBody>
      </p:sp>
    </p:spTree>
    <p:extLst>
      <p:ext uri="{BB962C8B-B14F-4D97-AF65-F5344CB8AC3E}">
        <p14:creationId xmlns:p14="http://schemas.microsoft.com/office/powerpoint/2010/main" val="2294186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4</a:t>
            </a:fld>
            <a:endParaRPr lang="en-US"/>
          </a:p>
        </p:txBody>
      </p:sp>
    </p:spTree>
    <p:extLst>
      <p:ext uri="{BB962C8B-B14F-4D97-AF65-F5344CB8AC3E}">
        <p14:creationId xmlns:p14="http://schemas.microsoft.com/office/powerpoint/2010/main" val="2750125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5</a:t>
            </a:fld>
            <a:endParaRPr lang="en-US"/>
          </a:p>
        </p:txBody>
      </p:sp>
    </p:spTree>
    <p:extLst>
      <p:ext uri="{BB962C8B-B14F-4D97-AF65-F5344CB8AC3E}">
        <p14:creationId xmlns:p14="http://schemas.microsoft.com/office/powerpoint/2010/main" val="2458398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6</a:t>
            </a:fld>
            <a:endParaRPr lang="en-US"/>
          </a:p>
        </p:txBody>
      </p:sp>
    </p:spTree>
    <p:extLst>
      <p:ext uri="{BB962C8B-B14F-4D97-AF65-F5344CB8AC3E}">
        <p14:creationId xmlns:p14="http://schemas.microsoft.com/office/powerpoint/2010/main" val="1672158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7</a:t>
            </a:fld>
            <a:endParaRPr lang="en-US"/>
          </a:p>
        </p:txBody>
      </p:sp>
    </p:spTree>
    <p:extLst>
      <p:ext uri="{BB962C8B-B14F-4D97-AF65-F5344CB8AC3E}">
        <p14:creationId xmlns:p14="http://schemas.microsoft.com/office/powerpoint/2010/main" val="503385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8</a:t>
            </a:fld>
            <a:endParaRPr lang="en-US"/>
          </a:p>
        </p:txBody>
      </p:sp>
    </p:spTree>
    <p:extLst>
      <p:ext uri="{BB962C8B-B14F-4D97-AF65-F5344CB8AC3E}">
        <p14:creationId xmlns:p14="http://schemas.microsoft.com/office/powerpoint/2010/main" val="1498493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9</a:t>
            </a:fld>
            <a:endParaRPr lang="en-US"/>
          </a:p>
        </p:txBody>
      </p:sp>
    </p:spTree>
    <p:extLst>
      <p:ext uri="{BB962C8B-B14F-4D97-AF65-F5344CB8AC3E}">
        <p14:creationId xmlns:p14="http://schemas.microsoft.com/office/powerpoint/2010/main" val="1433821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10</a:t>
            </a:fld>
            <a:endParaRPr lang="en-US"/>
          </a:p>
        </p:txBody>
      </p:sp>
    </p:spTree>
    <p:extLst>
      <p:ext uri="{BB962C8B-B14F-4D97-AF65-F5344CB8AC3E}">
        <p14:creationId xmlns:p14="http://schemas.microsoft.com/office/powerpoint/2010/main" val="2694366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11</a:t>
            </a:fld>
            <a:endParaRPr lang="en-US"/>
          </a:p>
        </p:txBody>
      </p:sp>
    </p:spTree>
    <p:extLst>
      <p:ext uri="{BB962C8B-B14F-4D97-AF65-F5344CB8AC3E}">
        <p14:creationId xmlns:p14="http://schemas.microsoft.com/office/powerpoint/2010/main" val="1516532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12</a:t>
            </a:fld>
            <a:endParaRPr lang="en-US"/>
          </a:p>
        </p:txBody>
      </p:sp>
    </p:spTree>
    <p:extLst>
      <p:ext uri="{BB962C8B-B14F-4D97-AF65-F5344CB8AC3E}">
        <p14:creationId xmlns:p14="http://schemas.microsoft.com/office/powerpoint/2010/main" val="820894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13</a:t>
            </a:fld>
            <a:endParaRPr lang="en-US"/>
          </a:p>
        </p:txBody>
      </p:sp>
    </p:spTree>
    <p:extLst>
      <p:ext uri="{BB962C8B-B14F-4D97-AF65-F5344CB8AC3E}">
        <p14:creationId xmlns:p14="http://schemas.microsoft.com/office/powerpoint/2010/main" val="502161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14</a:t>
            </a:fld>
            <a:endParaRPr lang="en-US"/>
          </a:p>
        </p:txBody>
      </p:sp>
    </p:spTree>
    <p:extLst>
      <p:ext uri="{BB962C8B-B14F-4D97-AF65-F5344CB8AC3E}">
        <p14:creationId xmlns:p14="http://schemas.microsoft.com/office/powerpoint/2010/main" val="2757782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15</a:t>
            </a:fld>
            <a:endParaRPr lang="en-US"/>
          </a:p>
        </p:txBody>
      </p:sp>
    </p:spTree>
    <p:extLst>
      <p:ext uri="{BB962C8B-B14F-4D97-AF65-F5344CB8AC3E}">
        <p14:creationId xmlns:p14="http://schemas.microsoft.com/office/powerpoint/2010/main" val="3115818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16</a:t>
            </a:fld>
            <a:endParaRPr lang="en-US"/>
          </a:p>
        </p:txBody>
      </p:sp>
    </p:spTree>
    <p:extLst>
      <p:ext uri="{BB962C8B-B14F-4D97-AF65-F5344CB8AC3E}">
        <p14:creationId xmlns:p14="http://schemas.microsoft.com/office/powerpoint/2010/main" val="2538928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17</a:t>
            </a:fld>
            <a:endParaRPr lang="en-US"/>
          </a:p>
        </p:txBody>
      </p:sp>
    </p:spTree>
    <p:extLst>
      <p:ext uri="{BB962C8B-B14F-4D97-AF65-F5344CB8AC3E}">
        <p14:creationId xmlns:p14="http://schemas.microsoft.com/office/powerpoint/2010/main" val="2823012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18</a:t>
            </a:fld>
            <a:endParaRPr lang="en-US"/>
          </a:p>
        </p:txBody>
      </p:sp>
    </p:spTree>
    <p:extLst>
      <p:ext uri="{BB962C8B-B14F-4D97-AF65-F5344CB8AC3E}">
        <p14:creationId xmlns:p14="http://schemas.microsoft.com/office/powerpoint/2010/main" val="3712959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19</a:t>
            </a:fld>
            <a:endParaRPr lang="en-US"/>
          </a:p>
        </p:txBody>
      </p:sp>
    </p:spTree>
    <p:extLst>
      <p:ext uri="{BB962C8B-B14F-4D97-AF65-F5344CB8AC3E}">
        <p14:creationId xmlns:p14="http://schemas.microsoft.com/office/powerpoint/2010/main" val="856100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20</a:t>
            </a:fld>
            <a:endParaRPr lang="en-US"/>
          </a:p>
        </p:txBody>
      </p:sp>
    </p:spTree>
    <p:extLst>
      <p:ext uri="{BB962C8B-B14F-4D97-AF65-F5344CB8AC3E}">
        <p14:creationId xmlns:p14="http://schemas.microsoft.com/office/powerpoint/2010/main" val="12219208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21</a:t>
            </a:fld>
            <a:endParaRPr lang="en-US"/>
          </a:p>
        </p:txBody>
      </p:sp>
    </p:spTree>
    <p:extLst>
      <p:ext uri="{BB962C8B-B14F-4D97-AF65-F5344CB8AC3E}">
        <p14:creationId xmlns:p14="http://schemas.microsoft.com/office/powerpoint/2010/main" val="659397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22</a:t>
            </a:fld>
            <a:endParaRPr lang="en-US"/>
          </a:p>
        </p:txBody>
      </p:sp>
    </p:spTree>
    <p:extLst>
      <p:ext uri="{BB962C8B-B14F-4D97-AF65-F5344CB8AC3E}">
        <p14:creationId xmlns:p14="http://schemas.microsoft.com/office/powerpoint/2010/main" val="858461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23</a:t>
            </a:fld>
            <a:endParaRPr lang="en-US"/>
          </a:p>
        </p:txBody>
      </p:sp>
    </p:spTree>
    <p:extLst>
      <p:ext uri="{BB962C8B-B14F-4D97-AF65-F5344CB8AC3E}">
        <p14:creationId xmlns:p14="http://schemas.microsoft.com/office/powerpoint/2010/main" val="403810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24</a:t>
            </a:fld>
            <a:endParaRPr lang="en-US"/>
          </a:p>
        </p:txBody>
      </p:sp>
    </p:spTree>
    <p:extLst>
      <p:ext uri="{BB962C8B-B14F-4D97-AF65-F5344CB8AC3E}">
        <p14:creationId xmlns:p14="http://schemas.microsoft.com/office/powerpoint/2010/main" val="41516275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25</a:t>
            </a:fld>
            <a:endParaRPr lang="en-US"/>
          </a:p>
        </p:txBody>
      </p:sp>
    </p:spTree>
    <p:extLst>
      <p:ext uri="{BB962C8B-B14F-4D97-AF65-F5344CB8AC3E}">
        <p14:creationId xmlns:p14="http://schemas.microsoft.com/office/powerpoint/2010/main" val="143115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26</a:t>
            </a:fld>
            <a:endParaRPr lang="en-US"/>
          </a:p>
        </p:txBody>
      </p:sp>
    </p:spTree>
    <p:extLst>
      <p:ext uri="{BB962C8B-B14F-4D97-AF65-F5344CB8AC3E}">
        <p14:creationId xmlns:p14="http://schemas.microsoft.com/office/powerpoint/2010/main" val="1659825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27</a:t>
            </a:fld>
            <a:endParaRPr lang="en-US"/>
          </a:p>
        </p:txBody>
      </p:sp>
    </p:spTree>
    <p:extLst>
      <p:ext uri="{BB962C8B-B14F-4D97-AF65-F5344CB8AC3E}">
        <p14:creationId xmlns:p14="http://schemas.microsoft.com/office/powerpoint/2010/main" val="1936006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28</a:t>
            </a:fld>
            <a:endParaRPr lang="en-US"/>
          </a:p>
        </p:txBody>
      </p:sp>
    </p:spTree>
    <p:extLst>
      <p:ext uri="{BB962C8B-B14F-4D97-AF65-F5344CB8AC3E}">
        <p14:creationId xmlns:p14="http://schemas.microsoft.com/office/powerpoint/2010/main" val="1950151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29</a:t>
            </a:fld>
            <a:endParaRPr lang="en-US"/>
          </a:p>
        </p:txBody>
      </p:sp>
    </p:spTree>
    <p:extLst>
      <p:ext uri="{BB962C8B-B14F-4D97-AF65-F5344CB8AC3E}">
        <p14:creationId xmlns:p14="http://schemas.microsoft.com/office/powerpoint/2010/main" val="2505799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30</a:t>
            </a:fld>
            <a:endParaRPr lang="en-US"/>
          </a:p>
        </p:txBody>
      </p:sp>
    </p:spTree>
    <p:extLst>
      <p:ext uri="{BB962C8B-B14F-4D97-AF65-F5344CB8AC3E}">
        <p14:creationId xmlns:p14="http://schemas.microsoft.com/office/powerpoint/2010/main" val="5336349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31</a:t>
            </a:fld>
            <a:endParaRPr lang="en-US"/>
          </a:p>
        </p:txBody>
      </p:sp>
    </p:spTree>
    <p:extLst>
      <p:ext uri="{BB962C8B-B14F-4D97-AF65-F5344CB8AC3E}">
        <p14:creationId xmlns:p14="http://schemas.microsoft.com/office/powerpoint/2010/main" val="34651511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32</a:t>
            </a:fld>
            <a:endParaRPr lang="en-US"/>
          </a:p>
        </p:txBody>
      </p:sp>
    </p:spTree>
    <p:extLst>
      <p:ext uri="{BB962C8B-B14F-4D97-AF65-F5344CB8AC3E}">
        <p14:creationId xmlns:p14="http://schemas.microsoft.com/office/powerpoint/2010/main" val="37594073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33</a:t>
            </a:fld>
            <a:endParaRPr lang="en-US"/>
          </a:p>
        </p:txBody>
      </p:sp>
    </p:spTree>
    <p:extLst>
      <p:ext uri="{BB962C8B-B14F-4D97-AF65-F5344CB8AC3E}">
        <p14:creationId xmlns:p14="http://schemas.microsoft.com/office/powerpoint/2010/main" val="3926430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34</a:t>
            </a:fld>
            <a:endParaRPr lang="en-US"/>
          </a:p>
        </p:txBody>
      </p:sp>
    </p:spTree>
    <p:extLst>
      <p:ext uri="{BB962C8B-B14F-4D97-AF65-F5344CB8AC3E}">
        <p14:creationId xmlns:p14="http://schemas.microsoft.com/office/powerpoint/2010/main" val="5207245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3807F09-F1A6-4957-81DB-43CB0B0B4530}" type="datetime1">
              <a:rPr lang="en-US" smtClean="0"/>
              <a:t>11/1/2025</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
        <p:nvSpPr>
          <p:cNvPr id="8" name="Rectangle 7"/>
          <p:cNvSpPr/>
          <p:nvPr userDrawn="1"/>
        </p:nvSpPr>
        <p:spPr>
          <a:xfrm>
            <a:off x="3765583" y="1437589"/>
            <a:ext cx="2372628" cy="3688594"/>
          </a:xfrm>
          <a:prstGeom prst="rect">
            <a:avLst/>
          </a:prstGeom>
          <a:blipFill dpi="0" rotWithShape="1">
            <a:blip r:embed="rId2">
              <a:alphaModFix amt="18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8420535"/>
      </p:ext>
    </p:extLst>
  </p:cSld>
  <p:clrMapOvr>
    <a:masterClrMapping/>
  </p:clrMapOvr>
  <p:transition spd="med">
    <p:push dir="u"/>
  </p:transition>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6705CB-0645-410B-9FF6-4A47DA862B47}" type="datetime1">
              <a:rPr lang="en-US" smtClean="0"/>
              <a:t>11/1/2025</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72238751"/>
      </p:ext>
    </p:extLst>
  </p:cSld>
  <p:clrMapOvr>
    <a:masterClrMapping/>
  </p:clrMapOvr>
  <p:transition spd="med">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58FBE4-A88C-43D5-AE4F-8B4E6A7E5649}" type="datetime1">
              <a:rPr lang="en-US" smtClean="0"/>
              <a:t>11/1/2025</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209872530"/>
      </p:ext>
    </p:extLst>
  </p:cSld>
  <p:clrMapOvr>
    <a:masterClrMapping/>
  </p:clrMapOvr>
  <p:transition spd="med">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D13FDD-450C-49DF-A9FA-2E0CD076A18C}" type="datetime1">
              <a:rPr lang="en-US" smtClean="0"/>
              <a:t>11/1/2025</a:t>
            </a:fld>
            <a:endParaRPr lang="en-US"/>
          </a:p>
        </p:txBody>
      </p:sp>
      <p:sp>
        <p:nvSpPr>
          <p:cNvPr id="6" name="Footer Placeholder 5"/>
          <p:cNvSpPr>
            <a:spLocks noGrp="1"/>
          </p:cNvSpPr>
          <p:nvPr>
            <p:ph type="ftr" sz="quarter" idx="11"/>
          </p:nvPr>
        </p:nvSpPr>
        <p:spPr/>
        <p:txBody>
          <a:bodyPr/>
          <a:lstStyle/>
          <a:p>
            <a:r>
              <a:rPr lang="en-US"/>
              <a:t>Md. Adnan Sami, Dept. of CSE, VU</a:t>
            </a:r>
          </a:p>
        </p:txBody>
      </p:sp>
      <p:sp>
        <p:nvSpPr>
          <p:cNvPr id="7" name="Slide Number Placeholder 6"/>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2849067326"/>
      </p:ext>
    </p:extLst>
  </p:cSld>
  <p:clrMapOvr>
    <a:masterClrMapping/>
  </p:clrMapOvr>
  <p:transition spd="med">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840B2C-E306-4CDA-919C-27E9ABFCB224}" type="datetime1">
              <a:rPr lang="en-US" smtClean="0"/>
              <a:t>11/1/2025</a:t>
            </a:fld>
            <a:endParaRPr lang="en-US"/>
          </a:p>
        </p:txBody>
      </p:sp>
      <p:sp>
        <p:nvSpPr>
          <p:cNvPr id="8" name="Footer Placeholder 7"/>
          <p:cNvSpPr>
            <a:spLocks noGrp="1"/>
          </p:cNvSpPr>
          <p:nvPr>
            <p:ph type="ftr" sz="quarter" idx="11"/>
          </p:nvPr>
        </p:nvSpPr>
        <p:spPr/>
        <p:txBody>
          <a:bodyPr/>
          <a:lstStyle/>
          <a:p>
            <a:r>
              <a:rPr lang="en-US"/>
              <a:t>Md. Adnan Sami, Dept. of CSE, VU</a:t>
            </a:r>
          </a:p>
        </p:txBody>
      </p:sp>
      <p:sp>
        <p:nvSpPr>
          <p:cNvPr id="9" name="Slide Number Placeholder 8"/>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3371136709"/>
      </p:ext>
    </p:extLst>
  </p:cSld>
  <p:clrMapOvr>
    <a:masterClrMapping/>
  </p:clrMapOvr>
  <p:transition spd="med">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CFBFF9-BA53-4AA4-968B-FA743C6ECCE7}" type="datetime1">
              <a:rPr lang="en-US" smtClean="0"/>
              <a:t>11/1/2025</a:t>
            </a:fld>
            <a:endParaRPr lang="en-US"/>
          </a:p>
        </p:txBody>
      </p:sp>
      <p:sp>
        <p:nvSpPr>
          <p:cNvPr id="4" name="Footer Placeholder 3"/>
          <p:cNvSpPr>
            <a:spLocks noGrp="1"/>
          </p:cNvSpPr>
          <p:nvPr>
            <p:ph type="ftr" sz="quarter" idx="11"/>
          </p:nvPr>
        </p:nvSpPr>
        <p:spPr/>
        <p:txBody>
          <a:bodyPr/>
          <a:lstStyle/>
          <a:p>
            <a:r>
              <a:rPr lang="en-US"/>
              <a:t>Md. Adnan Sami, Dept. of CSE, VU</a:t>
            </a:r>
          </a:p>
        </p:txBody>
      </p:sp>
      <p:sp>
        <p:nvSpPr>
          <p:cNvPr id="5" name="Slide Number Placeholder 4"/>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41044529"/>
      </p:ext>
    </p:extLst>
  </p:cSld>
  <p:clrMapOvr>
    <a:masterClrMapping/>
  </p:clrMapOvr>
  <p:transition spd="med">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7B7FE-DA48-4D44-8473-96427354A43D}" type="datetime1">
              <a:rPr lang="en-US" smtClean="0"/>
              <a:t>11/1/2025</a:t>
            </a:fld>
            <a:endParaRPr lang="en-US"/>
          </a:p>
        </p:txBody>
      </p:sp>
      <p:sp>
        <p:nvSpPr>
          <p:cNvPr id="3" name="Footer Placeholder 2"/>
          <p:cNvSpPr>
            <a:spLocks noGrp="1"/>
          </p:cNvSpPr>
          <p:nvPr>
            <p:ph type="ftr" sz="quarter" idx="11"/>
          </p:nvPr>
        </p:nvSpPr>
        <p:spPr/>
        <p:txBody>
          <a:bodyPr/>
          <a:lstStyle/>
          <a:p>
            <a:r>
              <a:rPr lang="en-US"/>
              <a:t>Md. Adnan Sami, Dept. of CSE, VU</a:t>
            </a:r>
          </a:p>
        </p:txBody>
      </p:sp>
      <p:sp>
        <p:nvSpPr>
          <p:cNvPr id="4" name="Slide Number Placeholder 3"/>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2678961422"/>
      </p:ext>
    </p:extLst>
  </p:cSld>
  <p:clrMapOvr>
    <a:masterClrMapping/>
  </p:clrMapOvr>
  <p:transition spd="med">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F743A33-3364-475F-98E7-007AFB73C295}" type="datetime1">
              <a:rPr lang="en-US" smtClean="0"/>
              <a:t>11/1/2025</a:t>
            </a:fld>
            <a:endParaRPr lang="en-US"/>
          </a:p>
        </p:txBody>
      </p:sp>
      <p:sp>
        <p:nvSpPr>
          <p:cNvPr id="6" name="Footer Placeholder 5"/>
          <p:cNvSpPr>
            <a:spLocks noGrp="1"/>
          </p:cNvSpPr>
          <p:nvPr>
            <p:ph type="ftr" sz="quarter" idx="11"/>
          </p:nvPr>
        </p:nvSpPr>
        <p:spPr/>
        <p:txBody>
          <a:bodyPr/>
          <a:lstStyle/>
          <a:p>
            <a:r>
              <a:rPr lang="en-US"/>
              <a:t>Md. Adnan Sami, Dept. of CSE, VU</a:t>
            </a:r>
          </a:p>
        </p:txBody>
      </p:sp>
      <p:sp>
        <p:nvSpPr>
          <p:cNvPr id="7" name="Slide Number Placeholder 6"/>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2326836805"/>
      </p:ext>
    </p:extLst>
  </p:cSld>
  <p:clrMapOvr>
    <a:masterClrMapping/>
  </p:clrMapOvr>
  <p:transition spd="med">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2F8480-48B5-47F4-B1EF-ED2EAF3D2019}" type="datetime1">
              <a:rPr lang="en-US" smtClean="0"/>
              <a:t>11/1/2025</a:t>
            </a:fld>
            <a:endParaRPr lang="en-US"/>
          </a:p>
        </p:txBody>
      </p:sp>
      <p:sp>
        <p:nvSpPr>
          <p:cNvPr id="6" name="Footer Placeholder 5"/>
          <p:cNvSpPr>
            <a:spLocks noGrp="1"/>
          </p:cNvSpPr>
          <p:nvPr>
            <p:ph type="ftr" sz="quarter" idx="11"/>
          </p:nvPr>
        </p:nvSpPr>
        <p:spPr/>
        <p:txBody>
          <a:bodyPr/>
          <a:lstStyle/>
          <a:p>
            <a:r>
              <a:rPr lang="en-US"/>
              <a:t>Md. Adnan Sami, Dept. of CSE, VU</a:t>
            </a:r>
          </a:p>
        </p:txBody>
      </p:sp>
      <p:sp>
        <p:nvSpPr>
          <p:cNvPr id="7" name="Slide Number Placeholder 6"/>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962699236"/>
      </p:ext>
    </p:extLst>
  </p:cSld>
  <p:clrMapOvr>
    <a:masterClrMapping/>
  </p:clrMapOvr>
  <p:transition spd="med">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2E1E98-4F27-46D8-B9A5-3F6C92AE46A3}" type="datetime1">
              <a:rPr lang="en-US" smtClean="0"/>
              <a:t>11/1/2025</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3516216844"/>
      </p:ext>
    </p:extLst>
  </p:cSld>
  <p:clrMapOvr>
    <a:masterClrMapping/>
  </p:clrMapOvr>
  <p:transition spd="med">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8DFBF-319F-4B2D-B51E-716D6479BD31}" type="datetime1">
              <a:rPr lang="en-US" smtClean="0"/>
              <a:t>11/1/2025</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084143908"/>
      </p:ext>
    </p:extLst>
  </p:cSld>
  <p:clrMapOvr>
    <a:masterClrMapping/>
  </p:clrMapOvr>
  <p:transition spd="med">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AEC111-EA99-4472-85A7-07A3E684B408}" type="datetime1">
              <a:rPr lang="en-US" smtClean="0"/>
              <a:t>11/1/2025</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Md. Adnan Sami, Dept. of CSE, VU</a:t>
            </a:r>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EF5767-624D-46AC-ADD7-140D9A2A517A}" type="slidenum">
              <a:rPr lang="en-US" smtClean="0"/>
              <a:t>‹#›</a:t>
            </a:fld>
            <a:endParaRPr lang="en-US"/>
          </a:p>
        </p:txBody>
      </p:sp>
    </p:spTree>
    <p:extLst>
      <p:ext uri="{BB962C8B-B14F-4D97-AF65-F5344CB8AC3E}">
        <p14:creationId xmlns:p14="http://schemas.microsoft.com/office/powerpoint/2010/main" val="2038187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push dir="u"/>
  </p:transition>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20624" t="3592" r="20538" b="5226"/>
          <a:stretch/>
        </p:blipFill>
        <p:spPr>
          <a:xfrm>
            <a:off x="4461538" y="154206"/>
            <a:ext cx="1005194" cy="1557757"/>
          </a:xfrm>
          <a:prstGeom prst="rect">
            <a:avLst/>
          </a:prstGeom>
        </p:spPr>
      </p:pic>
      <p:sp>
        <p:nvSpPr>
          <p:cNvPr id="9" name="TextBox 8"/>
          <p:cNvSpPr txBox="1"/>
          <p:nvPr/>
        </p:nvSpPr>
        <p:spPr>
          <a:xfrm>
            <a:off x="0" y="1828800"/>
            <a:ext cx="9906000" cy="553998"/>
          </a:xfrm>
          <a:prstGeom prst="rect">
            <a:avLst/>
          </a:prstGeom>
          <a:noFill/>
        </p:spPr>
        <p:txBody>
          <a:bodyPr wrap="square" rtlCol="0">
            <a:spAutoFit/>
          </a:bodyPr>
          <a:lstStyle/>
          <a:p>
            <a:pPr algn="ctr"/>
            <a:r>
              <a:rPr lang="en-US" sz="3000" b="1" dirty="0" err="1">
                <a:latin typeface="Cambria" pitchFamily="18" charset="0"/>
                <a:ea typeface="Cambria" pitchFamily="18" charset="0"/>
              </a:rPr>
              <a:t>Varendra</a:t>
            </a:r>
            <a:r>
              <a:rPr lang="en-US" sz="3000" b="1" dirty="0">
                <a:latin typeface="Cambria" pitchFamily="18" charset="0"/>
                <a:ea typeface="Cambria" pitchFamily="18" charset="0"/>
              </a:rPr>
              <a:t> University</a:t>
            </a:r>
          </a:p>
        </p:txBody>
      </p:sp>
      <p:sp>
        <p:nvSpPr>
          <p:cNvPr id="10" name="TextBox 9"/>
          <p:cNvSpPr txBox="1"/>
          <p:nvPr/>
        </p:nvSpPr>
        <p:spPr>
          <a:xfrm>
            <a:off x="0" y="2438402"/>
            <a:ext cx="9906000" cy="430887"/>
          </a:xfrm>
          <a:prstGeom prst="rect">
            <a:avLst/>
          </a:prstGeom>
          <a:noFill/>
        </p:spPr>
        <p:txBody>
          <a:bodyPr wrap="square" rtlCol="0">
            <a:spAutoFit/>
          </a:bodyPr>
          <a:lstStyle/>
          <a:p>
            <a:pPr algn="ctr"/>
            <a:r>
              <a:rPr lang="en-US" sz="2200" b="1" dirty="0">
                <a:solidFill>
                  <a:srgbClr val="D5633D"/>
                </a:solidFill>
                <a:latin typeface="Cambria" pitchFamily="18" charset="0"/>
                <a:ea typeface="Cambria" pitchFamily="18" charset="0"/>
              </a:rPr>
              <a:t>Dept. of Computer Science &amp; Engineering (CSE)</a:t>
            </a:r>
          </a:p>
        </p:txBody>
      </p:sp>
      <p:sp>
        <p:nvSpPr>
          <p:cNvPr id="11" name="TextBox 10"/>
          <p:cNvSpPr txBox="1"/>
          <p:nvPr/>
        </p:nvSpPr>
        <p:spPr>
          <a:xfrm>
            <a:off x="0" y="3328216"/>
            <a:ext cx="9906000" cy="523220"/>
          </a:xfrm>
          <a:prstGeom prst="rect">
            <a:avLst/>
          </a:prstGeom>
          <a:noFill/>
        </p:spPr>
        <p:txBody>
          <a:bodyPr wrap="square" rtlCol="0">
            <a:spAutoFit/>
          </a:bodyPr>
          <a:lstStyle/>
          <a:p>
            <a:pPr algn="ctr"/>
            <a:r>
              <a:rPr lang="en-US" sz="2800" b="1" dirty="0">
                <a:solidFill>
                  <a:schemeClr val="accent1">
                    <a:lumMod val="75000"/>
                  </a:schemeClr>
                </a:solidFill>
                <a:latin typeface="Cambria" pitchFamily="18" charset="0"/>
                <a:ea typeface="Cambria" pitchFamily="18" charset="0"/>
              </a:rPr>
              <a:t>Logic, Shift and </a:t>
            </a:r>
            <a:r>
              <a:rPr lang="en-US" sz="2800" b="1">
                <a:solidFill>
                  <a:schemeClr val="accent1">
                    <a:lumMod val="75000"/>
                  </a:schemeClr>
                </a:solidFill>
                <a:latin typeface="Cambria" pitchFamily="18" charset="0"/>
                <a:ea typeface="Cambria" pitchFamily="18" charset="0"/>
              </a:rPr>
              <a:t>Rotate Instructions (</a:t>
            </a:r>
            <a:r>
              <a:rPr lang="en-US" sz="2800" b="1" dirty="0">
                <a:solidFill>
                  <a:schemeClr val="accent1">
                    <a:lumMod val="75000"/>
                  </a:schemeClr>
                </a:solidFill>
                <a:latin typeface="Cambria" pitchFamily="18" charset="0"/>
                <a:ea typeface="Cambria" pitchFamily="18" charset="0"/>
              </a:rPr>
              <a:t>Chapter-7) </a:t>
            </a:r>
          </a:p>
        </p:txBody>
      </p:sp>
      <p:sp>
        <p:nvSpPr>
          <p:cNvPr id="12" name="TextBox 11"/>
          <p:cNvSpPr txBox="1"/>
          <p:nvPr/>
        </p:nvSpPr>
        <p:spPr>
          <a:xfrm>
            <a:off x="0" y="4161506"/>
            <a:ext cx="9906000" cy="769441"/>
          </a:xfrm>
          <a:prstGeom prst="rect">
            <a:avLst/>
          </a:prstGeom>
          <a:noFill/>
        </p:spPr>
        <p:txBody>
          <a:bodyPr wrap="square" rtlCol="0">
            <a:spAutoFit/>
          </a:bodyPr>
          <a:lstStyle/>
          <a:p>
            <a:pPr algn="ctr"/>
            <a:r>
              <a:rPr lang="en-US" sz="2200" dirty="0">
                <a:solidFill>
                  <a:srgbClr val="7030A0"/>
                </a:solidFill>
                <a:latin typeface="Cambria" panose="02040503050406030204" pitchFamily="18" charset="0"/>
                <a:ea typeface="Cambria" panose="02040503050406030204" pitchFamily="18" charset="0"/>
              </a:rPr>
              <a:t>Course Title: </a:t>
            </a:r>
            <a:r>
              <a:rPr lang="en-US" sz="2200" b="1" dirty="0">
                <a:solidFill>
                  <a:srgbClr val="7030A0"/>
                </a:solidFill>
                <a:latin typeface="Cambria" panose="02040503050406030204" pitchFamily="18" charset="0"/>
                <a:ea typeface="Cambria" panose="02040503050406030204" pitchFamily="18" charset="0"/>
              </a:rPr>
              <a:t>Microprocessor and Assembly Language</a:t>
            </a:r>
          </a:p>
          <a:p>
            <a:pPr algn="ctr"/>
            <a:r>
              <a:rPr lang="en-US" sz="2200" dirty="0">
                <a:solidFill>
                  <a:srgbClr val="7030A0"/>
                </a:solidFill>
                <a:latin typeface="Cambria" pitchFamily="18" charset="0"/>
                <a:ea typeface="Cambria" pitchFamily="18" charset="0"/>
              </a:rPr>
              <a:t>Course No: </a:t>
            </a:r>
            <a:r>
              <a:rPr lang="en-US" sz="2200" b="1" dirty="0">
                <a:solidFill>
                  <a:srgbClr val="7030A0"/>
                </a:solidFill>
                <a:latin typeface="Cambria" pitchFamily="18" charset="0"/>
                <a:ea typeface="Cambria" pitchFamily="18" charset="0"/>
              </a:rPr>
              <a:t>CSE 3205</a:t>
            </a:r>
          </a:p>
        </p:txBody>
      </p:sp>
      <p:sp>
        <p:nvSpPr>
          <p:cNvPr id="13" name="TextBox 12"/>
          <p:cNvSpPr txBox="1"/>
          <p:nvPr/>
        </p:nvSpPr>
        <p:spPr>
          <a:xfrm>
            <a:off x="11138" y="5256703"/>
            <a:ext cx="9906000" cy="1107996"/>
          </a:xfrm>
          <a:prstGeom prst="rect">
            <a:avLst/>
          </a:prstGeom>
          <a:noFill/>
        </p:spPr>
        <p:txBody>
          <a:bodyPr wrap="square" rtlCol="0">
            <a:spAutoFit/>
          </a:bodyPr>
          <a:lstStyle/>
          <a:p>
            <a:pPr algn="ctr"/>
            <a:r>
              <a:rPr lang="en-US" sz="2200" dirty="0">
                <a:solidFill>
                  <a:schemeClr val="tx2">
                    <a:lumMod val="75000"/>
                  </a:schemeClr>
                </a:solidFill>
                <a:latin typeface="Cambria" pitchFamily="18" charset="0"/>
                <a:ea typeface="Cambria" pitchFamily="18" charset="0"/>
              </a:rPr>
              <a:t>Prepared By:</a:t>
            </a:r>
          </a:p>
          <a:p>
            <a:pPr algn="ctr"/>
            <a:r>
              <a:rPr lang="en-US" sz="2200" dirty="0">
                <a:solidFill>
                  <a:schemeClr val="tx2">
                    <a:lumMod val="75000"/>
                  </a:schemeClr>
                </a:solidFill>
                <a:latin typeface="Cambria" pitchFamily="18" charset="0"/>
                <a:ea typeface="Cambria" pitchFamily="18" charset="0"/>
              </a:rPr>
              <a:t>Md. Adnan Sami</a:t>
            </a:r>
          </a:p>
          <a:p>
            <a:pPr algn="ctr"/>
            <a:r>
              <a:rPr lang="en-US" sz="2200" dirty="0">
                <a:solidFill>
                  <a:schemeClr val="tx2">
                    <a:lumMod val="75000"/>
                  </a:schemeClr>
                </a:solidFill>
                <a:latin typeface="Cambria" pitchFamily="18" charset="0"/>
                <a:ea typeface="Cambria" pitchFamily="18" charset="0"/>
              </a:rPr>
              <a:t>Lecturer, Dept. of CSE, VU</a:t>
            </a:r>
            <a:endParaRPr lang="en-US" sz="2200" dirty="0">
              <a:solidFill>
                <a:schemeClr val="tx2">
                  <a:lumMod val="75000"/>
                </a:schemeClr>
              </a:solidFill>
            </a:endParaRPr>
          </a:p>
        </p:txBody>
      </p:sp>
    </p:spTree>
    <p:extLst>
      <p:ext uri="{BB962C8B-B14F-4D97-AF65-F5344CB8AC3E}">
        <p14:creationId xmlns:p14="http://schemas.microsoft.com/office/powerpoint/2010/main" val="3453500965"/>
      </p:ext>
    </p:extLst>
  </p:cSld>
  <p:clrMapOvr>
    <a:masterClrMapping/>
  </p:clrMapOvr>
  <p:transition spd="med">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a:t>
            </a:fld>
            <a:endParaRPr lang="en-US">
              <a:latin typeface="Cambria" panose="02040503050406030204" pitchFamily="18" charset="0"/>
            </a:endParaRPr>
          </a:p>
        </p:txBody>
      </p:sp>
      <p:sp>
        <p:nvSpPr>
          <p:cNvPr id="7" name="TextBox 1"/>
          <p:cNvSpPr txBox="1">
            <a:spLocks noChangeArrowheads="1"/>
          </p:cNvSpPr>
          <p:nvPr/>
        </p:nvSpPr>
        <p:spPr bwMode="auto">
          <a:xfrm>
            <a:off x="0" y="304288"/>
            <a:ext cx="9908666"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en-US" sz="3200" b="1" dirty="0">
                <a:solidFill>
                  <a:schemeClr val="accent2"/>
                </a:solidFill>
                <a:latin typeface="Cambria" panose="02040503050406030204" pitchFamily="18" charset="0"/>
                <a:cs typeface="Arial" panose="020B0604020202020204" pitchFamily="34" charset="0"/>
              </a:rPr>
              <a:t>	Outline</a:t>
            </a:r>
          </a:p>
        </p:txBody>
      </p:sp>
      <p:sp>
        <p:nvSpPr>
          <p:cNvPr id="2" name="TextBox 1"/>
          <p:cNvSpPr txBox="1"/>
          <p:nvPr/>
        </p:nvSpPr>
        <p:spPr>
          <a:xfrm>
            <a:off x="0" y="1042219"/>
            <a:ext cx="9906000" cy="4832092"/>
          </a:xfrm>
          <a:prstGeom prst="rect">
            <a:avLst/>
          </a:prstGeom>
          <a:noFill/>
        </p:spPr>
        <p:txBody>
          <a:bodyPr wrap="square" rtlCol="0">
            <a:spAutoFit/>
          </a:bodyPr>
          <a:lstStyle/>
          <a:p>
            <a:pPr marL="971550" lvl="1" indent="-514350">
              <a:buFont typeface="+mj-lt"/>
              <a:buAutoNum type="arabicPeriod"/>
            </a:pPr>
            <a:r>
              <a:rPr lang="en-US" sz="2800" dirty="0">
                <a:latin typeface="Cambria" panose="02040503050406030204" pitchFamily="18" charset="0"/>
              </a:rPr>
              <a:t>Logic Instruction.</a:t>
            </a:r>
          </a:p>
          <a:p>
            <a:pPr marL="971550" lvl="1" indent="-514350">
              <a:buFont typeface="+mj-lt"/>
              <a:buAutoNum type="arabicPeriod"/>
            </a:pPr>
            <a:r>
              <a:rPr lang="en-US" sz="2800" dirty="0">
                <a:latin typeface="Cambria" panose="02040503050406030204" pitchFamily="18" charset="0"/>
              </a:rPr>
              <a:t>AND, OR, XOR Instruction.</a:t>
            </a:r>
          </a:p>
          <a:p>
            <a:pPr marL="971550" lvl="1" indent="-514350">
              <a:buFont typeface="+mj-lt"/>
              <a:buAutoNum type="arabicPeriod"/>
            </a:pPr>
            <a:r>
              <a:rPr lang="en-US" sz="2800" dirty="0">
                <a:latin typeface="Cambria" panose="02040503050406030204" pitchFamily="18" charset="0"/>
              </a:rPr>
              <a:t>Converting an ASCII Digit to a Number. </a:t>
            </a:r>
          </a:p>
          <a:p>
            <a:pPr marL="971550" lvl="1" indent="-514350">
              <a:buFont typeface="+mj-lt"/>
              <a:buAutoNum type="arabicPeriod"/>
            </a:pPr>
            <a:r>
              <a:rPr lang="en-US" sz="2800" dirty="0">
                <a:latin typeface="Cambria" panose="02040503050406030204" pitchFamily="18" charset="0"/>
              </a:rPr>
              <a:t>Converting a Lowercase to Upper Case.</a:t>
            </a:r>
          </a:p>
          <a:p>
            <a:pPr marL="971550" lvl="1" indent="-514350">
              <a:buFont typeface="+mj-lt"/>
              <a:buAutoNum type="arabicPeriod"/>
            </a:pPr>
            <a:r>
              <a:rPr lang="en-US" sz="2800" dirty="0">
                <a:latin typeface="Cambria" panose="02040503050406030204" pitchFamily="18" charset="0"/>
              </a:rPr>
              <a:t>Clearing a Register. </a:t>
            </a:r>
          </a:p>
          <a:p>
            <a:pPr marL="971550" lvl="1" indent="-514350">
              <a:buFont typeface="+mj-lt"/>
              <a:buAutoNum type="arabicPeriod"/>
            </a:pPr>
            <a:r>
              <a:rPr lang="en-US" sz="2800" dirty="0">
                <a:latin typeface="Cambria" panose="02040503050406030204" pitchFamily="18" charset="0"/>
              </a:rPr>
              <a:t>Testing a Register for Zero.</a:t>
            </a:r>
          </a:p>
          <a:p>
            <a:pPr marL="971550" lvl="1" indent="-514350">
              <a:buFont typeface="+mj-lt"/>
              <a:buAutoNum type="arabicPeriod"/>
            </a:pPr>
            <a:r>
              <a:rPr lang="en-US" sz="2800" dirty="0">
                <a:latin typeface="Cambria" panose="02040503050406030204" pitchFamily="18" charset="0"/>
              </a:rPr>
              <a:t>NOT Instruction. </a:t>
            </a:r>
          </a:p>
          <a:p>
            <a:pPr marL="971550" lvl="1" indent="-514350">
              <a:buFont typeface="+mj-lt"/>
              <a:buAutoNum type="arabicPeriod"/>
            </a:pPr>
            <a:r>
              <a:rPr lang="en-US" sz="2800" dirty="0">
                <a:latin typeface="Cambria" panose="02040503050406030204" pitchFamily="18" charset="0"/>
              </a:rPr>
              <a:t>TEST Instruction. </a:t>
            </a:r>
          </a:p>
          <a:p>
            <a:pPr marL="971550" lvl="1" indent="-514350">
              <a:buFont typeface="+mj-lt"/>
              <a:buAutoNum type="arabicPeriod"/>
            </a:pPr>
            <a:r>
              <a:rPr lang="en-US" sz="2800" dirty="0">
                <a:latin typeface="Cambria" panose="02040503050406030204" pitchFamily="18" charset="0"/>
              </a:rPr>
              <a:t>Shift Instruction. </a:t>
            </a:r>
          </a:p>
          <a:p>
            <a:pPr marL="971550" lvl="1" indent="-514350">
              <a:buFont typeface="+mj-lt"/>
              <a:buAutoNum type="arabicPeriod"/>
            </a:pPr>
            <a:r>
              <a:rPr lang="en-US" sz="2800" dirty="0">
                <a:latin typeface="Cambria" panose="02040503050406030204" pitchFamily="18" charset="0"/>
              </a:rPr>
              <a:t>Rotate Instruction. </a:t>
            </a:r>
          </a:p>
          <a:p>
            <a:pPr marL="971550" lvl="1" indent="-514350">
              <a:buFont typeface="+mj-lt"/>
              <a:buAutoNum type="arabicPeriod"/>
            </a:pPr>
            <a:r>
              <a:rPr lang="en-US" sz="2800" dirty="0">
                <a:latin typeface="Cambria" panose="02040503050406030204" pitchFamily="18" charset="0"/>
              </a:rPr>
              <a:t>Application of Shift and Rotate Instruction.   </a:t>
            </a:r>
          </a:p>
        </p:txBody>
      </p:sp>
    </p:spTree>
    <p:extLst>
      <p:ext uri="{BB962C8B-B14F-4D97-AF65-F5344CB8AC3E}">
        <p14:creationId xmlns:p14="http://schemas.microsoft.com/office/powerpoint/2010/main" val="479960429"/>
      </p:ext>
    </p:extLst>
  </p:cSld>
  <p:clrMapOvr>
    <a:masterClrMapping/>
  </p:clrMapOvr>
  <p:transition spd="med">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Logic Instruction</a:t>
            </a:r>
          </a:p>
        </p:txBody>
      </p:sp>
      <p:pic>
        <p:nvPicPr>
          <p:cNvPr id="14" name="Picture 13">
            <a:extLst>
              <a:ext uri="{FF2B5EF4-FFF2-40B4-BE49-F238E27FC236}">
                <a16:creationId xmlns:a16="http://schemas.microsoft.com/office/drawing/2014/main" id="{CF1A7672-B9E0-4F04-AA5E-4ED52AC5AE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1158" y="712087"/>
            <a:ext cx="4826921" cy="5698744"/>
          </a:xfrm>
          <a:prstGeom prst="rect">
            <a:avLst/>
          </a:prstGeom>
        </p:spPr>
      </p:pic>
    </p:spTree>
    <p:extLst>
      <p:ext uri="{BB962C8B-B14F-4D97-AF65-F5344CB8AC3E}">
        <p14:creationId xmlns:p14="http://schemas.microsoft.com/office/powerpoint/2010/main" val="2327222468"/>
      </p:ext>
    </p:extLst>
  </p:cSld>
  <p:clrMapOvr>
    <a:masterClrMapping/>
  </p:clrMapOvr>
  <p:transition spd="med">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4</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Logic Instruction</a:t>
            </a:r>
          </a:p>
        </p:txBody>
      </p:sp>
      <p:pic>
        <p:nvPicPr>
          <p:cNvPr id="3" name="Picture 2">
            <a:extLst>
              <a:ext uri="{FF2B5EF4-FFF2-40B4-BE49-F238E27FC236}">
                <a16:creationId xmlns:a16="http://schemas.microsoft.com/office/drawing/2014/main" id="{19D869DA-D628-4D92-BCCA-FE10BACFE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285" y="1059435"/>
            <a:ext cx="8522678" cy="4063880"/>
          </a:xfrm>
          <a:prstGeom prst="rect">
            <a:avLst/>
          </a:prstGeom>
        </p:spPr>
      </p:pic>
    </p:spTree>
    <p:extLst>
      <p:ext uri="{BB962C8B-B14F-4D97-AF65-F5344CB8AC3E}">
        <p14:creationId xmlns:p14="http://schemas.microsoft.com/office/powerpoint/2010/main" val="1736860315"/>
      </p:ext>
    </p:extLst>
  </p:cSld>
  <p:clrMapOvr>
    <a:masterClrMapping/>
  </p:clrMapOvr>
  <p:transition spd="med">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5</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AND, OR, XOR Instruction </a:t>
            </a:r>
          </a:p>
        </p:txBody>
      </p:sp>
      <p:pic>
        <p:nvPicPr>
          <p:cNvPr id="3" name="Picture 2">
            <a:extLst>
              <a:ext uri="{FF2B5EF4-FFF2-40B4-BE49-F238E27FC236}">
                <a16:creationId xmlns:a16="http://schemas.microsoft.com/office/drawing/2014/main" id="{DF0DFFE1-9CE6-409B-8809-01D2E361C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620" y="1003732"/>
            <a:ext cx="9147168" cy="4737992"/>
          </a:xfrm>
          <a:prstGeom prst="rect">
            <a:avLst/>
          </a:prstGeom>
        </p:spPr>
      </p:pic>
      <p:sp>
        <p:nvSpPr>
          <p:cNvPr id="9" name="Rectangle 8">
            <a:extLst>
              <a:ext uri="{FF2B5EF4-FFF2-40B4-BE49-F238E27FC236}">
                <a16:creationId xmlns:a16="http://schemas.microsoft.com/office/drawing/2014/main" id="{5D1C87C9-B897-4B64-BBFF-A130DAE2580F}"/>
              </a:ext>
            </a:extLst>
          </p:cNvPr>
          <p:cNvSpPr/>
          <p:nvPr/>
        </p:nvSpPr>
        <p:spPr>
          <a:xfrm>
            <a:off x="421620" y="1842868"/>
            <a:ext cx="3123438" cy="1083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5DE91AE-97D2-4435-AB3B-B5113F80DD51}"/>
              </a:ext>
            </a:extLst>
          </p:cNvPr>
          <p:cNvSpPr/>
          <p:nvPr/>
        </p:nvSpPr>
        <p:spPr>
          <a:xfrm>
            <a:off x="425210" y="4077286"/>
            <a:ext cx="4231195" cy="17769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3751406"/>
      </p:ext>
    </p:extLst>
  </p:cSld>
  <p:clrMapOvr>
    <a:masterClrMapping/>
  </p:clrMapOvr>
  <p:transition spd="med">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6</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Converting an ASCII Digit to a Number</a:t>
            </a:r>
          </a:p>
        </p:txBody>
      </p:sp>
      <p:pic>
        <p:nvPicPr>
          <p:cNvPr id="3" name="Picture 2">
            <a:extLst>
              <a:ext uri="{FF2B5EF4-FFF2-40B4-BE49-F238E27FC236}">
                <a16:creationId xmlns:a16="http://schemas.microsoft.com/office/drawing/2014/main" id="{793FB7ED-7B8A-4D74-85ED-9B768BF98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749" y="1385063"/>
            <a:ext cx="9084501" cy="3749643"/>
          </a:xfrm>
          <a:prstGeom prst="rect">
            <a:avLst/>
          </a:prstGeom>
        </p:spPr>
      </p:pic>
    </p:spTree>
    <p:extLst>
      <p:ext uri="{BB962C8B-B14F-4D97-AF65-F5344CB8AC3E}">
        <p14:creationId xmlns:p14="http://schemas.microsoft.com/office/powerpoint/2010/main" val="3387848741"/>
      </p:ext>
    </p:extLst>
  </p:cSld>
  <p:clrMapOvr>
    <a:masterClrMapping/>
  </p:clrMapOvr>
  <p:transition spd="med">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7</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Converting a Lowercase to Upper Case</a:t>
            </a:r>
          </a:p>
        </p:txBody>
      </p:sp>
      <p:sp>
        <p:nvSpPr>
          <p:cNvPr id="8" name="TextBox 7"/>
          <p:cNvSpPr txBox="1"/>
          <p:nvPr/>
        </p:nvSpPr>
        <p:spPr>
          <a:xfrm>
            <a:off x="0" y="835736"/>
            <a:ext cx="9906000" cy="954107"/>
          </a:xfrm>
          <a:prstGeom prst="rect">
            <a:avLst/>
          </a:prstGeom>
          <a:noFill/>
        </p:spPr>
        <p:txBody>
          <a:bodyPr wrap="square" rtlCol="0">
            <a:spAutoFit/>
          </a:bodyPr>
          <a:lstStyle/>
          <a:p>
            <a:pPr marL="914400" lvl="1" indent="-457200">
              <a:buFont typeface="Wingdings" panose="05000000000000000000" pitchFamily="2" charset="2"/>
              <a:buChar char="Ø"/>
            </a:pPr>
            <a:r>
              <a:rPr lang="en-US" sz="2800" dirty="0">
                <a:latin typeface="Cambria" panose="02040503050406030204" pitchFamily="18" charset="0"/>
              </a:rPr>
              <a:t>The ASCII codes of "a" to "z" range from 61h to 7Ah. </a:t>
            </a:r>
          </a:p>
          <a:p>
            <a:pPr marL="914400" lvl="1" indent="-457200">
              <a:buFont typeface="Wingdings" panose="05000000000000000000" pitchFamily="2" charset="2"/>
              <a:buChar char="Ø"/>
            </a:pPr>
            <a:r>
              <a:rPr lang="en-US" sz="2800" dirty="0">
                <a:latin typeface="Cambria" panose="02040503050406030204" pitchFamily="18" charset="0"/>
              </a:rPr>
              <a:t>The ASCII codes of "A" to "Z" range from 41h to 5Ah.</a:t>
            </a:r>
          </a:p>
        </p:txBody>
      </p:sp>
    </p:spTree>
    <p:extLst>
      <p:ext uri="{BB962C8B-B14F-4D97-AF65-F5344CB8AC3E}">
        <p14:creationId xmlns:p14="http://schemas.microsoft.com/office/powerpoint/2010/main" val="2331555993"/>
      </p:ext>
    </p:extLst>
  </p:cSld>
  <p:clrMapOvr>
    <a:masterClrMapping/>
  </p:clrMapOvr>
  <p:transition spd="med">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8</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Clearing a Register</a:t>
            </a:r>
          </a:p>
        </p:txBody>
      </p:sp>
      <p:pic>
        <p:nvPicPr>
          <p:cNvPr id="3" name="Picture 2">
            <a:extLst>
              <a:ext uri="{FF2B5EF4-FFF2-40B4-BE49-F238E27FC236}">
                <a16:creationId xmlns:a16="http://schemas.microsoft.com/office/drawing/2014/main" id="{A5F016EF-5146-4926-B441-3348363A1D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348" y="1216565"/>
            <a:ext cx="9171575" cy="2947472"/>
          </a:xfrm>
          <a:prstGeom prst="rect">
            <a:avLst/>
          </a:prstGeom>
        </p:spPr>
      </p:pic>
      <p:sp>
        <p:nvSpPr>
          <p:cNvPr id="9" name="Rectangle 8">
            <a:extLst>
              <a:ext uri="{FF2B5EF4-FFF2-40B4-BE49-F238E27FC236}">
                <a16:creationId xmlns:a16="http://schemas.microsoft.com/office/drawing/2014/main" id="{C4F34FC1-E229-4A28-8545-82CD0C45DC90}"/>
              </a:ext>
            </a:extLst>
          </p:cNvPr>
          <p:cNvSpPr/>
          <p:nvPr/>
        </p:nvSpPr>
        <p:spPr>
          <a:xfrm>
            <a:off x="506437" y="1871005"/>
            <a:ext cx="1674055" cy="5345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6940E8-C49D-4156-BE0B-B8D115E29BF6}"/>
              </a:ext>
            </a:extLst>
          </p:cNvPr>
          <p:cNvSpPr/>
          <p:nvPr/>
        </p:nvSpPr>
        <p:spPr>
          <a:xfrm>
            <a:off x="506437" y="2750235"/>
            <a:ext cx="1871003" cy="5345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17EA3-54BF-427C-9779-F1A5A15B8018}"/>
              </a:ext>
            </a:extLst>
          </p:cNvPr>
          <p:cNvSpPr/>
          <p:nvPr/>
        </p:nvSpPr>
        <p:spPr>
          <a:xfrm>
            <a:off x="506437" y="3629465"/>
            <a:ext cx="1871003" cy="5345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3979978"/>
      </p:ext>
    </p:extLst>
  </p:cSld>
  <p:clrMapOvr>
    <a:masterClrMapping/>
  </p:clrMapOvr>
  <p:transition spd="med">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9</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Testing a Register for Zero</a:t>
            </a:r>
          </a:p>
        </p:txBody>
      </p:sp>
      <p:pic>
        <p:nvPicPr>
          <p:cNvPr id="3" name="Picture 2">
            <a:extLst>
              <a:ext uri="{FF2B5EF4-FFF2-40B4-BE49-F238E27FC236}">
                <a16:creationId xmlns:a16="http://schemas.microsoft.com/office/drawing/2014/main" id="{BDD08D85-0E0C-49BD-B80A-CE69A1A2D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297" y="972427"/>
            <a:ext cx="9145813" cy="3290078"/>
          </a:xfrm>
          <a:prstGeom prst="rect">
            <a:avLst/>
          </a:prstGeom>
        </p:spPr>
      </p:pic>
      <p:sp>
        <p:nvSpPr>
          <p:cNvPr id="9" name="Rectangle 8">
            <a:extLst>
              <a:ext uri="{FF2B5EF4-FFF2-40B4-BE49-F238E27FC236}">
                <a16:creationId xmlns:a16="http://schemas.microsoft.com/office/drawing/2014/main" id="{33CA54E8-DBE2-4B53-8F3C-DCA68583F48A}"/>
              </a:ext>
            </a:extLst>
          </p:cNvPr>
          <p:cNvSpPr/>
          <p:nvPr/>
        </p:nvSpPr>
        <p:spPr>
          <a:xfrm>
            <a:off x="548640" y="1730328"/>
            <a:ext cx="1856935" cy="5345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80AF5F-499B-4F66-B458-4BF258F49EB4}"/>
              </a:ext>
            </a:extLst>
          </p:cNvPr>
          <p:cNvSpPr/>
          <p:nvPr/>
        </p:nvSpPr>
        <p:spPr>
          <a:xfrm>
            <a:off x="548639" y="3246122"/>
            <a:ext cx="1645921" cy="5345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7350536"/>
      </p:ext>
    </p:extLst>
  </p:cSld>
  <p:clrMapOvr>
    <a:masterClrMapping/>
  </p:clrMapOvr>
  <p:transition spd="med">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10</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NOT Instruction</a:t>
            </a:r>
          </a:p>
        </p:txBody>
      </p:sp>
      <p:pic>
        <p:nvPicPr>
          <p:cNvPr id="3" name="Picture 2">
            <a:extLst>
              <a:ext uri="{FF2B5EF4-FFF2-40B4-BE49-F238E27FC236}">
                <a16:creationId xmlns:a16="http://schemas.microsoft.com/office/drawing/2014/main" id="{03FA5F6A-B9AE-4C4F-BF8E-74872CB12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053" y="1103266"/>
            <a:ext cx="8659910" cy="3565845"/>
          </a:xfrm>
          <a:prstGeom prst="rect">
            <a:avLst/>
          </a:prstGeom>
        </p:spPr>
      </p:pic>
    </p:spTree>
    <p:extLst>
      <p:ext uri="{BB962C8B-B14F-4D97-AF65-F5344CB8AC3E}">
        <p14:creationId xmlns:p14="http://schemas.microsoft.com/office/powerpoint/2010/main" val="3042477263"/>
      </p:ext>
    </p:extLst>
  </p:cSld>
  <p:clrMapOvr>
    <a:masterClrMapping/>
  </p:clrMapOvr>
  <p:transition spd="med">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11</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TEST Instruction</a:t>
            </a:r>
          </a:p>
        </p:txBody>
      </p:sp>
      <p:sp>
        <p:nvSpPr>
          <p:cNvPr id="8" name="TextBox 7"/>
          <p:cNvSpPr txBox="1"/>
          <p:nvPr/>
        </p:nvSpPr>
        <p:spPr>
          <a:xfrm>
            <a:off x="0" y="835736"/>
            <a:ext cx="9906000" cy="2677656"/>
          </a:xfrm>
          <a:prstGeom prst="rect">
            <a:avLst/>
          </a:prstGeom>
          <a:noFill/>
        </p:spPr>
        <p:txBody>
          <a:bodyPr wrap="square" rtlCol="0">
            <a:spAutoFit/>
          </a:bodyPr>
          <a:lstStyle/>
          <a:p>
            <a:pPr lvl="1"/>
            <a:r>
              <a:rPr lang="en-US" sz="2800" dirty="0">
                <a:latin typeface="Cambria" panose="02040503050406030204" pitchFamily="18" charset="0"/>
              </a:rPr>
              <a:t>The TEST instruction performs an AND operation of the destination with the source but does not change the destination contents. The purpose of the TEST instruction is to set the status flags. </a:t>
            </a:r>
          </a:p>
          <a:p>
            <a:pPr lvl="1"/>
            <a:endParaRPr lang="en-US" sz="2800" dirty="0">
              <a:latin typeface="Cambria" panose="02040503050406030204" pitchFamily="18" charset="0"/>
            </a:endParaRPr>
          </a:p>
          <a:p>
            <a:pPr lvl="1"/>
            <a:r>
              <a:rPr lang="en-US" sz="2800" dirty="0">
                <a:latin typeface="Cambria" panose="02040503050406030204" pitchFamily="18" charset="0"/>
              </a:rPr>
              <a:t>The format is, </a:t>
            </a:r>
          </a:p>
        </p:txBody>
      </p:sp>
      <p:pic>
        <p:nvPicPr>
          <p:cNvPr id="3" name="Picture 2">
            <a:extLst>
              <a:ext uri="{FF2B5EF4-FFF2-40B4-BE49-F238E27FC236}">
                <a16:creationId xmlns:a16="http://schemas.microsoft.com/office/drawing/2014/main" id="{B72818AF-A3AE-4ACE-84F6-9723472B7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6646" y="3520984"/>
            <a:ext cx="4527689" cy="587273"/>
          </a:xfrm>
          <a:prstGeom prst="rect">
            <a:avLst/>
          </a:prstGeom>
          <a:ln w="28575">
            <a:solidFill>
              <a:srgbClr val="FF0000"/>
            </a:solidFill>
          </a:ln>
        </p:spPr>
      </p:pic>
      <p:pic>
        <p:nvPicPr>
          <p:cNvPr id="10" name="Picture 9">
            <a:extLst>
              <a:ext uri="{FF2B5EF4-FFF2-40B4-BE49-F238E27FC236}">
                <a16:creationId xmlns:a16="http://schemas.microsoft.com/office/drawing/2014/main" id="{AB373134-0B90-48FC-AB56-660B15D812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248" y="4374265"/>
            <a:ext cx="4523913" cy="1739967"/>
          </a:xfrm>
          <a:prstGeom prst="rect">
            <a:avLst/>
          </a:prstGeom>
          <a:ln w="28575">
            <a:solidFill>
              <a:srgbClr val="FF0000"/>
            </a:solidFill>
          </a:ln>
        </p:spPr>
      </p:pic>
    </p:spTree>
    <p:extLst>
      <p:ext uri="{BB962C8B-B14F-4D97-AF65-F5344CB8AC3E}">
        <p14:creationId xmlns:p14="http://schemas.microsoft.com/office/powerpoint/2010/main" val="1776898273"/>
      </p:ext>
    </p:extLst>
  </p:cSld>
  <p:clrMapOvr>
    <a:masterClrMapping/>
  </p:clrMapOvr>
  <p:transition spd="med">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12</a:t>
            </a:fld>
            <a:endParaRPr lang="en-US">
              <a:latin typeface="Cambria" panose="02040503050406030204" pitchFamily="18" charset="0"/>
            </a:endParaRPr>
          </a:p>
        </p:txBody>
      </p:sp>
      <p:sp>
        <p:nvSpPr>
          <p:cNvPr id="7" name="TextBox 1"/>
          <p:cNvSpPr txBox="1">
            <a:spLocks noChangeArrowheads="1"/>
          </p:cNvSpPr>
          <p:nvPr/>
        </p:nvSpPr>
        <p:spPr bwMode="auto">
          <a:xfrm>
            <a:off x="0" y="5697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8" name="TextBox 7"/>
          <p:cNvSpPr txBox="1"/>
          <p:nvPr/>
        </p:nvSpPr>
        <p:spPr>
          <a:xfrm>
            <a:off x="0" y="610648"/>
            <a:ext cx="9906000" cy="5693866"/>
          </a:xfrm>
          <a:prstGeom prst="rect">
            <a:avLst/>
          </a:prstGeom>
          <a:noFill/>
        </p:spPr>
        <p:txBody>
          <a:bodyPr wrap="square" rtlCol="0">
            <a:spAutoFit/>
          </a:bodyPr>
          <a:lstStyle/>
          <a:p>
            <a:pPr marL="914400" lvl="1" indent="-457200">
              <a:buFont typeface="Wingdings" panose="05000000000000000000" pitchFamily="2" charset="2"/>
              <a:buChar char="Ø"/>
            </a:pPr>
            <a:r>
              <a:rPr lang="en-US" sz="2800" dirty="0">
                <a:latin typeface="Cambria" panose="02040503050406030204" pitchFamily="18" charset="0"/>
              </a:rPr>
              <a:t>The shift and rotate instructions shift the bits in the destination operand by one or more positions either to the left or right. </a:t>
            </a:r>
          </a:p>
          <a:p>
            <a:pPr marL="914400" lvl="1" indent="-457200">
              <a:buFont typeface="Wingdings" panose="05000000000000000000" pitchFamily="2" charset="2"/>
              <a:buChar char="Ø"/>
            </a:pPr>
            <a:r>
              <a:rPr lang="en-US" sz="2800" dirty="0">
                <a:latin typeface="Cambria" panose="02040503050406030204" pitchFamily="18" charset="0"/>
              </a:rPr>
              <a:t>For a shift instruction, the bits shifted out are lost. </a:t>
            </a:r>
          </a:p>
          <a:p>
            <a:pPr marL="914400" lvl="1" indent="-457200">
              <a:buFont typeface="Wingdings" panose="05000000000000000000" pitchFamily="2" charset="2"/>
              <a:buChar char="Ø"/>
            </a:pPr>
            <a:r>
              <a:rPr lang="en-US" sz="2800" dirty="0">
                <a:latin typeface="Cambria" panose="02040503050406030204" pitchFamily="18" charset="0"/>
              </a:rPr>
              <a:t>For a rotate instruction, bits shifted out from one end of the operand are put back into the other end. </a:t>
            </a:r>
          </a:p>
          <a:p>
            <a:pPr lvl="1"/>
            <a:r>
              <a:rPr lang="en-US" sz="2800" dirty="0">
                <a:latin typeface="Cambria" panose="02040503050406030204" pitchFamily="18" charset="0"/>
              </a:rPr>
              <a:t>For a single shift rotate, the format is,</a:t>
            </a:r>
          </a:p>
          <a:p>
            <a:pPr lvl="1"/>
            <a:endParaRPr lang="en-US" sz="2800" dirty="0">
              <a:latin typeface="Cambria" panose="02040503050406030204" pitchFamily="18" charset="0"/>
            </a:endParaRPr>
          </a:p>
          <a:p>
            <a:pPr lvl="1"/>
            <a:endParaRPr lang="en-US" sz="2800" dirty="0">
              <a:latin typeface="Cambria" panose="02040503050406030204" pitchFamily="18" charset="0"/>
            </a:endParaRPr>
          </a:p>
          <a:p>
            <a:pPr lvl="1"/>
            <a:r>
              <a:rPr lang="en-US" sz="2800" dirty="0">
                <a:latin typeface="Cambria" panose="02040503050406030204" pitchFamily="18" charset="0"/>
              </a:rPr>
              <a:t>For a shift or rotate of N positions, the format is,</a:t>
            </a:r>
          </a:p>
          <a:p>
            <a:pPr lvl="1"/>
            <a:endParaRPr lang="en-US" sz="2800" dirty="0">
              <a:latin typeface="Cambria" panose="02040503050406030204" pitchFamily="18" charset="0"/>
            </a:endParaRPr>
          </a:p>
          <a:p>
            <a:pPr lvl="1"/>
            <a:endParaRPr lang="en-US" sz="2800" dirty="0">
              <a:latin typeface="Cambria" panose="02040503050406030204" pitchFamily="18" charset="0"/>
            </a:endParaRPr>
          </a:p>
          <a:p>
            <a:pPr lvl="1"/>
            <a:r>
              <a:rPr lang="en-US" sz="2800" dirty="0">
                <a:latin typeface="Cambria" panose="02040503050406030204" pitchFamily="18" charset="0"/>
              </a:rPr>
              <a:t>Where CL contains N.</a:t>
            </a:r>
          </a:p>
        </p:txBody>
      </p:sp>
      <p:pic>
        <p:nvPicPr>
          <p:cNvPr id="3" name="Picture 2">
            <a:extLst>
              <a:ext uri="{FF2B5EF4-FFF2-40B4-BE49-F238E27FC236}">
                <a16:creationId xmlns:a16="http://schemas.microsoft.com/office/drawing/2014/main" id="{23F97DA5-1547-4E74-BA65-9FE1B0C3F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4029" y="3747251"/>
            <a:ext cx="3686152" cy="501187"/>
          </a:xfrm>
          <a:prstGeom prst="rect">
            <a:avLst/>
          </a:prstGeom>
          <a:ln w="28575">
            <a:solidFill>
              <a:srgbClr val="FF0000"/>
            </a:solidFill>
          </a:ln>
        </p:spPr>
      </p:pic>
      <p:pic>
        <p:nvPicPr>
          <p:cNvPr id="10" name="Picture 9">
            <a:extLst>
              <a:ext uri="{FF2B5EF4-FFF2-40B4-BE49-F238E27FC236}">
                <a16:creationId xmlns:a16="http://schemas.microsoft.com/office/drawing/2014/main" id="{2207B7B3-85D6-4D45-A7CF-8BF9293D16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8097" y="5147319"/>
            <a:ext cx="3754797" cy="491133"/>
          </a:xfrm>
          <a:prstGeom prst="rect">
            <a:avLst/>
          </a:prstGeom>
          <a:ln w="28575">
            <a:solidFill>
              <a:srgbClr val="FF0000"/>
            </a:solidFill>
          </a:ln>
        </p:spPr>
      </p:pic>
    </p:spTree>
    <p:extLst>
      <p:ext uri="{BB962C8B-B14F-4D97-AF65-F5344CB8AC3E}">
        <p14:creationId xmlns:p14="http://schemas.microsoft.com/office/powerpoint/2010/main" val="3031686280"/>
      </p:ext>
    </p:extLst>
  </p:cSld>
  <p:clrMapOvr>
    <a:masterClrMapping/>
  </p:clrMapOvr>
  <p:transition spd="med">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13</a:t>
            </a:fld>
            <a:endParaRPr lang="en-US">
              <a:latin typeface="Cambria" panose="02040503050406030204" pitchFamily="18" charset="0"/>
            </a:endParaRPr>
          </a:p>
        </p:txBody>
      </p:sp>
      <p:sp>
        <p:nvSpPr>
          <p:cNvPr id="7" name="TextBox 1"/>
          <p:cNvSpPr txBox="1">
            <a:spLocks noChangeArrowheads="1"/>
          </p:cNvSpPr>
          <p:nvPr/>
        </p:nvSpPr>
        <p:spPr bwMode="auto">
          <a:xfrm>
            <a:off x="0" y="5697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8" name="TextBox 7"/>
          <p:cNvSpPr txBox="1"/>
          <p:nvPr/>
        </p:nvSpPr>
        <p:spPr>
          <a:xfrm>
            <a:off x="0" y="624716"/>
            <a:ext cx="9906000" cy="353943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Left Shift Instruction: </a:t>
            </a:r>
          </a:p>
          <a:p>
            <a:pPr lvl="1"/>
            <a:r>
              <a:rPr lang="en-US" sz="2800" dirty="0">
                <a:latin typeface="Cambria" panose="02040503050406030204" pitchFamily="18" charset="0"/>
              </a:rPr>
              <a:t>The SHL (shift left) instruction shifts the bits in the destination to the left. The format for a single shift is,</a:t>
            </a:r>
          </a:p>
          <a:p>
            <a:pPr lvl="1"/>
            <a:endParaRPr lang="en-US" sz="2800" dirty="0">
              <a:latin typeface="Cambria" panose="02040503050406030204" pitchFamily="18" charset="0"/>
            </a:endParaRPr>
          </a:p>
          <a:p>
            <a:pPr lvl="1"/>
            <a:endParaRPr lang="en-US" sz="2800" dirty="0">
              <a:latin typeface="Cambria" panose="02040503050406030204" pitchFamily="18" charset="0"/>
            </a:endParaRPr>
          </a:p>
          <a:p>
            <a:pPr lvl="1"/>
            <a:r>
              <a:rPr lang="en-US" sz="2800" dirty="0">
                <a:latin typeface="Cambria" panose="02040503050406030204" pitchFamily="18" charset="0"/>
              </a:rPr>
              <a:t>If the shift count N, the format is, </a:t>
            </a:r>
          </a:p>
          <a:p>
            <a:pPr lvl="1"/>
            <a:endParaRPr lang="en-US" sz="2800" dirty="0">
              <a:latin typeface="Cambria" panose="02040503050406030204" pitchFamily="18" charset="0"/>
            </a:endParaRPr>
          </a:p>
          <a:p>
            <a:pPr lvl="1"/>
            <a:r>
              <a:rPr lang="en-US" sz="2800" dirty="0">
                <a:latin typeface="Cambria" panose="02040503050406030204" pitchFamily="18" charset="0"/>
              </a:rPr>
              <a:t>Where CL contains N.</a:t>
            </a:r>
          </a:p>
        </p:txBody>
      </p:sp>
      <p:pic>
        <p:nvPicPr>
          <p:cNvPr id="3" name="Picture 2">
            <a:extLst>
              <a:ext uri="{FF2B5EF4-FFF2-40B4-BE49-F238E27FC236}">
                <a16:creationId xmlns:a16="http://schemas.microsoft.com/office/drawing/2014/main" id="{7E8BCCBA-172B-4FE4-8A5C-17B42EB0BE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3291" y="2002824"/>
            <a:ext cx="3761648" cy="596800"/>
          </a:xfrm>
          <a:prstGeom prst="rect">
            <a:avLst/>
          </a:prstGeom>
        </p:spPr>
      </p:pic>
      <p:pic>
        <p:nvPicPr>
          <p:cNvPr id="12" name="Picture 11">
            <a:extLst>
              <a:ext uri="{FF2B5EF4-FFF2-40B4-BE49-F238E27FC236}">
                <a16:creationId xmlns:a16="http://schemas.microsoft.com/office/drawing/2014/main" id="{28F11D5C-D5F6-4BE7-9C4C-A5C4DD482908}"/>
              </a:ext>
            </a:extLst>
          </p:cNvPr>
          <p:cNvPicPr>
            <a:picLocks noChangeAspect="1"/>
          </p:cNvPicPr>
          <p:nvPr/>
        </p:nvPicPr>
        <p:blipFill>
          <a:blip r:embed="rId4"/>
          <a:stretch>
            <a:fillRect/>
          </a:stretch>
        </p:blipFill>
        <p:spPr>
          <a:xfrm>
            <a:off x="2806455" y="3291311"/>
            <a:ext cx="3832251" cy="413812"/>
          </a:xfrm>
          <a:prstGeom prst="rect">
            <a:avLst/>
          </a:prstGeom>
          <a:ln w="28575">
            <a:solidFill>
              <a:srgbClr val="FF0000"/>
            </a:solidFill>
          </a:ln>
        </p:spPr>
      </p:pic>
      <p:pic>
        <p:nvPicPr>
          <p:cNvPr id="14" name="Picture 13">
            <a:extLst>
              <a:ext uri="{FF2B5EF4-FFF2-40B4-BE49-F238E27FC236}">
                <a16:creationId xmlns:a16="http://schemas.microsoft.com/office/drawing/2014/main" id="{3BF76190-EC8A-4BA2-B121-E2A2BC9732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2441" y="4121942"/>
            <a:ext cx="6207425" cy="2250192"/>
          </a:xfrm>
          <a:prstGeom prst="rect">
            <a:avLst/>
          </a:prstGeom>
          <a:ln w="28575">
            <a:solidFill>
              <a:srgbClr val="FF0000"/>
            </a:solidFill>
          </a:ln>
        </p:spPr>
      </p:pic>
    </p:spTree>
    <p:extLst>
      <p:ext uri="{BB962C8B-B14F-4D97-AF65-F5344CB8AC3E}">
        <p14:creationId xmlns:p14="http://schemas.microsoft.com/office/powerpoint/2010/main" val="828329295"/>
      </p:ext>
    </p:extLst>
  </p:cSld>
  <p:clrMapOvr>
    <a:masterClrMapping/>
  </p:clrMapOvr>
  <p:transition spd="med">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14</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8" name="TextBox 7"/>
          <p:cNvSpPr txBox="1"/>
          <p:nvPr/>
        </p:nvSpPr>
        <p:spPr>
          <a:xfrm>
            <a:off x="0" y="512172"/>
            <a:ext cx="9906000" cy="5693866"/>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Left Shift Instruction:</a:t>
            </a:r>
          </a:p>
          <a:p>
            <a:pPr lvl="1"/>
            <a:r>
              <a:rPr lang="en-US" sz="2800" b="1" dirty="0">
                <a:latin typeface="Cambria" panose="02040503050406030204" pitchFamily="18" charset="0"/>
              </a:rPr>
              <a:t>Example 7.7: </a:t>
            </a:r>
            <a:r>
              <a:rPr lang="en-US" sz="2800" dirty="0">
                <a:latin typeface="Cambria" panose="02040503050406030204" pitchFamily="18" charset="0"/>
              </a:rPr>
              <a:t>Suppose DH contains 8Ah and CL contains 3. What are the values of DH and of CF after the instruction SHL DH,CL is executed?</a:t>
            </a:r>
          </a:p>
          <a:p>
            <a:pPr lvl="1"/>
            <a:r>
              <a:rPr lang="en-US" sz="2800" b="1" dirty="0">
                <a:latin typeface="Cambria" panose="02040503050406030204" pitchFamily="18" charset="0"/>
              </a:rPr>
              <a:t>Solution: </a:t>
            </a:r>
          </a:p>
          <a:p>
            <a:pPr lvl="1"/>
            <a:r>
              <a:rPr lang="en-US" sz="2800" dirty="0">
                <a:latin typeface="Cambria" panose="02040503050406030204" pitchFamily="18" charset="0"/>
              </a:rPr>
              <a:t>MOV DH, 8Ah</a:t>
            </a:r>
          </a:p>
          <a:p>
            <a:pPr lvl="1"/>
            <a:r>
              <a:rPr lang="en-US" sz="2800" dirty="0">
                <a:latin typeface="Cambria" panose="02040503050406030204" pitchFamily="18" charset="0"/>
              </a:rPr>
              <a:t>MOV CL, 3 </a:t>
            </a:r>
          </a:p>
          <a:p>
            <a:pPr lvl="1"/>
            <a:r>
              <a:rPr lang="en-US" sz="2800" dirty="0">
                <a:latin typeface="Cambria" panose="02040503050406030204" pitchFamily="18" charset="0"/>
              </a:rPr>
              <a:t>SHL DH, CL </a:t>
            </a:r>
          </a:p>
          <a:p>
            <a:pPr lvl="1"/>
            <a:endParaRPr lang="en-US" sz="2800" dirty="0">
              <a:latin typeface="Cambria" panose="02040503050406030204" pitchFamily="18" charset="0"/>
            </a:endParaRPr>
          </a:p>
          <a:p>
            <a:pPr lvl="1"/>
            <a:r>
              <a:rPr lang="en-US" sz="2800" dirty="0">
                <a:latin typeface="Cambria" panose="02040503050406030204" pitchFamily="18" charset="0"/>
              </a:rPr>
              <a:t>The </a:t>
            </a:r>
            <a:r>
              <a:rPr lang="en-US" sz="2800" b="1" dirty="0">
                <a:solidFill>
                  <a:srgbClr val="7030A0"/>
                </a:solidFill>
                <a:latin typeface="Cambria" panose="02040503050406030204" pitchFamily="18" charset="0"/>
              </a:rPr>
              <a:t>binary value </a:t>
            </a:r>
            <a:r>
              <a:rPr lang="en-US" sz="2800" dirty="0">
                <a:latin typeface="Cambria" panose="02040503050406030204" pitchFamily="18" charset="0"/>
              </a:rPr>
              <a:t>of </a:t>
            </a:r>
            <a:r>
              <a:rPr lang="en-US" sz="2800" b="1" dirty="0">
                <a:solidFill>
                  <a:srgbClr val="7030A0"/>
                </a:solidFill>
                <a:latin typeface="Cambria" panose="02040503050406030204" pitchFamily="18" charset="0"/>
              </a:rPr>
              <a:t>DH is 10001010</a:t>
            </a:r>
            <a:r>
              <a:rPr lang="en-US" sz="2800" dirty="0">
                <a:latin typeface="Cambria" panose="02040503050406030204" pitchFamily="18" charset="0"/>
              </a:rPr>
              <a:t>. After </a:t>
            </a:r>
            <a:r>
              <a:rPr lang="en-US" sz="2800" b="1" dirty="0">
                <a:solidFill>
                  <a:srgbClr val="7030A0"/>
                </a:solidFill>
                <a:latin typeface="Cambria" panose="02040503050406030204" pitchFamily="18" charset="0"/>
              </a:rPr>
              <a:t>3 left shifts</a:t>
            </a:r>
            <a:r>
              <a:rPr lang="en-US" sz="2800" dirty="0">
                <a:latin typeface="Cambria" panose="02040503050406030204" pitchFamily="18" charset="0"/>
              </a:rPr>
              <a:t>, CF </a:t>
            </a:r>
          </a:p>
          <a:p>
            <a:pPr lvl="1"/>
            <a:r>
              <a:rPr lang="en-US" sz="2800" dirty="0">
                <a:latin typeface="Cambria" panose="02040503050406030204" pitchFamily="18" charset="0"/>
              </a:rPr>
              <a:t>will contain 0. The new contents of DH may be obtained by </a:t>
            </a:r>
            <a:r>
              <a:rPr lang="en-US" sz="2800" b="1" dirty="0">
                <a:solidFill>
                  <a:srgbClr val="7030A0"/>
                </a:solidFill>
                <a:latin typeface="Cambria" panose="02040503050406030204" pitchFamily="18" charset="0"/>
              </a:rPr>
              <a:t>erasing the leftmost three bits and adding three zero bits to the right </a:t>
            </a:r>
            <a:r>
              <a:rPr lang="en-US" sz="2800" dirty="0">
                <a:latin typeface="Cambria" panose="02040503050406030204" pitchFamily="18" charset="0"/>
              </a:rPr>
              <a:t>end, thus </a:t>
            </a:r>
            <a:r>
              <a:rPr lang="en-US" sz="2800" b="1" dirty="0">
                <a:solidFill>
                  <a:srgbClr val="FF0000"/>
                </a:solidFill>
                <a:latin typeface="Cambria" panose="02040503050406030204" pitchFamily="18" charset="0"/>
              </a:rPr>
              <a:t>01010000b = 50h</a:t>
            </a:r>
            <a:r>
              <a:rPr lang="en-US" sz="2800" dirty="0">
                <a:latin typeface="Cambria" panose="02040503050406030204" pitchFamily="18" charset="0"/>
              </a:rPr>
              <a:t>. </a:t>
            </a:r>
          </a:p>
        </p:txBody>
      </p:sp>
    </p:spTree>
    <p:extLst>
      <p:ext uri="{BB962C8B-B14F-4D97-AF65-F5344CB8AC3E}">
        <p14:creationId xmlns:p14="http://schemas.microsoft.com/office/powerpoint/2010/main" val="452660461"/>
      </p:ext>
    </p:extLst>
  </p:cSld>
  <p:clrMapOvr>
    <a:masterClrMapping/>
  </p:clrMapOvr>
  <p:transition spd="med">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15</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8" name="TextBox 7"/>
          <p:cNvSpPr txBox="1"/>
          <p:nvPr/>
        </p:nvSpPr>
        <p:spPr>
          <a:xfrm>
            <a:off x="0" y="512172"/>
            <a:ext cx="9906000" cy="52322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Left Shift Instruction:</a:t>
            </a:r>
          </a:p>
        </p:txBody>
      </p:sp>
      <p:pic>
        <p:nvPicPr>
          <p:cNvPr id="10" name="Picture 9">
            <a:extLst>
              <a:ext uri="{FF2B5EF4-FFF2-40B4-BE49-F238E27FC236}">
                <a16:creationId xmlns:a16="http://schemas.microsoft.com/office/drawing/2014/main" id="{B08E9E53-C9F6-481B-A919-B3DC658AA0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470" y="1096947"/>
            <a:ext cx="9137463" cy="3024887"/>
          </a:xfrm>
          <a:prstGeom prst="rect">
            <a:avLst/>
          </a:prstGeom>
        </p:spPr>
      </p:pic>
    </p:spTree>
    <p:extLst>
      <p:ext uri="{BB962C8B-B14F-4D97-AF65-F5344CB8AC3E}">
        <p14:creationId xmlns:p14="http://schemas.microsoft.com/office/powerpoint/2010/main" val="1248381560"/>
      </p:ext>
    </p:extLst>
  </p:cSld>
  <p:clrMapOvr>
    <a:masterClrMapping/>
  </p:clrMapOvr>
  <p:transition spd="med">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16</a:t>
            </a:fld>
            <a:endParaRPr lang="en-US">
              <a:latin typeface="Cambria" panose="02040503050406030204" pitchFamily="18" charset="0"/>
            </a:endParaRPr>
          </a:p>
        </p:txBody>
      </p:sp>
      <p:sp>
        <p:nvSpPr>
          <p:cNvPr id="7" name="TextBox 1"/>
          <p:cNvSpPr txBox="1">
            <a:spLocks noChangeArrowheads="1"/>
          </p:cNvSpPr>
          <p:nvPr/>
        </p:nvSpPr>
        <p:spPr bwMode="auto">
          <a:xfrm>
            <a:off x="0" y="5697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8" name="TextBox 7"/>
          <p:cNvSpPr txBox="1"/>
          <p:nvPr/>
        </p:nvSpPr>
        <p:spPr>
          <a:xfrm>
            <a:off x="0" y="624716"/>
            <a:ext cx="9906000" cy="353943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Right Shift Instruction: </a:t>
            </a:r>
          </a:p>
          <a:p>
            <a:pPr lvl="1"/>
            <a:r>
              <a:rPr lang="en-US" sz="2800" dirty="0">
                <a:latin typeface="Cambria" panose="02040503050406030204" pitchFamily="18" charset="0"/>
              </a:rPr>
              <a:t>The SHR (shift right) instruction shifts the bits in the destination to the right. The format for a single shift is,</a:t>
            </a:r>
          </a:p>
          <a:p>
            <a:pPr lvl="1" algn="ctr"/>
            <a:r>
              <a:rPr lang="en-US" sz="2800" b="1" dirty="0">
                <a:latin typeface="Cambria" panose="02040503050406030204" pitchFamily="18" charset="0"/>
              </a:rPr>
              <a:t>SHR		destination, 1</a:t>
            </a:r>
          </a:p>
          <a:p>
            <a:pPr lvl="1"/>
            <a:endParaRPr lang="en-US" sz="2800" dirty="0">
              <a:latin typeface="Cambria" panose="02040503050406030204" pitchFamily="18" charset="0"/>
            </a:endParaRPr>
          </a:p>
          <a:p>
            <a:pPr lvl="1"/>
            <a:r>
              <a:rPr lang="en-US" sz="2800" dirty="0">
                <a:latin typeface="Cambria" panose="02040503050406030204" pitchFamily="18" charset="0"/>
              </a:rPr>
              <a:t>If the shift count N, the format is, </a:t>
            </a:r>
          </a:p>
          <a:p>
            <a:pPr lvl="1"/>
            <a:endParaRPr lang="en-US" sz="2800" dirty="0">
              <a:latin typeface="Cambria" panose="02040503050406030204" pitchFamily="18" charset="0"/>
            </a:endParaRPr>
          </a:p>
          <a:p>
            <a:pPr lvl="1"/>
            <a:r>
              <a:rPr lang="en-US" sz="2800" dirty="0">
                <a:latin typeface="Cambria" panose="02040503050406030204" pitchFamily="18" charset="0"/>
              </a:rPr>
              <a:t>Where CL contains N.</a:t>
            </a:r>
          </a:p>
        </p:txBody>
      </p:sp>
      <p:pic>
        <p:nvPicPr>
          <p:cNvPr id="14" name="Picture 13">
            <a:extLst>
              <a:ext uri="{FF2B5EF4-FFF2-40B4-BE49-F238E27FC236}">
                <a16:creationId xmlns:a16="http://schemas.microsoft.com/office/drawing/2014/main" id="{3BF76190-EC8A-4BA2-B121-E2A2BC973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2441" y="4136010"/>
            <a:ext cx="6207425" cy="2250192"/>
          </a:xfrm>
          <a:prstGeom prst="rect">
            <a:avLst/>
          </a:prstGeom>
          <a:ln w="28575">
            <a:solidFill>
              <a:srgbClr val="FF0000"/>
            </a:solidFill>
          </a:ln>
        </p:spPr>
      </p:pic>
      <p:pic>
        <p:nvPicPr>
          <p:cNvPr id="9" name="Picture 8">
            <a:extLst>
              <a:ext uri="{FF2B5EF4-FFF2-40B4-BE49-F238E27FC236}">
                <a16:creationId xmlns:a16="http://schemas.microsoft.com/office/drawing/2014/main" id="{44DC83DC-BE99-4B34-B19C-DE3B38D7F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1363" y="3249636"/>
            <a:ext cx="3637727" cy="415466"/>
          </a:xfrm>
          <a:prstGeom prst="rect">
            <a:avLst/>
          </a:prstGeom>
          <a:ln w="28575">
            <a:solidFill>
              <a:srgbClr val="FF0000"/>
            </a:solidFill>
          </a:ln>
        </p:spPr>
      </p:pic>
    </p:spTree>
    <p:extLst>
      <p:ext uri="{BB962C8B-B14F-4D97-AF65-F5344CB8AC3E}">
        <p14:creationId xmlns:p14="http://schemas.microsoft.com/office/powerpoint/2010/main" val="4103473467"/>
      </p:ext>
    </p:extLst>
  </p:cSld>
  <p:clrMapOvr>
    <a:masterClrMapping/>
  </p:clrMapOvr>
  <p:transition spd="med">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17</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8" name="TextBox 7"/>
          <p:cNvSpPr txBox="1"/>
          <p:nvPr/>
        </p:nvSpPr>
        <p:spPr>
          <a:xfrm>
            <a:off x="0" y="512172"/>
            <a:ext cx="9906000" cy="5693866"/>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Right Shift Instruction:</a:t>
            </a:r>
          </a:p>
          <a:p>
            <a:pPr lvl="1"/>
            <a:r>
              <a:rPr lang="en-US" sz="2800" b="1" dirty="0">
                <a:latin typeface="Cambria" panose="02040503050406030204" pitchFamily="18" charset="0"/>
              </a:rPr>
              <a:t>Example 7.9: </a:t>
            </a:r>
            <a:r>
              <a:rPr lang="en-US" sz="2800" dirty="0">
                <a:latin typeface="Cambria" panose="02040503050406030204" pitchFamily="18" charset="0"/>
              </a:rPr>
              <a:t>Suppose DH contains 8Ah and CL contains 2. What are the values of DH and of CF after the instruction SHR DH,CL is executed?</a:t>
            </a:r>
          </a:p>
          <a:p>
            <a:pPr lvl="1"/>
            <a:r>
              <a:rPr lang="en-US" sz="2800" b="1" dirty="0">
                <a:latin typeface="Cambria" panose="02040503050406030204" pitchFamily="18" charset="0"/>
              </a:rPr>
              <a:t>Solution: </a:t>
            </a:r>
          </a:p>
          <a:p>
            <a:pPr lvl="1"/>
            <a:r>
              <a:rPr lang="en-US" sz="2800" dirty="0">
                <a:latin typeface="Cambria" panose="02040503050406030204" pitchFamily="18" charset="0"/>
              </a:rPr>
              <a:t>MOV DH, 8Ah</a:t>
            </a:r>
          </a:p>
          <a:p>
            <a:pPr lvl="1"/>
            <a:r>
              <a:rPr lang="en-US" sz="2800" dirty="0">
                <a:latin typeface="Cambria" panose="02040503050406030204" pitchFamily="18" charset="0"/>
              </a:rPr>
              <a:t>MOV CL, 2 </a:t>
            </a:r>
          </a:p>
          <a:p>
            <a:pPr lvl="1"/>
            <a:r>
              <a:rPr lang="en-US" sz="2800" dirty="0">
                <a:latin typeface="Cambria" panose="02040503050406030204" pitchFamily="18" charset="0"/>
              </a:rPr>
              <a:t>SHR DH, CL </a:t>
            </a:r>
          </a:p>
          <a:p>
            <a:pPr lvl="1"/>
            <a:endParaRPr lang="en-US" sz="2800" dirty="0">
              <a:latin typeface="Cambria" panose="02040503050406030204" pitchFamily="18" charset="0"/>
            </a:endParaRPr>
          </a:p>
          <a:p>
            <a:pPr lvl="1"/>
            <a:r>
              <a:rPr lang="en-US" sz="2800" dirty="0">
                <a:latin typeface="Cambria" panose="02040503050406030204" pitchFamily="18" charset="0"/>
              </a:rPr>
              <a:t>The </a:t>
            </a:r>
            <a:r>
              <a:rPr lang="en-US" sz="2800" b="1" dirty="0">
                <a:solidFill>
                  <a:srgbClr val="7030A0"/>
                </a:solidFill>
                <a:latin typeface="Cambria" panose="02040503050406030204" pitchFamily="18" charset="0"/>
              </a:rPr>
              <a:t>binary value </a:t>
            </a:r>
            <a:r>
              <a:rPr lang="en-US" sz="2800" dirty="0">
                <a:latin typeface="Cambria" panose="02040503050406030204" pitchFamily="18" charset="0"/>
              </a:rPr>
              <a:t>of </a:t>
            </a:r>
            <a:r>
              <a:rPr lang="en-US" sz="2800" b="1" dirty="0">
                <a:solidFill>
                  <a:srgbClr val="7030A0"/>
                </a:solidFill>
                <a:latin typeface="Cambria" panose="02040503050406030204" pitchFamily="18" charset="0"/>
              </a:rPr>
              <a:t>DH is 10001010</a:t>
            </a:r>
            <a:r>
              <a:rPr lang="en-US" sz="2800" dirty="0">
                <a:latin typeface="Cambria" panose="02040503050406030204" pitchFamily="18" charset="0"/>
              </a:rPr>
              <a:t>. After </a:t>
            </a:r>
            <a:r>
              <a:rPr lang="en-US" sz="2800" b="1" dirty="0">
                <a:solidFill>
                  <a:srgbClr val="7030A0"/>
                </a:solidFill>
                <a:latin typeface="Cambria" panose="02040503050406030204" pitchFamily="18" charset="0"/>
              </a:rPr>
              <a:t>2 right shifts</a:t>
            </a:r>
            <a:r>
              <a:rPr lang="en-US" sz="2800" dirty="0">
                <a:latin typeface="Cambria" panose="02040503050406030204" pitchFamily="18" charset="0"/>
              </a:rPr>
              <a:t>, CF = 1. The new contents of DH may be obtained by </a:t>
            </a:r>
            <a:r>
              <a:rPr lang="en-US" sz="2800" b="1" dirty="0">
                <a:solidFill>
                  <a:srgbClr val="7030A0"/>
                </a:solidFill>
                <a:latin typeface="Cambria" panose="02040503050406030204" pitchFamily="18" charset="0"/>
              </a:rPr>
              <a:t>erasing the rightmost two bits and adding two zero bits to the left </a:t>
            </a:r>
            <a:r>
              <a:rPr lang="en-US" sz="2800" dirty="0">
                <a:latin typeface="Cambria" panose="02040503050406030204" pitchFamily="18" charset="0"/>
              </a:rPr>
              <a:t>end, thus </a:t>
            </a:r>
            <a:r>
              <a:rPr lang="en-US" sz="2800" b="1" dirty="0">
                <a:solidFill>
                  <a:srgbClr val="FF0000"/>
                </a:solidFill>
                <a:latin typeface="Cambria" panose="02040503050406030204" pitchFamily="18" charset="0"/>
              </a:rPr>
              <a:t>00100010b = 22h</a:t>
            </a:r>
            <a:r>
              <a:rPr lang="en-US" sz="2800" dirty="0">
                <a:latin typeface="Cambria" panose="02040503050406030204" pitchFamily="18" charset="0"/>
              </a:rPr>
              <a:t>. </a:t>
            </a:r>
          </a:p>
        </p:txBody>
      </p:sp>
    </p:spTree>
    <p:extLst>
      <p:ext uri="{BB962C8B-B14F-4D97-AF65-F5344CB8AC3E}">
        <p14:creationId xmlns:p14="http://schemas.microsoft.com/office/powerpoint/2010/main" val="1153364615"/>
      </p:ext>
    </p:extLst>
  </p:cSld>
  <p:clrMapOvr>
    <a:masterClrMapping/>
  </p:clrMapOvr>
  <p:transition spd="med">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18</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pic>
        <p:nvPicPr>
          <p:cNvPr id="3" name="Picture 2">
            <a:extLst>
              <a:ext uri="{FF2B5EF4-FFF2-40B4-BE49-F238E27FC236}">
                <a16:creationId xmlns:a16="http://schemas.microsoft.com/office/drawing/2014/main" id="{4D4968C2-4AAF-4755-B558-76EE8E8C62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5" y="1293899"/>
            <a:ext cx="9232796" cy="3049364"/>
          </a:xfrm>
          <a:prstGeom prst="rect">
            <a:avLst/>
          </a:prstGeom>
        </p:spPr>
      </p:pic>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52322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Right Shift Instruction: </a:t>
            </a:r>
          </a:p>
        </p:txBody>
      </p:sp>
    </p:spTree>
    <p:extLst>
      <p:ext uri="{BB962C8B-B14F-4D97-AF65-F5344CB8AC3E}">
        <p14:creationId xmlns:p14="http://schemas.microsoft.com/office/powerpoint/2010/main" val="4064467599"/>
      </p:ext>
    </p:extLst>
  </p:cSld>
  <p:clrMapOvr>
    <a:masterClrMapping/>
  </p:clrMapOvr>
  <p:transition spd="med">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19</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grpSp>
        <p:nvGrpSpPr>
          <p:cNvPr id="20" name="Group 19">
            <a:extLst>
              <a:ext uri="{FF2B5EF4-FFF2-40B4-BE49-F238E27FC236}">
                <a16:creationId xmlns:a16="http://schemas.microsoft.com/office/drawing/2014/main" id="{B14ADC56-92FD-47D3-84FF-24C278D39348}"/>
              </a:ext>
            </a:extLst>
          </p:cNvPr>
          <p:cNvGrpSpPr/>
          <p:nvPr/>
        </p:nvGrpSpPr>
        <p:grpSpPr>
          <a:xfrm>
            <a:off x="2136165" y="1497630"/>
            <a:ext cx="5432474" cy="2803294"/>
            <a:chOff x="2009556" y="912855"/>
            <a:chExt cx="5432474" cy="2803294"/>
          </a:xfrm>
        </p:grpSpPr>
        <p:sp>
          <p:nvSpPr>
            <p:cNvPr id="2" name="Rectangle 1">
              <a:extLst>
                <a:ext uri="{FF2B5EF4-FFF2-40B4-BE49-F238E27FC236}">
                  <a16:creationId xmlns:a16="http://schemas.microsoft.com/office/drawing/2014/main" id="{1E8F79BB-F2D9-45C2-B9BA-F5EB4B609D22}"/>
                </a:ext>
              </a:extLst>
            </p:cNvPr>
            <p:cNvSpPr/>
            <p:nvPr/>
          </p:nvSpPr>
          <p:spPr>
            <a:xfrm>
              <a:off x="3808097" y="912855"/>
              <a:ext cx="1800664" cy="1041010"/>
            </a:xfrm>
            <a:prstGeom prst="rect">
              <a:avLst/>
            </a:prstGeom>
            <a:solidFill>
              <a:srgbClr val="D5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Cambria" panose="02040503050406030204" pitchFamily="18" charset="0"/>
                  <a:ea typeface="Cambria" panose="02040503050406030204" pitchFamily="18" charset="0"/>
                </a:rPr>
                <a:t>Shift Operation </a:t>
              </a:r>
            </a:p>
          </p:txBody>
        </p:sp>
        <p:sp>
          <p:nvSpPr>
            <p:cNvPr id="10" name="Rectangle 9">
              <a:extLst>
                <a:ext uri="{FF2B5EF4-FFF2-40B4-BE49-F238E27FC236}">
                  <a16:creationId xmlns:a16="http://schemas.microsoft.com/office/drawing/2014/main" id="{41E0F72A-E1E9-4463-9FE4-479D7E63CF23}"/>
                </a:ext>
              </a:extLst>
            </p:cNvPr>
            <p:cNvSpPr/>
            <p:nvPr/>
          </p:nvSpPr>
          <p:spPr>
            <a:xfrm>
              <a:off x="2009556" y="2675139"/>
              <a:ext cx="1800664" cy="1041010"/>
            </a:xfrm>
            <a:prstGeom prst="rect">
              <a:avLst/>
            </a:prstGeom>
            <a:solidFill>
              <a:srgbClr val="D5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Cambria" panose="02040503050406030204" pitchFamily="18" charset="0"/>
                  <a:ea typeface="Cambria" panose="02040503050406030204" pitchFamily="18" charset="0"/>
                </a:rPr>
                <a:t>Left Shift</a:t>
              </a:r>
            </a:p>
          </p:txBody>
        </p:sp>
        <p:sp>
          <p:nvSpPr>
            <p:cNvPr id="11" name="Rectangle 10">
              <a:extLst>
                <a:ext uri="{FF2B5EF4-FFF2-40B4-BE49-F238E27FC236}">
                  <a16:creationId xmlns:a16="http://schemas.microsoft.com/office/drawing/2014/main" id="{6E72A264-C480-4F33-831C-0EA3D03BC707}"/>
                </a:ext>
              </a:extLst>
            </p:cNvPr>
            <p:cNvSpPr/>
            <p:nvPr/>
          </p:nvSpPr>
          <p:spPr>
            <a:xfrm>
              <a:off x="5641366" y="2649281"/>
              <a:ext cx="1800664" cy="1041010"/>
            </a:xfrm>
            <a:prstGeom prst="rect">
              <a:avLst/>
            </a:prstGeom>
            <a:solidFill>
              <a:srgbClr val="D5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Cambria" panose="02040503050406030204" pitchFamily="18" charset="0"/>
                  <a:ea typeface="Cambria" panose="02040503050406030204" pitchFamily="18" charset="0"/>
                </a:rPr>
                <a:t>Right  Shift</a:t>
              </a:r>
            </a:p>
          </p:txBody>
        </p:sp>
        <p:sp>
          <p:nvSpPr>
            <p:cNvPr id="8" name="Arrow: Up-Down 7">
              <a:extLst>
                <a:ext uri="{FF2B5EF4-FFF2-40B4-BE49-F238E27FC236}">
                  <a16:creationId xmlns:a16="http://schemas.microsoft.com/office/drawing/2014/main" id="{C25C0D8B-3E46-4201-98A2-BCD0F489DA4F}"/>
                </a:ext>
              </a:extLst>
            </p:cNvPr>
            <p:cNvSpPr/>
            <p:nvPr/>
          </p:nvSpPr>
          <p:spPr>
            <a:xfrm rot="3061980">
              <a:off x="2866222" y="1195012"/>
              <a:ext cx="393895" cy="1597598"/>
            </a:xfrm>
            <a:prstGeom prst="up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Up-Down 11">
              <a:extLst>
                <a:ext uri="{FF2B5EF4-FFF2-40B4-BE49-F238E27FC236}">
                  <a16:creationId xmlns:a16="http://schemas.microsoft.com/office/drawing/2014/main" id="{74FCFAE0-04E9-4E6C-82CC-F7B6881C3679}"/>
                </a:ext>
              </a:extLst>
            </p:cNvPr>
            <p:cNvSpPr/>
            <p:nvPr/>
          </p:nvSpPr>
          <p:spPr>
            <a:xfrm rot="18727612">
              <a:off x="6168964" y="1155066"/>
              <a:ext cx="393895" cy="1597598"/>
            </a:xfrm>
            <a:prstGeom prst="up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Up-Down 12">
              <a:extLst>
                <a:ext uri="{FF2B5EF4-FFF2-40B4-BE49-F238E27FC236}">
                  <a16:creationId xmlns:a16="http://schemas.microsoft.com/office/drawing/2014/main" id="{ED4B28FC-9981-4379-A45C-48E18534D59D}"/>
                </a:ext>
              </a:extLst>
            </p:cNvPr>
            <p:cNvSpPr/>
            <p:nvPr/>
          </p:nvSpPr>
          <p:spPr>
            <a:xfrm rot="16200000">
              <a:off x="4508914" y="2429631"/>
              <a:ext cx="393895" cy="1561081"/>
            </a:xfrm>
            <a:prstGeom prst="up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36772298"/>
      </p:ext>
    </p:extLst>
  </p:cSld>
  <p:clrMapOvr>
    <a:masterClrMapping/>
  </p:clrMapOvr>
  <p:transition spd="med">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20</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983382"/>
            <a:ext cx="9906000" cy="954107"/>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Left Shift : </a:t>
            </a:r>
            <a:r>
              <a:rPr lang="en-US" sz="2800" dirty="0">
                <a:latin typeface="Cambria" panose="02040503050406030204" pitchFamily="18" charset="0"/>
              </a:rPr>
              <a:t>Multiply a number by 2  </a:t>
            </a:r>
            <a:endParaRPr lang="en-US" sz="2800" b="1" i="1" dirty="0">
              <a:solidFill>
                <a:srgbClr val="7030A0"/>
              </a:solidFill>
              <a:latin typeface="Cambria" panose="02040503050406030204" pitchFamily="18" charset="0"/>
            </a:endParaRPr>
          </a:p>
          <a:p>
            <a:pPr lvl="1"/>
            <a:r>
              <a:rPr lang="en-US" sz="2800" b="1" i="1" dirty="0">
                <a:solidFill>
                  <a:srgbClr val="7030A0"/>
                </a:solidFill>
                <a:latin typeface="Cambria" panose="02040503050406030204" pitchFamily="18" charset="0"/>
              </a:rPr>
              <a:t>Right Shift : </a:t>
            </a:r>
            <a:r>
              <a:rPr lang="en-US" sz="2800" dirty="0">
                <a:latin typeface="Cambria" panose="02040503050406030204" pitchFamily="18" charset="0"/>
              </a:rPr>
              <a:t>Divide a number by 2  </a:t>
            </a:r>
          </a:p>
        </p:txBody>
      </p:sp>
      <p:graphicFrame>
        <p:nvGraphicFramePr>
          <p:cNvPr id="3" name="Table 13">
            <a:extLst>
              <a:ext uri="{FF2B5EF4-FFF2-40B4-BE49-F238E27FC236}">
                <a16:creationId xmlns:a16="http://schemas.microsoft.com/office/drawing/2014/main" id="{AC6AEF07-9D71-4D28-BD86-04EB41706FA5}"/>
              </a:ext>
            </a:extLst>
          </p:cNvPr>
          <p:cNvGraphicFramePr>
            <a:graphicFrameLocks noGrp="1"/>
          </p:cNvGraphicFramePr>
          <p:nvPr>
            <p:extLst>
              <p:ext uri="{D42A27DB-BD31-4B8C-83A1-F6EECF244321}">
                <p14:modId xmlns:p14="http://schemas.microsoft.com/office/powerpoint/2010/main" val="3165107118"/>
              </p:ext>
            </p:extLst>
          </p:nvPr>
        </p:nvGraphicFramePr>
        <p:xfrm>
          <a:off x="1506538" y="2403358"/>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graphicFrame>
        <p:nvGraphicFramePr>
          <p:cNvPr id="15" name="Table 13">
            <a:extLst>
              <a:ext uri="{FF2B5EF4-FFF2-40B4-BE49-F238E27FC236}">
                <a16:creationId xmlns:a16="http://schemas.microsoft.com/office/drawing/2014/main" id="{A90A4D80-2BDC-41F1-B949-E39AF955EA8F}"/>
              </a:ext>
            </a:extLst>
          </p:cNvPr>
          <p:cNvGraphicFramePr>
            <a:graphicFrameLocks noGrp="1"/>
          </p:cNvGraphicFramePr>
          <p:nvPr>
            <p:extLst>
              <p:ext uri="{D42A27DB-BD31-4B8C-83A1-F6EECF244321}">
                <p14:modId xmlns:p14="http://schemas.microsoft.com/office/powerpoint/2010/main" val="3563422305"/>
              </p:ext>
            </p:extLst>
          </p:nvPr>
        </p:nvGraphicFramePr>
        <p:xfrm>
          <a:off x="801858" y="3635199"/>
          <a:ext cx="7308684" cy="518160"/>
        </p:xfrm>
        <a:graphic>
          <a:graphicData uri="http://schemas.openxmlformats.org/drawingml/2006/table">
            <a:tbl>
              <a:tblPr firstRow="1" bandRow="1">
                <a:tableStyleId>{5940675A-B579-460E-94D1-54222C63F5DA}</a:tableStyleId>
              </a:tblPr>
              <a:tblGrid>
                <a:gridCol w="812076">
                  <a:extLst>
                    <a:ext uri="{9D8B030D-6E8A-4147-A177-3AD203B41FA5}">
                      <a16:colId xmlns:a16="http://schemas.microsoft.com/office/drawing/2014/main" val="1564391165"/>
                    </a:ext>
                  </a:extLst>
                </a:gridCol>
                <a:gridCol w="812076">
                  <a:extLst>
                    <a:ext uri="{9D8B030D-6E8A-4147-A177-3AD203B41FA5}">
                      <a16:colId xmlns:a16="http://schemas.microsoft.com/office/drawing/2014/main" val="3471118110"/>
                    </a:ext>
                  </a:extLst>
                </a:gridCol>
                <a:gridCol w="812076">
                  <a:extLst>
                    <a:ext uri="{9D8B030D-6E8A-4147-A177-3AD203B41FA5}">
                      <a16:colId xmlns:a16="http://schemas.microsoft.com/office/drawing/2014/main" val="2939592274"/>
                    </a:ext>
                  </a:extLst>
                </a:gridCol>
                <a:gridCol w="812076">
                  <a:extLst>
                    <a:ext uri="{9D8B030D-6E8A-4147-A177-3AD203B41FA5}">
                      <a16:colId xmlns:a16="http://schemas.microsoft.com/office/drawing/2014/main" val="713137430"/>
                    </a:ext>
                  </a:extLst>
                </a:gridCol>
                <a:gridCol w="812076">
                  <a:extLst>
                    <a:ext uri="{9D8B030D-6E8A-4147-A177-3AD203B41FA5}">
                      <a16:colId xmlns:a16="http://schemas.microsoft.com/office/drawing/2014/main" val="2854776952"/>
                    </a:ext>
                  </a:extLst>
                </a:gridCol>
                <a:gridCol w="812076">
                  <a:extLst>
                    <a:ext uri="{9D8B030D-6E8A-4147-A177-3AD203B41FA5}">
                      <a16:colId xmlns:a16="http://schemas.microsoft.com/office/drawing/2014/main" val="1741907515"/>
                    </a:ext>
                  </a:extLst>
                </a:gridCol>
                <a:gridCol w="812076">
                  <a:extLst>
                    <a:ext uri="{9D8B030D-6E8A-4147-A177-3AD203B41FA5}">
                      <a16:colId xmlns:a16="http://schemas.microsoft.com/office/drawing/2014/main" val="665200896"/>
                    </a:ext>
                  </a:extLst>
                </a:gridCol>
                <a:gridCol w="812076">
                  <a:extLst>
                    <a:ext uri="{9D8B030D-6E8A-4147-A177-3AD203B41FA5}">
                      <a16:colId xmlns:a16="http://schemas.microsoft.com/office/drawing/2014/main" val="3169819262"/>
                    </a:ext>
                  </a:extLst>
                </a:gridCol>
                <a:gridCol w="812076">
                  <a:extLst>
                    <a:ext uri="{9D8B030D-6E8A-4147-A177-3AD203B41FA5}">
                      <a16:colId xmlns:a16="http://schemas.microsoft.com/office/drawing/2014/main" val="2217907775"/>
                    </a:ext>
                  </a:extLst>
                </a:gridCol>
              </a:tblGrid>
              <a:tr h="370840">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endParaRPr lang="en-US" sz="28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57473740"/>
                  </a:ext>
                </a:extLst>
              </a:tr>
            </a:tbl>
          </a:graphicData>
        </a:graphic>
      </p:graphicFrame>
      <p:grpSp>
        <p:nvGrpSpPr>
          <p:cNvPr id="17" name="Group 16">
            <a:extLst>
              <a:ext uri="{FF2B5EF4-FFF2-40B4-BE49-F238E27FC236}">
                <a16:creationId xmlns:a16="http://schemas.microsoft.com/office/drawing/2014/main" id="{E1B44192-CC0C-4AA5-867E-494A0C259AC1}"/>
              </a:ext>
            </a:extLst>
          </p:cNvPr>
          <p:cNvGrpSpPr/>
          <p:nvPr/>
        </p:nvGrpSpPr>
        <p:grpSpPr>
          <a:xfrm>
            <a:off x="1171148" y="2921517"/>
            <a:ext cx="6514302" cy="699264"/>
            <a:chOff x="1171148" y="2935585"/>
            <a:chExt cx="6514302" cy="699264"/>
          </a:xfrm>
        </p:grpSpPr>
        <p:cxnSp>
          <p:nvCxnSpPr>
            <p:cNvPr id="16" name="Straight Arrow Connector 15">
              <a:extLst>
                <a:ext uri="{FF2B5EF4-FFF2-40B4-BE49-F238E27FC236}">
                  <a16:creationId xmlns:a16="http://schemas.microsoft.com/office/drawing/2014/main" id="{F599FBBA-46A6-4397-8B31-FFC590D02CAF}"/>
                </a:ext>
              </a:extLst>
            </p:cNvPr>
            <p:cNvCxnSpPr/>
            <p:nvPr/>
          </p:nvCxnSpPr>
          <p:spPr>
            <a:xfrm flipH="1">
              <a:off x="7014671" y="2949652"/>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06DB6FC-86F5-4B97-8AA5-A2CFBA56230A}"/>
                </a:ext>
              </a:extLst>
            </p:cNvPr>
            <p:cNvCxnSpPr/>
            <p:nvPr/>
          </p:nvCxnSpPr>
          <p:spPr>
            <a:xfrm flipH="1">
              <a:off x="6160009" y="2949652"/>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E37E215-F344-48DF-B8BD-94653FBE1FA4}"/>
                </a:ext>
              </a:extLst>
            </p:cNvPr>
            <p:cNvCxnSpPr/>
            <p:nvPr/>
          </p:nvCxnSpPr>
          <p:spPr>
            <a:xfrm flipH="1">
              <a:off x="5327810" y="2935585"/>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00CC094-7924-4B7D-B69D-A4CA8B2351E3}"/>
                </a:ext>
              </a:extLst>
            </p:cNvPr>
            <p:cNvCxnSpPr/>
            <p:nvPr/>
          </p:nvCxnSpPr>
          <p:spPr>
            <a:xfrm flipH="1">
              <a:off x="4473148" y="2949652"/>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CDFB5C7-A95C-41A1-AE27-101CFB08C518}"/>
                </a:ext>
              </a:extLst>
            </p:cNvPr>
            <p:cNvCxnSpPr/>
            <p:nvPr/>
          </p:nvCxnSpPr>
          <p:spPr>
            <a:xfrm flipH="1">
              <a:off x="3659507" y="2935585"/>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BF097EF-F466-4BFB-A8CD-3D970B645A2A}"/>
                </a:ext>
              </a:extLst>
            </p:cNvPr>
            <p:cNvCxnSpPr/>
            <p:nvPr/>
          </p:nvCxnSpPr>
          <p:spPr>
            <a:xfrm flipH="1">
              <a:off x="2786287" y="2949679"/>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7D398A6-EB43-43B5-BCC0-900D3BF7BF03}"/>
                </a:ext>
              </a:extLst>
            </p:cNvPr>
            <p:cNvCxnSpPr/>
            <p:nvPr/>
          </p:nvCxnSpPr>
          <p:spPr>
            <a:xfrm flipH="1">
              <a:off x="2014288" y="2964070"/>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3A2373D-56E2-4C4F-993B-F7B6FD5E0C24}"/>
                </a:ext>
              </a:extLst>
            </p:cNvPr>
            <p:cNvCxnSpPr/>
            <p:nvPr/>
          </p:nvCxnSpPr>
          <p:spPr>
            <a:xfrm flipH="1">
              <a:off x="1171148" y="2949652"/>
              <a:ext cx="670779" cy="6707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86E1A8DE-B0EB-4380-90BE-BEC437D88C47}"/>
              </a:ext>
            </a:extLst>
          </p:cNvPr>
          <p:cNvSpPr txBox="1"/>
          <p:nvPr/>
        </p:nvSpPr>
        <p:spPr>
          <a:xfrm>
            <a:off x="0" y="4590391"/>
            <a:ext cx="9906000" cy="523220"/>
          </a:xfrm>
          <a:prstGeom prst="rect">
            <a:avLst/>
          </a:prstGeom>
          <a:noFill/>
        </p:spPr>
        <p:txBody>
          <a:bodyPr wrap="square" rtlCol="0">
            <a:spAutoFit/>
          </a:bodyPr>
          <a:lstStyle/>
          <a:p>
            <a:pPr lvl="1" algn="ctr"/>
            <a:r>
              <a:rPr lang="en-US" sz="2800" b="1" dirty="0">
                <a:solidFill>
                  <a:srgbClr val="7030A0"/>
                </a:solidFill>
                <a:latin typeface="Cambria" panose="02040503050406030204" pitchFamily="18" charset="0"/>
              </a:rPr>
              <a:t>4*2 = 8</a:t>
            </a:r>
          </a:p>
        </p:txBody>
      </p:sp>
    </p:spTree>
    <p:extLst>
      <p:ext uri="{BB962C8B-B14F-4D97-AF65-F5344CB8AC3E}">
        <p14:creationId xmlns:p14="http://schemas.microsoft.com/office/powerpoint/2010/main" val="3886828627"/>
      </p:ext>
    </p:extLst>
  </p:cSld>
  <p:clrMapOvr>
    <a:masterClrMapping/>
  </p:clrMapOvr>
  <p:transition spd="med">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21</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Shift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983382"/>
            <a:ext cx="9906000" cy="954107"/>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Left Shift : </a:t>
            </a:r>
            <a:r>
              <a:rPr lang="en-US" sz="2800" dirty="0">
                <a:latin typeface="Cambria" panose="02040503050406030204" pitchFamily="18" charset="0"/>
              </a:rPr>
              <a:t>Multiply a number by 2  </a:t>
            </a:r>
            <a:endParaRPr lang="en-US" sz="2800" b="1" i="1" dirty="0">
              <a:solidFill>
                <a:srgbClr val="7030A0"/>
              </a:solidFill>
              <a:latin typeface="Cambria" panose="02040503050406030204" pitchFamily="18" charset="0"/>
            </a:endParaRPr>
          </a:p>
          <a:p>
            <a:pPr lvl="1"/>
            <a:r>
              <a:rPr lang="en-US" sz="2800" b="1" i="1" dirty="0">
                <a:solidFill>
                  <a:srgbClr val="7030A0"/>
                </a:solidFill>
                <a:latin typeface="Cambria" panose="02040503050406030204" pitchFamily="18" charset="0"/>
              </a:rPr>
              <a:t>Right Shift : </a:t>
            </a:r>
            <a:r>
              <a:rPr lang="en-US" sz="2800" dirty="0">
                <a:latin typeface="Cambria" panose="02040503050406030204" pitchFamily="18" charset="0"/>
              </a:rPr>
              <a:t>Divide a number by 2  </a:t>
            </a:r>
          </a:p>
        </p:txBody>
      </p:sp>
      <p:graphicFrame>
        <p:nvGraphicFramePr>
          <p:cNvPr id="3" name="Table 13">
            <a:extLst>
              <a:ext uri="{FF2B5EF4-FFF2-40B4-BE49-F238E27FC236}">
                <a16:creationId xmlns:a16="http://schemas.microsoft.com/office/drawing/2014/main" id="{AC6AEF07-9D71-4D28-BD86-04EB41706FA5}"/>
              </a:ext>
            </a:extLst>
          </p:cNvPr>
          <p:cNvGraphicFramePr>
            <a:graphicFrameLocks noGrp="1"/>
          </p:cNvGraphicFramePr>
          <p:nvPr/>
        </p:nvGraphicFramePr>
        <p:xfrm>
          <a:off x="1506538" y="2403358"/>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graphicFrame>
        <p:nvGraphicFramePr>
          <p:cNvPr id="15" name="Table 13">
            <a:extLst>
              <a:ext uri="{FF2B5EF4-FFF2-40B4-BE49-F238E27FC236}">
                <a16:creationId xmlns:a16="http://schemas.microsoft.com/office/drawing/2014/main" id="{A90A4D80-2BDC-41F1-B949-E39AF955EA8F}"/>
              </a:ext>
            </a:extLst>
          </p:cNvPr>
          <p:cNvGraphicFramePr>
            <a:graphicFrameLocks noGrp="1"/>
          </p:cNvGraphicFramePr>
          <p:nvPr>
            <p:extLst>
              <p:ext uri="{D42A27DB-BD31-4B8C-83A1-F6EECF244321}">
                <p14:modId xmlns:p14="http://schemas.microsoft.com/office/powerpoint/2010/main" val="3911947601"/>
              </p:ext>
            </p:extLst>
          </p:nvPr>
        </p:nvGraphicFramePr>
        <p:xfrm>
          <a:off x="1491182" y="3635199"/>
          <a:ext cx="7308684" cy="518160"/>
        </p:xfrm>
        <a:graphic>
          <a:graphicData uri="http://schemas.openxmlformats.org/drawingml/2006/table">
            <a:tbl>
              <a:tblPr firstRow="1" bandRow="1">
                <a:tableStyleId>{5940675A-B579-460E-94D1-54222C63F5DA}</a:tableStyleId>
              </a:tblPr>
              <a:tblGrid>
                <a:gridCol w="812076">
                  <a:extLst>
                    <a:ext uri="{9D8B030D-6E8A-4147-A177-3AD203B41FA5}">
                      <a16:colId xmlns:a16="http://schemas.microsoft.com/office/drawing/2014/main" val="1564391165"/>
                    </a:ext>
                  </a:extLst>
                </a:gridCol>
                <a:gridCol w="812076">
                  <a:extLst>
                    <a:ext uri="{9D8B030D-6E8A-4147-A177-3AD203B41FA5}">
                      <a16:colId xmlns:a16="http://schemas.microsoft.com/office/drawing/2014/main" val="3471118110"/>
                    </a:ext>
                  </a:extLst>
                </a:gridCol>
                <a:gridCol w="812076">
                  <a:extLst>
                    <a:ext uri="{9D8B030D-6E8A-4147-A177-3AD203B41FA5}">
                      <a16:colId xmlns:a16="http://schemas.microsoft.com/office/drawing/2014/main" val="2939592274"/>
                    </a:ext>
                  </a:extLst>
                </a:gridCol>
                <a:gridCol w="812076">
                  <a:extLst>
                    <a:ext uri="{9D8B030D-6E8A-4147-A177-3AD203B41FA5}">
                      <a16:colId xmlns:a16="http://schemas.microsoft.com/office/drawing/2014/main" val="713137430"/>
                    </a:ext>
                  </a:extLst>
                </a:gridCol>
                <a:gridCol w="812076">
                  <a:extLst>
                    <a:ext uri="{9D8B030D-6E8A-4147-A177-3AD203B41FA5}">
                      <a16:colId xmlns:a16="http://schemas.microsoft.com/office/drawing/2014/main" val="2854776952"/>
                    </a:ext>
                  </a:extLst>
                </a:gridCol>
                <a:gridCol w="812076">
                  <a:extLst>
                    <a:ext uri="{9D8B030D-6E8A-4147-A177-3AD203B41FA5}">
                      <a16:colId xmlns:a16="http://schemas.microsoft.com/office/drawing/2014/main" val="1741907515"/>
                    </a:ext>
                  </a:extLst>
                </a:gridCol>
                <a:gridCol w="812076">
                  <a:extLst>
                    <a:ext uri="{9D8B030D-6E8A-4147-A177-3AD203B41FA5}">
                      <a16:colId xmlns:a16="http://schemas.microsoft.com/office/drawing/2014/main" val="665200896"/>
                    </a:ext>
                  </a:extLst>
                </a:gridCol>
                <a:gridCol w="812076">
                  <a:extLst>
                    <a:ext uri="{9D8B030D-6E8A-4147-A177-3AD203B41FA5}">
                      <a16:colId xmlns:a16="http://schemas.microsoft.com/office/drawing/2014/main" val="3169819262"/>
                    </a:ext>
                  </a:extLst>
                </a:gridCol>
                <a:gridCol w="812076">
                  <a:extLst>
                    <a:ext uri="{9D8B030D-6E8A-4147-A177-3AD203B41FA5}">
                      <a16:colId xmlns:a16="http://schemas.microsoft.com/office/drawing/2014/main" val="2217907775"/>
                    </a:ext>
                  </a:extLst>
                </a:gridCol>
              </a:tblGrid>
              <a:tr h="370840">
                <a:tc>
                  <a:txBody>
                    <a:bodyPr/>
                    <a:lstStyle/>
                    <a:p>
                      <a:pPr algn="ctr"/>
                      <a:endParaRPr lang="en-US" sz="2800" dirty="0">
                        <a:latin typeface="Cambria" panose="02040503050406030204" pitchFamily="18" charset="0"/>
                        <a:ea typeface="Cambria" panose="02040503050406030204" pitchFamily="18" charset="0"/>
                      </a:endParaRP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sp>
        <p:nvSpPr>
          <p:cNvPr id="32" name="TextBox 31">
            <a:extLst>
              <a:ext uri="{FF2B5EF4-FFF2-40B4-BE49-F238E27FC236}">
                <a16:creationId xmlns:a16="http://schemas.microsoft.com/office/drawing/2014/main" id="{86E1A8DE-B0EB-4380-90BE-BEC437D88C47}"/>
              </a:ext>
            </a:extLst>
          </p:cNvPr>
          <p:cNvSpPr txBox="1"/>
          <p:nvPr/>
        </p:nvSpPr>
        <p:spPr>
          <a:xfrm>
            <a:off x="0" y="4590391"/>
            <a:ext cx="9906000" cy="523220"/>
          </a:xfrm>
          <a:prstGeom prst="rect">
            <a:avLst/>
          </a:prstGeom>
          <a:noFill/>
        </p:spPr>
        <p:txBody>
          <a:bodyPr wrap="square" rtlCol="0">
            <a:spAutoFit/>
          </a:bodyPr>
          <a:lstStyle/>
          <a:p>
            <a:pPr lvl="1" algn="ctr"/>
            <a:r>
              <a:rPr lang="en-US" sz="2800" b="1" dirty="0">
                <a:solidFill>
                  <a:srgbClr val="7030A0"/>
                </a:solidFill>
                <a:latin typeface="Cambria" panose="02040503050406030204" pitchFamily="18" charset="0"/>
              </a:rPr>
              <a:t>4/2 = 2</a:t>
            </a:r>
          </a:p>
        </p:txBody>
      </p:sp>
      <p:grpSp>
        <p:nvGrpSpPr>
          <p:cNvPr id="12" name="Group 11">
            <a:extLst>
              <a:ext uri="{FF2B5EF4-FFF2-40B4-BE49-F238E27FC236}">
                <a16:creationId xmlns:a16="http://schemas.microsoft.com/office/drawing/2014/main" id="{C27F9A23-9500-4BFF-9E46-01B70D4572E0}"/>
              </a:ext>
            </a:extLst>
          </p:cNvPr>
          <p:cNvGrpSpPr/>
          <p:nvPr/>
        </p:nvGrpSpPr>
        <p:grpSpPr>
          <a:xfrm>
            <a:off x="1867390" y="2894982"/>
            <a:ext cx="6555386" cy="748582"/>
            <a:chOff x="1867390" y="2894982"/>
            <a:chExt cx="6555386" cy="748582"/>
          </a:xfrm>
        </p:grpSpPr>
        <p:cxnSp>
          <p:nvCxnSpPr>
            <p:cNvPr id="11" name="Straight Arrow Connector 10">
              <a:extLst>
                <a:ext uri="{FF2B5EF4-FFF2-40B4-BE49-F238E27FC236}">
                  <a16:creationId xmlns:a16="http://schemas.microsoft.com/office/drawing/2014/main" id="{ADFF81A8-EE06-42A4-ABB9-94DBAB74AA57}"/>
                </a:ext>
              </a:extLst>
            </p:cNvPr>
            <p:cNvCxnSpPr/>
            <p:nvPr/>
          </p:nvCxnSpPr>
          <p:spPr>
            <a:xfrm>
              <a:off x="7709095" y="2921518"/>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0C35567-BC83-4DD1-8D6E-AB2EB7D21DD1}"/>
                </a:ext>
              </a:extLst>
            </p:cNvPr>
            <p:cNvCxnSpPr/>
            <p:nvPr/>
          </p:nvCxnSpPr>
          <p:spPr>
            <a:xfrm>
              <a:off x="6792351" y="2894982"/>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1285432-7FE4-4A24-A3C7-2A35CDB6356F}"/>
                </a:ext>
              </a:extLst>
            </p:cNvPr>
            <p:cNvCxnSpPr/>
            <p:nvPr/>
          </p:nvCxnSpPr>
          <p:spPr>
            <a:xfrm>
              <a:off x="5910957" y="2908250"/>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C8FC987-FD43-4EC4-9527-871E8C61A259}"/>
                </a:ext>
              </a:extLst>
            </p:cNvPr>
            <p:cNvCxnSpPr/>
            <p:nvPr/>
          </p:nvCxnSpPr>
          <p:spPr>
            <a:xfrm>
              <a:off x="5113419" y="2922904"/>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813BFD1-E08D-49EC-865C-1061A11D2DA1}"/>
                </a:ext>
              </a:extLst>
            </p:cNvPr>
            <p:cNvCxnSpPr/>
            <p:nvPr/>
          </p:nvCxnSpPr>
          <p:spPr>
            <a:xfrm>
              <a:off x="4435741" y="2914177"/>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1D1A1D2-B12A-4A90-A91A-ABFA715E2429}"/>
                </a:ext>
              </a:extLst>
            </p:cNvPr>
            <p:cNvCxnSpPr/>
            <p:nvPr/>
          </p:nvCxnSpPr>
          <p:spPr>
            <a:xfrm>
              <a:off x="3607211" y="2929883"/>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A3D6AC-6CC7-49EE-9EF3-B68487755B50}"/>
                </a:ext>
              </a:extLst>
            </p:cNvPr>
            <p:cNvCxnSpPr/>
            <p:nvPr/>
          </p:nvCxnSpPr>
          <p:spPr>
            <a:xfrm>
              <a:off x="2778269" y="2917846"/>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E8DCBD9-90E4-4593-A646-BEF1C6F4FCE1}"/>
                </a:ext>
              </a:extLst>
            </p:cNvPr>
            <p:cNvCxnSpPr/>
            <p:nvPr/>
          </p:nvCxnSpPr>
          <p:spPr>
            <a:xfrm>
              <a:off x="1867390" y="2907099"/>
              <a:ext cx="713681" cy="7136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5427362"/>
      </p:ext>
    </p:extLst>
  </p:cSld>
  <p:clrMapOvr>
    <a:masterClrMapping/>
  </p:clrMapOvr>
  <p:transition spd="med">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22</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2246769"/>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Left: </a:t>
            </a:r>
          </a:p>
          <a:p>
            <a:pPr lvl="1"/>
            <a:r>
              <a:rPr lang="en-US" sz="2800" dirty="0">
                <a:latin typeface="Cambria" panose="02040503050406030204" pitchFamily="18" charset="0"/>
              </a:rPr>
              <a:t>The instruction ROL (rotate left) shifts bits to the left. The MSB is shifted into the rightmost bit. The CF also gets the bit shifted out of the MSB. The syntax is, </a:t>
            </a:r>
          </a:p>
          <a:p>
            <a:pPr lvl="1"/>
            <a:r>
              <a:rPr lang="en-US" sz="2800" dirty="0">
                <a:latin typeface="Cambria" panose="02040503050406030204" pitchFamily="18" charset="0"/>
              </a:rPr>
              <a:t> </a:t>
            </a:r>
          </a:p>
        </p:txBody>
      </p:sp>
      <p:pic>
        <p:nvPicPr>
          <p:cNvPr id="8" name="Picture 7">
            <a:extLst>
              <a:ext uri="{FF2B5EF4-FFF2-40B4-BE49-F238E27FC236}">
                <a16:creationId xmlns:a16="http://schemas.microsoft.com/office/drawing/2014/main" id="{E55206C6-50EA-4E9A-96C0-905714094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5625" y="2514996"/>
            <a:ext cx="3714750" cy="1538969"/>
          </a:xfrm>
          <a:prstGeom prst="rect">
            <a:avLst/>
          </a:prstGeom>
          <a:ln w="28575">
            <a:solidFill>
              <a:srgbClr val="FF0000"/>
            </a:solidFill>
          </a:ln>
        </p:spPr>
      </p:pic>
    </p:spTree>
    <p:extLst>
      <p:ext uri="{BB962C8B-B14F-4D97-AF65-F5344CB8AC3E}">
        <p14:creationId xmlns:p14="http://schemas.microsoft.com/office/powerpoint/2010/main" val="2081845145"/>
      </p:ext>
    </p:extLst>
  </p:cSld>
  <p:clrMapOvr>
    <a:masterClrMapping/>
  </p:clrMapOvr>
  <p:transition spd="med">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23</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52322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Left: </a:t>
            </a:r>
            <a:r>
              <a:rPr lang="en-US" sz="2800" dirty="0">
                <a:latin typeface="Cambria" panose="02040503050406030204" pitchFamily="18" charset="0"/>
              </a:rPr>
              <a:t> </a:t>
            </a:r>
          </a:p>
        </p:txBody>
      </p:sp>
      <p:pic>
        <p:nvPicPr>
          <p:cNvPr id="3" name="Picture 2">
            <a:extLst>
              <a:ext uri="{FF2B5EF4-FFF2-40B4-BE49-F238E27FC236}">
                <a16:creationId xmlns:a16="http://schemas.microsoft.com/office/drawing/2014/main" id="{98483176-C456-4754-BF5A-3AB8FABCD4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542" y="1209491"/>
            <a:ext cx="9110827" cy="3917110"/>
          </a:xfrm>
          <a:prstGeom prst="rect">
            <a:avLst/>
          </a:prstGeom>
        </p:spPr>
      </p:pic>
    </p:spTree>
    <p:extLst>
      <p:ext uri="{BB962C8B-B14F-4D97-AF65-F5344CB8AC3E}">
        <p14:creationId xmlns:p14="http://schemas.microsoft.com/office/powerpoint/2010/main" val="3048884884"/>
      </p:ext>
    </p:extLst>
  </p:cSld>
  <p:clrMapOvr>
    <a:masterClrMapping/>
  </p:clrMapOvr>
  <p:transition spd="med">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24</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1815882"/>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Right:</a:t>
            </a:r>
          </a:p>
          <a:p>
            <a:pPr lvl="1"/>
            <a:r>
              <a:rPr lang="en-US" sz="2800" dirty="0">
                <a:latin typeface="Cambria" panose="02040503050406030204" pitchFamily="18" charset="0"/>
              </a:rPr>
              <a:t>The instruction ROR (rotate right) works just like ROL, except that the bits are rotated to the right. The rightmost bit is shifted into the MSB, and also into the CF. The syntax is,   </a:t>
            </a:r>
          </a:p>
        </p:txBody>
      </p:sp>
      <p:pic>
        <p:nvPicPr>
          <p:cNvPr id="8" name="Picture 7">
            <a:extLst>
              <a:ext uri="{FF2B5EF4-FFF2-40B4-BE49-F238E27FC236}">
                <a16:creationId xmlns:a16="http://schemas.microsoft.com/office/drawing/2014/main" id="{3598D326-D89B-41F7-B138-10B644158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2385" y="2538537"/>
            <a:ext cx="4081467" cy="1597638"/>
          </a:xfrm>
          <a:prstGeom prst="rect">
            <a:avLst/>
          </a:prstGeom>
          <a:ln w="28575">
            <a:solidFill>
              <a:srgbClr val="FF0000"/>
            </a:solidFill>
          </a:ln>
        </p:spPr>
      </p:pic>
    </p:spTree>
    <p:extLst>
      <p:ext uri="{BB962C8B-B14F-4D97-AF65-F5344CB8AC3E}">
        <p14:creationId xmlns:p14="http://schemas.microsoft.com/office/powerpoint/2010/main" val="2718362838"/>
      </p:ext>
    </p:extLst>
  </p:cSld>
  <p:clrMapOvr>
    <a:masterClrMapping/>
  </p:clrMapOvr>
  <p:transition spd="med">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25</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52322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Right:</a:t>
            </a:r>
          </a:p>
        </p:txBody>
      </p:sp>
      <p:pic>
        <p:nvPicPr>
          <p:cNvPr id="3" name="Picture 2">
            <a:extLst>
              <a:ext uri="{FF2B5EF4-FFF2-40B4-BE49-F238E27FC236}">
                <a16:creationId xmlns:a16="http://schemas.microsoft.com/office/drawing/2014/main" id="{ADB9E7B1-716B-4887-8ED1-0C663196C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667" y="1194196"/>
            <a:ext cx="9074126" cy="3870170"/>
          </a:xfrm>
          <a:prstGeom prst="rect">
            <a:avLst/>
          </a:prstGeom>
        </p:spPr>
      </p:pic>
    </p:spTree>
    <p:extLst>
      <p:ext uri="{BB962C8B-B14F-4D97-AF65-F5344CB8AC3E}">
        <p14:creationId xmlns:p14="http://schemas.microsoft.com/office/powerpoint/2010/main" val="8444874"/>
      </p:ext>
    </p:extLst>
  </p:cSld>
  <p:clrMapOvr>
    <a:masterClrMapping/>
  </p:clrMapOvr>
  <p:transition spd="med">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26</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2677656"/>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Carry Left (RCL):</a:t>
            </a:r>
          </a:p>
          <a:p>
            <a:pPr lvl="1"/>
            <a:r>
              <a:rPr lang="en-US" sz="2800" dirty="0">
                <a:latin typeface="Cambria" panose="02040503050406030204" pitchFamily="18" charset="0"/>
              </a:rPr>
              <a:t>The instruction RCL (Rotate through Carry Left) shifts the bits of the destination to the left. The MSB is shifted into the CF, and the previous value of CF is shifted into the rightmost bit. In other words, RCL works like just like ROL, except that CF is part of the circle of bits being rotated. The syntax is, </a:t>
            </a:r>
          </a:p>
        </p:txBody>
      </p:sp>
      <p:pic>
        <p:nvPicPr>
          <p:cNvPr id="8" name="Picture 7">
            <a:extLst>
              <a:ext uri="{FF2B5EF4-FFF2-40B4-BE49-F238E27FC236}">
                <a16:creationId xmlns:a16="http://schemas.microsoft.com/office/drawing/2014/main" id="{21D80DF8-902C-48EA-B24F-755B80E6C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1934" y="3429000"/>
            <a:ext cx="3476844" cy="1492499"/>
          </a:xfrm>
          <a:prstGeom prst="rect">
            <a:avLst/>
          </a:prstGeom>
          <a:ln w="28575">
            <a:solidFill>
              <a:srgbClr val="FF0000"/>
            </a:solidFill>
          </a:ln>
        </p:spPr>
      </p:pic>
    </p:spTree>
    <p:extLst>
      <p:ext uri="{BB962C8B-B14F-4D97-AF65-F5344CB8AC3E}">
        <p14:creationId xmlns:p14="http://schemas.microsoft.com/office/powerpoint/2010/main" val="483194674"/>
      </p:ext>
    </p:extLst>
  </p:cSld>
  <p:clrMapOvr>
    <a:masterClrMapping/>
  </p:clrMapOvr>
  <p:transition spd="med">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27</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52322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Carry Left (RCL):</a:t>
            </a:r>
          </a:p>
        </p:txBody>
      </p:sp>
      <p:pic>
        <p:nvPicPr>
          <p:cNvPr id="3" name="Picture 2">
            <a:extLst>
              <a:ext uri="{FF2B5EF4-FFF2-40B4-BE49-F238E27FC236}">
                <a16:creationId xmlns:a16="http://schemas.microsoft.com/office/drawing/2014/main" id="{DAB7CE21-7F8E-4C09-9710-F04B3EFFC7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276" y="1209491"/>
            <a:ext cx="9171364" cy="4410933"/>
          </a:xfrm>
          <a:prstGeom prst="rect">
            <a:avLst/>
          </a:prstGeom>
        </p:spPr>
      </p:pic>
    </p:spTree>
    <p:extLst>
      <p:ext uri="{BB962C8B-B14F-4D97-AF65-F5344CB8AC3E}">
        <p14:creationId xmlns:p14="http://schemas.microsoft.com/office/powerpoint/2010/main" val="112917942"/>
      </p:ext>
    </p:extLst>
  </p:cSld>
  <p:clrMapOvr>
    <a:masterClrMapping/>
  </p:clrMapOvr>
  <p:transition spd="med">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28</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1815882"/>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Carry Right (RCR):</a:t>
            </a:r>
          </a:p>
          <a:p>
            <a:pPr lvl="1"/>
            <a:r>
              <a:rPr lang="en-US" sz="2800" dirty="0">
                <a:latin typeface="Cambria" panose="02040503050406030204" pitchFamily="18" charset="0"/>
              </a:rPr>
              <a:t>The instruction RCR (Rotate through Carry Right) works just like RCL, except that the bits are rotated to the light. The syntax is, </a:t>
            </a:r>
          </a:p>
        </p:txBody>
      </p:sp>
      <p:pic>
        <p:nvPicPr>
          <p:cNvPr id="8" name="Picture 7">
            <a:extLst>
              <a:ext uri="{FF2B5EF4-FFF2-40B4-BE49-F238E27FC236}">
                <a16:creationId xmlns:a16="http://schemas.microsoft.com/office/drawing/2014/main" id="{5B5353D7-9045-4E99-92A4-8AAC7826C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0033" y="2440598"/>
            <a:ext cx="3199005" cy="1407562"/>
          </a:xfrm>
          <a:prstGeom prst="rect">
            <a:avLst/>
          </a:prstGeom>
          <a:ln w="28575">
            <a:solidFill>
              <a:srgbClr val="FF0000"/>
            </a:solidFill>
          </a:ln>
        </p:spPr>
      </p:pic>
    </p:spTree>
    <p:extLst>
      <p:ext uri="{BB962C8B-B14F-4D97-AF65-F5344CB8AC3E}">
        <p14:creationId xmlns:p14="http://schemas.microsoft.com/office/powerpoint/2010/main" val="3183097085"/>
      </p:ext>
    </p:extLst>
  </p:cSld>
  <p:clrMapOvr>
    <a:masterClrMapping/>
  </p:clrMapOvr>
  <p:transition spd="med">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29</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9" name="TextBox 8">
            <a:extLst>
              <a:ext uri="{FF2B5EF4-FFF2-40B4-BE49-F238E27FC236}">
                <a16:creationId xmlns:a16="http://schemas.microsoft.com/office/drawing/2014/main" id="{347D21CF-F00B-4F41-9354-4F7F78702905}"/>
              </a:ext>
            </a:extLst>
          </p:cNvPr>
          <p:cNvSpPr txBox="1"/>
          <p:nvPr/>
        </p:nvSpPr>
        <p:spPr>
          <a:xfrm>
            <a:off x="0" y="624716"/>
            <a:ext cx="9906000" cy="523220"/>
          </a:xfrm>
          <a:prstGeom prst="rect">
            <a:avLst/>
          </a:prstGeom>
          <a:noFill/>
        </p:spPr>
        <p:txBody>
          <a:bodyPr wrap="square" rtlCol="0">
            <a:spAutoFit/>
          </a:bodyPr>
          <a:lstStyle/>
          <a:p>
            <a:pPr lvl="1"/>
            <a:r>
              <a:rPr lang="en-US" sz="2800" b="1" i="1" dirty="0">
                <a:solidFill>
                  <a:srgbClr val="7030A0"/>
                </a:solidFill>
                <a:latin typeface="Cambria" panose="02040503050406030204" pitchFamily="18" charset="0"/>
              </a:rPr>
              <a:t>Rotate Carry Right (RCR):</a:t>
            </a:r>
          </a:p>
        </p:txBody>
      </p:sp>
      <p:pic>
        <p:nvPicPr>
          <p:cNvPr id="3" name="Picture 2">
            <a:extLst>
              <a:ext uri="{FF2B5EF4-FFF2-40B4-BE49-F238E27FC236}">
                <a16:creationId xmlns:a16="http://schemas.microsoft.com/office/drawing/2014/main" id="{E40DDD64-C1B9-4940-B19F-342BBBBD88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997" y="1229945"/>
            <a:ext cx="9166711" cy="4398109"/>
          </a:xfrm>
          <a:prstGeom prst="rect">
            <a:avLst/>
          </a:prstGeom>
        </p:spPr>
      </p:pic>
    </p:spTree>
    <p:extLst>
      <p:ext uri="{BB962C8B-B14F-4D97-AF65-F5344CB8AC3E}">
        <p14:creationId xmlns:p14="http://schemas.microsoft.com/office/powerpoint/2010/main" val="2196049738"/>
      </p:ext>
    </p:extLst>
  </p:cSld>
  <p:clrMapOvr>
    <a:masterClrMapping/>
  </p:clrMapOvr>
  <p:transition spd="med">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30</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pic>
        <p:nvPicPr>
          <p:cNvPr id="8" name="Picture 7">
            <a:extLst>
              <a:ext uri="{FF2B5EF4-FFF2-40B4-BE49-F238E27FC236}">
                <a16:creationId xmlns:a16="http://schemas.microsoft.com/office/drawing/2014/main" id="{8BFEEB8C-506E-48C5-8A3D-DA02067B5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8511" y="613610"/>
            <a:ext cx="7492786" cy="5742741"/>
          </a:xfrm>
          <a:prstGeom prst="rect">
            <a:avLst/>
          </a:prstGeom>
        </p:spPr>
      </p:pic>
    </p:spTree>
    <p:extLst>
      <p:ext uri="{BB962C8B-B14F-4D97-AF65-F5344CB8AC3E}">
        <p14:creationId xmlns:p14="http://schemas.microsoft.com/office/powerpoint/2010/main" val="3715848458"/>
      </p:ext>
    </p:extLst>
  </p:cSld>
  <p:clrMapOvr>
    <a:masterClrMapping/>
  </p:clrMapOvr>
  <p:transition spd="med">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31</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sp>
        <p:nvSpPr>
          <p:cNvPr id="10" name="TextBox 9">
            <a:extLst>
              <a:ext uri="{FF2B5EF4-FFF2-40B4-BE49-F238E27FC236}">
                <a16:creationId xmlns:a16="http://schemas.microsoft.com/office/drawing/2014/main" id="{FA1AA405-D100-47E8-882A-4B32BEDC668B}"/>
              </a:ext>
            </a:extLst>
          </p:cNvPr>
          <p:cNvSpPr txBox="1"/>
          <p:nvPr/>
        </p:nvSpPr>
        <p:spPr>
          <a:xfrm>
            <a:off x="0" y="948280"/>
            <a:ext cx="9906000" cy="1815882"/>
          </a:xfrm>
          <a:prstGeom prst="rect">
            <a:avLst/>
          </a:prstGeom>
          <a:noFill/>
        </p:spPr>
        <p:txBody>
          <a:bodyPr wrap="square" rtlCol="0">
            <a:spAutoFit/>
          </a:bodyPr>
          <a:lstStyle/>
          <a:p>
            <a:pPr marL="971550" lvl="1" indent="-514350">
              <a:buFont typeface="+mj-lt"/>
              <a:buAutoNum type="arabicPeriod"/>
            </a:pPr>
            <a:r>
              <a:rPr lang="en-US" sz="2800" b="1" dirty="0">
                <a:solidFill>
                  <a:srgbClr val="FF0000"/>
                </a:solidFill>
                <a:latin typeface="Cambria" panose="02040503050406030204" pitchFamily="18" charset="0"/>
              </a:rPr>
              <a:t>ROL</a:t>
            </a:r>
          </a:p>
          <a:p>
            <a:pPr marL="971550" lvl="1" indent="-514350">
              <a:buFont typeface="+mj-lt"/>
              <a:buAutoNum type="arabicPeriod"/>
            </a:pPr>
            <a:r>
              <a:rPr lang="en-US" sz="2800" b="1" dirty="0">
                <a:solidFill>
                  <a:srgbClr val="FF0000"/>
                </a:solidFill>
                <a:latin typeface="Cambria" panose="02040503050406030204" pitchFamily="18" charset="0"/>
              </a:rPr>
              <a:t>RCL</a:t>
            </a:r>
          </a:p>
          <a:p>
            <a:pPr marL="971550" lvl="1" indent="-514350">
              <a:buFont typeface="+mj-lt"/>
              <a:buAutoNum type="arabicPeriod"/>
            </a:pPr>
            <a:r>
              <a:rPr lang="en-US" sz="2800" b="1" dirty="0">
                <a:solidFill>
                  <a:srgbClr val="00B050"/>
                </a:solidFill>
                <a:latin typeface="Cambria" panose="02040503050406030204" pitchFamily="18" charset="0"/>
              </a:rPr>
              <a:t>ROR</a:t>
            </a:r>
          </a:p>
          <a:p>
            <a:pPr marL="971550" lvl="1" indent="-514350">
              <a:buFont typeface="+mj-lt"/>
              <a:buAutoNum type="arabicPeriod"/>
            </a:pPr>
            <a:r>
              <a:rPr lang="en-US" sz="2800" b="1" dirty="0">
                <a:solidFill>
                  <a:srgbClr val="00B050"/>
                </a:solidFill>
                <a:latin typeface="Cambria" panose="02040503050406030204" pitchFamily="18" charset="0"/>
              </a:rPr>
              <a:t>RCR</a:t>
            </a:r>
          </a:p>
        </p:txBody>
      </p:sp>
      <p:graphicFrame>
        <p:nvGraphicFramePr>
          <p:cNvPr id="14" name="Table 13">
            <a:extLst>
              <a:ext uri="{FF2B5EF4-FFF2-40B4-BE49-F238E27FC236}">
                <a16:creationId xmlns:a16="http://schemas.microsoft.com/office/drawing/2014/main" id="{A2279564-3469-4703-BCC5-55DFF945A62A}"/>
              </a:ext>
            </a:extLst>
          </p:cNvPr>
          <p:cNvGraphicFramePr>
            <a:graphicFrameLocks noGrp="1"/>
          </p:cNvGraphicFramePr>
          <p:nvPr>
            <p:extLst>
              <p:ext uri="{D42A27DB-BD31-4B8C-83A1-F6EECF244321}">
                <p14:modId xmlns:p14="http://schemas.microsoft.com/office/powerpoint/2010/main" val="3516968925"/>
              </p:ext>
            </p:extLst>
          </p:nvPr>
        </p:nvGraphicFramePr>
        <p:xfrm>
          <a:off x="1763544" y="3352804"/>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sp>
        <p:nvSpPr>
          <p:cNvPr id="15" name="TextBox 14">
            <a:extLst>
              <a:ext uri="{FF2B5EF4-FFF2-40B4-BE49-F238E27FC236}">
                <a16:creationId xmlns:a16="http://schemas.microsoft.com/office/drawing/2014/main" id="{A6E52A11-213F-429B-945E-CE150CAE9027}"/>
              </a:ext>
            </a:extLst>
          </p:cNvPr>
          <p:cNvSpPr txBox="1"/>
          <p:nvPr/>
        </p:nvSpPr>
        <p:spPr>
          <a:xfrm>
            <a:off x="0" y="3959527"/>
            <a:ext cx="9906000" cy="523220"/>
          </a:xfrm>
          <a:prstGeom prst="rect">
            <a:avLst/>
          </a:prstGeom>
          <a:noFill/>
        </p:spPr>
        <p:txBody>
          <a:bodyPr wrap="square" rtlCol="0">
            <a:spAutoFit/>
          </a:bodyPr>
          <a:lstStyle/>
          <a:p>
            <a:pPr lvl="1" algn="ctr"/>
            <a:r>
              <a:rPr lang="en-US" sz="2800" b="1" dirty="0">
                <a:latin typeface="Cambria" panose="02040503050406030204" pitchFamily="18" charset="0"/>
              </a:rPr>
              <a:t>Binary Value is 6</a:t>
            </a:r>
          </a:p>
        </p:txBody>
      </p:sp>
    </p:spTree>
    <p:extLst>
      <p:ext uri="{BB962C8B-B14F-4D97-AF65-F5344CB8AC3E}">
        <p14:creationId xmlns:p14="http://schemas.microsoft.com/office/powerpoint/2010/main" val="157922078"/>
      </p:ext>
    </p:extLst>
  </p:cSld>
  <p:clrMapOvr>
    <a:masterClrMapping/>
  </p:clrMapOvr>
  <p:transition spd="med">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32</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graphicFrame>
        <p:nvGraphicFramePr>
          <p:cNvPr id="9" name="Table 13">
            <a:extLst>
              <a:ext uri="{FF2B5EF4-FFF2-40B4-BE49-F238E27FC236}">
                <a16:creationId xmlns:a16="http://schemas.microsoft.com/office/drawing/2014/main" id="{C9BFDB77-53F4-44F7-A511-130AA45CAFF8}"/>
              </a:ext>
            </a:extLst>
          </p:cNvPr>
          <p:cNvGraphicFramePr>
            <a:graphicFrameLocks noGrp="1"/>
          </p:cNvGraphicFramePr>
          <p:nvPr>
            <p:extLst>
              <p:ext uri="{D42A27DB-BD31-4B8C-83A1-F6EECF244321}">
                <p14:modId xmlns:p14="http://schemas.microsoft.com/office/powerpoint/2010/main" val="3303669353"/>
              </p:ext>
            </p:extLst>
          </p:nvPr>
        </p:nvGraphicFramePr>
        <p:xfrm>
          <a:off x="2509838" y="1807702"/>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sp>
        <p:nvSpPr>
          <p:cNvPr id="11" name="TextBox 10">
            <a:extLst>
              <a:ext uri="{FF2B5EF4-FFF2-40B4-BE49-F238E27FC236}">
                <a16:creationId xmlns:a16="http://schemas.microsoft.com/office/drawing/2014/main" id="{DDE42102-6515-4F3A-8189-830A69FA8C44}"/>
              </a:ext>
            </a:extLst>
          </p:cNvPr>
          <p:cNvSpPr txBox="1"/>
          <p:nvPr/>
        </p:nvSpPr>
        <p:spPr>
          <a:xfrm>
            <a:off x="0" y="728960"/>
            <a:ext cx="9906000" cy="523220"/>
          </a:xfrm>
          <a:prstGeom prst="rect">
            <a:avLst/>
          </a:prstGeom>
          <a:noFill/>
        </p:spPr>
        <p:txBody>
          <a:bodyPr wrap="square" rtlCol="0">
            <a:spAutoFit/>
          </a:bodyPr>
          <a:lstStyle/>
          <a:p>
            <a:pPr lvl="1" algn="ctr"/>
            <a:r>
              <a:rPr lang="en-US" sz="2800" b="1" dirty="0">
                <a:solidFill>
                  <a:srgbClr val="7030A0"/>
                </a:solidFill>
                <a:latin typeface="Cambria" panose="02040503050406030204" pitchFamily="18" charset="0"/>
              </a:rPr>
              <a:t>ROL/RCL</a:t>
            </a:r>
          </a:p>
        </p:txBody>
      </p:sp>
      <p:graphicFrame>
        <p:nvGraphicFramePr>
          <p:cNvPr id="13" name="Table 13">
            <a:extLst>
              <a:ext uri="{FF2B5EF4-FFF2-40B4-BE49-F238E27FC236}">
                <a16:creationId xmlns:a16="http://schemas.microsoft.com/office/drawing/2014/main" id="{530F116D-6C55-458E-B9E3-6AB374E8E0D0}"/>
              </a:ext>
            </a:extLst>
          </p:cNvPr>
          <p:cNvGraphicFramePr>
            <a:graphicFrameLocks noGrp="1"/>
          </p:cNvGraphicFramePr>
          <p:nvPr>
            <p:extLst>
              <p:ext uri="{D42A27DB-BD31-4B8C-83A1-F6EECF244321}">
                <p14:modId xmlns:p14="http://schemas.microsoft.com/office/powerpoint/2010/main" val="3884896921"/>
              </p:ext>
            </p:extLst>
          </p:nvPr>
        </p:nvGraphicFramePr>
        <p:xfrm>
          <a:off x="1068439" y="1807702"/>
          <a:ext cx="8255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2217907775"/>
                    </a:ext>
                  </a:extLst>
                </a:gridCol>
              </a:tblGrid>
              <a:tr h="370840">
                <a:tc>
                  <a:txBody>
                    <a:bodyPr/>
                    <a:lstStyle/>
                    <a:p>
                      <a:pPr algn="ctr"/>
                      <a:endParaRPr lang="en-US" sz="2800" dirty="0">
                        <a:solidFill>
                          <a:srgbClr val="FF00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57473740"/>
                  </a:ext>
                </a:extLst>
              </a:tr>
            </a:tbl>
          </a:graphicData>
        </a:graphic>
      </p:graphicFrame>
      <p:sp>
        <p:nvSpPr>
          <p:cNvPr id="16" name="Arrow: Circular 15">
            <a:extLst>
              <a:ext uri="{FF2B5EF4-FFF2-40B4-BE49-F238E27FC236}">
                <a16:creationId xmlns:a16="http://schemas.microsoft.com/office/drawing/2014/main" id="{73127558-43CD-4794-A58F-24E74D3BED94}"/>
              </a:ext>
            </a:extLst>
          </p:cNvPr>
          <p:cNvSpPr/>
          <p:nvPr/>
        </p:nvSpPr>
        <p:spPr>
          <a:xfrm flipH="1">
            <a:off x="1603852" y="1353071"/>
            <a:ext cx="1149815" cy="897649"/>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36" name="Group 35">
            <a:extLst>
              <a:ext uri="{FF2B5EF4-FFF2-40B4-BE49-F238E27FC236}">
                <a16:creationId xmlns:a16="http://schemas.microsoft.com/office/drawing/2014/main" id="{91B4782C-2A24-431F-99C8-1C65336E7A89}"/>
              </a:ext>
            </a:extLst>
          </p:cNvPr>
          <p:cNvGrpSpPr/>
          <p:nvPr/>
        </p:nvGrpSpPr>
        <p:grpSpPr>
          <a:xfrm>
            <a:off x="1603852" y="1885084"/>
            <a:ext cx="7143014" cy="1170115"/>
            <a:chOff x="1012874" y="1835191"/>
            <a:chExt cx="7143014" cy="1170115"/>
          </a:xfrm>
        </p:grpSpPr>
        <p:sp>
          <p:nvSpPr>
            <p:cNvPr id="29" name="Arc 28">
              <a:extLst>
                <a:ext uri="{FF2B5EF4-FFF2-40B4-BE49-F238E27FC236}">
                  <a16:creationId xmlns:a16="http://schemas.microsoft.com/office/drawing/2014/main" id="{018C03A1-70A0-4B22-BE6A-59456056DFE1}"/>
                </a:ext>
              </a:extLst>
            </p:cNvPr>
            <p:cNvSpPr/>
            <p:nvPr/>
          </p:nvSpPr>
          <p:spPr>
            <a:xfrm rot="10800000">
              <a:off x="1012874" y="1835191"/>
              <a:ext cx="7143014" cy="897649"/>
            </a:xfrm>
            <a:prstGeom prst="arc">
              <a:avLst>
                <a:gd name="adj1" fmla="val 10838580"/>
                <a:gd name="adj2" fmla="val 13987"/>
              </a:avLst>
            </a:prstGeom>
            <a:ln w="3810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nvGrpSpPr>
            <p:cNvPr id="35" name="Group 34">
              <a:extLst>
                <a:ext uri="{FF2B5EF4-FFF2-40B4-BE49-F238E27FC236}">
                  <a16:creationId xmlns:a16="http://schemas.microsoft.com/office/drawing/2014/main" id="{899ED09F-B8F8-40CA-AA39-E7DEB38C89B7}"/>
                </a:ext>
              </a:extLst>
            </p:cNvPr>
            <p:cNvGrpSpPr/>
            <p:nvPr/>
          </p:nvGrpSpPr>
          <p:grpSpPr>
            <a:xfrm>
              <a:off x="4327670" y="2470735"/>
              <a:ext cx="263577" cy="534571"/>
              <a:chOff x="4327670" y="2470735"/>
              <a:chExt cx="263577" cy="534571"/>
            </a:xfrm>
          </p:grpSpPr>
          <p:cxnSp>
            <p:nvCxnSpPr>
              <p:cNvPr id="32" name="Straight Connector 31">
                <a:extLst>
                  <a:ext uri="{FF2B5EF4-FFF2-40B4-BE49-F238E27FC236}">
                    <a16:creationId xmlns:a16="http://schemas.microsoft.com/office/drawing/2014/main" id="{BEE09FE9-574E-4235-B950-94EC1A9E005A}"/>
                  </a:ext>
                </a:extLst>
              </p:cNvPr>
              <p:cNvCxnSpPr>
                <a:cxnSpLocks/>
              </p:cNvCxnSpPr>
              <p:nvPr/>
            </p:nvCxnSpPr>
            <p:spPr>
              <a:xfrm rot="5400000" flipV="1">
                <a:off x="4318782" y="2489982"/>
                <a:ext cx="281353" cy="242859"/>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DD0EC4A-BBD6-430D-B8ED-4A54B20F9AE5}"/>
                  </a:ext>
                </a:extLst>
              </p:cNvPr>
              <p:cNvCxnSpPr>
                <a:cxnSpLocks/>
              </p:cNvCxnSpPr>
              <p:nvPr/>
            </p:nvCxnSpPr>
            <p:spPr>
              <a:xfrm rot="5400000">
                <a:off x="4318782" y="2732841"/>
                <a:ext cx="281353" cy="26357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grpSp>
      <p:graphicFrame>
        <p:nvGraphicFramePr>
          <p:cNvPr id="37" name="Table 13">
            <a:extLst>
              <a:ext uri="{FF2B5EF4-FFF2-40B4-BE49-F238E27FC236}">
                <a16:creationId xmlns:a16="http://schemas.microsoft.com/office/drawing/2014/main" id="{D8DF12B7-D16C-4501-B246-D451185329B7}"/>
              </a:ext>
            </a:extLst>
          </p:cNvPr>
          <p:cNvGraphicFramePr>
            <a:graphicFrameLocks noGrp="1"/>
          </p:cNvGraphicFramePr>
          <p:nvPr>
            <p:extLst>
              <p:ext uri="{D42A27DB-BD31-4B8C-83A1-F6EECF244321}">
                <p14:modId xmlns:p14="http://schemas.microsoft.com/office/powerpoint/2010/main" val="1306854098"/>
              </p:ext>
            </p:extLst>
          </p:nvPr>
        </p:nvGraphicFramePr>
        <p:xfrm>
          <a:off x="2509838" y="3516654"/>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1</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1</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0000"/>
                          </a:solidFill>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graphicFrame>
        <p:nvGraphicFramePr>
          <p:cNvPr id="38" name="Table 13">
            <a:extLst>
              <a:ext uri="{FF2B5EF4-FFF2-40B4-BE49-F238E27FC236}">
                <a16:creationId xmlns:a16="http://schemas.microsoft.com/office/drawing/2014/main" id="{3CB25F05-1E92-4265-AE86-B4317C0B6953}"/>
              </a:ext>
            </a:extLst>
          </p:cNvPr>
          <p:cNvGraphicFramePr>
            <a:graphicFrameLocks noGrp="1"/>
          </p:cNvGraphicFramePr>
          <p:nvPr>
            <p:extLst>
              <p:ext uri="{D42A27DB-BD31-4B8C-83A1-F6EECF244321}">
                <p14:modId xmlns:p14="http://schemas.microsoft.com/office/powerpoint/2010/main" val="1110597222"/>
              </p:ext>
            </p:extLst>
          </p:nvPr>
        </p:nvGraphicFramePr>
        <p:xfrm>
          <a:off x="1068439" y="3516654"/>
          <a:ext cx="8255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221790777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0000"/>
                          </a:solidFill>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sp>
        <p:nvSpPr>
          <p:cNvPr id="40" name="TextBox 39">
            <a:extLst>
              <a:ext uri="{FF2B5EF4-FFF2-40B4-BE49-F238E27FC236}">
                <a16:creationId xmlns:a16="http://schemas.microsoft.com/office/drawing/2014/main" id="{2358BB71-03E0-45C4-B57C-73B877A9D2BC}"/>
              </a:ext>
            </a:extLst>
          </p:cNvPr>
          <p:cNvSpPr txBox="1"/>
          <p:nvPr/>
        </p:nvSpPr>
        <p:spPr>
          <a:xfrm>
            <a:off x="-34352" y="4270529"/>
            <a:ext cx="9906000" cy="523220"/>
          </a:xfrm>
          <a:prstGeom prst="rect">
            <a:avLst/>
          </a:prstGeom>
          <a:noFill/>
        </p:spPr>
        <p:txBody>
          <a:bodyPr wrap="square" rtlCol="0">
            <a:spAutoFit/>
          </a:bodyPr>
          <a:lstStyle/>
          <a:p>
            <a:pPr lvl="1" algn="ctr"/>
            <a:r>
              <a:rPr lang="en-US" sz="2800" b="1" dirty="0">
                <a:latin typeface="Cambria" panose="02040503050406030204" pitchFamily="18" charset="0"/>
              </a:rPr>
              <a:t>Binary Value is 12</a:t>
            </a:r>
          </a:p>
        </p:txBody>
      </p:sp>
    </p:spTree>
    <p:extLst>
      <p:ext uri="{BB962C8B-B14F-4D97-AF65-F5344CB8AC3E}">
        <p14:creationId xmlns:p14="http://schemas.microsoft.com/office/powerpoint/2010/main" val="4116488001"/>
      </p:ext>
    </p:extLst>
  </p:cSld>
  <p:clrMapOvr>
    <a:masterClrMapping/>
  </p:clrMapOvr>
  <p:transition spd="med">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33</a:t>
            </a:fld>
            <a:endParaRPr lang="en-US">
              <a:latin typeface="Cambria" panose="02040503050406030204" pitchFamily="18" charset="0"/>
            </a:endParaRPr>
          </a:p>
        </p:txBody>
      </p:sp>
      <p:sp>
        <p:nvSpPr>
          <p:cNvPr id="7" name="TextBox 1"/>
          <p:cNvSpPr txBox="1">
            <a:spLocks noChangeArrowheads="1"/>
          </p:cNvSpPr>
          <p:nvPr/>
        </p:nvSpPr>
        <p:spPr bwMode="auto">
          <a:xfrm>
            <a:off x="0" y="28836"/>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Rotate Instruction</a:t>
            </a:r>
          </a:p>
        </p:txBody>
      </p:sp>
      <p:graphicFrame>
        <p:nvGraphicFramePr>
          <p:cNvPr id="9" name="Table 13">
            <a:extLst>
              <a:ext uri="{FF2B5EF4-FFF2-40B4-BE49-F238E27FC236}">
                <a16:creationId xmlns:a16="http://schemas.microsoft.com/office/drawing/2014/main" id="{C9BFDB77-53F4-44F7-A511-130AA45CAFF8}"/>
              </a:ext>
            </a:extLst>
          </p:cNvPr>
          <p:cNvGraphicFramePr>
            <a:graphicFrameLocks noGrp="1"/>
          </p:cNvGraphicFramePr>
          <p:nvPr>
            <p:extLst>
              <p:ext uri="{D42A27DB-BD31-4B8C-83A1-F6EECF244321}">
                <p14:modId xmlns:p14="http://schemas.microsoft.com/office/powerpoint/2010/main" val="172839392"/>
              </p:ext>
            </p:extLst>
          </p:nvPr>
        </p:nvGraphicFramePr>
        <p:xfrm>
          <a:off x="681038" y="1749579"/>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0</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latin typeface="Cambria" panose="02040503050406030204" pitchFamily="18" charset="0"/>
                          <a:ea typeface="Cambria" panose="02040503050406030204" pitchFamily="18" charset="0"/>
                        </a:rPr>
                        <a:t>1</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sp>
        <p:nvSpPr>
          <p:cNvPr id="11" name="TextBox 10">
            <a:extLst>
              <a:ext uri="{FF2B5EF4-FFF2-40B4-BE49-F238E27FC236}">
                <a16:creationId xmlns:a16="http://schemas.microsoft.com/office/drawing/2014/main" id="{DDE42102-6515-4F3A-8189-830A69FA8C44}"/>
              </a:ext>
            </a:extLst>
          </p:cNvPr>
          <p:cNvSpPr txBox="1"/>
          <p:nvPr/>
        </p:nvSpPr>
        <p:spPr>
          <a:xfrm>
            <a:off x="0" y="728960"/>
            <a:ext cx="9906000" cy="523220"/>
          </a:xfrm>
          <a:prstGeom prst="rect">
            <a:avLst/>
          </a:prstGeom>
          <a:noFill/>
        </p:spPr>
        <p:txBody>
          <a:bodyPr wrap="square" rtlCol="0">
            <a:spAutoFit/>
          </a:bodyPr>
          <a:lstStyle/>
          <a:p>
            <a:pPr lvl="1" algn="ctr"/>
            <a:r>
              <a:rPr lang="en-US" sz="2800" b="1" dirty="0">
                <a:solidFill>
                  <a:srgbClr val="7030A0"/>
                </a:solidFill>
                <a:latin typeface="Cambria" panose="02040503050406030204" pitchFamily="18" charset="0"/>
              </a:rPr>
              <a:t>ROR/RCR</a:t>
            </a:r>
          </a:p>
        </p:txBody>
      </p:sp>
      <p:graphicFrame>
        <p:nvGraphicFramePr>
          <p:cNvPr id="13" name="Table 13">
            <a:extLst>
              <a:ext uri="{FF2B5EF4-FFF2-40B4-BE49-F238E27FC236}">
                <a16:creationId xmlns:a16="http://schemas.microsoft.com/office/drawing/2014/main" id="{530F116D-6C55-458E-B9E3-6AB374E8E0D0}"/>
              </a:ext>
            </a:extLst>
          </p:cNvPr>
          <p:cNvGraphicFramePr>
            <a:graphicFrameLocks noGrp="1"/>
          </p:cNvGraphicFramePr>
          <p:nvPr>
            <p:extLst>
              <p:ext uri="{D42A27DB-BD31-4B8C-83A1-F6EECF244321}">
                <p14:modId xmlns:p14="http://schemas.microsoft.com/office/powerpoint/2010/main" val="3688702142"/>
              </p:ext>
            </p:extLst>
          </p:nvPr>
        </p:nvGraphicFramePr>
        <p:xfrm>
          <a:off x="7708106" y="1764324"/>
          <a:ext cx="8255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2217907775"/>
                    </a:ext>
                  </a:extLst>
                </a:gridCol>
              </a:tblGrid>
              <a:tr h="370840">
                <a:tc>
                  <a:txBody>
                    <a:bodyPr/>
                    <a:lstStyle/>
                    <a:p>
                      <a:pPr algn="ctr"/>
                      <a:endParaRPr lang="en-US" sz="2800" dirty="0">
                        <a:solidFill>
                          <a:srgbClr val="FF00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57473740"/>
                  </a:ext>
                </a:extLst>
              </a:tr>
            </a:tbl>
          </a:graphicData>
        </a:graphic>
      </p:graphicFrame>
      <p:sp>
        <p:nvSpPr>
          <p:cNvPr id="16" name="Arrow: Circular 15">
            <a:extLst>
              <a:ext uri="{FF2B5EF4-FFF2-40B4-BE49-F238E27FC236}">
                <a16:creationId xmlns:a16="http://schemas.microsoft.com/office/drawing/2014/main" id="{73127558-43CD-4794-A58F-24E74D3BED94}"/>
              </a:ext>
            </a:extLst>
          </p:cNvPr>
          <p:cNvSpPr/>
          <p:nvPr/>
        </p:nvSpPr>
        <p:spPr>
          <a:xfrm>
            <a:off x="7006073" y="1280316"/>
            <a:ext cx="1149815" cy="897649"/>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36" name="Group 35">
            <a:extLst>
              <a:ext uri="{FF2B5EF4-FFF2-40B4-BE49-F238E27FC236}">
                <a16:creationId xmlns:a16="http://schemas.microsoft.com/office/drawing/2014/main" id="{91B4782C-2A24-431F-99C8-1C65336E7A89}"/>
              </a:ext>
            </a:extLst>
          </p:cNvPr>
          <p:cNvGrpSpPr/>
          <p:nvPr/>
        </p:nvGrpSpPr>
        <p:grpSpPr>
          <a:xfrm>
            <a:off x="1012874" y="1835191"/>
            <a:ext cx="7143014" cy="1161227"/>
            <a:chOff x="1012874" y="1835191"/>
            <a:chExt cx="7143014" cy="1161227"/>
          </a:xfrm>
        </p:grpSpPr>
        <p:sp>
          <p:nvSpPr>
            <p:cNvPr id="29" name="Arc 28">
              <a:extLst>
                <a:ext uri="{FF2B5EF4-FFF2-40B4-BE49-F238E27FC236}">
                  <a16:creationId xmlns:a16="http://schemas.microsoft.com/office/drawing/2014/main" id="{018C03A1-70A0-4B22-BE6A-59456056DFE1}"/>
                </a:ext>
              </a:extLst>
            </p:cNvPr>
            <p:cNvSpPr/>
            <p:nvPr/>
          </p:nvSpPr>
          <p:spPr>
            <a:xfrm rot="10800000">
              <a:off x="1012874" y="1835191"/>
              <a:ext cx="7143014" cy="897649"/>
            </a:xfrm>
            <a:prstGeom prst="arc">
              <a:avLst>
                <a:gd name="adj1" fmla="val 10838580"/>
                <a:gd name="adj2" fmla="val 13987"/>
              </a:avLst>
            </a:prstGeom>
            <a:ln w="3810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nvGrpSpPr>
            <p:cNvPr id="35" name="Group 34">
              <a:extLst>
                <a:ext uri="{FF2B5EF4-FFF2-40B4-BE49-F238E27FC236}">
                  <a16:creationId xmlns:a16="http://schemas.microsoft.com/office/drawing/2014/main" id="{899ED09F-B8F8-40CA-AA39-E7DEB38C89B7}"/>
                </a:ext>
              </a:extLst>
            </p:cNvPr>
            <p:cNvGrpSpPr/>
            <p:nvPr/>
          </p:nvGrpSpPr>
          <p:grpSpPr>
            <a:xfrm>
              <a:off x="4318782" y="2489982"/>
              <a:ext cx="281353" cy="506436"/>
              <a:chOff x="4318782" y="2489982"/>
              <a:chExt cx="281353" cy="506436"/>
            </a:xfrm>
          </p:grpSpPr>
          <p:cxnSp>
            <p:nvCxnSpPr>
              <p:cNvPr id="32" name="Straight Connector 31">
                <a:extLst>
                  <a:ext uri="{FF2B5EF4-FFF2-40B4-BE49-F238E27FC236}">
                    <a16:creationId xmlns:a16="http://schemas.microsoft.com/office/drawing/2014/main" id="{BEE09FE9-574E-4235-B950-94EC1A9E005A}"/>
                  </a:ext>
                </a:extLst>
              </p:cNvPr>
              <p:cNvCxnSpPr/>
              <p:nvPr/>
            </p:nvCxnSpPr>
            <p:spPr>
              <a:xfrm flipV="1">
                <a:off x="4318782" y="2489982"/>
                <a:ext cx="281353" cy="242859"/>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DD0EC4A-BBD6-430D-B8ED-4A54B20F9AE5}"/>
                  </a:ext>
                </a:extLst>
              </p:cNvPr>
              <p:cNvCxnSpPr/>
              <p:nvPr/>
            </p:nvCxnSpPr>
            <p:spPr>
              <a:xfrm>
                <a:off x="4318782" y="2732841"/>
                <a:ext cx="281353" cy="26357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grpSp>
      <p:graphicFrame>
        <p:nvGraphicFramePr>
          <p:cNvPr id="37" name="Table 13">
            <a:extLst>
              <a:ext uri="{FF2B5EF4-FFF2-40B4-BE49-F238E27FC236}">
                <a16:creationId xmlns:a16="http://schemas.microsoft.com/office/drawing/2014/main" id="{D8DF12B7-D16C-4501-B246-D451185329B7}"/>
              </a:ext>
            </a:extLst>
          </p:cNvPr>
          <p:cNvGraphicFramePr>
            <a:graphicFrameLocks noGrp="1"/>
          </p:cNvGraphicFramePr>
          <p:nvPr>
            <p:extLst>
              <p:ext uri="{D42A27DB-BD31-4B8C-83A1-F6EECF244321}">
                <p14:modId xmlns:p14="http://schemas.microsoft.com/office/powerpoint/2010/main" val="3937608989"/>
              </p:ext>
            </p:extLst>
          </p:nvPr>
        </p:nvGraphicFramePr>
        <p:xfrm>
          <a:off x="681038" y="3286106"/>
          <a:ext cx="66040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3471118110"/>
                    </a:ext>
                  </a:extLst>
                </a:gridCol>
                <a:gridCol w="825500">
                  <a:extLst>
                    <a:ext uri="{9D8B030D-6E8A-4147-A177-3AD203B41FA5}">
                      <a16:colId xmlns:a16="http://schemas.microsoft.com/office/drawing/2014/main" val="2939592274"/>
                    </a:ext>
                  </a:extLst>
                </a:gridCol>
                <a:gridCol w="825500">
                  <a:extLst>
                    <a:ext uri="{9D8B030D-6E8A-4147-A177-3AD203B41FA5}">
                      <a16:colId xmlns:a16="http://schemas.microsoft.com/office/drawing/2014/main" val="713137430"/>
                    </a:ext>
                  </a:extLst>
                </a:gridCol>
                <a:gridCol w="825500">
                  <a:extLst>
                    <a:ext uri="{9D8B030D-6E8A-4147-A177-3AD203B41FA5}">
                      <a16:colId xmlns:a16="http://schemas.microsoft.com/office/drawing/2014/main" val="2854776952"/>
                    </a:ext>
                  </a:extLst>
                </a:gridCol>
                <a:gridCol w="825500">
                  <a:extLst>
                    <a:ext uri="{9D8B030D-6E8A-4147-A177-3AD203B41FA5}">
                      <a16:colId xmlns:a16="http://schemas.microsoft.com/office/drawing/2014/main" val="1741907515"/>
                    </a:ext>
                  </a:extLst>
                </a:gridCol>
                <a:gridCol w="825500">
                  <a:extLst>
                    <a:ext uri="{9D8B030D-6E8A-4147-A177-3AD203B41FA5}">
                      <a16:colId xmlns:a16="http://schemas.microsoft.com/office/drawing/2014/main" val="665200896"/>
                    </a:ext>
                  </a:extLst>
                </a:gridCol>
                <a:gridCol w="825500">
                  <a:extLst>
                    <a:ext uri="{9D8B030D-6E8A-4147-A177-3AD203B41FA5}">
                      <a16:colId xmlns:a16="http://schemas.microsoft.com/office/drawing/2014/main" val="3169819262"/>
                    </a:ext>
                  </a:extLst>
                </a:gridCol>
                <a:gridCol w="825500">
                  <a:extLst>
                    <a:ext uri="{9D8B030D-6E8A-4147-A177-3AD203B41FA5}">
                      <a16:colId xmlns:a16="http://schemas.microsoft.com/office/drawing/2014/main" val="2217907775"/>
                    </a:ext>
                  </a:extLst>
                </a:gridCol>
              </a:tblGrid>
              <a:tr h="370840">
                <a:tc>
                  <a:txBody>
                    <a:bodyPr/>
                    <a:lstStyle/>
                    <a:p>
                      <a:pPr algn="ctr"/>
                      <a:r>
                        <a:rPr lang="en-US" sz="2800" dirty="0">
                          <a:solidFill>
                            <a:srgbClr val="FF0000"/>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1</a:t>
                      </a:r>
                    </a:p>
                  </a:txBody>
                  <a:tcPr/>
                </a:tc>
                <a:tc>
                  <a:txBody>
                    <a:bodyPr/>
                    <a:lstStyle/>
                    <a:p>
                      <a:pPr algn="ctr"/>
                      <a:r>
                        <a:rPr lang="en-US" sz="2800" dirty="0">
                          <a:solidFill>
                            <a:schemeClr val="tx1"/>
                          </a:solidFill>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757473740"/>
                  </a:ext>
                </a:extLst>
              </a:tr>
            </a:tbl>
          </a:graphicData>
        </a:graphic>
      </p:graphicFrame>
      <p:graphicFrame>
        <p:nvGraphicFramePr>
          <p:cNvPr id="38" name="Table 13">
            <a:extLst>
              <a:ext uri="{FF2B5EF4-FFF2-40B4-BE49-F238E27FC236}">
                <a16:creationId xmlns:a16="http://schemas.microsoft.com/office/drawing/2014/main" id="{3CB25F05-1E92-4265-AE86-B4317C0B6953}"/>
              </a:ext>
            </a:extLst>
          </p:cNvPr>
          <p:cNvGraphicFramePr>
            <a:graphicFrameLocks noGrp="1"/>
          </p:cNvGraphicFramePr>
          <p:nvPr>
            <p:extLst>
              <p:ext uri="{D42A27DB-BD31-4B8C-83A1-F6EECF244321}">
                <p14:modId xmlns:p14="http://schemas.microsoft.com/office/powerpoint/2010/main" val="3942678433"/>
              </p:ext>
            </p:extLst>
          </p:nvPr>
        </p:nvGraphicFramePr>
        <p:xfrm>
          <a:off x="7713012" y="3248978"/>
          <a:ext cx="825500" cy="518160"/>
        </p:xfrm>
        <a:graphic>
          <a:graphicData uri="http://schemas.openxmlformats.org/drawingml/2006/table">
            <a:tbl>
              <a:tblPr firstRow="1" bandRow="1">
                <a:tableStyleId>{5940675A-B579-460E-94D1-54222C63F5DA}</a:tableStyleId>
              </a:tblPr>
              <a:tblGrid>
                <a:gridCol w="825500">
                  <a:extLst>
                    <a:ext uri="{9D8B030D-6E8A-4147-A177-3AD203B41FA5}">
                      <a16:colId xmlns:a16="http://schemas.microsoft.com/office/drawing/2014/main" val="221790777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0000"/>
                          </a:solidFill>
                          <a:latin typeface="Cambria" panose="02040503050406030204" pitchFamily="18" charset="0"/>
                          <a:ea typeface="Cambria" panose="02040503050406030204" pitchFamily="18" charset="0"/>
                        </a:rPr>
                        <a:t>0</a:t>
                      </a:r>
                    </a:p>
                  </a:txBody>
                  <a:tcPr/>
                </a:tc>
                <a:extLst>
                  <a:ext uri="{0D108BD9-81ED-4DB2-BD59-A6C34878D82A}">
                    <a16:rowId xmlns:a16="http://schemas.microsoft.com/office/drawing/2014/main" val="3757473740"/>
                  </a:ext>
                </a:extLst>
              </a:tr>
            </a:tbl>
          </a:graphicData>
        </a:graphic>
      </p:graphicFrame>
      <p:sp>
        <p:nvSpPr>
          <p:cNvPr id="40" name="TextBox 39">
            <a:extLst>
              <a:ext uri="{FF2B5EF4-FFF2-40B4-BE49-F238E27FC236}">
                <a16:creationId xmlns:a16="http://schemas.microsoft.com/office/drawing/2014/main" id="{2358BB71-03E0-45C4-B57C-73B877A9D2BC}"/>
              </a:ext>
            </a:extLst>
          </p:cNvPr>
          <p:cNvSpPr txBox="1"/>
          <p:nvPr/>
        </p:nvSpPr>
        <p:spPr>
          <a:xfrm>
            <a:off x="-1245" y="4118380"/>
            <a:ext cx="9906000" cy="523220"/>
          </a:xfrm>
          <a:prstGeom prst="rect">
            <a:avLst/>
          </a:prstGeom>
          <a:noFill/>
        </p:spPr>
        <p:txBody>
          <a:bodyPr wrap="square" rtlCol="0">
            <a:spAutoFit/>
          </a:bodyPr>
          <a:lstStyle/>
          <a:p>
            <a:pPr lvl="1" algn="ctr"/>
            <a:r>
              <a:rPr lang="en-US" sz="2800" b="1" dirty="0">
                <a:latin typeface="Cambria" panose="02040503050406030204" pitchFamily="18" charset="0"/>
              </a:rPr>
              <a:t>Binary Value is 3</a:t>
            </a:r>
          </a:p>
        </p:txBody>
      </p:sp>
    </p:spTree>
    <p:extLst>
      <p:ext uri="{BB962C8B-B14F-4D97-AF65-F5344CB8AC3E}">
        <p14:creationId xmlns:p14="http://schemas.microsoft.com/office/powerpoint/2010/main" val="1573529880"/>
      </p:ext>
    </p:extLst>
  </p:cSld>
  <p:clrMapOvr>
    <a:masterClrMapping/>
  </p:clrMapOvr>
  <p:transition spd="med">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11/1/2025</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34</a:t>
            </a:fld>
            <a:endParaRPr lang="en-US">
              <a:latin typeface="Cambria" panose="02040503050406030204" pitchFamily="18" charset="0"/>
            </a:endParaRPr>
          </a:p>
        </p:txBody>
      </p:sp>
      <p:sp>
        <p:nvSpPr>
          <p:cNvPr id="7" name="TextBox 1"/>
          <p:cNvSpPr txBox="1">
            <a:spLocks noChangeArrowheads="1"/>
          </p:cNvSpPr>
          <p:nvPr/>
        </p:nvSpPr>
        <p:spPr bwMode="auto">
          <a:xfrm>
            <a:off x="0" y="127312"/>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Application of Shift and Rotate Instruction</a:t>
            </a:r>
          </a:p>
        </p:txBody>
      </p:sp>
      <p:sp>
        <p:nvSpPr>
          <p:cNvPr id="8" name="TextBox 7"/>
          <p:cNvSpPr txBox="1"/>
          <p:nvPr/>
        </p:nvSpPr>
        <p:spPr>
          <a:xfrm>
            <a:off x="0" y="835736"/>
            <a:ext cx="9906000" cy="1384995"/>
          </a:xfrm>
          <a:prstGeom prst="rect">
            <a:avLst/>
          </a:prstGeom>
          <a:noFill/>
        </p:spPr>
        <p:txBody>
          <a:bodyPr wrap="square" rtlCol="0">
            <a:spAutoFit/>
          </a:bodyPr>
          <a:lstStyle/>
          <a:p>
            <a:pPr marL="914400" lvl="1" indent="-457200">
              <a:buFont typeface="Wingdings" panose="05000000000000000000" pitchFamily="2" charset="2"/>
              <a:buChar char="Ø"/>
            </a:pPr>
            <a:r>
              <a:rPr lang="en-US" sz="2800" dirty="0">
                <a:latin typeface="Cambria" panose="02040503050406030204" pitchFamily="18" charset="0"/>
              </a:rPr>
              <a:t>Reversing Bit Pattern. </a:t>
            </a:r>
          </a:p>
          <a:p>
            <a:pPr lvl="1"/>
            <a:endParaRPr lang="en-US" sz="2800" dirty="0">
              <a:latin typeface="Cambria" panose="02040503050406030204" pitchFamily="18" charset="0"/>
            </a:endParaRPr>
          </a:p>
          <a:p>
            <a:pPr lvl="1"/>
            <a:r>
              <a:rPr lang="en-US" sz="2800" b="1" dirty="0">
                <a:latin typeface="Cambria" panose="02040503050406030204" pitchFamily="18" charset="0"/>
              </a:rPr>
              <a:t>The code is, </a:t>
            </a:r>
          </a:p>
        </p:txBody>
      </p:sp>
      <p:pic>
        <p:nvPicPr>
          <p:cNvPr id="3" name="Picture 2">
            <a:extLst>
              <a:ext uri="{FF2B5EF4-FFF2-40B4-BE49-F238E27FC236}">
                <a16:creationId xmlns:a16="http://schemas.microsoft.com/office/drawing/2014/main" id="{08C530C2-220E-4547-894C-046ED4CE4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872" y="2228601"/>
            <a:ext cx="9072363" cy="2092421"/>
          </a:xfrm>
          <a:prstGeom prst="rect">
            <a:avLst/>
          </a:prstGeom>
          <a:ln w="28575">
            <a:solidFill>
              <a:srgbClr val="FF0000"/>
            </a:solidFill>
          </a:ln>
        </p:spPr>
      </p:pic>
    </p:spTree>
    <p:extLst>
      <p:ext uri="{BB962C8B-B14F-4D97-AF65-F5344CB8AC3E}">
        <p14:creationId xmlns:p14="http://schemas.microsoft.com/office/powerpoint/2010/main" val="556726519"/>
      </p:ext>
    </p:extLst>
  </p:cSld>
  <p:clrMapOvr>
    <a:masterClrMapping/>
  </p:clrMapOvr>
  <p:transition spd="med">
    <p:push dir="u"/>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2799</TotalTime>
  <Words>1493</Words>
  <Application>Microsoft Office PowerPoint</Application>
  <PresentationFormat>A4 Paper (210x297 mm)</PresentationFormat>
  <Paragraphs>339</Paragraphs>
  <Slides>34</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Adnan Sami</dc:creator>
  <cp:lastModifiedBy>Md. Adnan Sami</cp:lastModifiedBy>
  <cp:revision>330</cp:revision>
  <dcterms:created xsi:type="dcterms:W3CDTF">2025-01-23T20:11:31Z</dcterms:created>
  <dcterms:modified xsi:type="dcterms:W3CDTF">2025-11-01T05:53:32Z</dcterms:modified>
</cp:coreProperties>
</file>