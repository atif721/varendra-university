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906000" cy="6858000"/>
  <p:notesSz cx="9144000" cy="6858000"/>
  <p:defaultTextStyle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xmlns:p="http://schemas.openxmlformats.org/presentationml/2006/main"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>
  <a:tblStyle xmlns:a="http://schemas.openxmlformats.org/drawingml/2006/main"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theme" Target="theme/theme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E3DD2-5BE5-4E56-888D-AC6F50C3A4D7}" type="datetime1">
              <a:rPr lang="en-US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 lang="en-US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65583" y="1437589"/>
            <a:ext cx="2372628" cy="3688594"/>
          </a:xfrm>
          <a:prstGeom prst="rect">
            <a:avLst/>
          </a:prstGeom>
          <a:blipFill rotWithShape="1">
            <a:blip r:embed="rId2">
              <a:alphaModFix amt="18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extLst>
    <p:ext xmlns:a="http://schemas.openxmlformats.org/drawingml/2006/main" xmlns:p="http://schemas.openxmlformats.org/presentationml/2006/main"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B01DB-0D21-475B-8197-D3410270B732}" type="datetime1">
              <a:rPr lang="en-US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9718-1F78-40BC-80C5-C1D3A0E53801}" type="datetime1">
              <a:rPr lang="en-US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65BE-480D-4FD1-8C47-43437B281E2C}" type="datetime1">
              <a:rPr lang="en-US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71AB-5253-48C2-89C4-163D11FCE04B}" type="datetime1">
              <a:rPr lang="en-US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F3D54-67B8-4167-838A-9D8CBE9E2A86}" type="datetime1">
              <a:rPr lang="en-US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4455B-D634-4C98-878A-E2390D088025}" type="datetime1">
              <a:rPr lang="en-US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61AD-5E0C-429D-80F6-DE8A47C989F0}" type="datetime1">
              <a:rPr lang="en-US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B055F-8F2C-479E-86D4-2274B341A43F}" type="datetime1">
              <a:rPr lang="en-US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2DA6-90EC-4FE4-8FA6-1CCE73ED5EDB}" type="datetime1">
              <a:rPr lang="en-US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131DF-8C5F-4F83-8ABC-B20B8645183C}" type="datetime1">
              <a:rPr lang="en-US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0D72E-45ED-44CE-81D3-22CFD13C896B}" type="datetime1">
              <a:rPr lang="en-US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20624" t="3592" r="20538" b="5226"/>
          <a:stretch>
            <a:fillRect/>
          </a:stretch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Cambria"/>
                <a:ea typeface="Cambria"/>
              </a:rPr>
              <a:t>Varendra</a:t>
            </a:r>
            <a:r>
              <a:rPr lang="en-US" sz="3000" b="1">
                <a:latin typeface="Cambria"/>
                <a:ea typeface="Cambria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>
                <a:solidFill>
                  <a:srgbClr val="D5633D"/>
                </a:solidFill>
                <a:latin typeface="Cambria"/>
                <a:ea typeface="Cambria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accent1">
                    <a:lumMod val="75000"/>
                  </a:schemeClr>
                </a:solidFill>
                <a:latin typeface="Cambria"/>
                <a:ea typeface="Cambria"/>
              </a:rPr>
              <a:t>Addressing Mode and Mathematical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>
                <a:solidFill>
                  <a:srgbClr val="7030A0"/>
                </a:solidFill>
                <a:latin typeface="Cambria"/>
                <a:ea typeface="Cambria"/>
              </a:rPr>
              <a:t>Course Title: </a:t>
            </a:r>
            <a:r>
              <a:rPr lang="en-US" sz="2200" b="1">
                <a:solidFill>
                  <a:srgbClr val="7030A0"/>
                </a:solidFill>
                <a:latin typeface="Cambria"/>
                <a:ea typeface="Cambria"/>
              </a:rPr>
              <a:t>Microprocessor and Assembly Language</a:t>
            </a:r>
          </a:p>
          <a:p>
            <a:pPr algn="ctr"/>
            <a:r>
              <a:rPr lang="en-US" sz="2200">
                <a:solidFill>
                  <a:srgbClr val="7030A0"/>
                </a:solidFill>
                <a:latin typeface="Cambria"/>
                <a:ea typeface="Cambria"/>
              </a:rPr>
              <a:t>Course No: </a:t>
            </a:r>
            <a:r>
              <a:rPr lang="en-US" sz="2200" b="1">
                <a:solidFill>
                  <a:srgbClr val="7030A0"/>
                </a:solidFill>
                <a:latin typeface="Cambria"/>
                <a:ea typeface="Cambria"/>
              </a:rPr>
              <a:t>CSE 3205</a:t>
            </a:r>
            <a:endParaRPr lang="en-US" sz="2200" b="1">
              <a:solidFill>
                <a:srgbClr val="7030A0"/>
              </a:solidFill>
              <a:latin typeface="Cambria"/>
              <a:ea typeface="Cambri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</a:rPr>
              <a:t>Prepared By:</a:t>
            </a:r>
          </a:p>
          <a:p>
            <a:pPr algn="ctr"/>
            <a:r>
              <a:rPr lang="en-US" sz="2200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</a:rPr>
              <a:t>Md. Adnan Sami</a:t>
            </a:r>
          </a:p>
          <a:p>
            <a:pPr algn="ctr"/>
            <a:r>
              <a:rPr lang="en-US" sz="2200">
                <a:solidFill>
                  <a:schemeClr val="tx2">
                    <a:lumMod val="75000"/>
                  </a:schemeClr>
                </a:solidFill>
                <a:latin typeface="Cambria"/>
                <a:ea typeface="Cambria"/>
              </a:rPr>
              <a:t>Lecturer, Dept. of CSE, VU</a:t>
            </a:r>
            <a:endParaRPr lang="en-US" sz="220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C0DB-F44F-4B87-8822-2F6FA6F3349A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6782-2A85-475A-865E-BAD95958CDD5}" type="slidenum">
              <a:rPr lang="en-US">
                <a:latin typeface="Cambria"/>
              </a:rPr>
              <a:t>2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 eaLnBrk="1" hangingPunct="1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Outline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042219"/>
            <a:ext cx="9906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800">
                <a:latin typeface="Cambria"/>
              </a:rPr>
              <a:t>Addressing Mode.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>
                <a:latin typeface="Cambria"/>
              </a:rPr>
              <a:t>Memory Segmentation.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>
                <a:latin typeface="Cambria"/>
              </a:rPr>
              <a:t>Segment and Offset.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>
                <a:latin typeface="Cambria"/>
              </a:rPr>
              <a:t>Physical Address and Logical Address Calculation.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>
                <a:latin typeface="Cambria"/>
              </a:rPr>
              <a:t>Address Line and Data Line Calculation.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E7AA9-7F8B-40B8-8B16-55404984F3A9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19E0-3C5E-43C7-87F2-6F36B66D5D50}" type="slidenum">
              <a:rPr lang="en-US">
                <a:latin typeface="Cambria"/>
              </a:rPr>
              <a:t>3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4768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Addressing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4716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>
                <a:latin typeface="Cambria"/>
              </a:rPr>
              <a:t>The manner in which operand is given an instruction is called addressing mode.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 b="1">
                <a:latin typeface="Cambria"/>
              </a:rPr>
              <a:t>Example: </a:t>
            </a:r>
          </a:p>
          <a:p>
            <a:pPr lvl="1"/>
            <a:r>
              <a:rPr lang="en-US" sz="2800">
                <a:solidFill>
                  <a:srgbClr val="FF0000"/>
                </a:solidFill>
                <a:latin typeface="Cambria"/>
              </a:rPr>
              <a:t>MOV</a:t>
            </a:r>
            <a:r>
              <a:rPr lang="en-US" sz="2800">
                <a:latin typeface="Cambria"/>
              </a:rPr>
              <a:t> </a:t>
            </a:r>
            <a:r>
              <a:rPr lang="en-US" sz="2800">
                <a:solidFill>
                  <a:srgbClr val="7030A0"/>
                </a:solidFill>
                <a:latin typeface="Cambria"/>
              </a:rPr>
              <a:t>AX, BX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endParaRPr lang="en-US" sz="2800">
              <a:solidFill>
                <a:srgbClr val="FF0000"/>
              </a:solidFill>
              <a:latin typeface="Cambria"/>
            </a:endParaRPr>
          </a:p>
          <a:p>
            <a:pPr lvl="1"/>
            <a:r>
              <a:rPr lang="en-US" sz="2800">
                <a:solidFill>
                  <a:srgbClr val="FF0000"/>
                </a:solidFill>
                <a:latin typeface="Cambria"/>
              </a:rPr>
              <a:t>Opcode</a:t>
            </a:r>
            <a:r>
              <a:rPr lang="en-US" sz="2800">
                <a:latin typeface="Cambria"/>
              </a:rPr>
              <a:t> 		</a:t>
            </a:r>
            <a:r>
              <a:rPr lang="en-US" sz="2800">
                <a:solidFill>
                  <a:srgbClr val="7030A0"/>
                </a:solidFill>
                <a:latin typeface="Cambria"/>
              </a:rPr>
              <a:t>Operand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>
                <a:latin typeface="Cambria"/>
              </a:rPr>
              <a:t>MOV</a:t>
            </a:r>
          </a:p>
          <a:p>
            <a:pPr lvl="1"/>
            <a:r>
              <a:rPr lang="en-US" sz="2800">
                <a:latin typeface="Cambria"/>
              </a:rPr>
              <a:t>ADD 			Opcode (Operation) </a:t>
            </a:r>
          </a:p>
          <a:p>
            <a:pPr lvl="1"/>
            <a:r>
              <a:rPr lang="en-US" sz="2800">
                <a:latin typeface="Cambria"/>
              </a:rPr>
              <a:t>SUB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984738" y="2855741"/>
            <a:ext cx="0" cy="8581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885071" y="2855741"/>
            <a:ext cx="858129" cy="8581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1392703" y="4712678"/>
            <a:ext cx="844062" cy="900331"/>
            <a:chOff x="1322363" y="4684542"/>
            <a:chExt cx="844062" cy="900331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1420837" y="4684542"/>
              <a:ext cx="717452" cy="4501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1322363" y="5134707"/>
              <a:ext cx="844062" cy="4501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47D9-4310-4815-83C0-15E80BDEC3D4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DB54B-4FC6-4944-8106-E43DA6D7893B}" type="slidenum">
              <a:rPr lang="en-US">
                <a:latin typeface="Cambria"/>
              </a:rPr>
              <a:t>4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4768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Addressing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4716"/>
            <a:ext cx="9906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>
                <a:latin typeface="Cambria"/>
              </a:rPr>
              <a:t>The manner in which operand is given an instruction is called addressing mode.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>
                <a:latin typeface="Cambria"/>
              </a:rPr>
              <a:t>i</a:t>
            </a:r>
            <a:r>
              <a:rPr lang="en-US" sz="2800">
                <a:latin typeface="Cambria"/>
              </a:rPr>
              <a:t>) </a:t>
            </a:r>
            <a:r>
              <a:rPr lang="en-US" sz="2800" b="1" u="sng">
                <a:latin typeface="Cambria"/>
              </a:rPr>
              <a:t>Immediate mode: </a:t>
            </a:r>
            <a:r>
              <a:rPr lang="en-US" sz="2800">
                <a:latin typeface="Cambria"/>
              </a:rPr>
              <a:t>Data is given in instruction. </a:t>
            </a:r>
          </a:p>
          <a:p>
            <a:pPr lvl="1" algn="ctr"/>
            <a:r>
              <a:rPr lang="en-US" sz="2800">
                <a:latin typeface="Cambria"/>
              </a:rPr>
              <a:t>MOV AL, 25H</a:t>
            </a:r>
          </a:p>
          <a:p>
            <a:pPr lvl="1" algn="ctr"/>
            <a:r>
              <a:rPr lang="en-US" sz="2800">
                <a:latin typeface="Cambria"/>
              </a:rPr>
              <a:t>MOV BX, 2000H</a:t>
            </a:r>
          </a:p>
          <a:p>
            <a:pPr lvl="1"/>
            <a:r>
              <a:rPr lang="en-US" sz="2800">
                <a:latin typeface="Cambria"/>
              </a:rPr>
              <a:t>ii) </a:t>
            </a:r>
            <a:r>
              <a:rPr lang="en-US" sz="2800" b="1" u="sng">
                <a:latin typeface="Cambria"/>
              </a:rPr>
              <a:t>Register mode: </a:t>
            </a:r>
            <a:r>
              <a:rPr lang="en-US" sz="2800">
                <a:latin typeface="Cambria"/>
              </a:rPr>
              <a:t>Data is given in register. </a:t>
            </a:r>
          </a:p>
          <a:p>
            <a:pPr lvl="1" algn="ctr"/>
            <a:r>
              <a:rPr lang="en-US" sz="2800">
                <a:latin typeface="Cambria"/>
              </a:rPr>
              <a:t>MOV AL, BL</a:t>
            </a:r>
          </a:p>
          <a:p>
            <a:pPr lvl="1" algn="ctr"/>
            <a:r>
              <a:rPr lang="en-US" sz="2800">
                <a:latin typeface="Cambria"/>
              </a:rPr>
              <a:t>MOV AX, BX</a:t>
            </a:r>
          </a:p>
          <a:p>
            <a:pPr lvl="1"/>
            <a:r>
              <a:rPr lang="en-US" sz="2800">
                <a:latin typeface="Cambria"/>
              </a:rPr>
              <a:t>iii) </a:t>
            </a:r>
            <a:r>
              <a:rPr lang="en-US" sz="2800" b="1" u="sng">
                <a:latin typeface="Cambria"/>
              </a:rPr>
              <a:t>Direct mode: </a:t>
            </a:r>
            <a:r>
              <a:rPr lang="en-US" sz="2800">
                <a:latin typeface="Cambria"/>
              </a:rPr>
              <a:t>Address is given in instruction. </a:t>
            </a:r>
          </a:p>
          <a:p>
            <a:pPr lvl="1" algn="ctr"/>
            <a:r>
              <a:rPr lang="en-US" sz="2800">
                <a:latin typeface="Cambria"/>
              </a:rPr>
              <a:t>MOV AX, [2000H]</a:t>
            </a:r>
          </a:p>
          <a:p>
            <a:pPr lvl="1"/>
            <a:r>
              <a:rPr lang="en-US" sz="2800">
                <a:latin typeface="Cambria"/>
              </a:rPr>
              <a:t>iv) </a:t>
            </a:r>
            <a:r>
              <a:rPr lang="en-US" sz="2800" b="1" u="sng">
                <a:latin typeface="Cambria"/>
              </a:rPr>
              <a:t>Indirect mode: </a:t>
            </a:r>
            <a:r>
              <a:rPr lang="en-US" sz="2800">
                <a:latin typeface="Cambria"/>
              </a:rPr>
              <a:t>Address is given in register. </a:t>
            </a:r>
          </a:p>
          <a:p>
            <a:pPr lvl="1" algn="ctr"/>
            <a:r>
              <a:rPr lang="en-US" sz="2800">
                <a:latin typeface="Cambria"/>
              </a:rPr>
              <a:t>MOV AL, [BX]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EF42-F831-4B76-8BB5-4A5B0C0A4DF3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74AA8-8310-4FC9-8E61-808E79049FCE}" type="slidenum">
              <a:rPr lang="en-US">
                <a:latin typeface="Cambria"/>
              </a:rPr>
              <a:t>5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4768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Addressing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4716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Indirect mode: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 b="1" u="sng">
                <a:latin typeface="Cambria"/>
              </a:rPr>
              <a:t>Register mode: </a:t>
            </a:r>
          </a:p>
          <a:p>
            <a:pPr lvl="1"/>
            <a:r>
              <a:rPr lang="en-US" sz="2800">
                <a:latin typeface="Cambria"/>
              </a:rPr>
              <a:t>Physical address = Segment address + Effective address</a:t>
            </a:r>
          </a:p>
          <a:p>
            <a:pPr lvl="1" algn="ctr"/>
            <a:r>
              <a:rPr lang="en-US" sz="2800">
                <a:latin typeface="Cambria"/>
              </a:rPr>
              <a:t>MOV AL, [BX]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 b="1" u="sng">
                <a:latin typeface="Cambria"/>
              </a:rPr>
              <a:t>Base indexed: </a:t>
            </a:r>
          </a:p>
          <a:p>
            <a:pPr lvl="1"/>
            <a:r>
              <a:rPr lang="en-US" sz="2800">
                <a:latin typeface="Cambria"/>
              </a:rPr>
              <a:t>Effective address = Base register + Index register</a:t>
            </a:r>
          </a:p>
          <a:p>
            <a:pPr lvl="1"/>
            <a:r>
              <a:rPr lang="en-US" sz="2800" i="1">
                <a:solidFill>
                  <a:srgbClr val="002060"/>
                </a:solidFill>
                <a:latin typeface="Cambria"/>
              </a:rPr>
              <a:t>Base register = BX, BP</a:t>
            </a:r>
          </a:p>
          <a:p>
            <a:pPr lvl="1"/>
            <a:r>
              <a:rPr lang="en-US" sz="2800" i="1">
                <a:solidFill>
                  <a:srgbClr val="002060"/>
                </a:solidFill>
                <a:latin typeface="Cambria"/>
              </a:rPr>
              <a:t>Index register = SI, DI</a:t>
            </a:r>
          </a:p>
          <a:p>
            <a:pPr lvl="1" algn="ctr"/>
            <a:r>
              <a:rPr lang="en-US" sz="2800">
                <a:latin typeface="Cambria"/>
              </a:rPr>
              <a:t>MOV AX, [BX+SI]</a:t>
            </a:r>
          </a:p>
          <a:p>
            <a:pPr lvl="1" algn="ctr"/>
            <a:r>
              <a:rPr lang="en-US" sz="2800">
                <a:latin typeface="Cambria"/>
              </a:rPr>
              <a:t>MOV AL, [BP+SI]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A27C6-9660-40FB-8B3B-EA54C4EDBBCE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5AD5D-00E4-4746-836B-F0EA3C4886F1}" type="slidenum">
              <a:rPr lang="en-US">
                <a:latin typeface="Cambria"/>
              </a:rPr>
              <a:t>6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4768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Addressing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4716"/>
            <a:ext cx="990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Indirect mode: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 b="1" u="sng">
                <a:latin typeface="Cambria"/>
              </a:rPr>
              <a:t>Indexed mode: </a:t>
            </a:r>
          </a:p>
          <a:p>
            <a:pPr lvl="1"/>
            <a:r>
              <a:rPr lang="en-US" sz="2800">
                <a:latin typeface="Cambria"/>
              </a:rPr>
              <a:t>Effective address = Index register + Displacement </a:t>
            </a:r>
          </a:p>
          <a:p>
            <a:pPr lvl="1" algn="ctr"/>
            <a:r>
              <a:rPr lang="en-US" sz="2800">
                <a:latin typeface="Cambria"/>
              </a:rPr>
              <a:t>MOV AX, [SI+2000]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 b="1" u="sng">
                <a:latin typeface="Cambria"/>
              </a:rPr>
              <a:t>Base mode: </a:t>
            </a:r>
          </a:p>
          <a:p>
            <a:pPr lvl="1"/>
            <a:r>
              <a:rPr lang="en-US" sz="2800">
                <a:latin typeface="Cambria"/>
              </a:rPr>
              <a:t>Effective address = Base register + Displacement </a:t>
            </a:r>
          </a:p>
          <a:p>
            <a:pPr lvl="1" algn="ctr"/>
            <a:r>
              <a:rPr lang="en-US" sz="2800">
                <a:latin typeface="Cambria"/>
              </a:rPr>
              <a:t>MOV AL, [BP+2000]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7242-DC91-44DC-8CA4-BBFB1B89458D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8C84-1846-4993-8C55-9E7286E57C4C}" type="slidenum">
              <a:rPr lang="en-US">
                <a:latin typeface="Cambria"/>
              </a:rPr>
              <a:t>7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4768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Addressing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4716"/>
            <a:ext cx="9906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Indirect mode: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 b="1" u="sng">
                <a:latin typeface="Cambria"/>
              </a:rPr>
              <a:t>Base indexed displacement: </a:t>
            </a:r>
          </a:p>
          <a:p>
            <a:pPr lvl="1"/>
            <a:r>
              <a:rPr lang="en-US" sz="2800">
                <a:latin typeface="Cambria"/>
              </a:rPr>
              <a:t>Effective address = Index register + Base register + Displacement </a:t>
            </a:r>
          </a:p>
          <a:p>
            <a:pPr lvl="1" algn="ctr"/>
            <a:r>
              <a:rPr lang="en-US" sz="2800">
                <a:latin typeface="Cambria"/>
              </a:rPr>
              <a:t>MOV AL, [SI+ BP+ 2000]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EDA65-56AA-43D9-8340-E67FD60CACC8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D909-40B4-4C80-8454-38C8AE8D0597}" type="slidenum">
              <a:rPr lang="en-US">
                <a:latin typeface="Cambria"/>
              </a:rPr>
              <a:t>8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Memory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Segmentation </a:t>
            </a:r>
            <a:r>
              <a:rPr lang="en-US" sz="2800">
                <a:latin typeface="Cambria"/>
              </a:rPr>
              <a:t>is the process in which the main memory of the computer is logically divided into different segments.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>
                <a:latin typeface="Cambria"/>
              </a:rPr>
              <a:t>Total memory size is divided into segments of various sizes is called </a:t>
            </a:r>
            <a:r>
              <a:rPr lang="en-US" sz="2800" b="1">
                <a:solidFill>
                  <a:srgbClr val="7030A0"/>
                </a:solidFill>
                <a:latin typeface="Cambria"/>
              </a:rPr>
              <a:t>memory segmentation</a:t>
            </a:r>
            <a:r>
              <a:rPr lang="en-US" sz="2800">
                <a:latin typeface="Cambria"/>
              </a:rPr>
              <a:t>.</a:t>
            </a:r>
          </a:p>
          <a:p>
            <a:pPr lvl="1"/>
            <a:endParaRPr lang="en-US" sz="2800">
              <a:latin typeface="Cambria"/>
            </a:endParaRPr>
          </a:p>
          <a:p>
            <a:pPr marL="914400" lvl="1" indent="-457200">
              <a:buFont typeface="Wingdings"/>
              <a:buChar char="Ø"/>
            </a:pPr>
            <a:r>
              <a:rPr lang="en-US" sz="2800">
                <a:latin typeface="Cambria"/>
              </a:rPr>
              <a:t>It helps in organizing and managing memory efficiently.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Advantage </a:t>
            </a:r>
          </a:p>
          <a:p>
            <a:pPr marL="1371600" lvl="2" indent="-457200">
              <a:buFont typeface="Wingdings"/>
              <a:buChar char="v"/>
            </a:pPr>
            <a:r>
              <a:rPr lang="en-US" sz="2800">
                <a:latin typeface="Cambria"/>
              </a:rPr>
              <a:t>Efficient Memory Utilization.</a:t>
            </a:r>
          </a:p>
          <a:p>
            <a:pPr marL="1371600" lvl="2" indent="-457200">
              <a:buFont typeface="Wingdings"/>
              <a:buChar char="v"/>
            </a:pPr>
            <a:r>
              <a:rPr lang="en-US" sz="2800">
                <a:latin typeface="Cambria"/>
              </a:rPr>
              <a:t>Protection.</a:t>
            </a:r>
          </a:p>
          <a:p>
            <a:pPr marL="1371600" lvl="2" indent="-457200">
              <a:buFont typeface="Wingdings"/>
              <a:buChar char="v"/>
            </a:pPr>
            <a:r>
              <a:rPr lang="en-US" sz="2800">
                <a:latin typeface="Cambria"/>
              </a:rPr>
              <a:t>Faster Execution.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0DECD-928D-470A-8809-70DFBBAA4B97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94FA-F8E2-4AC5-8BAF-84C1CD9CCE2A}" type="slidenum">
              <a:rPr lang="en-US">
                <a:latin typeface="Cambria"/>
              </a:rPr>
              <a:t>9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Memory Segmentation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Wingdings"/>
                  <a:buChar char="Ø"/>
                </a:pPr>
                <a:r>
                  <a:rPr lang="en-US" sz="2800">
                    <a:latin typeface="Cambria"/>
                  </a:rPr>
                  <a:t>In memory, data is stored as bytes.</a:t>
                </a:r>
              </a:p>
              <a:p>
                <a:pPr marL="914400" lvl="1" indent="-457200">
                  <a:buFont typeface="Wingdings"/>
                  <a:buChar char="Ø"/>
                </a:pPr>
                <a:r>
                  <a:rPr lang="en-US" sz="2800">
                    <a:latin typeface="Cambria"/>
                  </a:rPr>
                  <a:t>8086 microprocessor has 20 lines address bus. </a:t>
                </a:r>
              </a:p>
              <a:p>
                <a:pPr marL="1371600" lvl="2" indent="-457200">
                  <a:buFont typeface="Arial"/>
                  <a:buChar char="•"/>
                </a:pPr>
                <a:r>
                  <a:rPr lang="en-US" sz="2800">
                    <a:latin typeface="Cambria"/>
                  </a:rPr>
                  <a:t>Data bus 16-bit.</a:t>
                </a:r>
              </a:p>
              <a:p>
                <a:pPr marL="1371600" lvl="2" indent="-457200">
                  <a:buFont typeface="Arial"/>
                  <a:buChar char="•"/>
                </a:pPr>
                <a:r>
                  <a:rPr lang="en-US" sz="2800">
                    <a:latin typeface="Cambria"/>
                  </a:rPr>
                  <a:t>Address bus 20-bit. </a:t>
                </a:r>
              </a:p>
              <a:p>
                <a:pPr marL="914400" lvl="1" indent="-457200">
                  <a:buFont typeface="Wingdings"/>
                  <a:buChar char="Ø"/>
                </a:pPr>
                <a:r>
                  <a:rPr lang="en-US" sz="2800">
                    <a:latin typeface="Cambria"/>
                  </a:rPr>
                  <a:t>20 address lines the memory can be addressed as, </a:t>
                </a:r>
              </a:p>
              <a:p>
                <a:pPr lvl="1" algn="just"/>
                <a:r>
                  <a:rPr lang="en-US" sz="2800"/>
                  <a:t>						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bytes = 1 MB</a:t>
                </a:r>
              </a:p>
              <a:p>
                <a:pPr marL="914400" lvl="1" indent="-457200">
                  <a:buFont typeface="Wingdings"/>
                  <a:buChar char="Ø"/>
                </a:pPr>
                <a:r>
                  <a:rPr lang="en-US" sz="2800">
                    <a:latin typeface="Cambria"/>
                  </a:rPr>
                  <a:t>Address raging from 00000H to FFFFFH. </a:t>
                </a:r>
              </a:p>
              <a:p>
                <a:pPr marL="914400" lvl="1" indent="-457200">
                  <a:buFont typeface="Wingdings"/>
                  <a:buChar char="Ø"/>
                </a:pPr>
                <a:r>
                  <a:rPr lang="en-US" sz="2800">
                    <a:latin typeface="Cambria"/>
                  </a:rPr>
                  <a:t>Each register stores the base address (Starting Address) because segment resister cannot store 20 bits. 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Wingdings"/>
                  <a:buChar char="Ø"/>
                </a:pPr>
                <a:r>
                  <a:rPr lang="en-US" sz="2800">
                    <a:latin typeface="Cambria"/>
                  </a:rPr>
                  <a:t>In memory, data is stored as bytes.</a:t>
                </a:r>
              </a:p>
              <a:p>
                <a:pPr marL="914400" lvl="1" indent="-457200">
                  <a:buFont typeface="Wingdings"/>
                  <a:buChar char="Ø"/>
                </a:pPr>
                <a:r>
                  <a:rPr lang="en-US" sz="2800">
                    <a:latin typeface="Cambria"/>
                  </a:rPr>
                  <a:t>8086 microprocessor has 20 lines address bus. </a:t>
                </a:r>
              </a:p>
              <a:p>
                <a:pPr marL="1371600" lvl="2" indent="-457200">
                  <a:buFont typeface="Arial"/>
                  <a:buChar char="•"/>
                </a:pPr>
                <a:r>
                  <a:rPr lang="en-US" sz="2800">
                    <a:latin typeface="Cambria"/>
                  </a:rPr>
                  <a:t>Data bus 16-bit.</a:t>
                </a:r>
              </a:p>
              <a:p>
                <a:pPr marL="1371600" lvl="2" indent="-457200">
                  <a:buFont typeface="Arial"/>
                  <a:buChar char="•"/>
                </a:pPr>
                <a:r>
                  <a:rPr lang="en-US" sz="2800">
                    <a:latin typeface="Cambria"/>
                  </a:rPr>
                  <a:t>Address bus 20-bit. </a:t>
                </a:r>
              </a:p>
              <a:p>
                <a:pPr marL="914400" lvl="1" indent="-457200">
                  <a:buFont typeface="Wingdings"/>
                  <a:buChar char="Ø"/>
                </a:pPr>
                <a:r>
                  <a:rPr lang="en-US" sz="2800">
                    <a:latin typeface="Cambria"/>
                  </a:rPr>
                  <a:t>20 address lines the memory can be addressed as, </a:t>
                </a:r>
              </a:p>
              <a:p>
                <a:pPr lvl="1" algn="just"/>
                <a:r>
                  <a:rPr lang="en-US" sz="2800"/>
                  <a:t>						</a:t>
                </a:r>
                <a:r>
                  <a:rPr/>
                  <a:t>220</a:t>
                </a:r>
                <a:r>
                  <a:rPr lang="en-US" sz="2800">
                    <a:latin typeface="Cambria"/>
                  </a:rPr>
                  <a:t>bytes = 1 MB</a:t>
                </a:r>
              </a:p>
              <a:p>
                <a:pPr marL="914400" lvl="1" indent="-457200">
                  <a:buFont typeface="Wingdings"/>
                  <a:buChar char="Ø"/>
                </a:pPr>
                <a:r>
                  <a:rPr lang="en-US" sz="2800">
                    <a:latin typeface="Cambria"/>
                  </a:rPr>
                  <a:t>Address raging from 00000H to FFFFFH. </a:t>
                </a:r>
              </a:p>
              <a:p>
                <a:pPr marL="914400" lvl="1" indent="-457200">
                  <a:buFont typeface="Wingdings"/>
                  <a:buChar char="Ø"/>
                </a:pPr>
                <a:r>
                  <a:rPr lang="en-US" sz="2800">
                    <a:latin typeface="Cambria"/>
                  </a:rPr>
                  <a:t>Each register stores the base address (Starting Address) because segment resister cannot store 20 bits. 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1AB6-2785-46B8-8C30-592A96E308F3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E2D13-7704-45C7-8091-8B2F05FD78CE}" type="slidenum">
              <a:rPr lang="en-US">
                <a:latin typeface="Cambria"/>
              </a:rPr>
              <a:t>10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Segment and Offset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>
                <a:latin typeface="Cambria"/>
              </a:rPr>
              <a:t>Memory address is specified using two components,</a:t>
            </a:r>
          </a:p>
          <a:p>
            <a:pPr marL="914400" lvl="1" indent="-457200">
              <a:buFont typeface="Wingdings"/>
              <a:buChar char="Ø"/>
            </a:pPr>
            <a:r>
              <a:rPr lang="en-US" sz="2800" b="1">
                <a:latin typeface="Cambria"/>
              </a:rPr>
              <a:t>Segment: </a:t>
            </a:r>
            <a:r>
              <a:rPr lang="en-US" sz="2800">
                <a:latin typeface="Cambria"/>
              </a:rPr>
              <a:t>Identifies the starting location (base address).</a:t>
            </a:r>
          </a:p>
          <a:p>
            <a:pPr marL="914400" lvl="1" indent="-457200">
              <a:buFont typeface="Wingdings"/>
              <a:buChar char="Ø"/>
            </a:pPr>
            <a:r>
              <a:rPr lang="en-US" sz="2800" b="1">
                <a:latin typeface="Cambria"/>
              </a:rPr>
              <a:t>Offset: </a:t>
            </a:r>
            <a:r>
              <a:rPr lang="en-US" sz="2800">
                <a:latin typeface="Cambria"/>
              </a:rPr>
              <a:t>Specifies the position within that segment.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>
                <a:latin typeface="Cambria"/>
              </a:rPr>
              <a:t>8086 has 4 different types of segment,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>
                <a:latin typeface="Cambria"/>
              </a:rPr>
              <a:t>Code Segment (CS).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>
                <a:latin typeface="Cambria"/>
              </a:rPr>
              <a:t>Data Segment (DS).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>
                <a:latin typeface="Cambria"/>
              </a:rPr>
              <a:t>Stack Segment (SS).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>
                <a:latin typeface="Cambria"/>
              </a:rPr>
              <a:t>Extra Segment (ES).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667402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>
                <a:latin typeface="Cambria"/>
              </a:rPr>
              <a:t>												16-bit </a:t>
            </a:r>
          </a:p>
        </p:txBody>
      </p:sp>
      <p:sp>
        <p:nvSpPr>
          <p:cNvPr id="2" name="Right Brace 1"/>
          <p:cNvSpPr/>
          <p:nvPr/>
        </p:nvSpPr>
        <p:spPr>
          <a:xfrm>
            <a:off x="5275385" y="3108960"/>
            <a:ext cx="492369" cy="1697094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60E8-9C49-4187-843B-24B796B77ED4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27AB5-652A-495A-8336-EEDE33D0623B}" type="slidenum">
              <a:rPr lang="en-US">
                <a:latin typeface="Cambria"/>
              </a:rPr>
              <a:t>11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Segment and Offset</a:t>
            </a:r>
          </a:p>
        </p:txBody>
      </p:sp>
      <p:graphicFrame>
        <p:nvGraphicFramePr>
          <p:cNvPr id="3" name="Table 9"/>
          <p:cNvGraphicFramePr>
            <a:graphicFrameLocks noGrp="1"/>
          </p:cNvGraphicFramePr>
          <p:nvPr/>
        </p:nvGraphicFramePr>
        <p:xfrm>
          <a:off x="1636939" y="887147"/>
          <a:ext cx="6604000" cy="2590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02000"/>
                <a:gridCol w="330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ambria"/>
                          <a:ea typeface="Cambria"/>
                        </a:rPr>
                        <a:t>Segment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ambria"/>
                          <a:ea typeface="Cambria"/>
                        </a:rPr>
                        <a:t>Offset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latin typeface="Cambria"/>
                          <a:ea typeface="Cambria"/>
                        </a:rPr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Cambria"/>
                          <a:ea typeface="Cambria"/>
                        </a:rPr>
                        <a:t>IP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latin typeface="Cambria"/>
                          <a:ea typeface="Cambria"/>
                        </a:rPr>
                        <a:t>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Cambria"/>
                          <a:ea typeface="Cambria"/>
                        </a:rPr>
                        <a:t>BX, DI, SI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latin typeface="Cambria"/>
                          <a:ea typeface="Cambria"/>
                        </a:rPr>
                        <a:t>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Cambria"/>
                          <a:ea typeface="Cambria"/>
                        </a:rPr>
                        <a:t>SP, BP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>
                          <a:latin typeface="Cambria"/>
                          <a:ea typeface="Cambria"/>
                        </a:rPr>
                        <a:t>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Cambria"/>
                          <a:ea typeface="Cambria"/>
                        </a:rPr>
                        <a:t>DI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9E39-00A7-49E2-8D1F-CACAA662008D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A209A-C3A7-4F8D-8E85-A91313DE554C}" type="slidenum">
              <a:rPr lang="en-US">
                <a:latin typeface="Cambria"/>
              </a:rPr>
              <a:t>12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Formula: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Physical Address </a:t>
                </a:r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= Base Address of Segment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 10H + Offset</a:t>
                </a:r>
              </a:p>
              <a:p>
                <a:pPr lvl="1" algn="ctr"/>
                <a:r>
                  <a:rPr lang="en-US" sz="2800">
                    <a:latin typeface="Cambria"/>
                  </a:rPr>
                  <a:t>Or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Physical address </a:t>
                </a:r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= Segment address of (Register Name)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 10H + Offset Address </a:t>
                </a:r>
              </a:p>
              <a:p>
                <a:pPr lvl="1"/>
                <a:endParaRPr lang="en-US" sz="2800">
                  <a:solidFill>
                    <a:srgbClr val="FF0000"/>
                  </a:solidFill>
                  <a:latin typeface="Cambria"/>
                </a:endParaRPr>
              </a:p>
              <a:p>
                <a:pPr lvl="1"/>
                <a:r>
                  <a:rPr lang="en-US" sz="2800" b="1">
                    <a:latin typeface="Cambria"/>
                  </a:rPr>
                  <a:t>Logical Address </a:t>
                </a:r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= Segment : Offset 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Base Address (Starting Address) 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Formula: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Physical Address </a:t>
                </a:r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= Base Address of Segment </a:t>
                </a:r>
                <a:r>
                  <a:rPr/>
                  <a:t>×</a:t>
                </a:r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 10H + Offset</a:t>
                </a:r>
              </a:p>
              <a:p>
                <a:pPr lvl="1" algn="ctr"/>
                <a:r>
                  <a:rPr lang="en-US" sz="2800">
                    <a:latin typeface="Cambria"/>
                  </a:rPr>
                  <a:t>Or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Physical address </a:t>
                </a:r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= Segment address of (Register Name) </a:t>
                </a:r>
                <a:r>
                  <a:rPr/>
                  <a:t>×</a:t>
                </a:r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 10H + Offset Address </a:t>
                </a:r>
              </a:p>
              <a:p>
                <a:pPr lvl="1"/>
                <a:endParaRPr lang="en-US" sz="2800">
                  <a:solidFill>
                    <a:srgbClr val="FF0000"/>
                  </a:solidFill>
                  <a:latin typeface="Cambria"/>
                </a:endParaRPr>
              </a:p>
              <a:p>
                <a:pPr lvl="1"/>
                <a:r>
                  <a:rPr lang="en-US" sz="2800" b="1">
                    <a:latin typeface="Cambria"/>
                  </a:rPr>
                  <a:t>Logical Address </a:t>
                </a:r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= Segment : Offset 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Base Address (Starting Address) 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3741-0C1B-4371-8BB6-F9244FC676CE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67565-E9B8-43A8-859B-FB8AC9415FF1}" type="slidenum">
              <a:rPr lang="en-US">
                <a:latin typeface="Cambria"/>
              </a:rPr>
              <a:t>13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Problem 1: </a:t>
            </a:r>
          </a:p>
          <a:p>
            <a:pPr lvl="1"/>
            <a:r>
              <a:rPr lang="en-US" sz="2800">
                <a:latin typeface="Cambria"/>
              </a:rPr>
              <a:t>The content of following registers are,</a:t>
            </a:r>
          </a:p>
          <a:p>
            <a:pPr lvl="1"/>
            <a:r>
              <a:rPr lang="en-US" sz="2800">
                <a:latin typeface="Cambria"/>
              </a:rPr>
              <a:t>CS = 1111H		DS = 1678H		SS = 6789H		ES = 1298H</a:t>
            </a:r>
          </a:p>
          <a:p>
            <a:pPr lvl="1"/>
            <a:r>
              <a:rPr lang="en-US" sz="2800">
                <a:latin typeface="Cambria"/>
              </a:rPr>
              <a:t>IP = 6721H		BX = 7865H		DI = 1235H		BP = 7821H </a:t>
            </a:r>
          </a:p>
          <a:p>
            <a:pPr lvl="1"/>
            <a:r>
              <a:rPr lang="en-US" sz="2800">
                <a:latin typeface="Cambria"/>
              </a:rPr>
              <a:t>Calculate the corresponding physical and logical address from address bytes in CS, DS, SS &amp; ES.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Solution: </a:t>
            </a:r>
          </a:p>
          <a:p>
            <a:pPr lvl="1"/>
            <a:r>
              <a:rPr lang="en-US" sz="2800">
                <a:latin typeface="Cambria"/>
              </a:rPr>
              <a:t>Segment: CS, DS, SS, ES</a:t>
            </a:r>
          </a:p>
          <a:p>
            <a:pPr lvl="1"/>
            <a:r>
              <a:rPr lang="en-US" sz="2800">
                <a:latin typeface="Cambria"/>
              </a:rPr>
              <a:t>Offset: IP, BP, DI, BX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5124F-848B-4ADC-8713-3A00134CC6FF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69FB7-52EC-4B93-8A4D-4826A82733E2}" type="slidenum">
              <a:rPr lang="en-US">
                <a:latin typeface="Cambria"/>
              </a:rPr>
              <a:t>14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Problem 1: </a:t>
                </a:r>
              </a:p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 </a:t>
                </a:r>
              </a:p>
              <a:p>
                <a:pPr lvl="1"/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Physical address of CS </a:t>
                </a:r>
                <a:r>
                  <a:rPr lang="en-US" sz="2800">
                    <a:latin typeface="Cambria"/>
                  </a:rPr>
                  <a:t>= Segment address of CS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 10H + 										Offset Address </a:t>
                </a:r>
              </a:p>
              <a:p>
                <a:pPr lvl="1"/>
                <a:r>
                  <a:rPr lang="en-US" sz="2800">
                    <a:latin typeface="Cambria"/>
                  </a:rPr>
                  <a:t>							   = 1111H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 10H + 6721H </a:t>
                </a:r>
              </a:p>
              <a:p>
                <a:pPr lvl="1"/>
                <a:r>
                  <a:rPr lang="en-US" sz="2800">
                    <a:latin typeface="Cambria"/>
                  </a:rPr>
                  <a:t>							   = 17831 H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Logical address of CS </a:t>
                </a:r>
                <a:r>
                  <a:rPr lang="en-US" sz="2800">
                    <a:latin typeface="Cambria"/>
                  </a:rPr>
                  <a:t>= Segment : </a:t>
                </a:r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Offset </a:t>
                </a:r>
              </a:p>
              <a:p>
                <a:pPr lvl="1"/>
                <a:r>
                  <a:rPr lang="en-US" sz="2800">
                    <a:latin typeface="Cambria"/>
                  </a:rPr>
                  <a:t>							= CS : IP</a:t>
                </a:r>
              </a:p>
              <a:p>
                <a:pPr lvl="1"/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							= 1111</a:t>
                </a:r>
                <a:r>
                  <a:rPr lang="en-US" sz="2800">
                    <a:latin typeface="Cambria"/>
                  </a:rPr>
                  <a:t>H : 6721H </a:t>
                </a:r>
              </a:p>
              <a:p>
                <a:pPr lvl="1"/>
                <a:endParaRPr lang="en-US" sz="2800">
                  <a:solidFill>
                    <a:schemeClr val="tx1"/>
                  </a:solidFill>
                  <a:latin typeface="Cambria"/>
                </a:endParaRPr>
              </a:p>
              <a:p>
                <a:pPr marL="914400" lvl="1" indent="-457200">
                  <a:buFont typeface="Wingdings"/>
                  <a:buChar char="Ø"/>
                </a:pPr>
                <a:r>
                  <a:rPr lang="en-US" sz="2800" b="1">
                    <a:solidFill>
                      <a:srgbClr val="0070C0"/>
                    </a:solidFill>
                    <a:latin typeface="Cambria"/>
                  </a:rPr>
                  <a:t>Logical address is generated by CPU. 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Problem 1: </a:t>
                </a:r>
              </a:p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 </a:t>
                </a:r>
              </a:p>
              <a:p>
                <a:pPr lvl="1"/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Physical address of CS </a:t>
                </a:r>
                <a:r>
                  <a:rPr lang="en-US" sz="2800">
                    <a:latin typeface="Cambria"/>
                  </a:rPr>
                  <a:t>= Segment address of CS </a:t>
                </a:r>
                <a:r>
                  <a:rPr/>
                  <a:t>×</a:t>
                </a:r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 10H + 										Offset Address </a:t>
                </a:r>
              </a:p>
              <a:p>
                <a:pPr lvl="1"/>
                <a:r>
                  <a:rPr lang="en-US" sz="2800">
                    <a:latin typeface="Cambria"/>
                  </a:rPr>
                  <a:t>							   = 1111H </a:t>
                </a:r>
                <a:r>
                  <a:rPr/>
                  <a:t>×</a:t>
                </a:r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 10H + 6721H </a:t>
                </a:r>
              </a:p>
              <a:p>
                <a:pPr lvl="1"/>
                <a:r>
                  <a:rPr lang="en-US" sz="2800">
                    <a:latin typeface="Cambria"/>
                  </a:rPr>
                  <a:t>							   = 17831 H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Logical address of CS </a:t>
                </a:r>
                <a:r>
                  <a:rPr lang="en-US" sz="2800">
                    <a:latin typeface="Cambria"/>
                  </a:rPr>
                  <a:t>= Segment : </a:t>
                </a:r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Offset </a:t>
                </a:r>
              </a:p>
              <a:p>
                <a:pPr lvl="1"/>
                <a:r>
                  <a:rPr lang="en-US" sz="2800">
                    <a:latin typeface="Cambria"/>
                  </a:rPr>
                  <a:t>							= CS : IP</a:t>
                </a:r>
              </a:p>
              <a:p>
                <a:pPr lvl="1"/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							= 1111</a:t>
                </a:r>
                <a:r>
                  <a:rPr lang="en-US" sz="2800">
                    <a:latin typeface="Cambria"/>
                  </a:rPr>
                  <a:t>H : 6721H </a:t>
                </a:r>
              </a:p>
              <a:p>
                <a:pPr lvl="1"/>
                <a:endParaRPr lang="en-US" sz="2800">
                  <a:solidFill>
                    <a:schemeClr val="tx1"/>
                  </a:solidFill>
                  <a:latin typeface="Cambria"/>
                </a:endParaRPr>
              </a:p>
              <a:p>
                <a:pPr marL="914400" lvl="1" indent="-457200">
                  <a:buFont typeface="Wingdings"/>
                  <a:buChar char="Ø"/>
                </a:pPr>
                <a:r>
                  <a:rPr lang="en-US" sz="2800" b="1">
                    <a:solidFill>
                      <a:srgbClr val="0070C0"/>
                    </a:solidFill>
                    <a:latin typeface="Cambria"/>
                  </a:rPr>
                  <a:t>Logical address is generated by CPU. 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0C7D3-3E5B-46FB-84D7-B39785BCA2B0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C090-3B8A-4946-86C5-674662338F4F}" type="slidenum">
              <a:rPr lang="en-US">
                <a:latin typeface="Cambria"/>
              </a:rPr>
              <a:t>15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Problem 1: </a:t>
                </a:r>
              </a:p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 </a:t>
                </a:r>
              </a:p>
              <a:p>
                <a:pPr lvl="1"/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Physical address of ES </a:t>
                </a:r>
                <a:r>
                  <a:rPr lang="en-US" sz="2800">
                    <a:latin typeface="Cambria"/>
                  </a:rPr>
                  <a:t>= Segment address of ES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 10H + 										Offset Address </a:t>
                </a:r>
              </a:p>
              <a:p>
                <a:pPr lvl="1"/>
                <a:r>
                  <a:rPr lang="en-US" sz="2800">
                    <a:latin typeface="Cambria"/>
                  </a:rPr>
                  <a:t>							   = 1298H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 10H + </a:t>
                </a:r>
                <a:r>
                  <a:rPr lang="en-US" sz="2800">
                    <a:latin typeface="Cambria"/>
                  </a:rPr>
                  <a:t>1235</a:t>
                </a:r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H </a:t>
                </a:r>
              </a:p>
              <a:p>
                <a:pPr lvl="1"/>
                <a:r>
                  <a:rPr lang="en-US" sz="2800">
                    <a:latin typeface="Cambria"/>
                  </a:rPr>
                  <a:t>     							   = 13BB5H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Logical address of ES </a:t>
                </a:r>
                <a:r>
                  <a:rPr lang="en-US" sz="2800">
                    <a:latin typeface="Cambria"/>
                  </a:rPr>
                  <a:t>= Segment : </a:t>
                </a:r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Offset </a:t>
                </a:r>
              </a:p>
              <a:p>
                <a:pPr lvl="1"/>
                <a:r>
                  <a:rPr lang="en-US" sz="2800">
                    <a:latin typeface="Cambria"/>
                  </a:rPr>
                  <a:t>							= ES : DI</a:t>
                </a:r>
              </a:p>
              <a:p>
                <a:pPr lvl="1"/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							= 1298H : 1235H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Problem 1: </a:t>
                </a:r>
              </a:p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 </a:t>
                </a:r>
              </a:p>
              <a:p>
                <a:pPr lvl="1"/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Physical address of ES </a:t>
                </a:r>
                <a:r>
                  <a:rPr lang="en-US" sz="2800">
                    <a:latin typeface="Cambria"/>
                  </a:rPr>
                  <a:t>= Segment address of ES </a:t>
                </a:r>
                <a:r>
                  <a:rPr/>
                  <a:t>×</a:t>
                </a:r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 10H + 										Offset Address </a:t>
                </a:r>
              </a:p>
              <a:p>
                <a:pPr lvl="1"/>
                <a:r>
                  <a:rPr lang="en-US" sz="2800">
                    <a:latin typeface="Cambria"/>
                  </a:rPr>
                  <a:t>							   = 1298H </a:t>
                </a:r>
                <a:r>
                  <a:rPr/>
                  <a:t>×</a:t>
                </a:r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 10H + </a:t>
                </a:r>
                <a:r>
                  <a:rPr lang="en-US" sz="2800">
                    <a:latin typeface="Cambria"/>
                  </a:rPr>
                  <a:t>1235</a:t>
                </a:r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H </a:t>
                </a:r>
              </a:p>
              <a:p>
                <a:pPr lvl="1"/>
                <a:r>
                  <a:rPr lang="en-US" sz="2800">
                    <a:latin typeface="Cambria"/>
                  </a:rPr>
                  <a:t>     							   = 13BB5H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Logical address of ES </a:t>
                </a:r>
                <a:r>
                  <a:rPr lang="en-US" sz="2800">
                    <a:latin typeface="Cambria"/>
                  </a:rPr>
                  <a:t>= Segment : </a:t>
                </a:r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Offset </a:t>
                </a:r>
              </a:p>
              <a:p>
                <a:pPr lvl="1"/>
                <a:r>
                  <a:rPr lang="en-US" sz="2800">
                    <a:latin typeface="Cambria"/>
                  </a:rPr>
                  <a:t>							= ES : DI</a:t>
                </a:r>
              </a:p>
              <a:p>
                <a:pPr lvl="1"/>
                <a:r>
                  <a:rPr lang="en-US" sz="2800">
                    <a:solidFill>
                      <a:schemeClr val="tx1"/>
                    </a:solidFill>
                    <a:latin typeface="Cambria"/>
                  </a:rPr>
                  <a:t>							= 1298H : 1235H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7469944" y="3100764"/>
            <a:ext cx="2228850" cy="2259826"/>
            <a:chOff x="6780627" y="2299087"/>
            <a:chExt cx="2228850" cy="2259826"/>
          </a:xfrm>
        </p:grpSpPr>
        <p:sp>
          <p:nvSpPr>
            <p:cNvPr id="2" name="Rectangle 1"/>
            <p:cNvSpPr/>
            <p:nvPr/>
          </p:nvSpPr>
          <p:spPr>
            <a:xfrm>
              <a:off x="6780627" y="2299087"/>
              <a:ext cx="2228850" cy="225982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endParaRPr lang="en-US" sz="2800">
                <a:solidFill>
                  <a:schemeClr val="tx1"/>
                </a:solidFill>
                <a:latin typeface="Cambria"/>
              </a:endParaRPr>
            </a:p>
            <a:p>
              <a:pPr lvl="1"/>
              <a:r>
                <a:rPr lang="en-US" sz="2800">
                  <a:solidFill>
                    <a:schemeClr val="tx1"/>
                  </a:solidFill>
                  <a:latin typeface="Cambria"/>
                </a:rPr>
                <a:t>1 2 9 8 0</a:t>
              </a:r>
            </a:p>
            <a:p>
              <a:pPr lvl="1"/>
              <a:r>
                <a:rPr lang="en-US" sz="2800">
                  <a:solidFill>
                    <a:schemeClr val="tx1"/>
                  </a:solidFill>
                  <a:latin typeface="Cambria"/>
                </a:rPr>
                <a:t>   1 2  3 5</a:t>
              </a:r>
            </a:p>
            <a:p>
              <a:pPr lvl="1"/>
              <a:r>
                <a:rPr lang="en-US" sz="2800">
                  <a:solidFill>
                    <a:schemeClr val="tx1"/>
                  </a:solidFill>
                  <a:latin typeface="Cambria"/>
                </a:rPr>
                <a:t>1 3 B </a:t>
              </a:r>
              <a:r>
                <a:rPr lang="en-US" sz="2800">
                  <a:solidFill>
                    <a:schemeClr val="tx1"/>
                  </a:solidFill>
                  <a:latin typeface="Cambria"/>
                </a:rPr>
                <a:t>B</a:t>
              </a:r>
              <a:r>
                <a:rPr lang="en-US" sz="2800">
                  <a:solidFill>
                    <a:schemeClr val="tx1"/>
                  </a:solidFill>
                  <a:latin typeface="Cambria"/>
                </a:rPr>
                <a:t> 5</a:t>
              </a:r>
            </a:p>
            <a:p>
              <a:pPr algn="ctr"/>
              <a:endParaRPr lang="en-US" sz="2800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6780627" y="3640465"/>
              <a:ext cx="222885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78F4F-A02B-4176-8B91-640FD45DAEA9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35DDB-BDB6-41C9-8A22-79D743663650}" type="slidenum">
              <a:rPr lang="en-US">
                <a:latin typeface="Cambria"/>
              </a:rPr>
              <a:t>16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Problem 1: </a:t>
            </a:r>
          </a:p>
          <a:p>
            <a:pPr lvl="1"/>
            <a:r>
              <a:rPr lang="en-US" sz="2800">
                <a:latin typeface="Cambria"/>
              </a:rPr>
              <a:t>Physical address and Logical address of DS and SS. </a:t>
            </a:r>
          </a:p>
        </p:txBody>
      </p:sp>
      <p:sp>
        <p:nvSpPr>
          <p:cNvPr id="3" name="Thought Bubble: Cloud 2"/>
          <p:cNvSpPr/>
          <p:nvPr/>
        </p:nvSpPr>
        <p:spPr>
          <a:xfrm>
            <a:off x="3018023" y="2220784"/>
            <a:ext cx="3606615" cy="2416432"/>
          </a:xfrm>
          <a:prstGeom prst="cloudCallout">
            <a:avLst>
              <a:gd name="adj1" fmla="val 49376"/>
              <a:gd name="adj2" fmla="val 66575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Cambria"/>
                <a:ea typeface="Cambria"/>
              </a:rPr>
              <a:t>Try Yourself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E7E5-EB0B-4E15-889D-3E3F31CBEF9A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9C87E-8A6C-4B44-888E-C579E651A6D5}" type="slidenum">
              <a:rPr lang="en-US">
                <a:latin typeface="Cambria"/>
              </a:rPr>
              <a:t>17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Problem 2: </a:t>
                </a:r>
              </a:p>
              <a:p>
                <a:pPr lvl="1"/>
                <a:r>
                  <a:rPr lang="en-US" sz="2800">
                    <a:latin typeface="Cambria"/>
                  </a:rPr>
                  <a:t>Given a physical address and offset address. Calculate the corresponding segment address of ES. 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Physical address = 13BB5H		 Offset address = 1235H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Physical address </a:t>
                </a:r>
                <a:r>
                  <a:rPr lang="en-US" sz="2800">
                    <a:latin typeface="Cambria"/>
                  </a:rPr>
                  <a:t>= Segment address of ES × 10H + Offset 								 Address </a:t>
                </a:r>
              </a:p>
              <a:p>
                <a:pPr lvl="1"/>
                <a14:m xmlns:a14="http://schemas.microsoft.com/office/drawing/2010/main"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800">
                    <a:latin typeface="Cambria"/>
                  </a:rPr>
                  <a:t>		    13BB5H = Segment address of ES × 10H + 1235H</a:t>
                </a:r>
              </a:p>
              <a:p>
                <a:pPr lvl="1"/>
                <a14:m xmlns:a14="http://schemas.microsoft.com/office/drawing/2010/main"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>
                    <a:latin typeface="Cambria"/>
                  </a:rPr>
                  <a:t>Segment address of ES = 1298H 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Problem 2: </a:t>
                </a:r>
              </a:p>
              <a:p>
                <a:pPr lvl="1"/>
                <a:r>
                  <a:rPr lang="en-US" sz="2800">
                    <a:latin typeface="Cambria"/>
                  </a:rPr>
                  <a:t>Given a physical address and offset address. Calculate the corresponding segment address of ES. 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Physical address = 13BB5H		 Offset address = 1235H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>
                    <a:solidFill>
                      <a:srgbClr val="FF0000"/>
                    </a:solidFill>
                    <a:latin typeface="Cambria"/>
                  </a:rPr>
                  <a:t>Physical address </a:t>
                </a:r>
                <a:r>
                  <a:rPr lang="en-US" sz="2800">
                    <a:latin typeface="Cambria"/>
                  </a:rPr>
                  <a:t>= Segment address of ES × 10H + Offset 								 Address </a:t>
                </a:r>
              </a:p>
              <a:p>
                <a:pPr lvl="1"/>
                <a:r>
                  <a:rPr/>
                  <a:t>⇒ </a:t>
                </a:r>
                <a:r>
                  <a:rPr lang="en-US" sz="2800">
                    <a:latin typeface="Cambria"/>
                  </a:rPr>
                  <a:t>		    13BB5H = Segment address of ES × 10H + 1235H</a:t>
                </a:r>
              </a:p>
              <a:p>
                <a:pPr lvl="1"/>
                <a:r>
                  <a:rPr/>
                  <a:t>⇒ </a:t>
                </a:r>
                <a:r>
                  <a:rPr lang="en-US" sz="2800">
                    <a:latin typeface="Cambria"/>
                  </a:rPr>
                  <a:t>Segment address of ES = 1298H 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4D81-AFF6-4D20-8FCF-E981ECD7C40B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92AA4-C711-45BF-83AD-4A57D36F8096}" type="slidenum">
              <a:rPr lang="en-US">
                <a:latin typeface="Cambria"/>
              </a:rPr>
              <a:t>18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Problem 3: </a:t>
            </a:r>
          </a:p>
          <a:p>
            <a:pPr lvl="1"/>
            <a:r>
              <a:rPr lang="en-US" sz="2800">
                <a:latin typeface="Cambria"/>
              </a:rPr>
              <a:t>Calculate the physical address for following register. </a:t>
            </a:r>
          </a:p>
          <a:p>
            <a:pPr lvl="1"/>
            <a:r>
              <a:rPr lang="en-US" sz="2800">
                <a:latin typeface="Cambria"/>
              </a:rPr>
              <a:t>SS = 3864H 			SP = 1735H 		BP = 4826H </a:t>
            </a:r>
          </a:p>
          <a:p>
            <a:pPr lvl="1"/>
            <a:endParaRPr lang="en-US" sz="2800" b="1">
              <a:solidFill>
                <a:srgbClr val="7030A0"/>
              </a:solidFill>
              <a:latin typeface="Cambria"/>
            </a:endParaRP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Solution:</a:t>
            </a:r>
            <a:r>
              <a:rPr lang="en-US" sz="2800">
                <a:latin typeface="Cambria"/>
              </a:rPr>
              <a:t> </a:t>
            </a:r>
          </a:p>
          <a:p>
            <a:pPr lvl="1"/>
            <a:r>
              <a:rPr lang="en-US" sz="2800" b="1" i="1">
                <a:latin typeface="Cambria"/>
              </a:rPr>
              <a:t>Case 1:</a:t>
            </a:r>
          </a:p>
          <a:p>
            <a:pPr lvl="1"/>
            <a:r>
              <a:rPr lang="en-US" sz="2800">
                <a:solidFill>
                  <a:srgbClr val="FF0000"/>
                </a:solidFill>
                <a:latin typeface="Cambria"/>
              </a:rPr>
              <a:t>Physical address </a:t>
            </a:r>
            <a:r>
              <a:rPr lang="en-US" sz="2800">
                <a:latin typeface="Cambria"/>
              </a:rPr>
              <a:t>= Segment address of SS × 10H + Offset 								 Address (SP)  </a:t>
            </a:r>
          </a:p>
          <a:p>
            <a:pPr lvl="1"/>
            <a:r>
              <a:rPr lang="en-US" sz="2800">
                <a:latin typeface="Cambria"/>
              </a:rPr>
              <a:t>		 			    = 3864H × 10H + 1735H</a:t>
            </a:r>
          </a:p>
          <a:p>
            <a:pPr lvl="1"/>
            <a:r>
              <a:rPr lang="en-US" sz="2800">
                <a:latin typeface="Cambria"/>
              </a:rPr>
              <a:t>					    = 39D75H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678D2-444F-44AF-8A5E-C9018D3D01EC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73E2-B8A3-4312-85D3-8022AD2E19E3}" type="slidenum">
              <a:rPr lang="en-US">
                <a:latin typeface="Cambria"/>
              </a:rPr>
              <a:t>19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Problem 3: </a:t>
            </a:r>
          </a:p>
          <a:p>
            <a:pPr lvl="1"/>
            <a:r>
              <a:rPr lang="en-US" sz="2800">
                <a:latin typeface="Cambria"/>
              </a:rPr>
              <a:t>Calculate the physical address for following register. </a:t>
            </a:r>
          </a:p>
          <a:p>
            <a:pPr lvl="1"/>
            <a:r>
              <a:rPr lang="en-US" sz="2800">
                <a:latin typeface="Cambria"/>
              </a:rPr>
              <a:t>SS = 3864H 			SP = 1735H 		BP = 4826H </a:t>
            </a:r>
          </a:p>
          <a:p>
            <a:pPr lvl="1"/>
            <a:endParaRPr lang="en-US" sz="2800" b="1">
              <a:solidFill>
                <a:srgbClr val="7030A0"/>
              </a:solidFill>
              <a:latin typeface="Cambria"/>
            </a:endParaRP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Solution:</a:t>
            </a:r>
            <a:r>
              <a:rPr lang="en-US" sz="2800">
                <a:latin typeface="Cambria"/>
              </a:rPr>
              <a:t> </a:t>
            </a:r>
          </a:p>
          <a:p>
            <a:pPr lvl="1"/>
            <a:r>
              <a:rPr lang="en-US" sz="2800" b="1" i="1">
                <a:latin typeface="Cambria"/>
              </a:rPr>
              <a:t>Case 2:</a:t>
            </a:r>
          </a:p>
          <a:p>
            <a:pPr lvl="1"/>
            <a:r>
              <a:rPr lang="en-US" sz="2800">
                <a:solidFill>
                  <a:srgbClr val="FF0000"/>
                </a:solidFill>
                <a:latin typeface="Cambria"/>
              </a:rPr>
              <a:t>Physical address </a:t>
            </a:r>
            <a:r>
              <a:rPr lang="en-US" sz="2800">
                <a:latin typeface="Cambria"/>
              </a:rPr>
              <a:t>= Segment address of SS × 10H + Offset 								 Address (BP)  </a:t>
            </a:r>
          </a:p>
          <a:p>
            <a:pPr lvl="1"/>
            <a:r>
              <a:rPr lang="en-US" sz="2800">
                <a:latin typeface="Cambria"/>
              </a:rPr>
              <a:t>		 			    = 3864H × 10H + 4826H</a:t>
            </a:r>
          </a:p>
          <a:p>
            <a:pPr lvl="1"/>
            <a:r>
              <a:rPr lang="en-US" sz="2800">
                <a:latin typeface="Cambria"/>
              </a:rPr>
              <a:t>					    </a:t>
            </a:r>
            <a:r>
              <a:rPr lang="en-US" sz="2800">
                <a:latin typeface="Cambria"/>
              </a:rPr>
              <a:t>= 3CE66H </a:t>
            </a:r>
            <a:endParaRPr lang="en-US" sz="2800">
              <a:latin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AEA91-CAA6-4B8B-82DE-4C71D22875A0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67CA9-AA29-4B16-809F-F852F057BB3F}" type="slidenum">
              <a:rPr lang="en-US">
                <a:latin typeface="Cambria"/>
              </a:rPr>
              <a:t>20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Problem 4: </a:t>
            </a:r>
          </a:p>
          <a:p>
            <a:pPr lvl="1"/>
            <a:r>
              <a:rPr lang="en-US" sz="2800">
                <a:latin typeface="Cambria"/>
              </a:rPr>
              <a:t>Calculate the physical address for following instruction. </a:t>
            </a:r>
          </a:p>
          <a:p>
            <a:pPr lvl="1"/>
            <a:r>
              <a:rPr lang="en-US" sz="2800">
                <a:latin typeface="Cambria"/>
              </a:rPr>
              <a:t>DS = 1000H 	SS = 7000H 		ES = 4000H </a:t>
            </a:r>
          </a:p>
          <a:p>
            <a:pPr lvl="1"/>
            <a:r>
              <a:rPr lang="en-US" sz="2800">
                <a:latin typeface="Cambria"/>
              </a:rPr>
              <a:t>BP = 0100H 	SI = 0020H 		DI = 0200H 		BX = 0700H </a:t>
            </a:r>
          </a:p>
          <a:p>
            <a:pPr lvl="1"/>
            <a:r>
              <a:rPr lang="en-US" sz="2800">
                <a:latin typeface="Cambria"/>
              </a:rPr>
              <a:t>Value (Displacement = 0500H) </a:t>
            </a:r>
          </a:p>
          <a:p>
            <a:pPr lvl="1"/>
            <a:endParaRPr lang="en-US" sz="2800" b="1">
              <a:solidFill>
                <a:srgbClr val="7030A0"/>
              </a:solidFill>
              <a:latin typeface="Cambria"/>
            </a:endParaRP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Solution:</a:t>
            </a:r>
            <a:r>
              <a:rPr lang="en-US" sz="2800">
                <a:latin typeface="Cambria"/>
              </a:rPr>
              <a:t> </a:t>
            </a:r>
          </a:p>
          <a:p>
            <a:pPr lvl="1"/>
            <a:r>
              <a:rPr lang="en-US" sz="2800" b="1">
                <a:latin typeface="Cambria"/>
              </a:rPr>
              <a:t>i</a:t>
            </a:r>
            <a:r>
              <a:rPr lang="en-US" sz="2800" b="1">
                <a:latin typeface="Cambria"/>
              </a:rPr>
              <a:t>) MOV AX, [BX][SI]</a:t>
            </a:r>
          </a:p>
          <a:p>
            <a:pPr lvl="1"/>
            <a:r>
              <a:rPr lang="en-US" sz="2800">
                <a:solidFill>
                  <a:srgbClr val="FF0000"/>
                </a:solidFill>
                <a:latin typeface="Cambria"/>
              </a:rPr>
              <a:t>Physical address </a:t>
            </a:r>
            <a:r>
              <a:rPr lang="en-US" sz="2800">
                <a:latin typeface="Cambria"/>
              </a:rPr>
              <a:t>= Segment address of DS × 10H + [BX+SI]</a:t>
            </a:r>
          </a:p>
          <a:p>
            <a:pPr lvl="1"/>
            <a:r>
              <a:rPr lang="en-US" sz="2800">
                <a:latin typeface="Cambria"/>
              </a:rPr>
              <a:t>		 			    = 1000H × 10H + [0700H+0020H]</a:t>
            </a:r>
          </a:p>
          <a:p>
            <a:pPr lvl="1"/>
            <a:r>
              <a:rPr lang="en-US" sz="2800">
                <a:latin typeface="Cambria"/>
              </a:rPr>
              <a:t>					    = 10720H </a:t>
            </a: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Offset BX, SI = DS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9CA11-6B0B-496C-8AFB-77C266814D2F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CB274-83E7-4463-813B-4190E1E94892}" type="slidenum">
              <a:rPr lang="en-US">
                <a:latin typeface="Cambria"/>
              </a:rPr>
              <a:t>21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Problem 4: </a:t>
            </a:r>
          </a:p>
          <a:p>
            <a:pPr lvl="1"/>
            <a:r>
              <a:rPr lang="en-US" sz="2800">
                <a:latin typeface="Cambria"/>
              </a:rPr>
              <a:t>Calculate the physical address for following instruction. </a:t>
            </a:r>
          </a:p>
          <a:p>
            <a:pPr lvl="1"/>
            <a:r>
              <a:rPr lang="en-US" sz="2800">
                <a:latin typeface="Cambria"/>
              </a:rPr>
              <a:t>DS = 1000H 	SS = 7000H 		ES = 4000H </a:t>
            </a:r>
          </a:p>
          <a:p>
            <a:pPr lvl="1"/>
            <a:r>
              <a:rPr lang="en-US" sz="2800">
                <a:latin typeface="Cambria"/>
              </a:rPr>
              <a:t>BP = 0100H 	SI = 0020H 		DI = 0200H 		BX = 0700H </a:t>
            </a:r>
          </a:p>
          <a:p>
            <a:pPr lvl="1"/>
            <a:r>
              <a:rPr lang="en-US" sz="2800">
                <a:latin typeface="Cambria"/>
              </a:rPr>
              <a:t>Value (Displacement = 0500H) </a:t>
            </a:r>
          </a:p>
          <a:p>
            <a:pPr lvl="1"/>
            <a:endParaRPr lang="en-US" sz="2800" b="1">
              <a:solidFill>
                <a:srgbClr val="7030A0"/>
              </a:solidFill>
              <a:latin typeface="Cambria"/>
            </a:endParaRP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Solution:</a:t>
            </a:r>
            <a:r>
              <a:rPr lang="en-US" sz="2800">
                <a:latin typeface="Cambria"/>
              </a:rPr>
              <a:t> </a:t>
            </a:r>
          </a:p>
          <a:p>
            <a:pPr lvl="1"/>
            <a:r>
              <a:rPr lang="en-US" sz="2800" b="1">
                <a:latin typeface="Cambria"/>
              </a:rPr>
              <a:t>ii) ADD AL, (BP+40H)</a:t>
            </a:r>
          </a:p>
          <a:p>
            <a:pPr lvl="1"/>
            <a:r>
              <a:rPr lang="en-US" sz="2800">
                <a:solidFill>
                  <a:srgbClr val="FF0000"/>
                </a:solidFill>
                <a:latin typeface="Cambria"/>
              </a:rPr>
              <a:t>Physical address </a:t>
            </a:r>
            <a:r>
              <a:rPr lang="en-US" sz="2800">
                <a:latin typeface="Cambria"/>
              </a:rPr>
              <a:t>= Segment address of SS × 10H + (BP+40H)</a:t>
            </a:r>
          </a:p>
          <a:p>
            <a:pPr lvl="1"/>
            <a:r>
              <a:rPr lang="en-US" sz="2800">
                <a:latin typeface="Cambria"/>
              </a:rPr>
              <a:t>		 			    = 7000H × 10H + (0100H+40H)</a:t>
            </a:r>
          </a:p>
          <a:p>
            <a:pPr lvl="1"/>
            <a:r>
              <a:rPr lang="en-US" sz="2800">
                <a:latin typeface="Cambria"/>
              </a:rPr>
              <a:t>					    = 70140H </a:t>
            </a: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Offset BP = SS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D97F0-2676-4065-837C-7DCA5CB9C58A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E16EB-4549-4654-8ABF-75DC5CCEF245}" type="slidenum">
              <a:rPr lang="en-US">
                <a:latin typeface="Cambria"/>
              </a:rPr>
              <a:t>22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Problem 4: </a:t>
            </a:r>
          </a:p>
          <a:p>
            <a:pPr lvl="1"/>
            <a:r>
              <a:rPr lang="en-US" sz="2800">
                <a:latin typeface="Cambria"/>
              </a:rPr>
              <a:t>Calculate the physical address for following instruction. </a:t>
            </a:r>
          </a:p>
          <a:p>
            <a:pPr lvl="1"/>
            <a:r>
              <a:rPr lang="en-US" sz="2800">
                <a:latin typeface="Cambria"/>
              </a:rPr>
              <a:t>DS = 1000H 	SS = 7000H 		ES = 4000H </a:t>
            </a:r>
          </a:p>
          <a:p>
            <a:pPr lvl="1"/>
            <a:r>
              <a:rPr lang="en-US" sz="2800">
                <a:latin typeface="Cambria"/>
              </a:rPr>
              <a:t>BP = 0100H 	SI = 0020H 		DI = 0200H 		BX = 0700H </a:t>
            </a:r>
          </a:p>
          <a:p>
            <a:pPr lvl="1"/>
            <a:r>
              <a:rPr lang="en-US" sz="2800">
                <a:latin typeface="Cambria"/>
              </a:rPr>
              <a:t>Value (Displacement = 0500H) </a:t>
            </a:r>
          </a:p>
          <a:p>
            <a:pPr lvl="1"/>
            <a:endParaRPr lang="en-US" sz="2800" b="1">
              <a:solidFill>
                <a:srgbClr val="7030A0"/>
              </a:solidFill>
              <a:latin typeface="Cambria"/>
            </a:endParaRP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Solution:</a:t>
            </a:r>
            <a:r>
              <a:rPr lang="en-US" sz="2800">
                <a:latin typeface="Cambria"/>
              </a:rPr>
              <a:t> </a:t>
            </a:r>
          </a:p>
          <a:p>
            <a:pPr lvl="1"/>
            <a:r>
              <a:rPr lang="en-US" sz="2800" b="1">
                <a:latin typeface="Cambria"/>
              </a:rPr>
              <a:t>iii) MOV CX, Values[BP]</a:t>
            </a:r>
          </a:p>
          <a:p>
            <a:pPr lvl="1"/>
            <a:r>
              <a:rPr lang="en-US" sz="2800">
                <a:solidFill>
                  <a:srgbClr val="FF0000"/>
                </a:solidFill>
                <a:latin typeface="Cambria"/>
              </a:rPr>
              <a:t>Physical address </a:t>
            </a:r>
            <a:r>
              <a:rPr lang="en-US" sz="2800">
                <a:latin typeface="Cambria"/>
              </a:rPr>
              <a:t>= Segment address of SS × 10H + 										 [BP + Values]</a:t>
            </a:r>
          </a:p>
          <a:p>
            <a:pPr lvl="1"/>
            <a:r>
              <a:rPr lang="en-US" sz="2800">
                <a:latin typeface="Cambria"/>
              </a:rPr>
              <a:t>		 			    = 7000H × 10H + (0100H+0500H)</a:t>
            </a:r>
          </a:p>
          <a:p>
            <a:pPr lvl="1"/>
            <a:r>
              <a:rPr lang="en-US" sz="2800">
                <a:latin typeface="Cambria"/>
              </a:rPr>
              <a:t>					    = 70600H </a:t>
            </a: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Offset BP = SS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47B2C-F5EB-4DC6-875A-796220D6D259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BB43A-D0FF-4F99-8EB8-B9EAA4A07400}" type="slidenum">
              <a:rPr lang="en-US">
                <a:latin typeface="Cambria"/>
              </a:rPr>
              <a:t>23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Problem 4: </a:t>
            </a:r>
          </a:p>
          <a:p>
            <a:pPr lvl="1"/>
            <a:r>
              <a:rPr lang="en-US" sz="2800">
                <a:latin typeface="Cambria"/>
              </a:rPr>
              <a:t>Calculate the physical address for following instruction. </a:t>
            </a:r>
          </a:p>
          <a:p>
            <a:pPr lvl="1"/>
            <a:r>
              <a:rPr lang="en-US" sz="2800">
                <a:latin typeface="Cambria"/>
              </a:rPr>
              <a:t>DS = 1000H 	SS = 7000H 		ES = 4000H </a:t>
            </a:r>
          </a:p>
          <a:p>
            <a:pPr lvl="1"/>
            <a:r>
              <a:rPr lang="en-US" sz="2800">
                <a:latin typeface="Cambria"/>
              </a:rPr>
              <a:t>BP = 0100H 	SI = 0020H 		DI = 0200H 		BX = 0700H </a:t>
            </a:r>
          </a:p>
          <a:p>
            <a:pPr lvl="1"/>
            <a:r>
              <a:rPr lang="en-US" sz="2800">
                <a:latin typeface="Cambria"/>
              </a:rPr>
              <a:t>Value (Displacement = 0500H) </a:t>
            </a:r>
          </a:p>
          <a:p>
            <a:pPr lvl="1"/>
            <a:endParaRPr lang="en-US" sz="2800" b="1">
              <a:solidFill>
                <a:srgbClr val="7030A0"/>
              </a:solidFill>
              <a:latin typeface="Cambria"/>
            </a:endParaRP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Solution:</a:t>
            </a:r>
            <a:r>
              <a:rPr lang="en-US" sz="2800">
                <a:latin typeface="Cambria"/>
              </a:rPr>
              <a:t> </a:t>
            </a:r>
          </a:p>
          <a:p>
            <a:pPr lvl="1"/>
            <a:r>
              <a:rPr lang="en-US" sz="2800" b="1">
                <a:latin typeface="Cambria"/>
              </a:rPr>
              <a:t>iv) MOV ES:[1000H], AL </a:t>
            </a:r>
          </a:p>
          <a:p>
            <a:pPr lvl="1"/>
            <a:r>
              <a:rPr lang="en-US" sz="2800">
                <a:solidFill>
                  <a:srgbClr val="FF0000"/>
                </a:solidFill>
                <a:latin typeface="Cambria"/>
              </a:rPr>
              <a:t>Physical address </a:t>
            </a:r>
            <a:r>
              <a:rPr lang="en-US" sz="2800">
                <a:latin typeface="Cambria"/>
              </a:rPr>
              <a:t>= Segment address of ES × 10H + [1000H] 						    = 4000H × 10H + [1000H]					    </a:t>
            </a:r>
          </a:p>
          <a:p>
            <a:pPr lvl="1"/>
            <a:r>
              <a:rPr lang="en-US" sz="2800">
                <a:latin typeface="Cambria"/>
              </a:rPr>
              <a:t>					    = 41000H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F80BF-2451-4E17-8F42-DAE4951EB0C4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8C1B4-314F-41AA-82F7-95875421752B}" type="slidenum">
              <a:rPr lang="en-US">
                <a:latin typeface="Cambria"/>
              </a:rPr>
              <a:t>24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Problem 5: </a:t>
            </a:r>
          </a:p>
          <a:p>
            <a:pPr lvl="1"/>
            <a:r>
              <a:rPr lang="en-US" sz="2800">
                <a:latin typeface="Cambria"/>
              </a:rPr>
              <a:t>Logical address is 8000H : 0000H. Calculate the physical address.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Solution:</a:t>
            </a:r>
            <a:r>
              <a:rPr lang="en-US" sz="2800">
                <a:latin typeface="Cambria"/>
              </a:rPr>
              <a:t> </a:t>
            </a:r>
          </a:p>
          <a:p>
            <a:pPr lvl="1"/>
            <a:r>
              <a:rPr lang="en-US" sz="2800">
                <a:solidFill>
                  <a:srgbClr val="FF0000"/>
                </a:solidFill>
                <a:latin typeface="Cambria"/>
              </a:rPr>
              <a:t>Physical address </a:t>
            </a:r>
            <a:r>
              <a:rPr lang="en-US" sz="2800">
                <a:latin typeface="Cambria"/>
              </a:rPr>
              <a:t>= Segment address × 10H + Offset 						    			    = 8000H × 10H + 0000H 					    </a:t>
            </a:r>
          </a:p>
          <a:p>
            <a:pPr lvl="1"/>
            <a:r>
              <a:rPr lang="en-US" sz="2800">
                <a:latin typeface="Cambria"/>
              </a:rPr>
              <a:t>					    = 80000H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6F65F-3EB3-4F48-8B80-FF831BE3A0E3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D75BB-123F-4917-80B9-1E1597FFA67E}" type="slidenum">
              <a:rPr lang="en-US">
                <a:latin typeface="Cambria"/>
              </a:rPr>
              <a:t>25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Physical Address and Logical Address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Problem 6: </a:t>
            </a:r>
          </a:p>
          <a:p>
            <a:pPr lvl="1"/>
            <a:r>
              <a:rPr lang="en-US" sz="2800">
                <a:latin typeface="Cambria"/>
              </a:rPr>
              <a:t>What is the physical address of 6</a:t>
            </a:r>
            <a:r>
              <a:rPr lang="en-US" sz="2800" baseline="30000">
                <a:latin typeface="Cambria"/>
              </a:rPr>
              <a:t>th</a:t>
            </a:r>
            <a:r>
              <a:rPr lang="en-US" sz="2800">
                <a:latin typeface="Cambria"/>
              </a:rPr>
              <a:t> segment for location 250?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Solution:</a:t>
            </a:r>
            <a:r>
              <a:rPr lang="en-US" sz="2800">
                <a:latin typeface="Cambria"/>
              </a:rPr>
              <a:t> </a:t>
            </a:r>
          </a:p>
          <a:p>
            <a:pPr lvl="1"/>
            <a:r>
              <a:rPr lang="en-US" sz="2800">
                <a:latin typeface="Cambria"/>
              </a:rPr>
              <a:t>Segment = 5000H </a:t>
            </a:r>
            <a:r>
              <a:rPr lang="en-US" sz="2800" b="1">
                <a:latin typeface="Cambria"/>
              </a:rPr>
              <a:t>(Segment starts from 0. So, 5) </a:t>
            </a:r>
          </a:p>
          <a:p>
            <a:pPr lvl="1"/>
            <a:r>
              <a:rPr lang="en-US" sz="2800">
                <a:latin typeface="Cambria"/>
              </a:rPr>
              <a:t>Offset = 249 </a:t>
            </a:r>
            <a:r>
              <a:rPr lang="en-US" sz="2800" b="1">
                <a:latin typeface="Cambria"/>
              </a:rPr>
              <a:t>(Start from 0. So, 249)</a:t>
            </a:r>
          </a:p>
          <a:p>
            <a:pPr lvl="1"/>
            <a:r>
              <a:rPr lang="en-US" sz="2800">
                <a:latin typeface="Cambria"/>
              </a:rPr>
              <a:t>		 = 00F9H </a:t>
            </a:r>
            <a:r>
              <a:rPr lang="en-US" sz="2800" b="1">
                <a:latin typeface="Cambria"/>
              </a:rPr>
              <a:t>(Hexadecimal value)</a:t>
            </a:r>
          </a:p>
          <a:p>
            <a:pPr lvl="1"/>
            <a:endParaRPr lang="en-US" sz="2800">
              <a:solidFill>
                <a:srgbClr val="FF0000"/>
              </a:solidFill>
              <a:latin typeface="Cambria"/>
            </a:endParaRPr>
          </a:p>
          <a:p>
            <a:pPr lvl="1"/>
            <a:r>
              <a:rPr lang="en-US" sz="2800">
                <a:solidFill>
                  <a:srgbClr val="FF0000"/>
                </a:solidFill>
                <a:latin typeface="Cambria"/>
              </a:rPr>
              <a:t>Physical address </a:t>
            </a:r>
            <a:r>
              <a:rPr lang="en-US" sz="2800">
                <a:latin typeface="Cambria"/>
              </a:rPr>
              <a:t>= Segment address × 10H + Offset 						    			    = 5000H × 10H + 00F9H					    </a:t>
            </a:r>
          </a:p>
          <a:p>
            <a:pPr lvl="1"/>
            <a:r>
              <a:rPr lang="en-US" sz="2800">
                <a:latin typeface="Cambria"/>
              </a:rPr>
              <a:t>					    = 500F9H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975E-1404-4541-86A2-B3EFDE1AAB3E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ADB88-B499-4338-8237-59C19F108A61}" type="slidenum">
              <a:rPr lang="en-US">
                <a:latin typeface="Cambria"/>
              </a:rPr>
              <a:t>26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 Line and Data Line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latin typeface="Cambria"/>
                  </a:rPr>
                  <a:t>Should be remembered, </a:t>
                </a:r>
              </a:p>
              <a:p>
                <a:pPr lvl="1" algn="ctr"/>
                <a:r>
                  <a:rPr lang="en-US" sz="2800">
                    <a:latin typeface="Cambria"/>
                  </a:rPr>
                  <a:t>K 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	(KB)</a:t>
                </a:r>
              </a:p>
              <a:p>
                <a:pPr lvl="1" algn="ctr"/>
                <a:r>
                  <a:rPr lang="en-US" sz="2800">
                    <a:latin typeface="Cambria"/>
                  </a:rPr>
                  <a:t>M 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	(MB)</a:t>
                </a:r>
              </a:p>
              <a:p>
                <a:pPr lvl="1" algn="ctr"/>
                <a:r>
                  <a:rPr lang="en-US" sz="2800">
                    <a:latin typeface="Cambria"/>
                  </a:rPr>
                  <a:t>G 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	(GB)</a:t>
                </a:r>
              </a:p>
              <a:p>
                <a:pPr lvl="1" algn="ctr"/>
                <a:r>
                  <a:rPr lang="en-US" sz="2800">
                    <a:latin typeface="Cambria"/>
                  </a:rPr>
                  <a:t>T 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	(TB)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latin typeface="Cambria"/>
                  </a:rPr>
                  <a:t>Should be remembered, </a:t>
                </a:r>
              </a:p>
              <a:p>
                <a:pPr lvl="1" algn="ctr"/>
                <a:r>
                  <a:rPr lang="en-US" sz="2800">
                    <a:latin typeface="Cambria"/>
                  </a:rPr>
                  <a:t>K = </a:t>
                </a:r>
                <a:r>
                  <a:rPr/>
                  <a:t>210</a:t>
                </a:r>
                <a:r>
                  <a:rPr lang="en-US" sz="2800">
                    <a:latin typeface="Cambria"/>
                  </a:rPr>
                  <a:t>	(KB)</a:t>
                </a:r>
              </a:p>
              <a:p>
                <a:pPr lvl="1" algn="ctr"/>
                <a:r>
                  <a:rPr lang="en-US" sz="2800">
                    <a:latin typeface="Cambria"/>
                  </a:rPr>
                  <a:t>M = </a:t>
                </a:r>
                <a:r>
                  <a:rPr/>
                  <a:t>220</a:t>
                </a:r>
                <a:r>
                  <a:rPr lang="en-US" sz="2800">
                    <a:latin typeface="Cambria"/>
                  </a:rPr>
                  <a:t>	(MB)</a:t>
                </a:r>
              </a:p>
              <a:p>
                <a:pPr lvl="1" algn="ctr"/>
                <a:r>
                  <a:rPr lang="en-US" sz="2800">
                    <a:latin typeface="Cambria"/>
                  </a:rPr>
                  <a:t>G = </a:t>
                </a:r>
                <a:r>
                  <a:rPr/>
                  <a:t>230</a:t>
                </a:r>
                <a:r>
                  <a:rPr lang="en-US" sz="2800">
                    <a:latin typeface="Cambria"/>
                  </a:rPr>
                  <a:t>	(GB)</a:t>
                </a:r>
              </a:p>
              <a:p>
                <a:pPr lvl="1" algn="ctr"/>
                <a:r>
                  <a:rPr lang="en-US" sz="2800">
                    <a:latin typeface="Cambria"/>
                  </a:rPr>
                  <a:t>T = </a:t>
                </a:r>
                <a:r>
                  <a:rPr/>
                  <a:t>240</a:t>
                </a:r>
                <a:r>
                  <a:rPr lang="en-US" sz="2800">
                    <a:latin typeface="Cambria"/>
                  </a:rPr>
                  <a:t>	(TB)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27EE8-7030-4372-8E97-8C6F480124BD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A63C4-2A02-4A9D-8309-223C9070563C}" type="slidenum">
              <a:rPr lang="en-US">
                <a:latin typeface="Cambria"/>
              </a:rPr>
              <a:t>27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 Line and Data Line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2852"/>
            <a:ext cx="9906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>
                <a:latin typeface="Cambria"/>
              </a:rPr>
              <a:t>The memory units that follows are specified by the number of </a:t>
            </a:r>
            <a:r>
              <a:rPr lang="en-US" sz="2800" b="1">
                <a:solidFill>
                  <a:srgbClr val="7030A0"/>
                </a:solidFill>
                <a:latin typeface="Cambria"/>
              </a:rPr>
              <a:t>words</a:t>
            </a:r>
            <a:r>
              <a:rPr lang="en-US" sz="2800">
                <a:latin typeface="Cambria"/>
              </a:rPr>
              <a:t> times, the number of </a:t>
            </a:r>
            <a:r>
              <a:rPr lang="en-US" sz="2800" b="1">
                <a:solidFill>
                  <a:srgbClr val="7030A0"/>
                </a:solidFill>
                <a:latin typeface="Cambria"/>
              </a:rPr>
              <a:t>bits</a:t>
            </a:r>
            <a:r>
              <a:rPr lang="en-US" sz="2800">
                <a:latin typeface="Cambria"/>
              </a:rPr>
              <a:t> per word. How many </a:t>
            </a:r>
            <a:r>
              <a:rPr lang="en-US" sz="2800" b="1">
                <a:solidFill>
                  <a:srgbClr val="FF0000"/>
                </a:solidFill>
                <a:latin typeface="Cambria"/>
              </a:rPr>
              <a:t>address lines </a:t>
            </a:r>
            <a:r>
              <a:rPr lang="en-US" sz="2800">
                <a:latin typeface="Cambria"/>
              </a:rPr>
              <a:t>and input output </a:t>
            </a:r>
            <a:r>
              <a:rPr lang="en-US" sz="2800" b="1">
                <a:solidFill>
                  <a:srgbClr val="FF0000"/>
                </a:solidFill>
                <a:latin typeface="Cambria"/>
              </a:rPr>
              <a:t>data lines </a:t>
            </a:r>
            <a:r>
              <a:rPr lang="en-US" sz="2800">
                <a:latin typeface="Cambria"/>
              </a:rPr>
              <a:t>are needed in each case? </a:t>
            </a:r>
          </a:p>
          <a:p>
            <a:pPr lvl="1"/>
            <a:r>
              <a:rPr lang="en-US" sz="2800">
                <a:latin typeface="Cambria"/>
              </a:rPr>
              <a:t>a) 8K × 16 				b) 2G × 8 			c) 16M × 32</a:t>
            </a:r>
          </a:p>
          <a:p>
            <a:pPr lvl="1"/>
            <a:r>
              <a:rPr lang="en-US" sz="2800">
                <a:latin typeface="Cambria"/>
              </a:rPr>
              <a:t>d) 256K × 64 			e) 64K × 8 			f) 2T × 8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Solution:</a:t>
            </a:r>
            <a:r>
              <a:rPr lang="en-US" sz="2800">
                <a:latin typeface="Cambria"/>
              </a:rPr>
              <a:t> </a:t>
            </a:r>
          </a:p>
          <a:p>
            <a:pPr lvl="1" algn="ctr"/>
            <a:r>
              <a:rPr lang="en-US" sz="2800">
                <a:latin typeface="Cambria"/>
              </a:rPr>
              <a:t>8K × 16</a:t>
            </a:r>
          </a:p>
          <a:p>
            <a:pPr lvl="1" algn="ctr"/>
            <a:endParaRPr lang="en-US" sz="2800">
              <a:latin typeface="Cambria"/>
            </a:endParaRPr>
          </a:p>
          <a:p>
            <a:pPr lvl="1"/>
            <a:r>
              <a:rPr lang="en-US" sz="2800">
                <a:latin typeface="Cambria"/>
              </a:rPr>
              <a:t>						       Word              Bit </a:t>
            </a:r>
          </a:p>
          <a:p>
            <a:pPr marL="914400" lvl="1" indent="-457200">
              <a:buFont typeface="Wingdings"/>
              <a:buChar char="Ø"/>
            </a:pPr>
            <a:r>
              <a:rPr lang="en-US" sz="2800">
                <a:latin typeface="Cambria"/>
              </a:rPr>
              <a:t>Data line is obtained from </a:t>
            </a:r>
            <a:r>
              <a:rPr lang="en-US" sz="2800" b="1">
                <a:solidFill>
                  <a:srgbClr val="7030A0"/>
                </a:solidFill>
                <a:latin typeface="Cambria"/>
              </a:rPr>
              <a:t>“bit value”</a:t>
            </a:r>
          </a:p>
          <a:p>
            <a:pPr marL="914400" lvl="1" indent="-457200">
              <a:buFont typeface="Wingdings"/>
              <a:buChar char="Ø"/>
            </a:pPr>
            <a:r>
              <a:rPr lang="en-US" sz="2800">
                <a:latin typeface="Cambria"/>
              </a:rPr>
              <a:t>Address line is obtained from </a:t>
            </a:r>
            <a:r>
              <a:rPr lang="en-US" sz="2800" b="1">
                <a:solidFill>
                  <a:srgbClr val="7030A0"/>
                </a:solidFill>
                <a:latin typeface="Cambria"/>
              </a:rPr>
              <a:t>“Word value”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4318782" y="4529793"/>
            <a:ext cx="436098" cy="436098"/>
          </a:xfrm>
          <a:prstGeom prst="straightConnector1">
            <a:avLst/>
          </a:prstGeom>
          <a:ln w="3810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613009" y="4501657"/>
            <a:ext cx="492369" cy="492369"/>
          </a:xfrm>
          <a:prstGeom prst="straightConnector1">
            <a:avLst/>
          </a:prstGeom>
          <a:ln w="3810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B5A3A-74B1-4073-862A-19A649B77F38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ABD80-DCB7-434E-8AA4-FAC1A04A5B47}" type="slidenum">
              <a:rPr lang="en-US">
                <a:latin typeface="Cambria"/>
              </a:rPr>
              <a:t>28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 Line and Data Line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>
                <a:latin typeface="Cambria"/>
              </a:rPr>
              <a:t>The memory units that follows are specified by the number of </a:t>
            </a:r>
            <a:r>
              <a:rPr lang="en-US" sz="2800" b="1">
                <a:solidFill>
                  <a:srgbClr val="7030A0"/>
                </a:solidFill>
                <a:latin typeface="Cambria"/>
              </a:rPr>
              <a:t>words</a:t>
            </a:r>
            <a:r>
              <a:rPr lang="en-US" sz="2800">
                <a:latin typeface="Cambria"/>
              </a:rPr>
              <a:t> times, the number of </a:t>
            </a:r>
            <a:r>
              <a:rPr lang="en-US" sz="2800" b="1">
                <a:solidFill>
                  <a:srgbClr val="7030A0"/>
                </a:solidFill>
                <a:latin typeface="Cambria"/>
              </a:rPr>
              <a:t>bits</a:t>
            </a:r>
            <a:r>
              <a:rPr lang="en-US" sz="2800">
                <a:latin typeface="Cambria"/>
              </a:rPr>
              <a:t> per word. How many </a:t>
            </a:r>
            <a:r>
              <a:rPr lang="en-US" sz="2800" b="1">
                <a:solidFill>
                  <a:srgbClr val="FF0000"/>
                </a:solidFill>
                <a:latin typeface="Cambria"/>
              </a:rPr>
              <a:t>address lines </a:t>
            </a:r>
            <a:r>
              <a:rPr lang="en-US" sz="2800">
                <a:latin typeface="Cambria"/>
              </a:rPr>
              <a:t>and input output </a:t>
            </a:r>
            <a:r>
              <a:rPr lang="en-US" sz="2800" b="1">
                <a:solidFill>
                  <a:srgbClr val="FF0000"/>
                </a:solidFill>
                <a:latin typeface="Cambria"/>
              </a:rPr>
              <a:t>data lines </a:t>
            </a:r>
            <a:r>
              <a:rPr lang="en-US" sz="2800">
                <a:latin typeface="Cambria"/>
              </a:rPr>
              <a:t>are needed in each case? </a:t>
            </a:r>
          </a:p>
          <a:p>
            <a:pPr lvl="1"/>
            <a:r>
              <a:rPr lang="en-US" sz="2800">
                <a:latin typeface="Cambria"/>
              </a:rPr>
              <a:t>a) 8K × 16 				b) 2G × 8 			c) 16M × 32</a:t>
            </a:r>
          </a:p>
          <a:p>
            <a:pPr lvl="1"/>
            <a:r>
              <a:rPr lang="en-US" sz="2800">
                <a:latin typeface="Cambria"/>
              </a:rPr>
              <a:t>d) 256K × 64 			e) 64K × 8 			f) 2T × 8 </a:t>
            </a:r>
          </a:p>
          <a:p>
            <a:pPr lvl="1"/>
            <a:endParaRPr lang="en-US" sz="2800">
              <a:latin typeface="Cambria"/>
            </a:endParaRPr>
          </a:p>
          <a:p>
            <a:pPr lvl="1"/>
            <a:r>
              <a:rPr lang="en-US" sz="2800" b="1">
                <a:solidFill>
                  <a:srgbClr val="7030A0"/>
                </a:solidFill>
                <a:latin typeface="Cambria"/>
              </a:rPr>
              <a:t>Solution:</a:t>
            </a:r>
            <a:r>
              <a:rPr lang="en-US" sz="2800">
                <a:latin typeface="Cambria"/>
              </a:rPr>
              <a:t> </a:t>
            </a:r>
          </a:p>
          <a:p>
            <a:pPr lvl="1"/>
            <a:r>
              <a:rPr lang="en-US" sz="2800">
                <a:latin typeface="Cambria"/>
              </a:rPr>
              <a:t>Let, address line is denoted by “A” and data line is denoted by “D”.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625C7-7485-4654-8542-5FD8BE7B7A07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02130-0A8A-4CBB-89F9-48638E711EDA}" type="slidenum">
              <a:rPr lang="en-US">
                <a:latin typeface="Cambria"/>
              </a:rPr>
              <a:t>29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 Line and Data Line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a) 8K × 16</a:t>
                </a:r>
              </a:p>
              <a:p>
                <a:pPr lvl="1"/>
                <a:r>
                  <a:rPr lang="en-US" sz="2800">
                    <a:latin typeface="Cambria"/>
                  </a:rPr>
                  <a:t>D = 16 (Data Line)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8K × 16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16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16</a:t>
                </a:r>
              </a:p>
              <a:p>
                <a:pPr lvl="1"/>
                <a:r>
                  <a:rPr lang="en-US" sz="2800">
                    <a:latin typeface="Cambria"/>
                  </a:rPr>
                  <a:t>A = 13 (Address Line) 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a) 8K × 16</a:t>
                </a:r>
              </a:p>
              <a:p>
                <a:pPr lvl="1"/>
                <a:r>
                  <a:rPr lang="en-US" sz="2800">
                    <a:latin typeface="Cambria"/>
                  </a:rPr>
                  <a:t>D = 16 (Data Line)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8K × 16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:r>
                  <a:rPr/>
                  <a:t>23×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210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×</a:t>
                </a:r>
                <a:r>
                  <a:rPr lang="en-US" sz="2800">
                    <a:latin typeface="Cambria"/>
                  </a:rPr>
                  <a:t> 16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:r>
                  <a:rPr/>
                  <a:t>213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×</a:t>
                </a:r>
                <a:r>
                  <a:rPr lang="en-US" sz="2800">
                    <a:latin typeface="Cambria"/>
                  </a:rPr>
                  <a:t> 16</a:t>
                </a:r>
              </a:p>
              <a:p>
                <a:pPr lvl="1"/>
                <a:r>
                  <a:rPr lang="en-US" sz="2800">
                    <a:latin typeface="Cambria"/>
                  </a:rPr>
                  <a:t>A = 13 (Address Line) 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95FBF-8123-49EA-8787-4610F92A00C9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77E4B-5CEA-4025-8B70-AC24C01FA0F0}" type="slidenum">
              <a:rPr lang="en-US">
                <a:latin typeface="Cambria"/>
              </a:rPr>
              <a:t>30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 Line and Data Line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b) 2G × 8 </a:t>
                </a:r>
              </a:p>
              <a:p>
                <a:pPr lvl="1"/>
                <a:r>
                  <a:rPr lang="en-US" sz="2800">
                    <a:latin typeface="Cambria"/>
                  </a:rPr>
                  <a:t>D = 8 (Data Line)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2G × 8 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8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8</a:t>
                </a:r>
              </a:p>
              <a:p>
                <a:pPr lvl="1"/>
                <a:r>
                  <a:rPr lang="en-US" sz="2800">
                    <a:latin typeface="Cambria"/>
                  </a:rPr>
                  <a:t>A = 31 (Address Line) 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b) 2G × 8 </a:t>
                </a:r>
              </a:p>
              <a:p>
                <a:pPr lvl="1"/>
                <a:r>
                  <a:rPr lang="en-US" sz="2800">
                    <a:latin typeface="Cambria"/>
                  </a:rPr>
                  <a:t>D = 8 (Data Line)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2G × 8 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:r>
                  <a:rPr/>
                  <a:t>21×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230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×</a:t>
                </a:r>
                <a:r>
                  <a:rPr lang="en-US" sz="2800">
                    <a:latin typeface="Cambria"/>
                  </a:rPr>
                  <a:t> 8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:r>
                  <a:rPr/>
                  <a:t>231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×</a:t>
                </a:r>
                <a:r>
                  <a:rPr lang="en-US" sz="2800">
                    <a:latin typeface="Cambria"/>
                  </a:rPr>
                  <a:t> 8</a:t>
                </a:r>
              </a:p>
              <a:p>
                <a:pPr lvl="1"/>
                <a:r>
                  <a:rPr lang="en-US" sz="2800">
                    <a:latin typeface="Cambria"/>
                  </a:rPr>
                  <a:t>A = 31 (Address Line) 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E0D31-4448-4739-8CBC-27A6F11A4B3A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81F-7F0B-4B60-8552-86EC2BBBBBF5}" type="slidenum">
              <a:rPr lang="en-US">
                <a:latin typeface="Cambria"/>
              </a:rPr>
              <a:t>31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 Line and Data Line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c) 16M × 32</a:t>
                </a:r>
              </a:p>
              <a:p>
                <a:pPr lvl="1"/>
                <a:r>
                  <a:rPr lang="en-US" sz="2800">
                    <a:latin typeface="Cambria"/>
                  </a:rPr>
                  <a:t>D = 32 (Data Line)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16M × 32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32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32</a:t>
                </a:r>
              </a:p>
              <a:p>
                <a:pPr lvl="1"/>
                <a:r>
                  <a:rPr lang="en-US" sz="2800">
                    <a:latin typeface="Cambria"/>
                  </a:rPr>
                  <a:t>A = 24 (Address Line) 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c) 16M × 32</a:t>
                </a:r>
              </a:p>
              <a:p>
                <a:pPr lvl="1"/>
                <a:r>
                  <a:rPr lang="en-US" sz="2800">
                    <a:latin typeface="Cambria"/>
                  </a:rPr>
                  <a:t>D = 32 (Data Line)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16M × 32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:r>
                  <a:rPr/>
                  <a:t>24×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220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×</a:t>
                </a:r>
                <a:r>
                  <a:rPr lang="en-US" sz="2800">
                    <a:latin typeface="Cambria"/>
                  </a:rPr>
                  <a:t> 32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:r>
                  <a:rPr/>
                  <a:t>224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×</a:t>
                </a:r>
                <a:r>
                  <a:rPr lang="en-US" sz="2800">
                    <a:latin typeface="Cambria"/>
                  </a:rPr>
                  <a:t> 32</a:t>
                </a:r>
              </a:p>
              <a:p>
                <a:pPr lvl="1"/>
                <a:r>
                  <a:rPr lang="en-US" sz="2800">
                    <a:latin typeface="Cambria"/>
                  </a:rPr>
                  <a:t>A = 24 (Address Line) 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E021E-4588-4600-85B8-4FE9E4B5F41F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88D33-BBAA-4D9F-8F9E-DF2657CB7F02}" type="slidenum">
              <a:rPr lang="en-US">
                <a:latin typeface="Cambria"/>
              </a:rPr>
              <a:t>32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 Line and Data Line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d) 256K × 64 </a:t>
                </a:r>
              </a:p>
              <a:p>
                <a:pPr lvl="1"/>
                <a:r>
                  <a:rPr lang="en-US" sz="2800">
                    <a:latin typeface="Cambria"/>
                  </a:rPr>
                  <a:t>D = 64 (Data Line)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256K × 64 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64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64</a:t>
                </a:r>
              </a:p>
              <a:p>
                <a:pPr lvl="1"/>
                <a:r>
                  <a:rPr lang="en-US" sz="2800">
                    <a:latin typeface="Cambria"/>
                  </a:rPr>
                  <a:t>A = 18 (Address Line) 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d) 256K × 64 </a:t>
                </a:r>
              </a:p>
              <a:p>
                <a:pPr lvl="1"/>
                <a:r>
                  <a:rPr lang="en-US" sz="2800">
                    <a:latin typeface="Cambria"/>
                  </a:rPr>
                  <a:t>D = 64 (Data Line)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256K × 64 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:r>
                  <a:rPr/>
                  <a:t>28×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210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×</a:t>
                </a:r>
                <a:r>
                  <a:rPr lang="en-US" sz="2800">
                    <a:latin typeface="Cambria"/>
                  </a:rPr>
                  <a:t> 64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:r>
                  <a:rPr/>
                  <a:t>218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×</a:t>
                </a:r>
                <a:r>
                  <a:rPr lang="en-US" sz="2800">
                    <a:latin typeface="Cambria"/>
                  </a:rPr>
                  <a:t> 64</a:t>
                </a:r>
              </a:p>
              <a:p>
                <a:pPr lvl="1"/>
                <a:r>
                  <a:rPr lang="en-US" sz="2800">
                    <a:latin typeface="Cambria"/>
                  </a:rPr>
                  <a:t>A = 18 (Address Line) 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0CD2-4826-468F-8659-42C387CA7350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87927-9391-4972-8C9A-DD0B86DF8EEF}" type="slidenum">
              <a:rPr lang="en-US">
                <a:latin typeface="Cambria"/>
              </a:rPr>
              <a:t>33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 Line and Data Line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e) 64K × 8 </a:t>
                </a:r>
              </a:p>
              <a:p>
                <a:pPr lvl="1"/>
                <a:r>
                  <a:rPr lang="en-US" sz="2800">
                    <a:latin typeface="Cambria"/>
                  </a:rPr>
                  <a:t>D = 8 (Data Line)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64K × 8 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8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8</a:t>
                </a:r>
              </a:p>
              <a:p>
                <a:pPr lvl="1"/>
                <a:r>
                  <a:rPr lang="en-US" sz="2800">
                    <a:latin typeface="Cambria"/>
                  </a:rPr>
                  <a:t>A = 16 (Address Line) 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e) 64K × 8 </a:t>
                </a:r>
              </a:p>
              <a:p>
                <a:pPr lvl="1"/>
                <a:r>
                  <a:rPr lang="en-US" sz="2800">
                    <a:latin typeface="Cambria"/>
                  </a:rPr>
                  <a:t>D = 8 (Data Line)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64K × 8 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:r>
                  <a:rPr/>
                  <a:t>26×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210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×</a:t>
                </a:r>
                <a:r>
                  <a:rPr lang="en-US" sz="2800">
                    <a:latin typeface="Cambria"/>
                  </a:rPr>
                  <a:t> 8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:r>
                  <a:rPr/>
                  <a:t>216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×</a:t>
                </a:r>
                <a:r>
                  <a:rPr lang="en-US" sz="2800">
                    <a:latin typeface="Cambria"/>
                  </a:rPr>
                  <a:t> 8</a:t>
                </a:r>
              </a:p>
              <a:p>
                <a:pPr lvl="1"/>
                <a:r>
                  <a:rPr lang="en-US" sz="2800">
                    <a:latin typeface="Cambria"/>
                  </a:rPr>
                  <a:t>A = 16 (Address Line) 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5FF2-CCC0-401E-8EF0-3872B629082D}" type="datetime1">
              <a:rPr lang="en-US">
                <a:latin typeface="Cambria"/>
              </a:rPr>
              <a:t>11/4/2025</a:t>
            </a:fld>
            <a:endParaRPr lang="en-US">
              <a:latin typeface="Cambr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D13BB-211F-46C1-8A95-6E8277DF4C6C}" type="slidenum">
              <a:rPr lang="en-US">
                <a:latin typeface="Cambria"/>
              </a:rPr>
              <a:t>34</a:t>
            </a:fld>
            <a:endParaRPr lang="en-US">
              <a:latin typeface="Cambria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just"/>
            <a:r>
              <a:rPr lang="en-US" sz="3200" b="1">
                <a:solidFill>
                  <a:schemeClr val="accent2"/>
                </a:solidFill>
                <a:latin typeface="Cambria"/>
                <a:cs typeface="Arial"/>
              </a:rPr>
              <a:t>	Address Line and Data Line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f) 2T × 8 </a:t>
                </a:r>
              </a:p>
              <a:p>
                <a:pPr lvl="1"/>
                <a:r>
                  <a:rPr lang="en-US" sz="2800">
                    <a:latin typeface="Cambria"/>
                  </a:rPr>
                  <a:t>D = 8 (Data Line)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2T × 8 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8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14:m xmlns:a14="http://schemas.microsoft.com/office/drawing/2010/main"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41</m:t>
                        </m:r>
                      </m:sup>
                    </m:sSup>
                  </m:oMath>
                </a14:m>
                <a:r>
                  <a:rPr lang="en-US" sz="2800">
                    <a:latin typeface="Cambria"/>
                  </a:rPr>
                  <a:t> </a:t>
                </a:r>
                <a14:m xmlns:a14="http://schemas.microsoft.com/office/drawing/2010/main"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>
                    <a:latin typeface="Cambria"/>
                  </a:rPr>
                  <a:t> 8</a:t>
                </a:r>
              </a:p>
              <a:p>
                <a:pPr lvl="1"/>
                <a:r>
                  <a:rPr lang="en-US" sz="2800">
                    <a:latin typeface="Cambria"/>
                  </a:rPr>
                  <a:t>A = 41 (Address Line) 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>
                    <a:solidFill>
                      <a:srgbClr val="7030A0"/>
                    </a:solidFill>
                    <a:latin typeface="Cambria"/>
                  </a:rPr>
                  <a:t>Solution:</a:t>
                </a:r>
                <a:r>
                  <a:rPr lang="en-US" sz="2800">
                    <a:latin typeface="Cambria"/>
                  </a:rPr>
                  <a:t> </a:t>
                </a:r>
              </a:p>
              <a:p>
                <a:pPr lvl="1"/>
                <a:r>
                  <a:rPr lang="en-US" sz="2800" b="1">
                    <a:latin typeface="Cambria"/>
                  </a:rPr>
                  <a:t>f) 2T × 8 </a:t>
                </a:r>
              </a:p>
              <a:p>
                <a:pPr lvl="1"/>
                <a:r>
                  <a:rPr lang="en-US" sz="2800">
                    <a:latin typeface="Cambria"/>
                  </a:rPr>
                  <a:t>D = 8 (Data Line)</a:t>
                </a:r>
              </a:p>
              <a:p>
                <a:pPr lvl="1"/>
                <a:endParaRPr lang="en-US" sz="2800">
                  <a:latin typeface="Cambria"/>
                </a:endParaRPr>
              </a:p>
              <a:p>
                <a:pPr lvl="1"/>
                <a:r>
                  <a:rPr lang="en-US" sz="2800">
                    <a:latin typeface="Cambria"/>
                  </a:rPr>
                  <a:t>2T × 8 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:r>
                  <a:rPr/>
                  <a:t>21×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240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×</a:t>
                </a:r>
                <a:r>
                  <a:rPr lang="en-US" sz="2800">
                    <a:latin typeface="Cambria"/>
                  </a:rPr>
                  <a:t> 8</a:t>
                </a:r>
              </a:p>
              <a:p>
                <a:pPr lvl="1"/>
                <a:r>
                  <a:rPr lang="en-US" sz="2800">
                    <a:latin typeface="Cambria"/>
                  </a:rPr>
                  <a:t>= </a:t>
                </a:r>
                <a:r>
                  <a:rPr/>
                  <a:t>241</a:t>
                </a:r>
                <a:r>
                  <a:rPr lang="en-US" sz="2800">
                    <a:latin typeface="Cambria"/>
                  </a:rPr>
                  <a:t> </a:t>
                </a:r>
                <a:r>
                  <a:rPr/>
                  <a:t>×</a:t>
                </a:r>
                <a:r>
                  <a:rPr lang="en-US" sz="2800">
                    <a:latin typeface="Cambria"/>
                  </a:rPr>
                  <a:t> 8</a:t>
                </a:r>
              </a:p>
              <a:p>
                <a:pPr lvl="1"/>
                <a:r>
                  <a:rPr lang="en-US" sz="2800">
                    <a:latin typeface="Cambria"/>
                  </a:rPr>
                  <a:t>A = 41 (Address Line) 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sh dir="u"/>
      </p:transition>
    </mc:Choice>
    <mc:Fallback>
      <p:transition spd="med">
        <p:push dir="u"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34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Md. Adnan Sami</cp:lastModifiedBy>
  <cp:revision>393</cp:revision>
  <dcterms:created xsi:type="dcterms:W3CDTF">2025-01-23T20:11:31Z</dcterms:created>
  <dcterms:modified xsi:type="dcterms:W3CDTF">2025-11-04T04:56:57Z</dcterms:modified>
</cp:coreProperties>
</file>