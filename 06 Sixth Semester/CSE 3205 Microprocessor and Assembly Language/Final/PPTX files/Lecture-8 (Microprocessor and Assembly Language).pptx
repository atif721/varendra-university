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79" r:id="rId4"/>
    <p:sldId id="280" r:id="rId5"/>
    <p:sldId id="281" r:id="rId6"/>
    <p:sldId id="283" r:id="rId7"/>
    <p:sldId id="282" r:id="rId8"/>
    <p:sldId id="285" r:id="rId9"/>
    <p:sldId id="286" r:id="rId10"/>
    <p:sldId id="287" r:id="rId11"/>
    <p:sldId id="284" r:id="rId12"/>
    <p:sldId id="290" r:id="rId13"/>
    <p:sldId id="289" r:id="rId14"/>
    <p:sldId id="291" r:id="rId15"/>
    <p:sldId id="294" r:id="rId16"/>
    <p:sldId id="295" r:id="rId17"/>
    <p:sldId id="296" r:id="rId18"/>
    <p:sldId id="292" r:id="rId19"/>
    <p:sldId id="299" r:id="rId20"/>
    <p:sldId id="307" r:id="rId21"/>
    <p:sldId id="298" r:id="rId22"/>
    <p:sldId id="293" r:id="rId23"/>
    <p:sldId id="303" r:id="rId24"/>
    <p:sldId id="304" r:id="rId25"/>
    <p:sldId id="305" r:id="rId26"/>
    <p:sldId id="301" r:id="rId27"/>
    <p:sldId id="302" r:id="rId28"/>
    <p:sldId id="306" r:id="rId29"/>
  </p:sldIdLst>
  <p:sldSz cx="9906000" cy="6858000" type="A4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633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3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0C9C90-C7B7-41AD-B1B1-5387A5B2466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00363" y="857250"/>
            <a:ext cx="3343275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E2461A-9855-48E6-8F62-3A205CD09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1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86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061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7625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80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565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36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9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563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50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1322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231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161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76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10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8102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382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050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625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93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8048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552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6864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11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61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082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E2461A-9855-48E6-8F62-3A205CD09D9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066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07F09-F1A6-4957-81DB-43CB0B0B4530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3765583" y="1437589"/>
            <a:ext cx="2372628" cy="3688594"/>
          </a:xfrm>
          <a:prstGeom prst="rect">
            <a:avLst/>
          </a:prstGeom>
          <a:blipFill dpi="0" rotWithShape="1">
            <a:blip r:embed="rId2">
              <a:alphaModFix amt="18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420535"/>
      </p:ext>
    </p:extLst>
  </p:cSld>
  <p:clrMapOvr>
    <a:masterClrMapping/>
  </p:clrMapOvr>
  <p:transition spd="med">
    <p:push dir="u"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705CB-0645-410B-9FF6-4A47DA862B47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38751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8FBE4-A88C-43D5-AE4F-8B4E6A7E5649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72530"/>
      </p:ext>
    </p:extLst>
  </p:cSld>
  <p:clrMapOvr>
    <a:masterClrMapping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13FDD-450C-49DF-A9FA-2E0CD076A18C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067326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40B2C-E306-4CDA-919C-27E9ABFCB224}" type="datetime1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670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FBFF9-BA53-4AA4-968B-FA743C6ECCE7}" type="datetime1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4529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B7FE-DA48-4D44-8473-96427354A43D}" type="datetime1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961422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43A33-3364-475F-98E7-007AFB73C295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36805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F8480-48B5-47F4-B1EF-ED2EAF3D2019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9236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1E98-4F27-46D8-B9A5-3F6C92AE46A3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216844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8DFBF-319F-4B2D-B51E-716D6479BD31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143908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EC111-EA99-4472-85A7-07A3E684B408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EF5767-624D-46AC-ADD7-140D9A2A5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187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med">
    <p:push dir="u"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24" t="3592" r="20538" b="5226"/>
          <a:stretch/>
        </p:blipFill>
        <p:spPr>
          <a:xfrm>
            <a:off x="4461538" y="154206"/>
            <a:ext cx="1005194" cy="15577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1828800"/>
            <a:ext cx="9906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err="1">
                <a:latin typeface="Cambria" pitchFamily="18" charset="0"/>
                <a:ea typeface="Cambria" pitchFamily="18" charset="0"/>
              </a:rPr>
              <a:t>Varendra</a:t>
            </a:r>
            <a:r>
              <a:rPr lang="en-US" sz="3000" b="1" dirty="0">
                <a:latin typeface="Cambria" pitchFamily="18" charset="0"/>
                <a:ea typeface="Cambria" pitchFamily="18" charset="0"/>
              </a:rPr>
              <a:t>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438402"/>
            <a:ext cx="990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rgbClr val="D5633D"/>
                </a:solidFill>
                <a:latin typeface="Cambria" pitchFamily="18" charset="0"/>
                <a:ea typeface="Cambria" pitchFamily="18" charset="0"/>
              </a:rPr>
              <a:t>Dept. of Computer Science &amp; Engineering (CSE)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3328216"/>
            <a:ext cx="990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ambria" pitchFamily="18" charset="0"/>
                <a:ea typeface="Cambria" pitchFamily="18" charset="0"/>
              </a:rPr>
              <a:t>Flow Control Instructions (Chapter-6)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161506"/>
            <a:ext cx="9906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solidFill>
                  <a:srgbClr val="7030A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Course Title: </a:t>
            </a:r>
            <a:r>
              <a:rPr lang="en-US" sz="2200" b="1" dirty="0">
                <a:solidFill>
                  <a:srgbClr val="7030A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Microprocessor and Assembly Language</a:t>
            </a:r>
          </a:p>
          <a:p>
            <a:pPr algn="ctr"/>
            <a:r>
              <a:rPr lang="en-US" sz="2200" dirty="0">
                <a:solidFill>
                  <a:srgbClr val="7030A0"/>
                </a:solidFill>
                <a:latin typeface="Cambria" pitchFamily="18" charset="0"/>
                <a:ea typeface="Cambria" pitchFamily="18" charset="0"/>
              </a:rPr>
              <a:t>Course No: </a:t>
            </a:r>
            <a:r>
              <a:rPr lang="en-US" sz="2200" b="1" dirty="0">
                <a:solidFill>
                  <a:srgbClr val="7030A0"/>
                </a:solidFill>
                <a:latin typeface="Cambria" pitchFamily="18" charset="0"/>
                <a:ea typeface="Cambria" pitchFamily="18" charset="0"/>
              </a:rPr>
              <a:t>CSE 3205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38" y="5256703"/>
            <a:ext cx="9906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Cambria" pitchFamily="18" charset="0"/>
              </a:rPr>
              <a:t>Prepared By:</a:t>
            </a:r>
          </a:p>
          <a:p>
            <a:pPr algn="ctr"/>
            <a:r>
              <a:rPr lang="en-US" sz="2200" dirty="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Cambria" pitchFamily="18" charset="0"/>
              </a:rPr>
              <a:t>Md. Adnan Sami</a:t>
            </a:r>
          </a:p>
          <a:p>
            <a:pPr algn="ctr"/>
            <a:r>
              <a:rPr lang="en-US" sz="2200" dirty="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Cambria" pitchFamily="18" charset="0"/>
              </a:rPr>
              <a:t>Lecturer, Dept. of CSE, VU</a:t>
            </a:r>
            <a:endParaRPr lang="en-US" sz="22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500965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304288"/>
            <a:ext cx="9908666" cy="58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 eaLnBrk="1" hangingPunct="1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Outline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1042219"/>
            <a:ext cx="9906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Cambria" panose="02040503050406030204" pitchFamily="18" charset="0"/>
              </a:rPr>
              <a:t>An example of Jump.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Cambria" panose="02040503050406030204" pitchFamily="18" charset="0"/>
              </a:rPr>
              <a:t>The CMP instruction.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Cambria" panose="02040503050406030204" pitchFamily="18" charset="0"/>
              </a:rPr>
              <a:t>Example 6.1.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Cambria" panose="02040503050406030204" pitchFamily="18" charset="0"/>
              </a:rPr>
              <a:t>The JMP Instruction.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Cambria" panose="02040503050406030204" pitchFamily="18" charset="0"/>
              </a:rPr>
              <a:t>High-Level Language Structure.  </a:t>
            </a:r>
          </a:p>
        </p:txBody>
      </p:sp>
    </p:spTree>
    <p:extLst>
      <p:ext uri="{BB962C8B-B14F-4D97-AF65-F5344CB8AC3E}">
        <p14:creationId xmlns:p14="http://schemas.microsoft.com/office/powerpoint/2010/main" val="479960429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3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An example of Jump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0D00014-26F9-4D3F-90E1-C388BE8FBBDA}"/>
              </a:ext>
            </a:extLst>
          </p:cNvPr>
          <p:cNvGrpSpPr/>
          <p:nvPr/>
        </p:nvGrpSpPr>
        <p:grpSpPr>
          <a:xfrm>
            <a:off x="803031" y="863217"/>
            <a:ext cx="8576676" cy="5342004"/>
            <a:chOff x="681038" y="805307"/>
            <a:chExt cx="8576676" cy="5342004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67C448A-92A6-4E4B-BE67-8F6D56EA3D70}"/>
                </a:ext>
              </a:extLst>
            </p:cNvPr>
            <p:cNvGrpSpPr/>
            <p:nvPr/>
          </p:nvGrpSpPr>
          <p:grpSpPr>
            <a:xfrm>
              <a:off x="681038" y="805307"/>
              <a:ext cx="8392880" cy="5342004"/>
              <a:chOff x="1024892" y="922648"/>
              <a:chExt cx="6551108" cy="3982449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C75851F2-B578-4C32-875D-F1A2830331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31412" y="922648"/>
                <a:ext cx="6544588" cy="2172003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828B9469-6877-4010-8A3E-76E14FCD5B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4892" y="2980778"/>
                <a:ext cx="5753903" cy="1924319"/>
              </a:xfrm>
              <a:prstGeom prst="rect">
                <a:avLst/>
              </a:prstGeom>
            </p:spPr>
          </p:pic>
        </p:grpSp>
        <p:sp>
          <p:nvSpPr>
            <p:cNvPr id="8" name="TextBox 7"/>
            <p:cNvSpPr txBox="1"/>
            <p:nvPr/>
          </p:nvSpPr>
          <p:spPr>
            <a:xfrm>
              <a:off x="4953000" y="5087212"/>
              <a:ext cx="430471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2800" b="1" dirty="0">
                  <a:solidFill>
                    <a:srgbClr val="FF0000"/>
                  </a:solidFill>
                  <a:latin typeface="Cambria" panose="02040503050406030204" pitchFamily="18" charset="0"/>
                </a:rPr>
                <a:t>JNZ = Jump if Not Zero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7222468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4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The CMP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835736"/>
            <a:ext cx="9906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dirty="0">
                <a:latin typeface="Cambria" panose="02040503050406030204" pitchFamily="18" charset="0"/>
              </a:rPr>
              <a:t>This instruction compares destination and source by computing </a:t>
            </a:r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destination contents minus source contents</a:t>
            </a:r>
            <a:r>
              <a:rPr lang="en-US" sz="2800" dirty="0">
                <a:latin typeface="Cambria" panose="02040503050406030204" pitchFamily="18" charset="0"/>
              </a:rPr>
              <a:t>. The result is not stored, but the flags are affected. 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For Example: 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3794F4-1235-47E8-AA10-1EE3B216DA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8601" y="2344380"/>
            <a:ext cx="4434850" cy="485568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45C0C8-5AEC-4871-B7B0-92236E700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239" y="3604258"/>
            <a:ext cx="8826263" cy="146866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0093185"/>
      </p:ext>
    </p:extLst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5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Example 6.1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835736"/>
            <a:ext cx="9906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Assembly Code Problem: </a:t>
            </a:r>
            <a:r>
              <a:rPr lang="en-US" sz="2800" dirty="0">
                <a:latin typeface="Cambria" panose="02040503050406030204" pitchFamily="18" charset="0"/>
              </a:rPr>
              <a:t>Suppose AX and BX contain signed numbers. Write some code to put the biggest one in CX.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Solution: 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A7F63-3A17-4CDD-AFB0-13D591332A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7"/>
          <a:stretch/>
        </p:blipFill>
        <p:spPr>
          <a:xfrm>
            <a:off x="792630" y="3243145"/>
            <a:ext cx="8432333" cy="189156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6F6CD-DAD1-48D3-8439-79D8D842ABB9}"/>
              </a:ext>
            </a:extLst>
          </p:cNvPr>
          <p:cNvSpPr txBox="1"/>
          <p:nvPr/>
        </p:nvSpPr>
        <p:spPr>
          <a:xfrm>
            <a:off x="0" y="5334853"/>
            <a:ext cx="9905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JLE = Jump if Less than or Equal </a:t>
            </a:r>
          </a:p>
        </p:txBody>
      </p:sp>
    </p:spTree>
    <p:extLst>
      <p:ext uri="{BB962C8B-B14F-4D97-AF65-F5344CB8AC3E}">
        <p14:creationId xmlns:p14="http://schemas.microsoft.com/office/powerpoint/2010/main" val="2870586219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Example 6.1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2852"/>
            <a:ext cx="9906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200" b="1" dirty="0">
                <a:solidFill>
                  <a:srgbClr val="7030A0"/>
                </a:solidFill>
                <a:latin typeface="Cambria" panose="02040503050406030204" pitchFamily="18" charset="0"/>
              </a:rPr>
              <a:t>Full Code: </a:t>
            </a:r>
            <a:endParaRPr lang="en-US" sz="2200" dirty="0">
              <a:latin typeface="Cambria" panose="02040503050406030204" pitchFamily="18" charset="0"/>
            </a:endParaRP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.MODEL SMALL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.STACK 100H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.DATA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.CODE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 MAIN PROC  </a:t>
            </a:r>
          </a:p>
          <a:p>
            <a:pPr lvl="2"/>
            <a:r>
              <a:rPr lang="en-US" sz="2200" dirty="0">
                <a:latin typeface="Cambria" panose="02040503050406030204" pitchFamily="18" charset="0"/>
              </a:rPr>
              <a:t> </a:t>
            </a:r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MOV AX,6H</a:t>
            </a:r>
          </a:p>
          <a:p>
            <a:pPr lvl="2"/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 MOV BX,10H</a:t>
            </a:r>
          </a:p>
          <a:p>
            <a:pPr lvl="2"/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 MOV CX,AX</a:t>
            </a:r>
          </a:p>
          <a:p>
            <a:pPr lvl="2"/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 CMP BX,CX</a:t>
            </a:r>
          </a:p>
          <a:p>
            <a:pPr lvl="2"/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 JLE NEXT</a:t>
            </a:r>
          </a:p>
          <a:p>
            <a:pPr lvl="2"/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 MOV CX,BX  </a:t>
            </a:r>
          </a:p>
          <a:p>
            <a:pPr lvl="2"/>
            <a:r>
              <a:rPr lang="en-US" sz="2200" dirty="0">
                <a:solidFill>
                  <a:srgbClr val="0070C0"/>
                </a:solidFill>
                <a:latin typeface="Cambria" panose="02040503050406030204" pitchFamily="18" charset="0"/>
              </a:rPr>
              <a:t> NEXT: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 MOV AH,4CH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 INT 21H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 MAIN ENDP</a:t>
            </a:r>
          </a:p>
          <a:p>
            <a:pPr lvl="1"/>
            <a:r>
              <a:rPr lang="en-US" sz="2200" dirty="0">
                <a:latin typeface="Cambria" panose="02040503050406030204" pitchFamily="18" charset="0"/>
              </a:rPr>
              <a:t> END MAIN</a:t>
            </a:r>
          </a:p>
          <a:p>
            <a:pPr lvl="1"/>
            <a:endParaRPr lang="en-US" sz="2200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662677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7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4768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The JMP Instruction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5F12E0-0F9F-4A6C-9F14-8B0224ECB5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4539" y="484205"/>
            <a:ext cx="6423195" cy="60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37562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8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The JMP Instruction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748DB1-C59F-4DD5-B5D4-C3A40D4E0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774" y="712087"/>
            <a:ext cx="7775205" cy="550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81252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9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The JMP Instruction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B17194-C7CB-4A4B-B9BF-6F95FA991F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038" y="1164043"/>
            <a:ext cx="8804116" cy="4139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221074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10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The JMP Instruction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697B5-C2B0-4895-8D36-2F615DF135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53" y="782258"/>
            <a:ext cx="8659910" cy="550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67256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11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latin typeface="Cambria" panose="02040503050406030204" pitchFamily="18" charset="0"/>
              </a:rPr>
              <a:t>Branching Structure: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IF-THEN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IF-THEN-ELSE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CASE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Branches with Compound Conditions: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AND Conditions 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OR Conditions 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Looping Structure:  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For Loop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While Loop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Repeat Loop</a:t>
            </a:r>
          </a:p>
        </p:txBody>
      </p:sp>
    </p:spTree>
    <p:extLst>
      <p:ext uri="{BB962C8B-B14F-4D97-AF65-F5344CB8AC3E}">
        <p14:creationId xmlns:p14="http://schemas.microsoft.com/office/powerpoint/2010/main" val="2143025519"/>
      </p:ext>
    </p:extLst>
  </p:cSld>
  <p:clrMapOvr>
    <a:masterClrMapping/>
  </p:clrMapOvr>
  <p:transition spd="med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12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Branching Structure: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(IF-THEN)</a:t>
            </a:r>
          </a:p>
          <a:p>
            <a:pPr lvl="1"/>
            <a:endParaRPr lang="en-US" sz="2800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Syntax:</a:t>
            </a:r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 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789A19-FB18-4C92-B480-59CC75876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463" y="1591798"/>
            <a:ext cx="5117835" cy="14165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A6C0B20-EC53-4970-94F7-F03DADD08A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718" y="2637132"/>
            <a:ext cx="3003986" cy="37192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3A1CAF-F178-4E2D-B1AF-AFF0767061BF}"/>
              </a:ext>
            </a:extLst>
          </p:cNvPr>
          <p:cNvSpPr txBox="1"/>
          <p:nvPr/>
        </p:nvSpPr>
        <p:spPr>
          <a:xfrm>
            <a:off x="84408" y="3408116"/>
            <a:ext cx="6624638" cy="22467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lvl="1"/>
            <a:r>
              <a:rPr lang="en-US" sz="2800" dirty="0">
                <a:latin typeface="Cambria" panose="02040503050406030204" pitchFamily="18" charset="0"/>
              </a:rPr>
              <a:t>The condition is an expression that is true or false. If it is true, the </a:t>
            </a:r>
          </a:p>
          <a:p>
            <a:pPr lvl="1"/>
            <a:r>
              <a:rPr lang="en-US" sz="2800" dirty="0">
                <a:latin typeface="Cambria" panose="02040503050406030204" pitchFamily="18" charset="0"/>
              </a:rPr>
              <a:t>true-branch statements are executed. If it is false, nothing is done and the </a:t>
            </a:r>
          </a:p>
          <a:p>
            <a:pPr lvl="1"/>
            <a:r>
              <a:rPr lang="en-US" sz="2800" dirty="0">
                <a:latin typeface="Cambria" panose="02040503050406030204" pitchFamily="18" charset="0"/>
              </a:rPr>
              <a:t>program goes on to whatever follows.</a:t>
            </a:r>
          </a:p>
        </p:txBody>
      </p:sp>
    </p:spTree>
    <p:extLst>
      <p:ext uri="{BB962C8B-B14F-4D97-AF65-F5344CB8AC3E}">
        <p14:creationId xmlns:p14="http://schemas.microsoft.com/office/powerpoint/2010/main" val="293504574"/>
      </p:ext>
    </p:extLst>
  </p:cSld>
  <p:clrMapOvr>
    <a:masterClrMapping/>
  </p:clrMapOvr>
  <p:transition spd="med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13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Branching Structure: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(IF-THEN-ELSE)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Syntax:</a:t>
            </a:r>
            <a:endParaRPr lang="en-US" sz="2800" dirty="0"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EBDFD-82D4-49FD-8643-9FEF1E6992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463" y="1605753"/>
            <a:ext cx="4649747" cy="17810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F26676-E89A-4C25-8255-10478D86F4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4" y="2936973"/>
            <a:ext cx="3157537" cy="34475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550B28-CEAF-4699-AA96-52EA2148A4F1}"/>
              </a:ext>
            </a:extLst>
          </p:cNvPr>
          <p:cNvSpPr txBox="1"/>
          <p:nvPr/>
        </p:nvSpPr>
        <p:spPr>
          <a:xfrm>
            <a:off x="107606" y="3752560"/>
            <a:ext cx="6624638" cy="1815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lvl="1"/>
            <a:r>
              <a:rPr lang="en-US" sz="2800" dirty="0">
                <a:latin typeface="Cambria" panose="02040503050406030204" pitchFamily="18" charset="0"/>
              </a:rPr>
              <a:t>if condition is true, the true-branch statements are executed. If condition is false, the false-branch statements are done. </a:t>
            </a:r>
          </a:p>
        </p:txBody>
      </p:sp>
    </p:spTree>
    <p:extLst>
      <p:ext uri="{BB962C8B-B14F-4D97-AF65-F5344CB8AC3E}">
        <p14:creationId xmlns:p14="http://schemas.microsoft.com/office/powerpoint/2010/main" val="3784966412"/>
      </p:ext>
    </p:extLst>
  </p:cSld>
  <p:clrMapOvr>
    <a:masterClrMapping/>
  </p:clrMapOvr>
  <p:transition spd="med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14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Branching Structure:</a:t>
            </a:r>
            <a:r>
              <a:rPr lang="en-US" sz="2800" b="1" dirty="0">
                <a:latin typeface="Cambria" panose="02040503050406030204" pitchFamily="18" charset="0"/>
              </a:rPr>
              <a:t>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(CASE)</a:t>
            </a: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Syntax:</a:t>
            </a: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D0B6D8-7128-4349-B7C6-5349434A0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213" y="1691015"/>
            <a:ext cx="3572710" cy="22686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11F68D-A67A-4ADD-9B41-37A178C9EB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4580" y="3250860"/>
            <a:ext cx="4325007" cy="313362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6AFF1A-E5F5-49FB-A288-E161580E355F}"/>
              </a:ext>
            </a:extLst>
          </p:cNvPr>
          <p:cNvSpPr txBox="1"/>
          <p:nvPr/>
        </p:nvSpPr>
        <p:spPr>
          <a:xfrm>
            <a:off x="135742" y="3974333"/>
            <a:ext cx="5428838" cy="1815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lvl="1"/>
            <a:r>
              <a:rPr lang="en-US" sz="2800" dirty="0">
                <a:latin typeface="Cambria" panose="02040503050406030204" pitchFamily="18" charset="0"/>
              </a:rPr>
              <a:t>In this structure, expression is tested; if its value is a member of the set </a:t>
            </a:r>
            <a:r>
              <a:rPr lang="en-US" sz="2800" dirty="0" err="1">
                <a:latin typeface="Cambria" panose="02040503050406030204" pitchFamily="18" charset="0"/>
              </a:rPr>
              <a:t>values_i</a:t>
            </a:r>
            <a:r>
              <a:rPr lang="en-US" sz="2800" dirty="0">
                <a:latin typeface="Cambria" panose="02040503050406030204" pitchFamily="18" charset="0"/>
              </a:rPr>
              <a:t>, then </a:t>
            </a:r>
            <a:r>
              <a:rPr lang="en-US" sz="2800" dirty="0" err="1">
                <a:latin typeface="Cambria" panose="02040503050406030204" pitchFamily="18" charset="0"/>
              </a:rPr>
              <a:t>statements_i</a:t>
            </a:r>
            <a:r>
              <a:rPr lang="en-US" sz="2800" dirty="0">
                <a:latin typeface="Cambria" panose="02040503050406030204" pitchFamily="18" charset="0"/>
              </a:rPr>
              <a:t> are executed. </a:t>
            </a:r>
          </a:p>
        </p:txBody>
      </p:sp>
    </p:spTree>
    <p:extLst>
      <p:ext uri="{BB962C8B-B14F-4D97-AF65-F5344CB8AC3E}">
        <p14:creationId xmlns:p14="http://schemas.microsoft.com/office/powerpoint/2010/main" val="1030524975"/>
      </p:ext>
    </p:extLst>
  </p:cSld>
  <p:clrMapOvr>
    <a:masterClrMapping/>
  </p:clrMapOvr>
  <p:transition spd="med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15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Example 6.5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835736"/>
            <a:ext cx="9906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Assembly Code Problem: </a:t>
            </a:r>
            <a:r>
              <a:rPr lang="en-US" sz="2800" dirty="0">
                <a:latin typeface="Cambria" panose="02040503050406030204" pitchFamily="18" charset="0"/>
              </a:rPr>
              <a:t>If AL contains 1 or 3, display "o"; if AL contains 2 or 4, display "e".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1C224EF-6D4C-D429-BE22-1C0A645A8ACD}"/>
              </a:ext>
            </a:extLst>
          </p:cNvPr>
          <p:cNvGrpSpPr/>
          <p:nvPr/>
        </p:nvGrpSpPr>
        <p:grpSpPr>
          <a:xfrm>
            <a:off x="2436061" y="2346495"/>
            <a:ext cx="5455918" cy="2869809"/>
            <a:chOff x="2126567" y="1322917"/>
            <a:chExt cx="5455918" cy="2869809"/>
          </a:xfrm>
        </p:grpSpPr>
        <p:sp>
          <p:nvSpPr>
            <p:cNvPr id="3" name="Cloud 2">
              <a:extLst>
                <a:ext uri="{FF2B5EF4-FFF2-40B4-BE49-F238E27FC236}">
                  <a16:creationId xmlns:a16="http://schemas.microsoft.com/office/drawing/2014/main" id="{85311928-EF9B-FCDA-9B3E-E66E93926D9F}"/>
                </a:ext>
              </a:extLst>
            </p:cNvPr>
            <p:cNvSpPr/>
            <p:nvPr/>
          </p:nvSpPr>
          <p:spPr>
            <a:xfrm>
              <a:off x="2126567" y="1322917"/>
              <a:ext cx="4869546" cy="2869809"/>
            </a:xfrm>
            <a:prstGeom prst="cloud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8265BF-D027-C2ED-C311-267750496B5B}"/>
                </a:ext>
              </a:extLst>
            </p:cNvPr>
            <p:cNvSpPr txBox="1"/>
            <p:nvPr/>
          </p:nvSpPr>
          <p:spPr>
            <a:xfrm>
              <a:off x="2630659" y="1943142"/>
              <a:ext cx="4951826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Done in Lab. </a:t>
              </a:r>
            </a:p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Follow this code.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0113094"/>
      </p:ext>
    </p:extLst>
  </p:cSld>
  <p:clrMapOvr>
    <a:masterClrMapping/>
  </p:clrMapOvr>
  <p:transition spd="med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Example 6.5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835736"/>
            <a:ext cx="990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latin typeface="Cambria" panose="02040503050406030204" pitchFamily="18" charset="0"/>
              </a:rPr>
              <a:t>Solution: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B27DC4-5B4E-44CA-8F52-F2629376D0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5196" y="946751"/>
            <a:ext cx="5579660" cy="54749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6F6CD-DAD1-48D3-8439-79D8D842ABB9}"/>
              </a:ext>
            </a:extLst>
          </p:cNvPr>
          <p:cNvSpPr txBox="1"/>
          <p:nvPr/>
        </p:nvSpPr>
        <p:spPr>
          <a:xfrm>
            <a:off x="5070121" y="1733523"/>
            <a:ext cx="48358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JE = Jump if Equal </a:t>
            </a:r>
          </a:p>
        </p:txBody>
      </p:sp>
    </p:spTree>
    <p:extLst>
      <p:ext uri="{BB962C8B-B14F-4D97-AF65-F5344CB8AC3E}">
        <p14:creationId xmlns:p14="http://schemas.microsoft.com/office/powerpoint/2010/main" val="540011364"/>
      </p:ext>
    </p:extLst>
  </p:cSld>
  <p:clrMapOvr>
    <a:masterClrMapping/>
  </p:clrMapOvr>
  <p:transition spd="med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17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Example 6.5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835736"/>
            <a:ext cx="990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Assembly Code Problem: </a:t>
            </a:r>
            <a:r>
              <a:rPr lang="en-US" sz="2800" dirty="0">
                <a:latin typeface="Cambria" panose="02040503050406030204" pitchFamily="18" charset="0"/>
              </a:rPr>
              <a:t>If AL contains 1 or 3, display "o"; if AL contains 2 or 4, display "e".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Full Code: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1502616-FCBB-4E7F-8A45-A35A38F1B263}"/>
              </a:ext>
            </a:extLst>
          </p:cNvPr>
          <p:cNvGrpSpPr/>
          <p:nvPr/>
        </p:nvGrpSpPr>
        <p:grpSpPr>
          <a:xfrm>
            <a:off x="2436061" y="2729274"/>
            <a:ext cx="5455918" cy="2869809"/>
            <a:chOff x="2126567" y="1322917"/>
            <a:chExt cx="5455918" cy="2869809"/>
          </a:xfrm>
        </p:grpSpPr>
        <p:sp>
          <p:nvSpPr>
            <p:cNvPr id="10" name="Cloud 9">
              <a:extLst>
                <a:ext uri="{FF2B5EF4-FFF2-40B4-BE49-F238E27FC236}">
                  <a16:creationId xmlns:a16="http://schemas.microsoft.com/office/drawing/2014/main" id="{2EADE9D3-7DD1-45E0-910F-6BE79FA5227C}"/>
                </a:ext>
              </a:extLst>
            </p:cNvPr>
            <p:cNvSpPr/>
            <p:nvPr/>
          </p:nvSpPr>
          <p:spPr>
            <a:xfrm>
              <a:off x="2126567" y="1322917"/>
              <a:ext cx="4869546" cy="2869809"/>
            </a:xfrm>
            <a:prstGeom prst="cloud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9C3B0D-2F93-437C-B907-075F8ECAD03E}"/>
                </a:ext>
              </a:extLst>
            </p:cNvPr>
            <p:cNvSpPr txBox="1"/>
            <p:nvPr/>
          </p:nvSpPr>
          <p:spPr>
            <a:xfrm>
              <a:off x="2630659" y="1943142"/>
              <a:ext cx="4951826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Done in Lab. </a:t>
              </a:r>
            </a:p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Follow this code.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928884"/>
      </p:ext>
    </p:extLst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18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Branches with Compound Conditions: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(AND Conditions)</a:t>
            </a: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Example 6.6</a:t>
            </a:r>
          </a:p>
          <a:p>
            <a:pPr lvl="1"/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Assembly Code Problem:</a:t>
            </a:r>
            <a:r>
              <a:rPr lang="en-US" sz="2800" dirty="0">
                <a:latin typeface="Cambria" panose="02040503050406030204" pitchFamily="18" charset="0"/>
              </a:rPr>
              <a:t> Read a character, and if it's an uppercase letter, display it. </a:t>
            </a:r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Solution: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275B20-D696-43BA-96E5-5965D0AE58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351" y="3817667"/>
            <a:ext cx="7993053" cy="1710303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138801671"/>
      </p:ext>
    </p:extLst>
  </p:cSld>
  <p:clrMapOvr>
    <a:masterClrMapping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19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Branches with Compound Conditions: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(AND Conditions)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A55D3B0-A6F0-4E89-B323-82E488AFD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369" y="1283840"/>
            <a:ext cx="8580381" cy="4580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898699"/>
      </p:ext>
    </p:extLst>
  </p:cSld>
  <p:clrMapOvr>
    <a:masterClrMapping/>
  </p:clrMapOvr>
  <p:transition spd="med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20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Branches with Compound Conditions: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(AND Conditions)</a:t>
            </a: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Example 6.6</a:t>
            </a:r>
          </a:p>
          <a:p>
            <a:pPr lvl="1"/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Assembly Code Problem:</a:t>
            </a:r>
            <a:r>
              <a:rPr lang="en-US" sz="2800" dirty="0">
                <a:latin typeface="Cambria" panose="02040503050406030204" pitchFamily="18" charset="0"/>
              </a:rPr>
              <a:t> Read a character, and if it's an uppercase letter, display it. </a:t>
            </a:r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7B74745-1CDD-4543-AF81-3F7AC1435F1F}"/>
              </a:ext>
            </a:extLst>
          </p:cNvPr>
          <p:cNvGrpSpPr/>
          <p:nvPr/>
        </p:nvGrpSpPr>
        <p:grpSpPr>
          <a:xfrm>
            <a:off x="2225041" y="3094606"/>
            <a:ext cx="5455918" cy="2869809"/>
            <a:chOff x="2126567" y="1322917"/>
            <a:chExt cx="5455918" cy="2869809"/>
          </a:xfrm>
        </p:grpSpPr>
        <p:sp>
          <p:nvSpPr>
            <p:cNvPr id="10" name="Cloud 9">
              <a:extLst>
                <a:ext uri="{FF2B5EF4-FFF2-40B4-BE49-F238E27FC236}">
                  <a16:creationId xmlns:a16="http://schemas.microsoft.com/office/drawing/2014/main" id="{E0BD6133-1CB0-42A7-8BE3-EE577E0C7B7F}"/>
                </a:ext>
              </a:extLst>
            </p:cNvPr>
            <p:cNvSpPr/>
            <p:nvPr/>
          </p:nvSpPr>
          <p:spPr>
            <a:xfrm>
              <a:off x="2126567" y="1322917"/>
              <a:ext cx="4869546" cy="2869809"/>
            </a:xfrm>
            <a:prstGeom prst="cloud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3C4F016-1202-49D8-A59D-8068C1C522C3}"/>
                </a:ext>
              </a:extLst>
            </p:cNvPr>
            <p:cNvSpPr txBox="1"/>
            <p:nvPr/>
          </p:nvSpPr>
          <p:spPr>
            <a:xfrm>
              <a:off x="2630659" y="1943142"/>
              <a:ext cx="4951826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Done in Lab. </a:t>
              </a:r>
            </a:p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Follow this code.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3746707"/>
      </p:ext>
    </p:extLst>
  </p:cSld>
  <p:clrMapOvr>
    <a:masterClrMapping/>
  </p:clrMapOvr>
  <p:transition spd="med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21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Branches with Compound Conditions: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(OR Conditions)</a:t>
            </a: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Assembly Code Problem: </a:t>
            </a:r>
            <a:r>
              <a:rPr lang="en-US" sz="2800" dirty="0">
                <a:latin typeface="Cambria" panose="02040503050406030204" pitchFamily="18" charset="0"/>
              </a:rPr>
              <a:t>Read a character. If it’s y or Y, then print it *VU CSE*.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5956463-36B9-4075-B469-F269ECD00484}"/>
              </a:ext>
            </a:extLst>
          </p:cNvPr>
          <p:cNvGrpSpPr/>
          <p:nvPr/>
        </p:nvGrpSpPr>
        <p:grpSpPr>
          <a:xfrm>
            <a:off x="2464197" y="2729274"/>
            <a:ext cx="5455918" cy="2869809"/>
            <a:chOff x="2126567" y="1322917"/>
            <a:chExt cx="5455918" cy="2869809"/>
          </a:xfrm>
        </p:grpSpPr>
        <p:sp>
          <p:nvSpPr>
            <p:cNvPr id="10" name="Cloud 9">
              <a:extLst>
                <a:ext uri="{FF2B5EF4-FFF2-40B4-BE49-F238E27FC236}">
                  <a16:creationId xmlns:a16="http://schemas.microsoft.com/office/drawing/2014/main" id="{4E1019D1-4B33-41DD-A360-F9CD498215E4}"/>
                </a:ext>
              </a:extLst>
            </p:cNvPr>
            <p:cNvSpPr/>
            <p:nvPr/>
          </p:nvSpPr>
          <p:spPr>
            <a:xfrm>
              <a:off x="2126567" y="1322917"/>
              <a:ext cx="4869546" cy="2869809"/>
            </a:xfrm>
            <a:prstGeom prst="cloud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E3FC0A3-7DDE-422D-951B-5A28DA1AC767}"/>
                </a:ext>
              </a:extLst>
            </p:cNvPr>
            <p:cNvSpPr txBox="1"/>
            <p:nvPr/>
          </p:nvSpPr>
          <p:spPr>
            <a:xfrm>
              <a:off x="2630659" y="1943142"/>
              <a:ext cx="4951826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Done in Lab. </a:t>
              </a:r>
            </a:p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Follow this code.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712977"/>
      </p:ext>
    </p:extLst>
  </p:cSld>
  <p:clrMapOvr>
    <a:masterClrMapping/>
  </p:clrMapOvr>
  <p:transition spd="med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22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Looping Structure: 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(For Loop)</a:t>
            </a:r>
          </a:p>
          <a:p>
            <a:pPr lvl="1"/>
            <a:r>
              <a:rPr lang="en-US" sz="2800" dirty="0">
                <a:latin typeface="Cambria" panose="02040503050406030204" pitchFamily="18" charset="0"/>
              </a:rPr>
              <a:t>A loop is a sequence of instructions that is repeated.</a:t>
            </a:r>
          </a:p>
          <a:p>
            <a:pPr lvl="1"/>
            <a:endParaRPr lang="en-US" sz="2800" b="1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Syntax: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DD46D4-600E-46CD-A088-9C3F1F80D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463" y="2547274"/>
            <a:ext cx="6057934" cy="125289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15670283"/>
      </p:ext>
    </p:extLst>
  </p:cSld>
  <p:clrMapOvr>
    <a:masterClrMapping/>
  </p:clrMapOvr>
  <p:transition spd="med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23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Looping Structure: 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(For Loop)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DB3D46-3A62-49F1-A0E8-90E8AE8EA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480" y="1204208"/>
            <a:ext cx="2732575" cy="5224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601580"/>
      </p:ext>
    </p:extLst>
  </p:cSld>
  <p:clrMapOvr>
    <a:masterClrMapping/>
  </p:clrMapOvr>
  <p:transition spd="med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24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Looping Structure: 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(For Loop)</a:t>
            </a:r>
          </a:p>
          <a:p>
            <a:pPr lvl="1"/>
            <a:endParaRPr lang="en-US" sz="2800" b="1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Assembly Code Problem: </a:t>
            </a:r>
            <a:r>
              <a:rPr lang="en-US" sz="2800" dirty="0">
                <a:latin typeface="Cambria" panose="02040503050406030204" pitchFamily="18" charset="0"/>
              </a:rPr>
              <a:t>Write a count-controlled loop to display a row of 80 stars. </a:t>
            </a:r>
            <a:r>
              <a:rPr lang="en-US" sz="2800" i="1" dirty="0">
                <a:solidFill>
                  <a:srgbClr val="FF0000"/>
                </a:solidFill>
                <a:latin typeface="Cambria" panose="02040503050406030204" pitchFamily="18" charset="0"/>
              </a:rPr>
              <a:t>(Example 6.8)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4FC278-4205-4ECC-A24A-B83B5D94B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46" y="2752194"/>
            <a:ext cx="8264621" cy="22981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79225427"/>
      </p:ext>
    </p:extLst>
  </p:cSld>
  <p:clrMapOvr>
    <a:masterClrMapping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25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Looping Structure: 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(For Loop)</a:t>
            </a:r>
          </a:p>
          <a:p>
            <a:pPr lvl="1"/>
            <a:endParaRPr lang="en-US" sz="2800" b="1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Assembly Code Problem: </a:t>
            </a:r>
            <a:r>
              <a:rPr lang="en-US" sz="2800" dirty="0">
                <a:latin typeface="Cambria" panose="02040503050406030204" pitchFamily="18" charset="0"/>
              </a:rPr>
              <a:t>Write a count-controlled loop to display a row of 80 stars.</a:t>
            </a:r>
          </a:p>
          <a:p>
            <a:pPr lvl="1"/>
            <a:endParaRPr lang="en-US" sz="2800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Full Code: 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ACA122C-08AD-40F5-8C38-71EB095F48DB}"/>
              </a:ext>
            </a:extLst>
          </p:cNvPr>
          <p:cNvGrpSpPr/>
          <p:nvPr/>
        </p:nvGrpSpPr>
        <p:grpSpPr>
          <a:xfrm>
            <a:off x="2485297" y="3358644"/>
            <a:ext cx="5104221" cy="2684817"/>
            <a:chOff x="2126567" y="1322917"/>
            <a:chExt cx="5455918" cy="2869809"/>
          </a:xfrm>
        </p:grpSpPr>
        <p:sp>
          <p:nvSpPr>
            <p:cNvPr id="10" name="Cloud 9">
              <a:extLst>
                <a:ext uri="{FF2B5EF4-FFF2-40B4-BE49-F238E27FC236}">
                  <a16:creationId xmlns:a16="http://schemas.microsoft.com/office/drawing/2014/main" id="{5786588A-98CF-4A8B-8A64-DCD06F6A265A}"/>
                </a:ext>
              </a:extLst>
            </p:cNvPr>
            <p:cNvSpPr/>
            <p:nvPr/>
          </p:nvSpPr>
          <p:spPr>
            <a:xfrm>
              <a:off x="2126567" y="1322917"/>
              <a:ext cx="4869546" cy="2869809"/>
            </a:xfrm>
            <a:prstGeom prst="cloud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AB8F263-472D-4184-9A74-48B15EE8BD45}"/>
                </a:ext>
              </a:extLst>
            </p:cNvPr>
            <p:cNvSpPr txBox="1"/>
            <p:nvPr/>
          </p:nvSpPr>
          <p:spPr>
            <a:xfrm>
              <a:off x="2630659" y="1943142"/>
              <a:ext cx="4951826" cy="10198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Done in Lab. </a:t>
              </a:r>
            </a:p>
            <a:p>
              <a:pPr marL="914400" lvl="1" indent="-457200">
                <a:buFont typeface="Wingdings" panose="05000000000000000000" pitchFamily="2" charset="2"/>
                <a:buChar char="Ø"/>
              </a:pPr>
              <a:r>
                <a:rPr lang="en-US" sz="2800" b="1" dirty="0">
                  <a:latin typeface="Cambria" panose="02040503050406030204" pitchFamily="18" charset="0"/>
                </a:rPr>
                <a:t>Follow this code.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8812062"/>
      </p:ext>
    </p:extLst>
  </p:cSld>
  <p:clrMapOvr>
    <a:masterClrMapping/>
  </p:clrMapOvr>
  <p:transition spd="med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Looping Structure: 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(While Loop)</a:t>
            </a:r>
          </a:p>
          <a:p>
            <a:pPr lvl="1"/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Syntax: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0EB548-49CF-4FFB-8605-9334E09F1C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698" y="1689148"/>
            <a:ext cx="6500995" cy="13849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814B718-16CC-4884-B1F0-ADCC5BB46E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720" y="3290653"/>
            <a:ext cx="3667529" cy="2886359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464130962"/>
      </p:ext>
    </p:extLst>
  </p:cSld>
  <p:clrMapOvr>
    <a:masterClrMapping/>
  </p:clrMapOvr>
  <p:transition spd="med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27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FF0000"/>
                </a:solidFill>
                <a:latin typeface="Cambria" panose="02040503050406030204" pitchFamily="18" charset="0"/>
              </a:rPr>
              <a:t>Looping Structure:  </a:t>
            </a:r>
            <a:r>
              <a:rPr lang="en-US" sz="2800" b="1" i="1" dirty="0">
                <a:solidFill>
                  <a:srgbClr val="7030A0"/>
                </a:solidFill>
                <a:latin typeface="Cambria" panose="02040503050406030204" pitchFamily="18" charset="0"/>
              </a:rPr>
              <a:t>(Repeat Loop)</a:t>
            </a:r>
          </a:p>
          <a:p>
            <a:pPr lvl="1"/>
            <a:endParaRPr lang="en-US" sz="2800" b="1" dirty="0">
              <a:latin typeface="Cambria" panose="02040503050406030204" pitchFamily="18" charset="0"/>
            </a:endParaRPr>
          </a:p>
          <a:p>
            <a:pPr lvl="1"/>
            <a:r>
              <a:rPr lang="en-US" sz="2800" b="1" dirty="0">
                <a:latin typeface="Cambria" panose="02040503050406030204" pitchFamily="18" charset="0"/>
              </a:rPr>
              <a:t>Syntax: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7A664B-CFE9-4501-9113-2F3874AB1F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463" y="1764320"/>
            <a:ext cx="7653240" cy="1271033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AD1395A-3F8C-4BDE-A20E-51143E76E5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1814" y="3146352"/>
            <a:ext cx="2385257" cy="323621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85583951"/>
      </p:ext>
    </p:extLst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C1E5-A1DB-4282-A451-5941CF833F53}" type="datetime1">
              <a:rPr lang="en-US" smtClean="0">
                <a:latin typeface="Cambria" panose="02040503050406030204" pitchFamily="18" charset="0"/>
              </a:rPr>
              <a:t>10/12/2026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mbria" panose="02040503050406030204" pitchFamily="18" charset="0"/>
              </a:rPr>
              <a:t>Md. Adnan Sami, Dept. of CSE, VU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F5767-624D-46AC-ADD7-140D9A2A517A}" type="slidenum">
              <a:rPr lang="en-US" smtClean="0">
                <a:latin typeface="Cambria" panose="02040503050406030204" pitchFamily="18" charset="0"/>
              </a:rPr>
              <a:t>28</a:t>
            </a:fld>
            <a:endParaRPr lang="en-US">
              <a:latin typeface="Cambria" panose="02040503050406030204" pitchFamily="18" charset="0"/>
            </a:endParaRPr>
          </a:p>
        </p:txBody>
      </p:sp>
      <p:sp>
        <p:nvSpPr>
          <p:cNvPr id="7" name="TextBox 1"/>
          <p:cNvSpPr txBox="1">
            <a:spLocks noChangeArrowheads="1"/>
          </p:cNvSpPr>
          <p:nvPr/>
        </p:nvSpPr>
        <p:spPr bwMode="auto">
          <a:xfrm>
            <a:off x="0" y="127312"/>
            <a:ext cx="99086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/>
            <a:r>
              <a:rPr lang="en-US" altLang="en-US" sz="3200" b="1" dirty="0">
                <a:solidFill>
                  <a:schemeClr val="accent2"/>
                </a:solidFill>
                <a:latin typeface="Cambria" panose="02040503050406030204" pitchFamily="18" charset="0"/>
                <a:cs typeface="Arial" panose="020B0604020202020204" pitchFamily="34" charset="0"/>
              </a:rPr>
              <a:t>	High-Level Language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80988"/>
            <a:ext cx="9906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b="1" dirty="0">
                <a:solidFill>
                  <a:srgbClr val="7030A0"/>
                </a:solidFill>
                <a:latin typeface="Cambria" panose="02040503050406030204" pitchFamily="18" charset="0"/>
              </a:rPr>
              <a:t>While Versus Repeat Loop</a:t>
            </a:r>
            <a:endParaRPr lang="en-US" sz="2800" b="1" i="1" dirty="0">
              <a:solidFill>
                <a:srgbClr val="7030A0"/>
              </a:solidFill>
              <a:latin typeface="Cambria" panose="02040503050406030204" pitchFamily="18" charset="0"/>
            </a:endParaRPr>
          </a:p>
          <a:p>
            <a:pPr lvl="1"/>
            <a:endParaRPr lang="en-US" sz="2800" b="1" dirty="0">
              <a:latin typeface="Cambria" panose="02040503050406030204" pitchFamily="18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WHILE loop can be bypassed if the terminating condition is initially false, whereas the statements in a REPEAT loop must be done at least once. 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endParaRPr lang="en-US" sz="2800" dirty="0">
              <a:latin typeface="Cambria" panose="02040503050406030204" pitchFamily="18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Cambria" panose="02040503050406030204" pitchFamily="18" charset="0"/>
              </a:rPr>
              <a:t>REPEAT loop has only a conditional jump at the end. But WHILE loop has two jumps: a conditional jump at the top and a JMP at the bottom. </a:t>
            </a:r>
          </a:p>
        </p:txBody>
      </p:sp>
    </p:spTree>
    <p:extLst>
      <p:ext uri="{BB962C8B-B14F-4D97-AF65-F5344CB8AC3E}">
        <p14:creationId xmlns:p14="http://schemas.microsoft.com/office/powerpoint/2010/main" val="1996068557"/>
      </p:ext>
    </p:extLst>
  </p:cSld>
  <p:clrMapOvr>
    <a:masterClrMapping/>
  </p:clrMapOvr>
  <p:transition spd="med">
    <p:push dir="u"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2533</TotalTime>
  <Words>1171</Words>
  <Application>Microsoft Office PowerPoint</Application>
  <PresentationFormat>A4 Paper (210x297 mm)</PresentationFormat>
  <Paragraphs>254</Paragraphs>
  <Slides>28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Cambria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Adnan Sami</dc:creator>
  <cp:lastModifiedBy>Md. Adnan Sami</cp:lastModifiedBy>
  <cp:revision>295</cp:revision>
  <dcterms:created xsi:type="dcterms:W3CDTF">2025-01-23T20:11:31Z</dcterms:created>
  <dcterms:modified xsi:type="dcterms:W3CDTF">2026-10-12T06:03:35Z</dcterms:modified>
</cp:coreProperties>
</file>