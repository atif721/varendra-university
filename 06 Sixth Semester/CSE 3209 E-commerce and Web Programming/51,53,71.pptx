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7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68" r:id="rId11"/>
    <p:sldId id="269" r:id="rId12"/>
  </p:sldIdLst>
  <p:sldSz cx="18288000" cy="10287000"/>
  <p:notesSz cx="6858000" cy="9144000"/>
  <p:embeddedFontLst>
    <p:embeddedFont>
      <p:font typeface="Inter Bold" panose="020B0604020202020204" charset="0"/>
      <p:regular r:id="rId14"/>
    </p:embeddedFont>
    <p:embeddedFont>
      <p:font typeface="Libre Baskerville Bold" panose="020B0604020202020204" charset="0"/>
      <p:regular r:id="rId15"/>
    </p:embeddedFont>
    <p:embeddedFont>
      <p:font typeface="Times New Roman Bold" panose="02020803070505020304" pitchFamily="18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77D24-AB1D-4DBD-AAC7-87F544E781A8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1BCD5-409C-4416-B3B2-E4176016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11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1BCD5-409C-4416-B3B2-E4176016E3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35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1BCD5-409C-4416-B3B2-E4176016E3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3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ADCF83-8E68-075C-CAD7-4AEAEDD78350}"/>
              </a:ext>
            </a:extLst>
          </p:cNvPr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A6EA9AD-C473-7E57-A86D-D14079283B8C}"/>
              </a:ext>
            </a:extLst>
          </p:cNvPr>
          <p:cNvSpPr/>
          <p:nvPr/>
        </p:nvSpPr>
        <p:spPr>
          <a:xfrm>
            <a:off x="-407049" y="7170877"/>
            <a:ext cx="6134272" cy="3803248"/>
          </a:xfrm>
          <a:custGeom>
            <a:avLst/>
            <a:gdLst/>
            <a:ahLst/>
            <a:cxnLst/>
            <a:rect l="l" t="t" r="r" b="b"/>
            <a:pathLst>
              <a:path w="6134272" h="3803248">
                <a:moveTo>
                  <a:pt x="0" y="0"/>
                </a:moveTo>
                <a:lnTo>
                  <a:pt x="6134271" y="0"/>
                </a:lnTo>
                <a:lnTo>
                  <a:pt x="6134271" y="3803248"/>
                </a:lnTo>
                <a:lnTo>
                  <a:pt x="0" y="3803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CB37B2-5E04-7936-87F3-4BAC54A29042}"/>
              </a:ext>
            </a:extLst>
          </p:cNvPr>
          <p:cNvSpPr/>
          <p:nvPr/>
        </p:nvSpPr>
        <p:spPr>
          <a:xfrm>
            <a:off x="648704" y="633695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DFBC9D5-70FE-D76F-49D8-8D3087102E7B}"/>
              </a:ext>
            </a:extLst>
          </p:cNvPr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9B19F37-9D56-8094-30FA-97782C49620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85BE9F6-3CEE-A7CD-8395-1FAE66E93E6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4DF2BC7-20B1-BB7C-6905-3661EEF49A7E}"/>
              </a:ext>
            </a:extLst>
          </p:cNvPr>
          <p:cNvGrpSpPr/>
          <p:nvPr/>
        </p:nvGrpSpPr>
        <p:grpSpPr>
          <a:xfrm>
            <a:off x="2118093" y="6111951"/>
            <a:ext cx="2693059" cy="530276"/>
            <a:chOff x="0" y="0"/>
            <a:chExt cx="3590746" cy="707035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D8942B7-5781-9AF7-1825-43E3EBC00D0F}"/>
                </a:ext>
              </a:extLst>
            </p:cNvPr>
            <p:cNvGrpSpPr/>
            <p:nvPr/>
          </p:nvGrpSpPr>
          <p:grpSpPr>
            <a:xfrm>
              <a:off x="0" y="0"/>
              <a:ext cx="3443473" cy="707035"/>
              <a:chOff x="0" y="0"/>
              <a:chExt cx="666711" cy="136893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04D98711-E48D-F0A2-378E-04FDBFEA0627}"/>
                  </a:ext>
                </a:extLst>
              </p:cNvPr>
              <p:cNvSpPr/>
              <p:nvPr/>
            </p:nvSpPr>
            <p:spPr>
              <a:xfrm>
                <a:off x="0" y="0"/>
                <a:ext cx="666711" cy="136893"/>
              </a:xfrm>
              <a:custGeom>
                <a:avLst/>
                <a:gdLst/>
                <a:ahLst/>
                <a:cxnLst/>
                <a:rect l="l" t="t" r="r" b="b"/>
                <a:pathLst>
                  <a:path w="666711" h="136893">
                    <a:moveTo>
                      <a:pt x="65950" y="0"/>
                    </a:moveTo>
                    <a:lnTo>
                      <a:pt x="600761" y="0"/>
                    </a:lnTo>
                    <a:cubicBezTo>
                      <a:pt x="637184" y="0"/>
                      <a:pt x="666711" y="29527"/>
                      <a:pt x="666711" y="65950"/>
                    </a:cubicBezTo>
                    <a:lnTo>
                      <a:pt x="666711" y="70943"/>
                    </a:lnTo>
                    <a:cubicBezTo>
                      <a:pt x="666711" y="107366"/>
                      <a:pt x="637184" y="136893"/>
                      <a:pt x="600761" y="136893"/>
                    </a:cubicBezTo>
                    <a:lnTo>
                      <a:pt x="65950" y="136893"/>
                    </a:lnTo>
                    <a:cubicBezTo>
                      <a:pt x="29527" y="136893"/>
                      <a:pt x="0" y="107366"/>
                      <a:pt x="0" y="70943"/>
                    </a:cubicBezTo>
                    <a:lnTo>
                      <a:pt x="0" y="65950"/>
                    </a:lnTo>
                    <a:cubicBezTo>
                      <a:pt x="0" y="29527"/>
                      <a:pt x="29527" y="0"/>
                      <a:pt x="65950" y="0"/>
                    </a:cubicBezTo>
                    <a:close/>
                  </a:path>
                </a:pathLst>
              </a:custGeom>
              <a:solidFill>
                <a:srgbClr val="4A65C3"/>
              </a:solidFill>
            </p:spPr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BA77A0-C073-D2E0-D2A8-DA7CC129574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66711" cy="174993"/>
              </a:xfrm>
              <a:prstGeom prst="rect">
                <a:avLst/>
              </a:prstGeom>
            </p:spPr>
            <p:txBody>
              <a:bodyPr lIns="53764" tIns="53764" rIns="53764" bIns="53764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0AC81D46-B54C-0874-579D-E5544239E31C}"/>
                </a:ext>
              </a:extLst>
            </p:cNvPr>
            <p:cNvSpPr txBox="1"/>
            <p:nvPr/>
          </p:nvSpPr>
          <p:spPr>
            <a:xfrm>
              <a:off x="158479" y="53329"/>
              <a:ext cx="3432267" cy="51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1"/>
                </a:lnSpc>
                <a:spcBef>
                  <a:spcPct val="0"/>
                </a:spcBef>
              </a:pPr>
              <a:r>
                <a:rPr lang="en-US" sz="2222" spc="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Md. Saibur Rahman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7CAE686-2D61-3E9B-26CC-34FE223065EC}"/>
              </a:ext>
            </a:extLst>
          </p:cNvPr>
          <p:cNvGrpSpPr/>
          <p:nvPr/>
        </p:nvGrpSpPr>
        <p:grpSpPr>
          <a:xfrm>
            <a:off x="5158793" y="6114894"/>
            <a:ext cx="2141865" cy="530276"/>
            <a:chOff x="0" y="0"/>
            <a:chExt cx="552932" cy="1368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1AA3193-FC52-C2B9-E413-BACA5BF016FC}"/>
                </a:ext>
              </a:extLst>
            </p:cNvPr>
            <p:cNvSpPr/>
            <p:nvPr/>
          </p:nvSpPr>
          <p:spPr>
            <a:xfrm>
              <a:off x="0" y="0"/>
              <a:ext cx="552932" cy="136893"/>
            </a:xfrm>
            <a:custGeom>
              <a:avLst/>
              <a:gdLst/>
              <a:ahLst/>
              <a:cxnLst/>
              <a:rect l="l" t="t" r="r" b="b"/>
              <a:pathLst>
                <a:path w="552932" h="136893">
                  <a:moveTo>
                    <a:pt x="68447" y="0"/>
                  </a:moveTo>
                  <a:lnTo>
                    <a:pt x="484485" y="0"/>
                  </a:lnTo>
                  <a:cubicBezTo>
                    <a:pt x="502638" y="0"/>
                    <a:pt x="520048" y="7211"/>
                    <a:pt x="532884" y="20048"/>
                  </a:cubicBezTo>
                  <a:cubicBezTo>
                    <a:pt x="545720" y="32884"/>
                    <a:pt x="552932" y="50293"/>
                    <a:pt x="552932" y="68447"/>
                  </a:cubicBezTo>
                  <a:lnTo>
                    <a:pt x="552932" y="68447"/>
                  </a:lnTo>
                  <a:cubicBezTo>
                    <a:pt x="552932" y="86600"/>
                    <a:pt x="545720" y="104009"/>
                    <a:pt x="532884" y="116846"/>
                  </a:cubicBezTo>
                  <a:cubicBezTo>
                    <a:pt x="520048" y="129682"/>
                    <a:pt x="502638" y="136893"/>
                    <a:pt x="484485" y="136893"/>
                  </a:cubicBezTo>
                  <a:lnTo>
                    <a:pt x="68447" y="136893"/>
                  </a:lnTo>
                  <a:cubicBezTo>
                    <a:pt x="50293" y="136893"/>
                    <a:pt x="32884" y="129682"/>
                    <a:pt x="20048" y="116846"/>
                  </a:cubicBezTo>
                  <a:cubicBezTo>
                    <a:pt x="7211" y="104009"/>
                    <a:pt x="0" y="86600"/>
                    <a:pt x="0" y="68447"/>
                  </a:cubicBezTo>
                  <a:lnTo>
                    <a:pt x="0" y="68447"/>
                  </a:lnTo>
                  <a:cubicBezTo>
                    <a:pt x="0" y="50293"/>
                    <a:pt x="7211" y="32884"/>
                    <a:pt x="20048" y="20048"/>
                  </a:cubicBezTo>
                  <a:cubicBezTo>
                    <a:pt x="32884" y="7211"/>
                    <a:pt x="50293" y="0"/>
                    <a:pt x="68447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3F9D48F-853C-0ADA-B69D-D820CD1205CB}"/>
                </a:ext>
              </a:extLst>
            </p:cNvPr>
            <p:cNvSpPr txBox="1"/>
            <p:nvPr/>
          </p:nvSpPr>
          <p:spPr>
            <a:xfrm>
              <a:off x="0" y="-38100"/>
              <a:ext cx="552932" cy="174993"/>
            </a:xfrm>
            <a:prstGeom prst="rect">
              <a:avLst/>
            </a:prstGeom>
          </p:spPr>
          <p:txBody>
            <a:bodyPr lIns="53764" tIns="53764" rIns="53764" bIns="53764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C9B7C840-45DD-C055-4144-0551CB5D6D8B}"/>
              </a:ext>
            </a:extLst>
          </p:cNvPr>
          <p:cNvSpPr txBox="1"/>
          <p:nvPr/>
        </p:nvSpPr>
        <p:spPr>
          <a:xfrm>
            <a:off x="5366229" y="6145008"/>
            <a:ext cx="1934429" cy="403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1"/>
              </a:lnSpc>
              <a:spcBef>
                <a:spcPct val="0"/>
              </a:spcBef>
            </a:pPr>
            <a:r>
              <a:rPr lang="en-US" sz="222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241311053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6395A90-9DF1-2DAF-365B-37B1F06A6432}"/>
              </a:ext>
            </a:extLst>
          </p:cNvPr>
          <p:cNvGrpSpPr/>
          <p:nvPr/>
        </p:nvGrpSpPr>
        <p:grpSpPr>
          <a:xfrm>
            <a:off x="1935938" y="3995024"/>
            <a:ext cx="5557574" cy="731041"/>
            <a:chOff x="0" y="0"/>
            <a:chExt cx="7410098" cy="974722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664016AF-421D-E7D0-95E8-723F094114B1}"/>
                </a:ext>
              </a:extLst>
            </p:cNvPr>
            <p:cNvGrpSpPr/>
            <p:nvPr/>
          </p:nvGrpSpPr>
          <p:grpSpPr>
            <a:xfrm>
              <a:off x="0" y="0"/>
              <a:ext cx="7410098" cy="974722"/>
              <a:chOff x="0" y="0"/>
              <a:chExt cx="1463723" cy="192538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6791AFA-5B5C-1997-590E-69B3A53398F9}"/>
                  </a:ext>
                </a:extLst>
              </p:cNvPr>
              <p:cNvSpPr/>
              <p:nvPr/>
            </p:nvSpPr>
            <p:spPr>
              <a:xfrm>
                <a:off x="0" y="0"/>
                <a:ext cx="1463723" cy="192538"/>
              </a:xfrm>
              <a:custGeom>
                <a:avLst/>
                <a:gdLst/>
                <a:ahLst/>
                <a:cxnLst/>
                <a:rect l="l" t="t" r="r" b="b"/>
                <a:pathLst>
                  <a:path w="1463723" h="192538">
                    <a:moveTo>
                      <a:pt x="37612" y="0"/>
                    </a:moveTo>
                    <a:lnTo>
                      <a:pt x="1426111" y="0"/>
                    </a:lnTo>
                    <a:cubicBezTo>
                      <a:pt x="1436086" y="0"/>
                      <a:pt x="1445653" y="3963"/>
                      <a:pt x="1452707" y="11016"/>
                    </a:cubicBezTo>
                    <a:cubicBezTo>
                      <a:pt x="1459761" y="18070"/>
                      <a:pt x="1463723" y="27637"/>
                      <a:pt x="1463723" y="37612"/>
                    </a:cubicBezTo>
                    <a:lnTo>
                      <a:pt x="1463723" y="154926"/>
                    </a:lnTo>
                    <a:cubicBezTo>
                      <a:pt x="1463723" y="164901"/>
                      <a:pt x="1459761" y="174468"/>
                      <a:pt x="1452707" y="181521"/>
                    </a:cubicBezTo>
                    <a:cubicBezTo>
                      <a:pt x="1445653" y="188575"/>
                      <a:pt x="1436086" y="192538"/>
                      <a:pt x="1426111" y="192538"/>
                    </a:cubicBezTo>
                    <a:lnTo>
                      <a:pt x="37612" y="192538"/>
                    </a:lnTo>
                    <a:cubicBezTo>
                      <a:pt x="27637" y="192538"/>
                      <a:pt x="18070" y="188575"/>
                      <a:pt x="11016" y="181521"/>
                    </a:cubicBezTo>
                    <a:cubicBezTo>
                      <a:pt x="3963" y="174468"/>
                      <a:pt x="0" y="164901"/>
                      <a:pt x="0" y="154926"/>
                    </a:cubicBezTo>
                    <a:lnTo>
                      <a:pt x="0" y="37612"/>
                    </a:lnTo>
                    <a:cubicBezTo>
                      <a:pt x="0" y="27637"/>
                      <a:pt x="3963" y="18070"/>
                      <a:pt x="11016" y="11016"/>
                    </a:cubicBezTo>
                    <a:cubicBezTo>
                      <a:pt x="18070" y="3963"/>
                      <a:pt x="27637" y="0"/>
                      <a:pt x="37612" y="0"/>
                    </a:cubicBezTo>
                    <a:close/>
                  </a:path>
                </a:pathLst>
              </a:custGeom>
              <a:solidFill>
                <a:srgbClr val="4A65C3"/>
              </a:solidFill>
            </p:spPr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6DF8CC8-EAF2-5666-D120-781FDB3DA59A}"/>
                  </a:ext>
                </a:extLst>
              </p:cNvPr>
              <p:cNvSpPr txBox="1"/>
              <p:nvPr/>
            </p:nvSpPr>
            <p:spPr>
              <a:xfrm>
                <a:off x="0" y="9525"/>
                <a:ext cx="1463723" cy="183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366C6072-012E-BEEE-EBBE-805C492E03EF}"/>
                </a:ext>
              </a:extLst>
            </p:cNvPr>
            <p:cNvSpPr txBox="1"/>
            <p:nvPr/>
          </p:nvSpPr>
          <p:spPr>
            <a:xfrm>
              <a:off x="341107" y="107878"/>
              <a:ext cx="6694128" cy="610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8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Presenting Team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E0702A7-9815-2CF1-837D-98AF81AF0FCE}"/>
              </a:ext>
            </a:extLst>
          </p:cNvPr>
          <p:cNvGrpSpPr/>
          <p:nvPr/>
        </p:nvGrpSpPr>
        <p:grpSpPr>
          <a:xfrm>
            <a:off x="2321648" y="5333707"/>
            <a:ext cx="2150469" cy="527650"/>
            <a:chOff x="0" y="0"/>
            <a:chExt cx="2867291" cy="703534"/>
          </a:xfrm>
        </p:grpSpPr>
        <p:grpSp>
          <p:nvGrpSpPr>
            <p:cNvPr id="23" name="Group 23">
              <a:extLst>
                <a:ext uri="{FF2B5EF4-FFF2-40B4-BE49-F238E27FC236}">
                  <a16:creationId xmlns:a16="http://schemas.microsoft.com/office/drawing/2014/main" id="{07547667-EFB6-E063-85F5-78FE918A05BB}"/>
                </a:ext>
              </a:extLst>
            </p:cNvPr>
            <p:cNvGrpSpPr/>
            <p:nvPr/>
          </p:nvGrpSpPr>
          <p:grpSpPr>
            <a:xfrm>
              <a:off x="0" y="0"/>
              <a:ext cx="2867291" cy="703534"/>
              <a:chOff x="0" y="0"/>
              <a:chExt cx="555153" cy="13621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9F80DFA-F71E-BC71-0436-777F7FCFEFFD}"/>
                  </a:ext>
                </a:extLst>
              </p:cNvPr>
              <p:cNvSpPr/>
              <p:nvPr/>
            </p:nvSpPr>
            <p:spPr>
              <a:xfrm>
                <a:off x="0" y="0"/>
                <a:ext cx="555153" cy="136215"/>
              </a:xfrm>
              <a:custGeom>
                <a:avLst/>
                <a:gdLst/>
                <a:ahLst/>
                <a:cxnLst/>
                <a:rect l="l" t="t" r="r" b="b"/>
                <a:pathLst>
                  <a:path w="555153" h="136215">
                    <a:moveTo>
                      <a:pt x="68108" y="0"/>
                    </a:moveTo>
                    <a:lnTo>
                      <a:pt x="487045" y="0"/>
                    </a:lnTo>
                    <a:cubicBezTo>
                      <a:pt x="524660" y="0"/>
                      <a:pt x="555153" y="30493"/>
                      <a:pt x="555153" y="68108"/>
                    </a:cubicBezTo>
                    <a:lnTo>
                      <a:pt x="555153" y="68108"/>
                    </a:lnTo>
                    <a:cubicBezTo>
                      <a:pt x="555153" y="105722"/>
                      <a:pt x="524660" y="136215"/>
                      <a:pt x="487045" y="136215"/>
                    </a:cubicBezTo>
                    <a:lnTo>
                      <a:pt x="68108" y="136215"/>
                    </a:lnTo>
                    <a:cubicBezTo>
                      <a:pt x="30493" y="136215"/>
                      <a:pt x="0" y="105722"/>
                      <a:pt x="0" y="68108"/>
                    </a:cubicBezTo>
                    <a:lnTo>
                      <a:pt x="0" y="68108"/>
                    </a:lnTo>
                    <a:cubicBezTo>
                      <a:pt x="0" y="30493"/>
                      <a:pt x="30493" y="0"/>
                      <a:pt x="68108" y="0"/>
                    </a:cubicBezTo>
                    <a:close/>
                  </a:path>
                </a:pathLst>
              </a:custGeom>
              <a:solidFill>
                <a:srgbClr val="4A65C3"/>
              </a:solidFill>
            </p:spPr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202D8B2-410B-D2B8-1A8F-198CFEE9747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555153" cy="193365"/>
              </a:xfrm>
              <a:prstGeom prst="rect">
                <a:avLst/>
              </a:prstGeom>
            </p:spPr>
            <p:txBody>
              <a:bodyPr lIns="53764" tIns="53764" rIns="53764" bIns="53764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6">
              <a:extLst>
                <a:ext uri="{FF2B5EF4-FFF2-40B4-BE49-F238E27FC236}">
                  <a16:creationId xmlns:a16="http://schemas.microsoft.com/office/drawing/2014/main" id="{2A7C444D-3C98-9F9F-06D2-38E3DFFE8ABB}"/>
                </a:ext>
              </a:extLst>
            </p:cNvPr>
            <p:cNvSpPr txBox="1"/>
            <p:nvPr/>
          </p:nvSpPr>
          <p:spPr>
            <a:xfrm>
              <a:off x="395476" y="62377"/>
              <a:ext cx="2363245" cy="512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1"/>
                </a:lnSpc>
                <a:spcBef>
                  <a:spcPct val="0"/>
                </a:spcBef>
              </a:pPr>
              <a:r>
                <a:rPr lang="en-US" sz="2222" spc="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Abdullah Atif</a:t>
              </a:r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6160EDAF-EEA9-EFFC-C650-B2B15F9FC2FD}"/>
              </a:ext>
            </a:extLst>
          </p:cNvPr>
          <p:cNvGrpSpPr/>
          <p:nvPr/>
        </p:nvGrpSpPr>
        <p:grpSpPr>
          <a:xfrm>
            <a:off x="5158793" y="5333707"/>
            <a:ext cx="2141865" cy="530276"/>
            <a:chOff x="0" y="0"/>
            <a:chExt cx="2855820" cy="707035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6AF46511-3B0A-A342-6A6A-965C65043E62}"/>
                </a:ext>
              </a:extLst>
            </p:cNvPr>
            <p:cNvGrpSpPr/>
            <p:nvPr/>
          </p:nvGrpSpPr>
          <p:grpSpPr>
            <a:xfrm>
              <a:off x="0" y="0"/>
              <a:ext cx="2855820" cy="707035"/>
              <a:chOff x="0" y="0"/>
              <a:chExt cx="552932" cy="136893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2AFE7C39-08A7-449A-E16A-ACF4469A7629}"/>
                  </a:ext>
                </a:extLst>
              </p:cNvPr>
              <p:cNvSpPr/>
              <p:nvPr/>
            </p:nvSpPr>
            <p:spPr>
              <a:xfrm>
                <a:off x="0" y="0"/>
                <a:ext cx="552932" cy="136893"/>
              </a:xfrm>
              <a:custGeom>
                <a:avLst/>
                <a:gdLst/>
                <a:ahLst/>
                <a:cxnLst/>
                <a:rect l="l" t="t" r="r" b="b"/>
                <a:pathLst>
                  <a:path w="552932" h="136893">
                    <a:moveTo>
                      <a:pt x="68447" y="0"/>
                    </a:moveTo>
                    <a:lnTo>
                      <a:pt x="484485" y="0"/>
                    </a:lnTo>
                    <a:cubicBezTo>
                      <a:pt x="502638" y="0"/>
                      <a:pt x="520048" y="7211"/>
                      <a:pt x="532884" y="20048"/>
                    </a:cubicBezTo>
                    <a:cubicBezTo>
                      <a:pt x="545720" y="32884"/>
                      <a:pt x="552932" y="50293"/>
                      <a:pt x="552932" y="68447"/>
                    </a:cubicBezTo>
                    <a:lnTo>
                      <a:pt x="552932" y="68447"/>
                    </a:lnTo>
                    <a:cubicBezTo>
                      <a:pt x="552932" y="86600"/>
                      <a:pt x="545720" y="104009"/>
                      <a:pt x="532884" y="116846"/>
                    </a:cubicBezTo>
                    <a:cubicBezTo>
                      <a:pt x="520048" y="129682"/>
                      <a:pt x="502638" y="136893"/>
                      <a:pt x="484485" y="136893"/>
                    </a:cubicBezTo>
                    <a:lnTo>
                      <a:pt x="68447" y="136893"/>
                    </a:lnTo>
                    <a:cubicBezTo>
                      <a:pt x="50293" y="136893"/>
                      <a:pt x="32884" y="129682"/>
                      <a:pt x="20048" y="116846"/>
                    </a:cubicBezTo>
                    <a:cubicBezTo>
                      <a:pt x="7211" y="104009"/>
                      <a:pt x="0" y="86600"/>
                      <a:pt x="0" y="68447"/>
                    </a:cubicBezTo>
                    <a:lnTo>
                      <a:pt x="0" y="68447"/>
                    </a:lnTo>
                    <a:cubicBezTo>
                      <a:pt x="0" y="50293"/>
                      <a:pt x="7211" y="32884"/>
                      <a:pt x="20048" y="20048"/>
                    </a:cubicBezTo>
                    <a:cubicBezTo>
                      <a:pt x="32884" y="7211"/>
                      <a:pt x="50293" y="0"/>
                      <a:pt x="68447" y="0"/>
                    </a:cubicBezTo>
                    <a:close/>
                  </a:path>
                </a:pathLst>
              </a:custGeom>
              <a:solidFill>
                <a:srgbClr val="4A65C3"/>
              </a:solidFill>
            </p:spPr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90F3A6-095C-5B3F-9F46-2668CA6B9D2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52932" cy="174993"/>
              </a:xfrm>
              <a:prstGeom prst="rect">
                <a:avLst/>
              </a:prstGeom>
            </p:spPr>
            <p:txBody>
              <a:bodyPr lIns="53764" tIns="53764" rIns="53764" bIns="53764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31">
              <a:extLst>
                <a:ext uri="{FF2B5EF4-FFF2-40B4-BE49-F238E27FC236}">
                  <a16:creationId xmlns:a16="http://schemas.microsoft.com/office/drawing/2014/main" id="{92FE3215-34E6-B293-4D08-2C8D386C5278}"/>
                </a:ext>
              </a:extLst>
            </p:cNvPr>
            <p:cNvSpPr txBox="1"/>
            <p:nvPr/>
          </p:nvSpPr>
          <p:spPr>
            <a:xfrm>
              <a:off x="276581" y="62377"/>
              <a:ext cx="2579238" cy="51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1"/>
                </a:lnSpc>
                <a:spcBef>
                  <a:spcPct val="0"/>
                </a:spcBef>
              </a:pPr>
              <a:r>
                <a:rPr lang="en-US" sz="2222" spc="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ID: 241311051</a:t>
              </a:r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2601C48F-EEAD-BC85-AEFD-96B7ACA67674}"/>
              </a:ext>
            </a:extLst>
          </p:cNvPr>
          <p:cNvGrpSpPr/>
          <p:nvPr/>
        </p:nvGrpSpPr>
        <p:grpSpPr>
          <a:xfrm>
            <a:off x="2321648" y="6892820"/>
            <a:ext cx="4979010" cy="530276"/>
            <a:chOff x="0" y="0"/>
            <a:chExt cx="6638680" cy="707035"/>
          </a:xfrm>
        </p:grpSpPr>
        <p:grpSp>
          <p:nvGrpSpPr>
            <p:cNvPr id="33" name="Group 33">
              <a:extLst>
                <a:ext uri="{FF2B5EF4-FFF2-40B4-BE49-F238E27FC236}">
                  <a16:creationId xmlns:a16="http://schemas.microsoft.com/office/drawing/2014/main" id="{17C15259-49BC-C520-FBA3-C8FD7861DBC0}"/>
                </a:ext>
              </a:extLst>
            </p:cNvPr>
            <p:cNvGrpSpPr/>
            <p:nvPr/>
          </p:nvGrpSpPr>
          <p:grpSpPr>
            <a:xfrm>
              <a:off x="0" y="0"/>
              <a:ext cx="2732553" cy="707035"/>
              <a:chOff x="0" y="0"/>
              <a:chExt cx="529065" cy="136893"/>
            </a:xfrm>
          </p:grpSpPr>
          <p:sp>
            <p:nvSpPr>
              <p:cNvPr id="39" name="Freeform 34">
                <a:extLst>
                  <a:ext uri="{FF2B5EF4-FFF2-40B4-BE49-F238E27FC236}">
                    <a16:creationId xmlns:a16="http://schemas.microsoft.com/office/drawing/2014/main" id="{2C6ADBFC-2235-E41D-AF02-27B6620E5186}"/>
                  </a:ext>
                </a:extLst>
              </p:cNvPr>
              <p:cNvSpPr/>
              <p:nvPr/>
            </p:nvSpPr>
            <p:spPr>
              <a:xfrm>
                <a:off x="0" y="0"/>
                <a:ext cx="529065" cy="136893"/>
              </a:xfrm>
              <a:custGeom>
                <a:avLst/>
                <a:gdLst/>
                <a:ahLst/>
                <a:cxnLst/>
                <a:rect l="l" t="t" r="r" b="b"/>
                <a:pathLst>
                  <a:path w="529065" h="136893">
                    <a:moveTo>
                      <a:pt x="68447" y="0"/>
                    </a:moveTo>
                    <a:lnTo>
                      <a:pt x="460619" y="0"/>
                    </a:lnTo>
                    <a:cubicBezTo>
                      <a:pt x="498421" y="0"/>
                      <a:pt x="529065" y="30645"/>
                      <a:pt x="529065" y="68447"/>
                    </a:cubicBezTo>
                    <a:lnTo>
                      <a:pt x="529065" y="68447"/>
                    </a:lnTo>
                    <a:cubicBezTo>
                      <a:pt x="529065" y="86600"/>
                      <a:pt x="521854" y="104009"/>
                      <a:pt x="509018" y="116846"/>
                    </a:cubicBezTo>
                    <a:cubicBezTo>
                      <a:pt x="496181" y="129682"/>
                      <a:pt x="478772" y="136893"/>
                      <a:pt x="460619" y="136893"/>
                    </a:cubicBezTo>
                    <a:lnTo>
                      <a:pt x="68447" y="136893"/>
                    </a:lnTo>
                    <a:cubicBezTo>
                      <a:pt x="50293" y="136893"/>
                      <a:pt x="32884" y="129682"/>
                      <a:pt x="20048" y="116846"/>
                    </a:cubicBezTo>
                    <a:cubicBezTo>
                      <a:pt x="7211" y="104009"/>
                      <a:pt x="0" y="86600"/>
                      <a:pt x="0" y="68447"/>
                    </a:cubicBezTo>
                    <a:lnTo>
                      <a:pt x="0" y="68447"/>
                    </a:lnTo>
                    <a:cubicBezTo>
                      <a:pt x="0" y="50293"/>
                      <a:pt x="7211" y="32884"/>
                      <a:pt x="20048" y="20048"/>
                    </a:cubicBezTo>
                    <a:cubicBezTo>
                      <a:pt x="32884" y="7211"/>
                      <a:pt x="50293" y="0"/>
                      <a:pt x="68447" y="0"/>
                    </a:cubicBezTo>
                    <a:close/>
                  </a:path>
                </a:pathLst>
              </a:custGeom>
              <a:solidFill>
                <a:srgbClr val="4A65C3"/>
              </a:solidFill>
            </p:spPr>
          </p:sp>
          <p:sp>
            <p:nvSpPr>
              <p:cNvPr id="40" name="TextBox 35">
                <a:extLst>
                  <a:ext uri="{FF2B5EF4-FFF2-40B4-BE49-F238E27FC236}">
                    <a16:creationId xmlns:a16="http://schemas.microsoft.com/office/drawing/2014/main" id="{A6DC67E3-5F50-C475-0283-920E9D8FC2B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29065" cy="174993"/>
              </a:xfrm>
              <a:prstGeom prst="rect">
                <a:avLst/>
              </a:prstGeom>
            </p:spPr>
            <p:txBody>
              <a:bodyPr lIns="53764" tIns="53764" rIns="53764" bIns="53764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C704D6CE-9D6B-6D8E-F4C8-38161241C1CA}"/>
                </a:ext>
              </a:extLst>
            </p:cNvPr>
            <p:cNvSpPr txBox="1"/>
            <p:nvPr/>
          </p:nvSpPr>
          <p:spPr>
            <a:xfrm>
              <a:off x="261404" y="62377"/>
              <a:ext cx="2597815" cy="51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1"/>
                </a:lnSpc>
                <a:spcBef>
                  <a:spcPct val="0"/>
                </a:spcBef>
              </a:pPr>
              <a:r>
                <a:rPr lang="en-US" sz="2222" spc="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Daniel Rozario</a:t>
              </a:r>
            </a:p>
          </p:txBody>
        </p:sp>
        <p:grpSp>
          <p:nvGrpSpPr>
            <p:cNvPr id="35" name="Group 37">
              <a:extLst>
                <a:ext uri="{FF2B5EF4-FFF2-40B4-BE49-F238E27FC236}">
                  <a16:creationId xmlns:a16="http://schemas.microsoft.com/office/drawing/2014/main" id="{262FA1BE-98BD-541B-B138-9A28A8AECD42}"/>
                </a:ext>
              </a:extLst>
            </p:cNvPr>
            <p:cNvGrpSpPr/>
            <p:nvPr/>
          </p:nvGrpSpPr>
          <p:grpSpPr>
            <a:xfrm>
              <a:off x="3782860" y="0"/>
              <a:ext cx="2855820" cy="707035"/>
              <a:chOff x="0" y="0"/>
              <a:chExt cx="552932" cy="136893"/>
            </a:xfrm>
          </p:grpSpPr>
          <p:sp>
            <p:nvSpPr>
              <p:cNvPr id="37" name="Freeform 38">
                <a:extLst>
                  <a:ext uri="{FF2B5EF4-FFF2-40B4-BE49-F238E27FC236}">
                    <a16:creationId xmlns:a16="http://schemas.microsoft.com/office/drawing/2014/main" id="{1F8BEFBB-87D4-AE7F-AE4A-11CC009558FA}"/>
                  </a:ext>
                </a:extLst>
              </p:cNvPr>
              <p:cNvSpPr/>
              <p:nvPr/>
            </p:nvSpPr>
            <p:spPr>
              <a:xfrm>
                <a:off x="0" y="0"/>
                <a:ext cx="552932" cy="136893"/>
              </a:xfrm>
              <a:custGeom>
                <a:avLst/>
                <a:gdLst/>
                <a:ahLst/>
                <a:cxnLst/>
                <a:rect l="l" t="t" r="r" b="b"/>
                <a:pathLst>
                  <a:path w="552932" h="136893">
                    <a:moveTo>
                      <a:pt x="68447" y="0"/>
                    </a:moveTo>
                    <a:lnTo>
                      <a:pt x="484485" y="0"/>
                    </a:lnTo>
                    <a:cubicBezTo>
                      <a:pt x="502638" y="0"/>
                      <a:pt x="520048" y="7211"/>
                      <a:pt x="532884" y="20048"/>
                    </a:cubicBezTo>
                    <a:cubicBezTo>
                      <a:pt x="545720" y="32884"/>
                      <a:pt x="552932" y="50293"/>
                      <a:pt x="552932" y="68447"/>
                    </a:cubicBezTo>
                    <a:lnTo>
                      <a:pt x="552932" y="68447"/>
                    </a:lnTo>
                    <a:cubicBezTo>
                      <a:pt x="552932" y="86600"/>
                      <a:pt x="545720" y="104009"/>
                      <a:pt x="532884" y="116846"/>
                    </a:cubicBezTo>
                    <a:cubicBezTo>
                      <a:pt x="520048" y="129682"/>
                      <a:pt x="502638" y="136893"/>
                      <a:pt x="484485" y="136893"/>
                    </a:cubicBezTo>
                    <a:lnTo>
                      <a:pt x="68447" y="136893"/>
                    </a:lnTo>
                    <a:cubicBezTo>
                      <a:pt x="50293" y="136893"/>
                      <a:pt x="32884" y="129682"/>
                      <a:pt x="20048" y="116846"/>
                    </a:cubicBezTo>
                    <a:cubicBezTo>
                      <a:pt x="7211" y="104009"/>
                      <a:pt x="0" y="86600"/>
                      <a:pt x="0" y="68447"/>
                    </a:cubicBezTo>
                    <a:lnTo>
                      <a:pt x="0" y="68447"/>
                    </a:lnTo>
                    <a:cubicBezTo>
                      <a:pt x="0" y="50293"/>
                      <a:pt x="7211" y="32884"/>
                      <a:pt x="20048" y="20048"/>
                    </a:cubicBezTo>
                    <a:cubicBezTo>
                      <a:pt x="32884" y="7211"/>
                      <a:pt x="50293" y="0"/>
                      <a:pt x="68447" y="0"/>
                    </a:cubicBezTo>
                    <a:close/>
                  </a:path>
                </a:pathLst>
              </a:custGeom>
              <a:solidFill>
                <a:srgbClr val="4A65C3"/>
              </a:solidFill>
            </p:spPr>
          </p:sp>
          <p:sp>
            <p:nvSpPr>
              <p:cNvPr id="38" name="TextBox 39">
                <a:extLst>
                  <a:ext uri="{FF2B5EF4-FFF2-40B4-BE49-F238E27FC236}">
                    <a16:creationId xmlns:a16="http://schemas.microsoft.com/office/drawing/2014/main" id="{10648868-9EC2-5920-4485-DDACD90588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52932" cy="174993"/>
              </a:xfrm>
              <a:prstGeom prst="rect">
                <a:avLst/>
              </a:prstGeom>
            </p:spPr>
            <p:txBody>
              <a:bodyPr lIns="53764" tIns="53764" rIns="53764" bIns="53764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40">
              <a:extLst>
                <a:ext uri="{FF2B5EF4-FFF2-40B4-BE49-F238E27FC236}">
                  <a16:creationId xmlns:a16="http://schemas.microsoft.com/office/drawing/2014/main" id="{15FC9BB2-8FAD-B577-A356-516C94B7B8B5}"/>
                </a:ext>
              </a:extLst>
            </p:cNvPr>
            <p:cNvSpPr txBox="1"/>
            <p:nvPr/>
          </p:nvSpPr>
          <p:spPr>
            <a:xfrm>
              <a:off x="4059441" y="62377"/>
              <a:ext cx="2579238" cy="51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11"/>
                </a:lnSpc>
                <a:spcBef>
                  <a:spcPct val="0"/>
                </a:spcBef>
              </a:pPr>
              <a:r>
                <a:rPr lang="en-US" sz="2222" spc="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ID: 241311071</a:t>
              </a:r>
            </a:p>
          </p:txBody>
        </p:sp>
      </p:grpSp>
      <p:sp>
        <p:nvSpPr>
          <p:cNvPr id="41" name="Freeform 41">
            <a:extLst>
              <a:ext uri="{FF2B5EF4-FFF2-40B4-BE49-F238E27FC236}">
                <a16:creationId xmlns:a16="http://schemas.microsoft.com/office/drawing/2014/main" id="{5F1A1C9E-CAEF-C199-8DAB-B897CA681677}"/>
              </a:ext>
            </a:extLst>
          </p:cNvPr>
          <p:cNvSpPr/>
          <p:nvPr/>
        </p:nvSpPr>
        <p:spPr>
          <a:xfrm>
            <a:off x="9673422" y="3257891"/>
            <a:ext cx="7585878" cy="4681909"/>
          </a:xfrm>
          <a:custGeom>
            <a:avLst/>
            <a:gdLst/>
            <a:ahLst/>
            <a:cxnLst/>
            <a:rect l="l" t="t" r="r" b="b"/>
            <a:pathLst>
              <a:path w="7585878" h="4681909">
                <a:moveTo>
                  <a:pt x="0" y="0"/>
                </a:moveTo>
                <a:lnTo>
                  <a:pt x="7585878" y="0"/>
                </a:lnTo>
                <a:lnTo>
                  <a:pt x="7585878" y="4681909"/>
                </a:lnTo>
                <a:lnTo>
                  <a:pt x="0" y="46819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5911802C-B135-BC52-9AAB-FABB7C22646D}"/>
              </a:ext>
            </a:extLst>
          </p:cNvPr>
          <p:cNvSpPr txBox="1"/>
          <p:nvPr/>
        </p:nvSpPr>
        <p:spPr>
          <a:xfrm>
            <a:off x="3649372" y="633695"/>
            <a:ext cx="10989255" cy="175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0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Cybersecurity Threats and Digital Fraud in E-commerce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EB50CA80-9B7D-6F5F-CBA1-0F5249D39285}"/>
              </a:ext>
            </a:extLst>
          </p:cNvPr>
          <p:cNvSpPr txBox="1"/>
          <p:nvPr/>
        </p:nvSpPr>
        <p:spPr>
          <a:xfrm>
            <a:off x="16917725" y="9066165"/>
            <a:ext cx="683150" cy="31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554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05699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3763" y="952701"/>
            <a:ext cx="1484047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93C0DA-A4E6-5D69-3334-9E22B7DAC9F1}"/>
              </a:ext>
            </a:extLst>
          </p:cNvPr>
          <p:cNvSpPr txBox="1"/>
          <p:nvPr/>
        </p:nvSpPr>
        <p:spPr>
          <a:xfrm>
            <a:off x="1723763" y="4634041"/>
            <a:ext cx="15544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E-commerce Landscape: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Massive industry growth offset by highly profitable opportunities for cybercriminals.</a:t>
            </a:r>
          </a:p>
          <a:p>
            <a:pPr lvl="0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Security as a Foundation: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just an IT issue—critical to the business model.</a:t>
            </a:r>
          </a:p>
          <a:p>
            <a:pPr lvl="0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Consumer Impact: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perceived safety directly leads to cart abandonment.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F8F042-3EBC-A59F-BDE6-6106F4693139}"/>
              </a:ext>
            </a:extLst>
          </p:cNvPr>
          <p:cNvSpPr txBox="1"/>
          <p:nvPr/>
        </p:nvSpPr>
        <p:spPr>
          <a:xfrm>
            <a:off x="1723763" y="3214610"/>
            <a:ext cx="1386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Threats &amp; Digital Fraud in E-commerce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Core E-commerce Threat Vectors &amp; Attack Channels, AI generated">
            <a:extLst>
              <a:ext uri="{FF2B5EF4-FFF2-40B4-BE49-F238E27FC236}">
                <a16:creationId xmlns:a16="http://schemas.microsoft.com/office/drawing/2014/main" id="{B9EA8B87-50CD-B9D1-BC17-39FA8F243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3530890"/>
            <a:ext cx="6646142" cy="43344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Freeform 2"/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05699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723763" y="946706"/>
            <a:ext cx="1484047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Threat Vectors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B08E67-C3BC-861B-9CFA-83A3DFE18607}"/>
              </a:ext>
            </a:extLst>
          </p:cNvPr>
          <p:cNvSpPr txBox="1"/>
          <p:nvPr/>
        </p:nvSpPr>
        <p:spPr>
          <a:xfrm>
            <a:off x="1028700" y="4018200"/>
            <a:ext cx="122965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Compromising sensitive customer 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databases.</a:t>
            </a:r>
          </a:p>
          <a:p>
            <a:pPr lvl="0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Fraud: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Exploiting stolen financial data.</a:t>
            </a:r>
          </a:p>
          <a:p>
            <a:pPr lvl="0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Theft: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Weaponizing customer trust and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accounts.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A86F18-BB26-86E0-3254-F728FF8D7B5E}"/>
              </a:ext>
            </a:extLst>
          </p:cNvPr>
          <p:cNvSpPr txBox="1"/>
          <p:nvPr/>
        </p:nvSpPr>
        <p:spPr>
          <a:xfrm>
            <a:off x="1028700" y="3015140"/>
            <a:ext cx="8862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Breaking Down E-commerce Fraud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ow Application-Level SQL Injection Breaches Databases, AI generated">
            <a:extLst>
              <a:ext uri="{FF2B5EF4-FFF2-40B4-BE49-F238E27FC236}">
                <a16:creationId xmlns:a16="http://schemas.microsoft.com/office/drawing/2014/main" id="{518315F8-79E1-E383-8347-D7552A676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57" y="4075274"/>
            <a:ext cx="5830320" cy="4473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Freeform 2"/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05699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3763" y="787713"/>
            <a:ext cx="1484047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F087F-F07C-C23B-9D62-7720F151E0CB}"/>
              </a:ext>
            </a:extLst>
          </p:cNvPr>
          <p:cNvSpPr txBox="1"/>
          <p:nvPr/>
        </p:nvSpPr>
        <p:spPr>
          <a:xfrm>
            <a:off x="7453989" y="4054739"/>
            <a:ext cx="113704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Unauthorized  actors  gaining  access to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databases containing sensitive customer info.</a:t>
            </a:r>
          </a:p>
          <a:p>
            <a:pPr lvl="0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Developer Pitfalls: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</a:p>
          <a:p>
            <a:pPr marL="571500" lvl="0" indent="-571500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Cross-Site Scripting (XSS)</a:t>
            </a:r>
          </a:p>
          <a:p>
            <a:pPr marL="571500" lvl="0" indent="-571500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Insecure API endpoints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EE0428-28DC-E7CA-E190-341B3085948E}"/>
              </a:ext>
            </a:extLst>
          </p:cNvPr>
          <p:cNvSpPr txBox="1"/>
          <p:nvPr/>
        </p:nvSpPr>
        <p:spPr>
          <a:xfrm>
            <a:off x="4324350" y="2216050"/>
            <a:ext cx="9639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 at the Application Level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05699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23763" y="899345"/>
            <a:ext cx="1484047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Threats: PHP2Shell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24185B-A728-042E-FC1E-12C63ACB6C68}"/>
              </a:ext>
            </a:extLst>
          </p:cNvPr>
          <p:cNvSpPr txBox="1"/>
          <p:nvPr/>
        </p:nvSpPr>
        <p:spPr>
          <a:xfrm>
            <a:off x="1723763" y="3774367"/>
            <a:ext cx="161606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Disclosure (Oct 2026):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"PHP2Shell" (CVE-2026-109618 &amp; CVE-2026-109619).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Mechanism: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Unauthenticated RCE in the core PHP engine.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Exploit: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Triggering "out-of-memory“ errors to corrupt server state.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Danger: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Bypasses app code; affects millions of sites (Magento, WooCommerce).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133679-EA4C-4AFE-F969-B2EA2D73C8F8}"/>
              </a:ext>
            </a:extLst>
          </p:cNvPr>
          <p:cNvSpPr txBox="1"/>
          <p:nvPr/>
        </p:nvSpPr>
        <p:spPr>
          <a:xfrm>
            <a:off x="1577318" y="2733137"/>
            <a:ext cx="7347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Perfect Code Isn't Enough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05699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23763" y="901204"/>
            <a:ext cx="1484047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Fraud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9333B-6912-8A83-E0A1-F6B19A96C90C}"/>
              </a:ext>
            </a:extLst>
          </p:cNvPr>
          <p:cNvSpPr txBox="1"/>
          <p:nvPr/>
        </p:nvSpPr>
        <p:spPr>
          <a:xfrm>
            <a:off x="1045029" y="3499757"/>
            <a:ext cx="1196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Card-Not-Present (CNP) Fraud: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 credit cards are not required for digital checkout.</a:t>
            </a:r>
          </a:p>
          <a:p>
            <a:pPr lvl="0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Attacks: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Criminals deploy bots to test bulk stolen   credit card numbers.</a:t>
            </a:r>
          </a:p>
          <a:p>
            <a:pPr lvl="0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Impact: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E-commerce businesses bear the brunt      through severe chargeback fees and lost physical inventory.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The Lifecycle of Card-Not-Present (CNP) Fraud &amp; Merchant Chargebacks, AI generated">
            <a:extLst>
              <a:ext uri="{FF2B5EF4-FFF2-40B4-BE49-F238E27FC236}">
                <a16:creationId xmlns:a16="http://schemas.microsoft.com/office/drawing/2014/main" id="{5EEF47F4-A616-586B-8599-951C1B126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600" y="2799665"/>
            <a:ext cx="5452244" cy="45243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837BC3-1235-6216-38F6-5B5CAC1E2723}"/>
              </a:ext>
            </a:extLst>
          </p:cNvPr>
          <p:cNvSpPr txBox="1"/>
          <p:nvPr/>
        </p:nvSpPr>
        <p:spPr>
          <a:xfrm>
            <a:off x="1028700" y="2476500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Weaponizing Stolen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05699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52561" y="892733"/>
            <a:ext cx="1484047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Theft &amp; Account Takeovers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21191" y="3630434"/>
            <a:ext cx="3409822" cy="491216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09"/>
              </a:lnSpc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507437-39B3-9D5F-43F9-A55B94428AA1}"/>
              </a:ext>
            </a:extLst>
          </p:cNvPr>
          <p:cNvSpPr txBox="1"/>
          <p:nvPr/>
        </p:nvSpPr>
        <p:spPr>
          <a:xfrm>
            <a:off x="5879957" y="3211281"/>
            <a:ext cx="71856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Exploiting Trusted Users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282049B1-FC74-3C02-2737-D70CB20D22C6}"/>
              </a:ext>
            </a:extLst>
          </p:cNvPr>
          <p:cNvSpPr txBox="1"/>
          <p:nvPr/>
        </p:nvSpPr>
        <p:spPr>
          <a:xfrm>
            <a:off x="1565175" y="5389157"/>
            <a:ext cx="4545131" cy="319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8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Takeover </a:t>
            </a:r>
            <a:endParaRPr lang="en-US" sz="3600" dirty="0">
              <a:solidFill>
                <a:srgbClr val="0D1C30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EA015994-3006-D49B-EE74-C3A1FAFA14AA}"/>
              </a:ext>
            </a:extLst>
          </p:cNvPr>
          <p:cNvSpPr txBox="1"/>
          <p:nvPr/>
        </p:nvSpPr>
        <p:spPr>
          <a:xfrm>
            <a:off x="1580948" y="6151882"/>
            <a:ext cx="492771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 stuffing via password reuse.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grpSp>
        <p:nvGrpSpPr>
          <p:cNvPr id="35" name="Group 15">
            <a:extLst>
              <a:ext uri="{FF2B5EF4-FFF2-40B4-BE49-F238E27FC236}">
                <a16:creationId xmlns:a16="http://schemas.microsoft.com/office/drawing/2014/main" id="{531B916F-0A14-170F-8C56-9F8BB1628FFA}"/>
              </a:ext>
            </a:extLst>
          </p:cNvPr>
          <p:cNvGrpSpPr/>
          <p:nvPr/>
        </p:nvGrpSpPr>
        <p:grpSpPr>
          <a:xfrm>
            <a:off x="6581632" y="5110109"/>
            <a:ext cx="5147520" cy="3088510"/>
            <a:chOff x="0" y="0"/>
            <a:chExt cx="6863359" cy="4118013"/>
          </a:xfrm>
        </p:grpSpPr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44C6C4D4-14F8-AFA5-3A73-20B7D7F30236}"/>
                </a:ext>
              </a:extLst>
            </p:cNvPr>
            <p:cNvSpPr/>
            <p:nvPr/>
          </p:nvSpPr>
          <p:spPr>
            <a:xfrm>
              <a:off x="0" y="0"/>
              <a:ext cx="6863334" cy="4117975"/>
            </a:xfrm>
            <a:custGeom>
              <a:avLst/>
              <a:gdLst/>
              <a:ahLst/>
              <a:cxnLst/>
              <a:rect l="l" t="t" r="r" b="b"/>
              <a:pathLst>
                <a:path w="6863334" h="4117975">
                  <a:moveTo>
                    <a:pt x="0" y="494157"/>
                  </a:moveTo>
                  <a:cubicBezTo>
                    <a:pt x="0" y="221234"/>
                    <a:pt x="221234" y="0"/>
                    <a:pt x="494157" y="0"/>
                  </a:cubicBezTo>
                  <a:lnTo>
                    <a:pt x="6369177" y="0"/>
                  </a:lnTo>
                  <a:cubicBezTo>
                    <a:pt x="6642100" y="0"/>
                    <a:pt x="6863334" y="221234"/>
                    <a:pt x="6863334" y="494157"/>
                  </a:cubicBezTo>
                  <a:lnTo>
                    <a:pt x="6863334" y="3623818"/>
                  </a:lnTo>
                  <a:cubicBezTo>
                    <a:pt x="6863334" y="3896741"/>
                    <a:pt x="6642100" y="4117975"/>
                    <a:pt x="6369177" y="4117975"/>
                  </a:cubicBezTo>
                  <a:lnTo>
                    <a:pt x="494157" y="4117975"/>
                  </a:lnTo>
                  <a:cubicBezTo>
                    <a:pt x="221234" y="4117975"/>
                    <a:pt x="0" y="3896741"/>
                    <a:pt x="0" y="36238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17">
            <a:extLst>
              <a:ext uri="{FF2B5EF4-FFF2-40B4-BE49-F238E27FC236}">
                <a16:creationId xmlns:a16="http://schemas.microsoft.com/office/drawing/2014/main" id="{CBA4EE5A-E936-5814-A607-137CBE0B526E}"/>
              </a:ext>
            </a:extLst>
          </p:cNvPr>
          <p:cNvGrpSpPr/>
          <p:nvPr/>
        </p:nvGrpSpPr>
        <p:grpSpPr>
          <a:xfrm>
            <a:off x="6300530" y="5067300"/>
            <a:ext cx="96088" cy="3088510"/>
            <a:chOff x="0" y="0"/>
            <a:chExt cx="128118" cy="4118013"/>
          </a:xfrm>
        </p:grpSpPr>
        <p:sp>
          <p:nvSpPr>
            <p:cNvPr id="38" name="Freeform 18">
              <a:extLst>
                <a:ext uri="{FF2B5EF4-FFF2-40B4-BE49-F238E27FC236}">
                  <a16:creationId xmlns:a16="http://schemas.microsoft.com/office/drawing/2014/main" id="{2FE85789-FBD7-5E3C-EA7E-B2051FD95D3B}"/>
                </a:ext>
              </a:extLst>
            </p:cNvPr>
            <p:cNvSpPr/>
            <p:nvPr/>
          </p:nvSpPr>
          <p:spPr>
            <a:xfrm>
              <a:off x="0" y="0"/>
              <a:ext cx="128143" cy="4117975"/>
            </a:xfrm>
            <a:custGeom>
              <a:avLst/>
              <a:gdLst/>
              <a:ahLst/>
              <a:cxnLst/>
              <a:rect l="l" t="t" r="r" b="b"/>
              <a:pathLst>
                <a:path w="128143" h="4117975">
                  <a:moveTo>
                    <a:pt x="0" y="0"/>
                  </a:moveTo>
                  <a:lnTo>
                    <a:pt x="128143" y="0"/>
                  </a:lnTo>
                  <a:lnTo>
                    <a:pt x="128143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001B60"/>
            </a:solidFill>
          </p:spPr>
        </p:sp>
      </p:grpSp>
      <p:sp>
        <p:nvSpPr>
          <p:cNvPr id="39" name="TextBox 19">
            <a:extLst>
              <a:ext uri="{FF2B5EF4-FFF2-40B4-BE49-F238E27FC236}">
                <a16:creationId xmlns:a16="http://schemas.microsoft.com/office/drawing/2014/main" id="{AE6EFB15-74E7-BF0A-F49F-0278F816AF37}"/>
              </a:ext>
            </a:extLst>
          </p:cNvPr>
          <p:cNvSpPr txBox="1"/>
          <p:nvPr/>
        </p:nvSpPr>
        <p:spPr>
          <a:xfrm>
            <a:off x="6956429" y="5341067"/>
            <a:ext cx="3953684" cy="367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2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Inside Threat</a:t>
            </a:r>
            <a:endParaRPr lang="en-US" sz="3200" dirty="0">
              <a:solidFill>
                <a:srgbClr val="0D1C30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C107777D-A1B6-B5C8-5B5B-1467F98A3E93}"/>
              </a:ext>
            </a:extLst>
          </p:cNvPr>
          <p:cNvSpPr txBox="1"/>
          <p:nvPr/>
        </p:nvSpPr>
        <p:spPr>
          <a:xfrm>
            <a:off x="6960145" y="6174899"/>
            <a:ext cx="524717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Draining loyalty points and saved payment methods.</a:t>
            </a: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grpSp>
        <p:nvGrpSpPr>
          <p:cNvPr id="42" name="Group 24">
            <a:extLst>
              <a:ext uri="{FF2B5EF4-FFF2-40B4-BE49-F238E27FC236}">
                <a16:creationId xmlns:a16="http://schemas.microsoft.com/office/drawing/2014/main" id="{24C172BD-62F7-54A6-89EB-DA9CFC003BC7}"/>
              </a:ext>
            </a:extLst>
          </p:cNvPr>
          <p:cNvGrpSpPr/>
          <p:nvPr/>
        </p:nvGrpSpPr>
        <p:grpSpPr>
          <a:xfrm>
            <a:off x="12225545" y="5067300"/>
            <a:ext cx="96088" cy="3088510"/>
            <a:chOff x="0" y="0"/>
            <a:chExt cx="128118" cy="4118013"/>
          </a:xfrm>
        </p:grpSpPr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8EC4922-EE38-105D-987F-A9328D97DBE0}"/>
                </a:ext>
              </a:extLst>
            </p:cNvPr>
            <p:cNvSpPr/>
            <p:nvPr/>
          </p:nvSpPr>
          <p:spPr>
            <a:xfrm>
              <a:off x="0" y="0"/>
              <a:ext cx="128143" cy="4117975"/>
            </a:xfrm>
            <a:custGeom>
              <a:avLst/>
              <a:gdLst/>
              <a:ahLst/>
              <a:cxnLst/>
              <a:rect l="l" t="t" r="r" b="b"/>
              <a:pathLst>
                <a:path w="128143" h="4117975">
                  <a:moveTo>
                    <a:pt x="0" y="0"/>
                  </a:moveTo>
                  <a:lnTo>
                    <a:pt x="128143" y="0"/>
                  </a:lnTo>
                  <a:lnTo>
                    <a:pt x="128143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001B60"/>
            </a:solidFill>
          </p:spPr>
        </p:sp>
      </p:grpSp>
      <p:sp>
        <p:nvSpPr>
          <p:cNvPr id="44" name="TextBox 26">
            <a:extLst>
              <a:ext uri="{FF2B5EF4-FFF2-40B4-BE49-F238E27FC236}">
                <a16:creationId xmlns:a16="http://schemas.microsoft.com/office/drawing/2014/main" id="{8447979F-25F0-51AB-6C23-1856D65C28AE}"/>
              </a:ext>
            </a:extLst>
          </p:cNvPr>
          <p:cNvSpPr txBox="1"/>
          <p:nvPr/>
        </p:nvSpPr>
        <p:spPr>
          <a:xfrm>
            <a:off x="12674698" y="5334096"/>
            <a:ext cx="1831065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8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Evasion</a:t>
            </a:r>
            <a:endParaRPr lang="en-US" sz="3200" dirty="0">
              <a:solidFill>
                <a:srgbClr val="0D1C30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E3DF711D-78B0-217D-45BD-F61382A4AEAF}"/>
              </a:ext>
            </a:extLst>
          </p:cNvPr>
          <p:cNvSpPr txBox="1"/>
          <p:nvPr/>
        </p:nvSpPr>
        <p:spPr>
          <a:xfrm>
            <a:off x="12707355" y="6102844"/>
            <a:ext cx="4452061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Bypasses fraud filters using trusted accounts.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05699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3763" y="946706"/>
            <a:ext cx="1484047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Defenses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77317" y="3848100"/>
            <a:ext cx="15340407" cy="4253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Strict hashing of all sensitive backend data.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Never store raw credit card numbers. Partner with compliant gateways (PayPal).</a:t>
            </a:r>
          </a:p>
          <a:p>
            <a:pPr lvl="0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Maintenance: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Aggressively update runtime environments to patch underlying engine flaws (like PHP2Shell).</a:t>
            </a:r>
          </a:p>
          <a:p>
            <a:pPr marL="342900" indent="-342900" algn="just">
              <a:lnSpc>
                <a:spcPts val="2938"/>
              </a:lnSpc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E72F0B-9A44-A1E8-CCD4-F507C203A5B0}"/>
              </a:ext>
            </a:extLst>
          </p:cNvPr>
          <p:cNvSpPr txBox="1"/>
          <p:nvPr/>
        </p:nvSpPr>
        <p:spPr>
          <a:xfrm>
            <a:off x="1295400" y="2764430"/>
            <a:ext cx="7115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Securing the Foundation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A8DD-375F-1B77-9345-15306185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93F634-61FA-0F4F-054F-4895E5924615}"/>
              </a:ext>
            </a:extLst>
          </p:cNvPr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529C373-EA69-68BB-A649-8564ABAACF7E}"/>
              </a:ext>
            </a:extLst>
          </p:cNvPr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BC9DC18-C5F3-61EF-6AE6-1BC059543F40}"/>
              </a:ext>
            </a:extLst>
          </p:cNvPr>
          <p:cNvSpPr/>
          <p:nvPr/>
        </p:nvSpPr>
        <p:spPr>
          <a:xfrm>
            <a:off x="1028700" y="1105699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EBDD3EA-8ED1-26B8-8D57-08356C779EDB}"/>
              </a:ext>
            </a:extLst>
          </p:cNvPr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BFFB187-A8E7-CD6B-F115-DB259B93BFB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8B3D177-630A-4A35-11B0-EE69A9458E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3AF1CE5-5EA2-E3F6-E641-5EE150084588}"/>
              </a:ext>
            </a:extLst>
          </p:cNvPr>
          <p:cNvSpPr txBox="1"/>
          <p:nvPr/>
        </p:nvSpPr>
        <p:spPr>
          <a:xfrm>
            <a:off x="1723763" y="946706"/>
            <a:ext cx="1484047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Defenses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9945EB-4150-C3B9-260B-12D07D6457B6}"/>
              </a:ext>
            </a:extLst>
          </p:cNvPr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09</a:t>
            </a:r>
          </a:p>
        </p:txBody>
      </p:sp>
      <p:pic>
        <p:nvPicPr>
          <p:cNvPr id="10" name="Picture 9" descr="Backend Security Architecture: Tokenization &amp; Data Encryption Layers, AI generated">
            <a:extLst>
              <a:ext uri="{FF2B5EF4-FFF2-40B4-BE49-F238E27FC236}">
                <a16:creationId xmlns:a16="http://schemas.microsoft.com/office/drawing/2014/main" id="{3BC90675-A000-1176-9564-A5AB4A129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615" y="2628900"/>
            <a:ext cx="11876769" cy="60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40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05699"/>
            <a:ext cx="1097236" cy="790010"/>
          </a:xfrm>
          <a:custGeom>
            <a:avLst/>
            <a:gdLst/>
            <a:ahLst/>
            <a:cxnLst/>
            <a:rect l="l" t="t" r="r" b="b"/>
            <a:pathLst>
              <a:path w="1097236" h="790010">
                <a:moveTo>
                  <a:pt x="0" y="0"/>
                </a:moveTo>
                <a:lnTo>
                  <a:pt x="1097236" y="0"/>
                </a:lnTo>
                <a:lnTo>
                  <a:pt x="1097236" y="790010"/>
                </a:lnTo>
                <a:lnTo>
                  <a:pt x="0" y="790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07088" y="3476346"/>
            <a:ext cx="6941598" cy="5873469"/>
            <a:chOff x="0" y="0"/>
            <a:chExt cx="812800" cy="6375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37576"/>
            </a:xfrm>
            <a:custGeom>
              <a:avLst/>
              <a:gdLst/>
              <a:ahLst/>
              <a:cxnLst/>
              <a:rect l="l" t="t" r="r" b="b"/>
              <a:pathLst>
                <a:path w="812800" h="637576">
                  <a:moveTo>
                    <a:pt x="28126" y="0"/>
                  </a:moveTo>
                  <a:lnTo>
                    <a:pt x="784674" y="0"/>
                  </a:lnTo>
                  <a:cubicBezTo>
                    <a:pt x="800208" y="0"/>
                    <a:pt x="812800" y="12592"/>
                    <a:pt x="812800" y="28126"/>
                  </a:cubicBezTo>
                  <a:lnTo>
                    <a:pt x="812800" y="609450"/>
                  </a:lnTo>
                  <a:cubicBezTo>
                    <a:pt x="812800" y="616909"/>
                    <a:pt x="809837" y="624063"/>
                    <a:pt x="804562" y="629338"/>
                  </a:cubicBezTo>
                  <a:cubicBezTo>
                    <a:pt x="799287" y="634612"/>
                    <a:pt x="792133" y="637576"/>
                    <a:pt x="784674" y="637576"/>
                  </a:cubicBezTo>
                  <a:lnTo>
                    <a:pt x="28126" y="637576"/>
                  </a:lnTo>
                  <a:cubicBezTo>
                    <a:pt x="12592" y="637576"/>
                    <a:pt x="0" y="624983"/>
                    <a:pt x="0" y="609450"/>
                  </a:cubicBezTo>
                  <a:lnTo>
                    <a:pt x="0" y="28126"/>
                  </a:lnTo>
                  <a:cubicBezTo>
                    <a:pt x="0" y="12592"/>
                    <a:pt x="12592" y="0"/>
                    <a:pt x="28126" y="0"/>
                  </a:cubicBezTo>
                  <a:close/>
                </a:path>
              </a:pathLst>
            </a:custGeom>
            <a:blipFill>
              <a:blip r:embed="rId5"/>
              <a:stretch>
                <a:fillRect l="-8868" r="-8868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921621" y="3452146"/>
            <a:ext cx="7123168" cy="9610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659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2796037" y="937184"/>
            <a:ext cx="15553111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Defenses &amp; Building Trust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15FD14-0136-3ED8-8FF7-4577DB31374B}"/>
              </a:ext>
            </a:extLst>
          </p:cNvPr>
          <p:cNvSpPr txBox="1"/>
          <p:nvPr/>
        </p:nvSpPr>
        <p:spPr>
          <a:xfrm>
            <a:off x="1107088" y="2518194"/>
            <a:ext cx="8237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Security and User Experience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EB97009-2174-3C63-665F-74A1A0A2A1FB}"/>
              </a:ext>
            </a:extLst>
          </p:cNvPr>
          <p:cNvSpPr/>
          <p:nvPr/>
        </p:nvSpPr>
        <p:spPr>
          <a:xfrm>
            <a:off x="8656101" y="3436074"/>
            <a:ext cx="8261623" cy="12266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B955AD-BC39-8586-35DB-67CE6E231EFF}"/>
              </a:ext>
            </a:extLst>
          </p:cNvPr>
          <p:cNvSpPr/>
          <p:nvPr/>
        </p:nvSpPr>
        <p:spPr>
          <a:xfrm>
            <a:off x="8566306" y="6461713"/>
            <a:ext cx="8261623" cy="12266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7291485-4023-0F8F-1335-0C5FB5B4D5CE}"/>
              </a:ext>
            </a:extLst>
          </p:cNvPr>
          <p:cNvSpPr/>
          <p:nvPr/>
        </p:nvSpPr>
        <p:spPr>
          <a:xfrm>
            <a:off x="8617999" y="4934267"/>
            <a:ext cx="8261623" cy="12266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BBA6685-F223-6312-91A4-8668C6FFA375}"/>
              </a:ext>
            </a:extLst>
          </p:cNvPr>
          <p:cNvSpPr/>
          <p:nvPr/>
        </p:nvSpPr>
        <p:spPr>
          <a:xfrm>
            <a:off x="8592056" y="7989159"/>
            <a:ext cx="8261623" cy="12266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42B80A-5033-BD73-AAE2-12A82F571725}"/>
              </a:ext>
            </a:extLst>
          </p:cNvPr>
          <p:cNvSpPr txBox="1"/>
          <p:nvPr/>
        </p:nvSpPr>
        <p:spPr>
          <a:xfrm>
            <a:off x="8915401" y="3624014"/>
            <a:ext cx="77723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Risk-Based Authentication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MFA and behavioral analytics for anomalies.</a:t>
            </a:r>
            <a:endParaRPr lang="en-US" sz="2800" spc="4" dirty="0">
              <a:solidFill>
                <a:srgbClr val="FFFFFF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D6128D-D936-C035-CFC7-0F035CB92F9F}"/>
              </a:ext>
            </a:extLst>
          </p:cNvPr>
          <p:cNvSpPr txBox="1"/>
          <p:nvPr/>
        </p:nvSpPr>
        <p:spPr>
          <a:xfrm>
            <a:off x="8915401" y="5001572"/>
            <a:ext cx="8066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endParaRPr lang="en-US" sz="2800" spc="4" dirty="0">
              <a:solidFill>
                <a:srgbClr val="FFFFFF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security badges &amp; privacy policies.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C21F23-ED9D-1624-6C80-E8157B3B5C4D}"/>
              </a:ext>
            </a:extLst>
          </p:cNvPr>
          <p:cNvSpPr txBox="1"/>
          <p:nvPr/>
        </p:nvSpPr>
        <p:spPr>
          <a:xfrm>
            <a:off x="8921621" y="6455825"/>
            <a:ext cx="87064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Alerts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Notifying users of suspicious activity instantly.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B91755-82ED-13E8-BE15-E591D83EC0FA}"/>
              </a:ext>
            </a:extLst>
          </p:cNvPr>
          <p:cNvSpPr txBox="1"/>
          <p:nvPr/>
        </p:nvSpPr>
        <p:spPr>
          <a:xfrm>
            <a:off x="8915401" y="8042100"/>
            <a:ext cx="83085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 customers without creating checkout friction.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187679" y="-556696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66367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636774" y="0"/>
                </a:lnTo>
                <a:lnTo>
                  <a:pt x="663677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4934" y="6778682"/>
            <a:ext cx="6636774" cy="4114800"/>
          </a:xfrm>
          <a:custGeom>
            <a:avLst/>
            <a:gdLst/>
            <a:ahLst/>
            <a:cxnLst/>
            <a:rect l="l" t="t" r="r" b="b"/>
            <a:pathLst>
              <a:path w="6636774" h="4114800">
                <a:moveTo>
                  <a:pt x="0" y="0"/>
                </a:moveTo>
                <a:lnTo>
                  <a:pt x="6636774" y="0"/>
                </a:lnTo>
                <a:lnTo>
                  <a:pt x="66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17725" y="8916725"/>
            <a:ext cx="683150" cy="6831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5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917725" y="9075690"/>
            <a:ext cx="683150" cy="32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59440" y="4825232"/>
            <a:ext cx="7924800" cy="1091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9600" b="1" dirty="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Thank You!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650822" y="3042317"/>
            <a:ext cx="6330948" cy="4656964"/>
            <a:chOff x="0" y="0"/>
            <a:chExt cx="812800" cy="59788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597885"/>
            </a:xfrm>
            <a:custGeom>
              <a:avLst/>
              <a:gdLst/>
              <a:ahLst/>
              <a:cxnLst/>
              <a:rect l="l" t="t" r="r" b="b"/>
              <a:pathLst>
                <a:path w="812800" h="597885">
                  <a:moveTo>
                    <a:pt x="28126" y="0"/>
                  </a:moveTo>
                  <a:lnTo>
                    <a:pt x="784674" y="0"/>
                  </a:lnTo>
                  <a:cubicBezTo>
                    <a:pt x="800208" y="0"/>
                    <a:pt x="812800" y="12592"/>
                    <a:pt x="812800" y="28126"/>
                  </a:cubicBezTo>
                  <a:lnTo>
                    <a:pt x="812800" y="569759"/>
                  </a:lnTo>
                  <a:cubicBezTo>
                    <a:pt x="812800" y="585293"/>
                    <a:pt x="800208" y="597885"/>
                    <a:pt x="784674" y="597885"/>
                  </a:cubicBezTo>
                  <a:lnTo>
                    <a:pt x="28126" y="597885"/>
                  </a:lnTo>
                  <a:cubicBezTo>
                    <a:pt x="12592" y="597885"/>
                    <a:pt x="0" y="585293"/>
                    <a:pt x="0" y="569759"/>
                  </a:cubicBezTo>
                  <a:lnTo>
                    <a:pt x="0" y="28126"/>
                  </a:lnTo>
                  <a:cubicBezTo>
                    <a:pt x="0" y="12592"/>
                    <a:pt x="12592" y="0"/>
                    <a:pt x="28126" y="0"/>
                  </a:cubicBezTo>
                  <a:close/>
                </a:path>
              </a:pathLst>
            </a:custGeom>
            <a:blipFill>
              <a:blip r:embed="rId3"/>
              <a:stretch>
                <a:fillRect l="-5203" r="-5203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413</Words>
  <Application>Microsoft Office PowerPoint</Application>
  <PresentationFormat>Custom</PresentationFormat>
  <Paragraphs>89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Inter Bold</vt:lpstr>
      <vt:lpstr>Libre Baskerville Bold</vt:lpstr>
      <vt:lpstr>Aptos</vt:lpstr>
      <vt:lpstr>Times New Roman Bold</vt:lpstr>
      <vt:lpstr>Times New Roman</vt:lpstr>
      <vt:lpstr>Calibri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Cyber Security Presentation</dc:title>
  <dc:creator>Sabbir Rahman</dc:creator>
  <cp:lastModifiedBy>Sabbir Rahman</cp:lastModifiedBy>
  <cp:revision>5</cp:revision>
  <dcterms:created xsi:type="dcterms:W3CDTF">2006-08-16T00:00:00Z</dcterms:created>
  <dcterms:modified xsi:type="dcterms:W3CDTF">2026-10-27T04:13:05Z</dcterms:modified>
  <dc:identifier>DAHZHWvcqbg</dc:identifier>
</cp:coreProperties>
</file>